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6"/>
  </p:notesMasterIdLst>
  <p:sldIdLst>
    <p:sldId id="962" r:id="rId3"/>
    <p:sldId id="960" r:id="rId4"/>
    <p:sldId id="959" r:id="rId5"/>
    <p:sldId id="958" r:id="rId6"/>
    <p:sldId id="957" r:id="rId7"/>
    <p:sldId id="807" r:id="rId8"/>
    <p:sldId id="336" r:id="rId9"/>
    <p:sldId id="809" r:id="rId10"/>
    <p:sldId id="819" r:id="rId11"/>
    <p:sldId id="334" r:id="rId12"/>
    <p:sldId id="339" r:id="rId13"/>
    <p:sldId id="808" r:id="rId14"/>
    <p:sldId id="337" r:id="rId15"/>
    <p:sldId id="810" r:id="rId16"/>
    <p:sldId id="335" r:id="rId17"/>
    <p:sldId id="811" r:id="rId18"/>
    <p:sldId id="961" r:id="rId19"/>
    <p:sldId id="323" r:id="rId20"/>
    <p:sldId id="793" r:id="rId21"/>
    <p:sldId id="794" r:id="rId22"/>
    <p:sldId id="795" r:id="rId23"/>
    <p:sldId id="328" r:id="rId24"/>
    <p:sldId id="329" r:id="rId25"/>
    <p:sldId id="330" r:id="rId26"/>
    <p:sldId id="331" r:id="rId27"/>
    <p:sldId id="332" r:id="rId28"/>
    <p:sldId id="876" r:id="rId29"/>
    <p:sldId id="327" r:id="rId30"/>
    <p:sldId id="812" r:id="rId31"/>
    <p:sldId id="813" r:id="rId32"/>
    <p:sldId id="814" r:id="rId33"/>
    <p:sldId id="815" r:id="rId34"/>
    <p:sldId id="324" r:id="rId35"/>
    <p:sldId id="817" r:id="rId36"/>
    <p:sldId id="338" r:id="rId37"/>
    <p:sldId id="818" r:id="rId38"/>
    <p:sldId id="870" r:id="rId39"/>
    <p:sldId id="871" r:id="rId40"/>
    <p:sldId id="859" r:id="rId41"/>
    <p:sldId id="831" r:id="rId42"/>
    <p:sldId id="832" r:id="rId43"/>
    <p:sldId id="858" r:id="rId44"/>
    <p:sldId id="862" r:id="rId45"/>
    <p:sldId id="863" r:id="rId46"/>
    <p:sldId id="854" r:id="rId47"/>
    <p:sldId id="848" r:id="rId48"/>
    <p:sldId id="849" r:id="rId49"/>
    <p:sldId id="845" r:id="rId50"/>
    <p:sldId id="846" r:id="rId51"/>
    <p:sldId id="257" r:id="rId52"/>
    <p:sldId id="841" r:id="rId53"/>
    <p:sldId id="842" r:id="rId54"/>
    <p:sldId id="843" r:id="rId55"/>
    <p:sldId id="840" r:id="rId56"/>
    <p:sldId id="838" r:id="rId57"/>
    <p:sldId id="333" r:id="rId58"/>
    <p:sldId id="1018" r:id="rId59"/>
    <p:sldId id="1019" r:id="rId60"/>
    <p:sldId id="1021" r:id="rId61"/>
    <p:sldId id="1022" r:id="rId62"/>
    <p:sldId id="860" r:id="rId63"/>
    <p:sldId id="343" r:id="rId64"/>
    <p:sldId id="790" r:id="rId6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4586" autoAdjust="0"/>
  </p:normalViewPr>
  <p:slideViewPr>
    <p:cSldViewPr snapToGrid="0">
      <p:cViewPr varScale="1">
        <p:scale>
          <a:sx n="62" d="100"/>
          <a:sy n="62" d="100"/>
        </p:scale>
        <p:origin x="148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F0F49-CFB8-4CE4-8507-B78DED682FBC}" type="datetimeFigureOut">
              <a:rPr lang="fr-FR" smtClean="0"/>
              <a:t>06/06/2024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907B4-8B4D-481C-9E4D-DFFDDAB1C9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2434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032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9030C1-C977-B14B-8EB7-BA2B30FCDB63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r" defTabSz="9032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1C3B6-C309-4941-9BE5-96B1ADF1E1D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8860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n’est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qu’un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ensemble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d’appareils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systèmes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connectés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aux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autres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capables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communiquer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s'agir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d'ordinateurs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serveurs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de smartphones,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routeurs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etc. Un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peut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qu'Internet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aussi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petit que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ordinateurs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partageant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fichiers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imprimante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1C3B6-C309-4941-9BE5-96B1ADF1E1D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7559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1C3B6-C309-4941-9BE5-96B1ADF1E1D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7898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pourquoi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utilisons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-nous 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?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évident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puisque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vous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utilisez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quotidien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résumons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pourquoi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nous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utilisons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Applications: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Envoi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données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ordinateurs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fichiers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Ressources: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Imprimantes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caméras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Stockage: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L’utilisation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d’un NAS (Network Attached Storage)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votre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stockage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disponible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 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jours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nombreuses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personnes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utilisent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à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partager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fichiers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vidéos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des images entre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ordinateurs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Sauvegarde: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Utiliser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serveur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sauvegarde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central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auquel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ordinateurs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envoient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leurs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données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sauvegarde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VoIP 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 IP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jour plus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d’importance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remplace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téléphonie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analogique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1C3B6-C309-4941-9BE5-96B1ADF1E1D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6013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1C3B6-C309-4941-9BE5-96B1ADF1E1D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9670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1C3B6-C309-4941-9BE5-96B1ADF1E1D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1414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Technology used</a:t>
            </a:r>
          </a:p>
          <a:p>
            <a:pPr lvl="1"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Ethernet</a:t>
            </a:r>
          </a:p>
          <a:p>
            <a:pPr lvl="1"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Token Ring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1C3B6-C309-4941-9BE5-96B1ADF1E1D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3949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1C3B6-C309-4941-9BE5-96B1ADF1E1D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9574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1C3B6-C309-4941-9BE5-96B1ADF1E1D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4148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Technology used</a:t>
            </a:r>
          </a:p>
          <a:p>
            <a:pPr lvl="1"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Dial-up</a:t>
            </a:r>
          </a:p>
          <a:p>
            <a:pPr lvl="1"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ISDN</a:t>
            </a:r>
          </a:p>
          <a:p>
            <a:pPr lvl="1"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DSL</a:t>
            </a:r>
          </a:p>
          <a:p>
            <a:pPr lvl="1"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X.25</a:t>
            </a:r>
          </a:p>
          <a:p>
            <a:pPr lvl="1"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Frame Relay</a:t>
            </a:r>
          </a:p>
          <a:p>
            <a:pPr lvl="1"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ATM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1C3B6-C309-4941-9BE5-96B1ADF1E1D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7478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1C3B6-C309-4941-9BE5-96B1ADF1E1D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2079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1C3B6-C309-4941-9BE5-96B1ADF1E1D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38654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Qu'est-ce qu'une topologie de réseau informatique?:</a:t>
            </a:r>
            <a:r>
              <a:rPr lang="fr-FR" sz="1200" dirty="0"/>
              <a:t>L’architecture des divers éléments d’un réseau informatique</a:t>
            </a:r>
          </a:p>
          <a:p>
            <a:pPr lvl="1" algn="justLow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Topologie physique: la manière physique dont le réseau est câblé (comment les ordinateurs sont connectés les uns aux autres)</a:t>
            </a:r>
          </a:p>
          <a:p>
            <a:pPr lvl="1" algn="justLow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Topologie logique: la manière dont les messages sont envoyés (comment envoyer un message d'une machine à une autre)</a:t>
            </a:r>
            <a:endParaRPr lang="en-US" sz="20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1C3B6-C309-4941-9BE5-96B1ADF1E1D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2229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Topologie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 bus :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L'un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premiers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était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 des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câbles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coaxiaux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s’agissait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essentiellement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d’un long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câble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auquel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appareils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étaient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connectés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Au bout du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câble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fallait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placer un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terminateur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Si 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câble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votre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907B4-8B4D-481C-9E4D-DFFDDAB1C955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57738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57C032-5422-46F5-91C4-9999857FAF61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3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3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ordinateurs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périphériques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connectés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 un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câble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derniers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appareils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connectés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former un «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anneau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». Si 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câble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votre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également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configuration « double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anneau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» pour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redondance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s'agit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simplement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d'un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câble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garantir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câble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tombe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votre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tombera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8573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appareils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ordinateurs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connectés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un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appareil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central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créant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étoile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nous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utilisons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 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(LAN) avec un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commutateur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 milieu.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907B4-8B4D-481C-9E4D-DFFDDAB1C955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09639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routeur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autres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routeurs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Ceci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sûr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très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résistant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aux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pannes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puisqu’une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défaillance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d’un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seul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lien ne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tomber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l’arrêt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L’inconvénient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configuration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qu’elle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très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coûteuse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907B4-8B4D-481C-9E4D-DFFDDAB1C955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86737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032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A9D2D-8AEA-ED48-B02A-2692E4F3A1E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r" defTabSz="903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topologie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chemin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emprunté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données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travers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topologie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physique.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2026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57C032-5422-46F5-91C4-9999857FAF61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3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3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Certains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composants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Ordinateurs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personnels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(PC) 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point final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votre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envoie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reçoit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données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Interconnexions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composants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garantissent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données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peuvent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voyager d'un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appareil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un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vous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devez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penser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 :</a:t>
            </a:r>
            <a:endParaRPr lang="fr-FR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Cartes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traduisent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données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votre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ordinateur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format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lisible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Médias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câbles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peut-être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sans fil.</a:t>
            </a:r>
            <a:endParaRPr lang="fr-FR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Connecteurs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vous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branchez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votre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carte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Commutateurs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boîtiers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périphériques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fournissent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connexion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appareils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PC.</a:t>
            </a:r>
            <a:endParaRPr lang="fr-FR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Routeurs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routeurs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interconnectent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choisissent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meilleur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chemin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destination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réseau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2788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1C3B6-C309-4941-9BE5-96B1ADF1E1D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5772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hub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n'est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plus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qu'un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répéteur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physique,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s'il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reçoit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signal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électrique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interface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répétera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l'envoyant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interfaces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n'y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pas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d'intelligence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hub 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fonctionne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sur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couche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physique du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OSI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périphérique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couche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1).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907B4-8B4D-481C-9E4D-DFFDDAB1C955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02803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907B4-8B4D-481C-9E4D-DFFDDAB1C955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346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ordinateurs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collision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commenceront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brouiller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support physique 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garantira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d’autre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transmettre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ordinateurs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démarrent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chacun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horloge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aléatoire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Lorsque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temps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l'horloge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aléatoire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écoulé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retransmettent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Puisque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l'horloge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aléatoire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ordinateurs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auront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minuterie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différente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l'un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d'eux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enverra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données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l'autre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bloquant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support physique, nous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certains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qu'aucun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ordinateur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n'aura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possibilité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d'envoyer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données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907B4-8B4D-481C-9E4D-DFFDDAB1C955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42696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032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10F313-F4E8-6A4B-82FA-A32BA21FFF05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r" defTabSz="903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fr-FR" dirty="0"/>
              <a:t>La bande passante représente la capacité maximale théorique d'un canal de communication à transmettre des données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3206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032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A37E62-235D-9D4B-BA21-5D843E892E68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r" defTabSz="903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Débit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fr-FR" dirty="0"/>
              <a:t>la quantité réelle de données qui est effectivement transmise sur un canal de communication pendant un certain laps de temps</a:t>
            </a:r>
          </a:p>
          <a:p>
            <a:pPr>
              <a:lnSpc>
                <a:spcPct val="80000"/>
              </a:lnSpc>
              <a:buFontTx/>
              <a:buNone/>
            </a:pPr>
            <a:endParaRPr lang="fr-FR" dirty="0"/>
          </a:p>
          <a:p>
            <a:pPr>
              <a:lnSpc>
                <a:spcPct val="80000"/>
              </a:lnSpc>
              <a:buFontTx/>
              <a:buNone/>
            </a:pPr>
            <a:r>
              <a:rPr lang="fr-FR" dirty="0"/>
              <a:t>En résumé, la bande passante représente le potentiel maximal de transmission de données, tandis que le débit est la mesure réelle de la quantité de données transmises à un moment donné.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0460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/>
              <a:t>Modèle conceptuel qui caractérise et normalise les fonctions de communication d'un système de télécommunication ou informatique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1C3B6-C309-4941-9BE5-96B1ADF1E1D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21162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/>
              <a:t>La séparation des couches fait que les modifications d'une couche n'affectent pas les autres couches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1C3B6-C309-4941-9BE5-96B1ADF1E1D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34162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1C3B6-C309-4941-9BE5-96B1ADF1E1D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22010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032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5199D4-13D0-3644-A9E9-7CFB82FD4B4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r" defTabSz="903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/>
              <a:t>Section 3.3.1.3</a:t>
            </a:r>
          </a:p>
        </p:txBody>
      </p:sp>
    </p:spTree>
    <p:extLst>
      <p:ext uri="{BB962C8B-B14F-4D97-AF65-F5344CB8AC3E}">
        <p14:creationId xmlns:p14="http://schemas.microsoft.com/office/powerpoint/2010/main" val="30691444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032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90F82D-02B1-2C4D-A57F-953BFB99D964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r" defTabSz="903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/>
              <a:t>Section 3.3.1.4</a:t>
            </a:r>
          </a:p>
        </p:txBody>
      </p:sp>
    </p:spTree>
    <p:extLst>
      <p:ext uri="{BB962C8B-B14F-4D97-AF65-F5344CB8AC3E}">
        <p14:creationId xmlns:p14="http://schemas.microsoft.com/office/powerpoint/2010/main" val="13686974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Reçoit les paquets de données de la couche réseau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Convertit les </a:t>
            </a:r>
            <a:r>
              <a:rPr lang="fr-FR" dirty="0" err="1"/>
              <a:t>packets</a:t>
            </a:r>
            <a:r>
              <a:rPr lang="fr-FR" dirty="0"/>
              <a:t> en trames en insérant :</a:t>
            </a:r>
          </a:p>
          <a:p>
            <a:r>
              <a:rPr lang="fr-FR" dirty="0"/>
              <a:t>Adresse physique de l'expéditeur et du destinataire, Erreur de vérification et informations de contrôle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 contrôle garantit que les trames ont été livrés sans problème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Si une partie de la trame est perdue pendant la transmission, alors:</a:t>
            </a:r>
          </a:p>
          <a:p>
            <a:r>
              <a:rPr lang="fr-FR" dirty="0"/>
              <a:t>La couche liaison de données du destinataire demande la retransmission des données depuis l'expéditeur</a:t>
            </a:r>
          </a:p>
          <a:p>
            <a:r>
              <a:rPr lang="fr-FR" dirty="0" err="1"/>
              <a:t>switchs</a:t>
            </a:r>
            <a:r>
              <a:rPr lang="fr-FR" dirty="0"/>
              <a:t>  et de ponts fonctionnent dans la couche liaison de données</a:t>
            </a:r>
          </a:p>
          <a:p>
            <a:endParaRPr lang="fr-FR" dirty="0"/>
          </a:p>
          <a:p>
            <a:r>
              <a:rPr lang="fr-FR" dirty="0"/>
              <a:t>La couche liaison de données a été divisée en deux sous-couches par l'IEEE comme suit:</a:t>
            </a:r>
          </a:p>
          <a:p>
            <a:r>
              <a:rPr lang="fr-FR" dirty="0"/>
              <a:t>La sous-couche supérieure s'appelle </a:t>
            </a:r>
            <a:r>
              <a:rPr lang="fr-FR" dirty="0" err="1"/>
              <a:t>Logical</a:t>
            </a:r>
            <a:r>
              <a:rPr lang="fr-FR" dirty="0"/>
              <a:t> Link Control (LLC) et ne communique qu'avec la couche réseau et fournit les fonctions suivantes:</a:t>
            </a:r>
          </a:p>
          <a:p>
            <a:r>
              <a:rPr lang="fr-FR" dirty="0"/>
              <a:t>Fiabilité d'un saut à l'autre</a:t>
            </a:r>
          </a:p>
          <a:p>
            <a:r>
              <a:rPr lang="fr-FR" dirty="0"/>
              <a:t>Contrôle de flux hop-to-hop</a:t>
            </a:r>
          </a:p>
          <a:p>
            <a:r>
              <a:rPr lang="fr-FR" dirty="0"/>
              <a:t>La sous-couche inférieure est Media Access Control (MAC), responsable des tâches suivantes:</a:t>
            </a:r>
          </a:p>
          <a:p>
            <a:r>
              <a:rPr lang="fr-FR" dirty="0"/>
              <a:t>Ajouter une adresse physique au cadre</a:t>
            </a:r>
          </a:p>
          <a:p>
            <a:r>
              <a:rPr lang="fr-FR" dirty="0"/>
              <a:t>Communication avec la couche physique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1C3B6-C309-4941-9BE5-96B1ADF1E1D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79662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fr-FR" sz="1200" dirty="0"/>
              <a:t>Principales responsabilités des protocoles de la couche de transport</a:t>
            </a:r>
          </a:p>
          <a:p>
            <a:pPr>
              <a:buFont typeface="Wingdings" pitchFamily="2" charset="2"/>
              <a:buNone/>
              <a:defRPr/>
            </a:pPr>
            <a:r>
              <a:rPr lang="fr-FR" sz="1200" dirty="0"/>
              <a:t>Suivi de la communication entre les applications sur les hôtes source et de destination</a:t>
            </a:r>
          </a:p>
          <a:p>
            <a:pPr>
              <a:buFont typeface="Wingdings" pitchFamily="2" charset="2"/>
              <a:buNone/>
              <a:defRPr/>
            </a:pPr>
            <a:r>
              <a:rPr lang="fr-FR" sz="1200" dirty="0"/>
              <a:t>Segmentation des données pour faciliter la gestion et réassemblage des données segmentées en flux de données d'application à la destination</a:t>
            </a:r>
          </a:p>
          <a:p>
            <a:pPr>
              <a:buFont typeface="Wingdings" pitchFamily="2" charset="2"/>
              <a:buNone/>
              <a:defRPr/>
            </a:pPr>
            <a:r>
              <a:rPr lang="fr-FR" sz="1200" dirty="0"/>
              <a:t>deux protocoles pour y parvenir:</a:t>
            </a:r>
          </a:p>
          <a:p>
            <a:pPr>
              <a:buFont typeface="Wingdings" pitchFamily="2" charset="2"/>
              <a:buNone/>
              <a:defRPr/>
            </a:pPr>
            <a:r>
              <a:rPr lang="fr-FR" sz="1200" dirty="0"/>
              <a:t>Protocole de contrôle de transmission (TCP)</a:t>
            </a:r>
          </a:p>
          <a:p>
            <a:pPr>
              <a:buFont typeface="Wingdings" pitchFamily="2" charset="2"/>
              <a:buNone/>
              <a:defRPr/>
            </a:pPr>
            <a:r>
              <a:rPr lang="fr-FR" sz="1200" dirty="0"/>
              <a:t>Protocole de datagramme utilisateur (UDP)</a:t>
            </a:r>
          </a:p>
          <a:p>
            <a:pPr>
              <a:buFont typeface="Wingdings" pitchFamily="2" charset="2"/>
              <a:buNone/>
              <a:defRPr/>
            </a:pPr>
            <a:r>
              <a:rPr lang="fr-FR" sz="1200" dirty="0"/>
              <a:t>Identifier la bonne application pour chaque flux de communication</a:t>
            </a:r>
            <a:endParaRPr lang="en-US" altLang="ja-JP" sz="1200" dirty="0">
              <a:ea typeface="ＭＳ Ｐゴシック" pitchFamily="34" charset="-128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1C3B6-C309-4941-9BE5-96B1ADF1E1D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99356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standardiser les protocoles de réseau de données pour permettre la communication entre tous les ordinateurs</a:t>
            </a:r>
          </a:p>
          <a:p>
            <a:r>
              <a:rPr lang="fr-FR" dirty="0"/>
              <a:t>la planète entière. L’ISO a travaillé à la réalisation de cet objectif ambitieux et noble, avec des participants de</a:t>
            </a:r>
          </a:p>
          <a:p>
            <a:r>
              <a:rPr lang="fr-FR" dirty="0"/>
              <a:t>la plupart des pays technologiquement développés sur Terre participant au processus.</a:t>
            </a:r>
          </a:p>
          <a:p>
            <a:r>
              <a:rPr lang="fr-FR" dirty="0"/>
              <a:t>Un deuxième effort moins formel pour créer un modèle de réseau public ouvert, indépendant du vendeur.</a:t>
            </a:r>
          </a:p>
          <a:p>
            <a:r>
              <a:rPr lang="fr-FR" dirty="0"/>
              <a:t>germé d’un contrat avec le département américain de la Défense (DoD). Des chercheurs à divers</a:t>
            </a:r>
          </a:p>
          <a:p>
            <a:r>
              <a:rPr lang="fr-FR" dirty="0"/>
              <a:t>les universités se sont portées volontaires pour aider à développer plus avant les protocoles entourant le DoD original</a:t>
            </a:r>
          </a:p>
          <a:p>
            <a:r>
              <a:rPr lang="fr-FR" dirty="0"/>
              <a:t>travail. Ces efforts ont abouti à un modèle de réseau ouvert concurrent appelé TCP / IP.</a:t>
            </a:r>
          </a:p>
          <a:p>
            <a:r>
              <a:rPr lang="fr-FR" dirty="0"/>
              <a:t>Au cours des années 90, les entreprises ont commencé à ajouter OSI, TCP / IP, ou les deux, à leurs réseaux d'entreprise. Cependant, à la fin des années 90, TCP / IP était devenu le choix commun et</a:t>
            </a:r>
          </a:p>
          <a:p>
            <a:r>
              <a:rPr lang="fr-FR" dirty="0"/>
              <a:t>OSI est tombé. Ici, au XXIe siècle, TCP / IP domine. Modèles de réseau propriétaires encore</a:t>
            </a:r>
          </a:p>
          <a:p>
            <a:r>
              <a:rPr lang="fr-FR" dirty="0"/>
              <a:t>existent, mais ils ont été pour la plupart rejetés en faveur de TCP / IP. Le modèle OSI, dont</a:t>
            </a:r>
          </a:p>
          <a:p>
            <a:r>
              <a:rPr lang="fr-FR" dirty="0"/>
              <a:t>le développement a en partie souffert du ralentissement du processus de normalisation formelle par rapport à TCP / IP, qui n’a jamais abouti sur le marché. Et TCP / IP, le modèle de réseau</a:t>
            </a:r>
          </a:p>
          <a:p>
            <a:r>
              <a:rPr lang="fr-FR" dirty="0"/>
              <a:t>créé à l'origine presque entièrement par un groupe de bénévoles, est devenu le plus prolifique des</a:t>
            </a:r>
          </a:p>
          <a:p>
            <a:r>
              <a:rPr lang="fr-FR" dirty="0"/>
              <a:t>modèle de réseau,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1C3B6-C309-4941-9BE5-96B1ADF1E1D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55009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avons évoquer le modèle </a:t>
            </a:r>
            <a:r>
              <a:rPr lang="fr-FR" dirty="0" err="1"/>
              <a:t>osi</a:t>
            </a:r>
            <a:r>
              <a:rPr lang="fr-FR" dirty="0"/>
              <a:t> qui vise standardiser les protocoles de réseau de données pour permettre la communication entre tous les ordinateurs la planète entière.  indépendant du vendeur. un autre modèle de réseau ouvert a été développé et qui est concurrent au modèle </a:t>
            </a:r>
            <a:r>
              <a:rPr lang="fr-FR" dirty="0" err="1"/>
              <a:t>osi</a:t>
            </a:r>
            <a:r>
              <a:rPr lang="fr-FR" dirty="0"/>
              <a:t> est le TCP / IP.</a:t>
            </a:r>
          </a:p>
          <a:p>
            <a:r>
              <a:rPr lang="fr-FR" dirty="0"/>
              <a:t>Au cours des années 90, les entreprises ont commencé à ajouter OSI, TCP / IP, ou les deux, à leurs réseaux d'entreprise. Cependant, à la fin des années 90, TCP / IP était devenu le choix commun , Ici, au XXIe siècle, TCP / IP domine. Le modèle OSI  a  souffert du ralentissement du processus de normalisation formelle par rapport à TCP / IP, D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1C3B6-C309-4941-9BE5-96B1ADF1E1D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76433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Le modèle OSI présente de nombreuses similitudes avec le modèle TCP / IP du point de vue conceptuel de base.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La Figure  compare le modèle OSI à sept couches aux modèles à quatre couches du Modèles TCP / IP ou chaque couche définit un ensemble de fonctions réseau typiques.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1C3B6-C309-4941-9BE5-96B1ADF1E1D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08860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907B4-8B4D-481C-9E4D-DFFDDAB1C955}" type="slidenum">
              <a:rPr lang="fr-FR" smtClean="0"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431667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Low">
              <a:buFont typeface="Wingdings" panose="05000000000000000000" pitchFamily="2" charset="2"/>
              <a:buChar char="§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907B4-8B4D-481C-9E4D-DFFDDAB1C955}" type="slidenum">
              <a:rPr lang="fr-FR" smtClean="0"/>
              <a:t>62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60508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032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7AF211-02D4-CA4C-B739-BDD3E82BAC44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r" defTabSz="903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fr-FR" dirty="0"/>
              <a:t> L'infrastructure réseau peut varier considérablement en termes de taille, de nombre d'utilisateurs, ainsi que du nombre et des types de services pris en charge.</a:t>
            </a:r>
          </a:p>
        </p:txBody>
      </p:sp>
    </p:spTree>
    <p:extLst>
      <p:ext uri="{BB962C8B-B14F-4D97-AF65-F5344CB8AC3E}">
        <p14:creationId xmlns:p14="http://schemas.microsoft.com/office/powerpoint/2010/main" val="962363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933D13-70FE-49CA-92F0-4DEC33513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75912AC-5822-43A5-8E5D-14AD4B629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CECA52-0778-4FC0-ACC5-6C8FEE64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CDA88-C7F6-470B-A323-28807FD1CA0C}" type="datetimeFigureOut">
              <a:rPr lang="fr-FR" smtClean="0"/>
              <a:t>06/06/2024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50317A-6DA3-42E2-9863-CD737AFAA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FC88C4-542E-4A08-A9FE-88CDCCAD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B53E8-85D7-4699-903E-29F0A4048A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0193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68FDF3-5C88-4C59-9071-3B506CAD8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7C856E-26DD-4B87-98E1-946586467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3A9E44-0E9D-4F16-B139-F88C79FDF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CDA88-C7F6-470B-A323-28807FD1CA0C}" type="datetimeFigureOut">
              <a:rPr lang="fr-FR" smtClean="0"/>
              <a:t>06/06/2024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C53EA7-717C-4E53-8B0F-3C7115688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4B2E25-1FEC-420A-87FD-6E1E8FFA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B53E8-85D7-4699-903E-29F0A4048A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6824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B7426E-DD32-448D-9F38-D4D937F76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689DB8-618C-4396-B320-E3CE327FE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638388-4CCA-4B6C-A9A7-37209A430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CDA88-C7F6-470B-A323-28807FD1CA0C}" type="datetimeFigureOut">
              <a:rPr lang="fr-FR" smtClean="0"/>
              <a:t>06/06/2024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B384D2-3B1B-4950-B85B-8C54FE800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28CD8B-C273-486D-A02C-76FF11B7C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B53E8-85D7-4699-903E-29F0A4048A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2611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3E15DF-76BA-4358-B9DC-E7238180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297DB4-8053-4EAF-84C6-58AE78D2A2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0DBB98-F909-4F42-B81B-C0B98AD70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F66107F-E9C6-40B8-83D6-85DEABF27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CDA88-C7F6-470B-A323-28807FD1CA0C}" type="datetimeFigureOut">
              <a:rPr lang="fr-FR" smtClean="0"/>
              <a:t>06/06/2024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51B8292-234F-49E7-A007-A72E7F102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08F2779-DF7E-47D5-AED1-00E6A7532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B53E8-85D7-4699-903E-29F0A4048A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2463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E9FA77-EAE3-4E8B-AF08-21705107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6A07BA-F446-4A33-BA83-A9D86C2B0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C4AC510-104B-4B07-A977-6715BFB58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EA990B0-6CE5-45A9-8EF5-A023A7ED5E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F1356AD-3AF9-4BCD-AB61-30484C1B6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DA61BC6-293A-4165-98E7-29DA1BDF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CDA88-C7F6-470B-A323-28807FD1CA0C}" type="datetimeFigureOut">
              <a:rPr lang="fr-FR" smtClean="0"/>
              <a:t>06/06/2024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C5D08E1-9407-408C-B530-B8487E94D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FF01A06-9BFD-4E52-B76E-FB040BCDF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B53E8-85D7-4699-903E-29F0A4048A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9523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32937A-B518-4F6A-A65B-206C3702B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B9FD1B6-E00E-4CCE-A282-F0D94AC08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CDA88-C7F6-470B-A323-28807FD1CA0C}" type="datetimeFigureOut">
              <a:rPr lang="fr-FR" smtClean="0"/>
              <a:t>06/06/2024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743372C-F830-45CD-BDCD-4965A4081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2D8ABAD-A086-4A53-B4E4-F68950A82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B53E8-85D7-4699-903E-29F0A4048A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1766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6F90696-4B4F-4D02-859A-B69905A0A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CDA88-C7F6-470B-A323-28807FD1CA0C}" type="datetimeFigureOut">
              <a:rPr lang="fr-FR" smtClean="0"/>
              <a:t>06/06/2024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4D4C1DA-106D-4A1E-A7BF-C0B116A4A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650D40-6C5A-4D02-8742-430A66D4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B53E8-85D7-4699-903E-29F0A4048A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637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801EF8-E1D7-4BA6-A05A-B4CCF2F4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BE8BF5-40EB-46C1-8D32-D3F3FC335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1B2242D-92D4-46DB-982C-B4D5CDD50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EA70C3-752F-4827-906E-DE5389C77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CDA88-C7F6-470B-A323-28807FD1CA0C}" type="datetimeFigureOut">
              <a:rPr lang="fr-FR" smtClean="0"/>
              <a:t>06/06/2024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66563F-CF0E-4475-990C-BC74D4300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CD01CC0-3FD1-40F2-B7A3-BA0FB726F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B53E8-85D7-4699-903E-29F0A4048A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461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D9531E-7461-4AE1-9549-28A422E0A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7197EC2-C83C-436B-9D99-81C05FCAE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52E3A9E-2ED0-456D-B38D-04B54D118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95595B-303D-4C2C-899A-0C793F3AD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CDA88-C7F6-470B-A323-28807FD1CA0C}" type="datetimeFigureOut">
              <a:rPr lang="fr-FR" smtClean="0"/>
              <a:t>06/06/2024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4B45310-8BA2-479C-AED5-AF7BF67A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9BC25E-5941-4316-8D74-B1823DFBC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B53E8-85D7-4699-903E-29F0A4048A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8368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DD40BF-7DC4-41CC-A598-5291F76E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8B887CF-32EF-4C92-9A68-BF5E6F651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C42863-3B90-4E6D-A358-5081BEEF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CDA88-C7F6-470B-A323-28807FD1CA0C}" type="datetimeFigureOut">
              <a:rPr lang="fr-FR" smtClean="0"/>
              <a:t>06/06/2024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C0E725-8D40-4049-8D28-5DF4B8AC6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8062E9-7AA8-4B20-8F4E-01957E67E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B53E8-85D7-4699-903E-29F0A4048A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0101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5FB269F-6FFA-4779-AEA9-CEB5A6A5CA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6AEA789-7F82-4F36-9B22-07E96EB16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9CF1EC-27B4-4D10-A971-D8E32C780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CDA88-C7F6-470B-A323-28807FD1CA0C}" type="datetimeFigureOut">
              <a:rPr lang="fr-FR" smtClean="0"/>
              <a:t>06/06/2024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2CF0F3-A182-4311-B9AA-B539B2B6A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121283-6AD9-4766-A698-B07939278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B53E8-85D7-4699-903E-29F0A4048A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7685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1350"/>
            <a:ext cx="12192000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5998634" y="6670529"/>
            <a:ext cx="2041365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9479716" y="6670529"/>
            <a:ext cx="885601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Cisco Confidential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258234" y="6672263"/>
            <a:ext cx="1282700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11492633" y="6624363"/>
            <a:ext cx="396684" cy="23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7F1BC4EF-034A-F647-AA58-B71D58802FDB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‹N°›</a:t>
            </a:fld>
            <a:endParaRPr lang="en-US" sz="100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967" y="5940426"/>
            <a:ext cx="4472517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85" y="119064"/>
            <a:ext cx="15621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414867" y="2671763"/>
            <a:ext cx="5024967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414867" y="4672013"/>
            <a:ext cx="5471584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34250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73101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17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4185" y="2014539"/>
            <a:ext cx="5192183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9567" y="2014539"/>
            <a:ext cx="5192184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1782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756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77777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61048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79129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5186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74862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21234" y="798513"/>
            <a:ext cx="2713567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4185" y="798513"/>
            <a:ext cx="7943849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9437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BA09A4A-C261-4921-989C-594B393E7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83D0895-9C0A-43A4-A112-517183CDF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0F2C7B-D0CA-4AD7-96FD-F7018C528D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CDA88-C7F6-470B-A323-28807FD1CA0C}" type="datetimeFigureOut">
              <a:rPr lang="fr-FR" smtClean="0"/>
              <a:t>06/06/2024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CD5F6D-B363-4518-9439-A7AE2DD2E9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BDFE58-D38C-4AA5-BF54-7A33C4256C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EB53E8-85D7-4699-903E-29F0A4048A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342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258492" y="394392"/>
            <a:ext cx="11696209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3075" name="Rectangle 6281"/>
          <p:cNvSpPr>
            <a:spLocks noChangeArrowheads="1"/>
          </p:cNvSpPr>
          <p:nvPr/>
        </p:nvSpPr>
        <p:spPr bwMode="auto">
          <a:xfrm>
            <a:off x="258234" y="6672263"/>
            <a:ext cx="1282700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3076" name="Rectangle 6282"/>
          <p:cNvSpPr>
            <a:spLocks noChangeArrowheads="1"/>
          </p:cNvSpPr>
          <p:nvPr/>
        </p:nvSpPr>
        <p:spPr bwMode="auto">
          <a:xfrm>
            <a:off x="11492633" y="6624363"/>
            <a:ext cx="396684" cy="23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6084AB3D-AE30-934E-B0BC-A74C2CCEE444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‹N°›</a:t>
            </a:fld>
            <a:endParaRPr lang="en-US" sz="1000">
              <a:solidFill>
                <a:srgbClr val="D3D3D3"/>
              </a:solidFill>
            </a:endParaRPr>
          </a:p>
        </p:txBody>
      </p:sp>
      <p:sp>
        <p:nvSpPr>
          <p:cNvPr id="3077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4146" y="1539503"/>
            <a:ext cx="11644903" cy="4926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78" name="Rectangle 6312"/>
          <p:cNvSpPr>
            <a:spLocks noChangeArrowheads="1"/>
          </p:cNvSpPr>
          <p:nvPr/>
        </p:nvSpPr>
        <p:spPr bwMode="auto">
          <a:xfrm>
            <a:off x="5998634" y="6670529"/>
            <a:ext cx="2041365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3079" name="Rectangle 6313"/>
          <p:cNvSpPr>
            <a:spLocks noChangeArrowheads="1"/>
          </p:cNvSpPr>
          <p:nvPr/>
        </p:nvSpPr>
        <p:spPr bwMode="auto">
          <a:xfrm>
            <a:off x="9479716" y="6670529"/>
            <a:ext cx="885601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Cisco Confidential</a:t>
            </a:r>
          </a:p>
        </p:txBody>
      </p:sp>
      <p:pic>
        <p:nvPicPr>
          <p:cNvPr id="3080" name="Picture 8" descr="Rev08_Cisco_BrandBar10_060408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796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ＭＳ Ｐゴシック" charset="0"/>
          <a:cs typeface="ＭＳ Ｐゴシック" charset="0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charset="0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26473" y="2263775"/>
            <a:ext cx="5163127" cy="1481138"/>
          </a:xfrm>
        </p:spPr>
        <p:txBody>
          <a:bodyPr/>
          <a:lstStyle/>
          <a:p>
            <a:pPr eaLnBrk="1" hangingPunct="1"/>
            <a:r>
              <a:rPr lang="en-US" sz="3200" dirty="0">
                <a:solidFill>
                  <a:schemeClr val="bg1"/>
                </a:solidFill>
                <a:latin typeface="Arial" charset="0"/>
              </a:rPr>
              <a:t>Initiation aux réseaux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BB12028-949A-4166-91C1-EB97E9695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0" y="5140036"/>
            <a:ext cx="6180281" cy="171796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102DF75-2F1B-4069-B518-2A12996F5271}"/>
              </a:ext>
            </a:extLst>
          </p:cNvPr>
          <p:cNvSpPr txBox="1"/>
          <p:nvPr/>
        </p:nvSpPr>
        <p:spPr>
          <a:xfrm>
            <a:off x="9351833" y="5869772"/>
            <a:ext cx="25266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Amina KHARBACH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FF20988-826B-4E8F-91C4-78C0C75AD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26675"/>
            <a:ext cx="2559627" cy="1187451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11572199" cy="1499616"/>
          </a:xfrm>
        </p:spPr>
        <p:txBody>
          <a:bodyPr>
            <a:normAutofit/>
          </a:bodyPr>
          <a:lstStyle/>
          <a:p>
            <a:r>
              <a:rPr lang="fr-FR" dirty="0"/>
              <a:t>Objectifs Globaux du cours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803CAF-2B03-453C-88CD-768AE6045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7838"/>
            <a:ext cx="10489848" cy="2828453"/>
          </a:xfrm>
        </p:spPr>
        <p:txBody>
          <a:bodyPr>
            <a:noAutofit/>
          </a:bodyPr>
          <a:lstStyle/>
          <a:p>
            <a:pPr marL="635000" indent="-63500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 err="1"/>
              <a:t>Acquérir</a:t>
            </a:r>
            <a:r>
              <a:rPr lang="en-US" sz="2400" dirty="0"/>
              <a:t> des </a:t>
            </a:r>
            <a:r>
              <a:rPr lang="en-US" sz="2400" dirty="0" err="1"/>
              <a:t>connaissances</a:t>
            </a:r>
            <a:r>
              <a:rPr lang="en-US" sz="2400" dirty="0"/>
              <a:t> </a:t>
            </a:r>
            <a:r>
              <a:rPr lang="en-US" sz="2400" dirty="0" err="1"/>
              <a:t>fondamentales</a:t>
            </a:r>
            <a:r>
              <a:rPr lang="en-US" sz="2400" dirty="0"/>
              <a:t> sur les </a:t>
            </a:r>
            <a:r>
              <a:rPr lang="en-US" sz="2400" dirty="0" err="1"/>
              <a:t>réseaux</a:t>
            </a:r>
            <a:r>
              <a:rPr lang="en-US" sz="2400" dirty="0"/>
              <a:t> </a:t>
            </a:r>
            <a:r>
              <a:rPr lang="en-US" sz="2400" dirty="0" err="1"/>
              <a:t>informatques</a:t>
            </a:r>
            <a:endParaRPr lang="en-US" sz="2400" dirty="0"/>
          </a:p>
          <a:p>
            <a:pPr marL="635000" indent="-63500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fr-FR" sz="2400" dirty="0"/>
              <a:t> Savoir comment plusieurs réseaux sont utilisés dans la vie quotidienne</a:t>
            </a:r>
          </a:p>
          <a:p>
            <a:pPr marL="635000" indent="-63500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fr-FR" sz="2400" dirty="0"/>
              <a:t>Apprendre les topologies et les périphériques utilisés dans un réseau de petite à moyenne taille.</a:t>
            </a:r>
          </a:p>
          <a:p>
            <a:pPr marL="635000" indent="-63500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fr-FR" sz="2400" dirty="0"/>
              <a:t>Apprendre les caractéristiques de base d'un réseau prenant en charge la communication dans une petite ou moyenne entreprise</a:t>
            </a:r>
            <a:r>
              <a:rPr lang="fr-FR" sz="2800" dirty="0"/>
              <a:t>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7EDF3B-0FA9-48D5-A4DC-EE9D6457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3289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11572199" cy="1499616"/>
          </a:xfrm>
        </p:spPr>
        <p:txBody>
          <a:bodyPr>
            <a:normAutofit/>
          </a:bodyPr>
          <a:lstStyle/>
          <a:p>
            <a:r>
              <a:rPr lang="fr-FR" dirty="0"/>
              <a:t>Qu’est ce qu’un réseau informatique?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803CAF-2B03-453C-88CD-768AE6045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4798174" cy="2416629"/>
          </a:xfrm>
        </p:spPr>
        <p:txBody>
          <a:bodyPr>
            <a:normAutofit fontScale="92500"/>
          </a:bodyPr>
          <a:lstStyle/>
          <a:p>
            <a:pPr algn="justLow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800" dirty="0"/>
              <a:t> Un groupe d'ordinateurs (hôtes) et de périphériques connectés via un support de transmission</a:t>
            </a:r>
            <a:endParaRPr lang="en-US" sz="280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E37F413-F46E-4EC8-A11E-3103AF49AB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914" y="2285999"/>
            <a:ext cx="5754298" cy="3821213"/>
          </a:xfrm>
          <a:prstGeom prst="rect">
            <a:avLst/>
          </a:prstGeom>
        </p:spPr>
      </p:pic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D9D6DA9D-EA6F-4355-8FAB-E0801357C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2974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11572199" cy="1499616"/>
          </a:xfrm>
        </p:spPr>
        <p:txBody>
          <a:bodyPr>
            <a:normAutofit/>
          </a:bodyPr>
          <a:lstStyle/>
          <a:p>
            <a:r>
              <a:rPr lang="fr-FR" dirty="0"/>
              <a:t>Réseaux dans notre vie passée et quotidienne</a:t>
            </a:r>
            <a:endParaRPr lang="en-US" dirty="0"/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BCC23EF0-AC7F-420A-A012-EDAC8F7010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-16126" r="-16126"/>
          <a:stretch>
            <a:fillRect/>
          </a:stretch>
        </p:blipFill>
        <p:spPr>
          <a:xfrm>
            <a:off x="512106" y="1884784"/>
            <a:ext cx="11431078" cy="4973216"/>
          </a:xfrm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C5E7AE56-8E68-4B0C-9EA8-D3CE692B6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65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Avantages et services du réseau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39D63A-291A-4892-940B-CA7ECDBDC2FF}"/>
              </a:ext>
            </a:extLst>
          </p:cNvPr>
          <p:cNvSpPr txBox="1">
            <a:spLocks/>
          </p:cNvSpPr>
          <p:nvPr/>
        </p:nvSpPr>
        <p:spPr>
          <a:xfrm>
            <a:off x="859448" y="1901948"/>
            <a:ext cx="9720073" cy="495605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Partage de ressources</a:t>
            </a:r>
          </a:p>
          <a:p>
            <a:pPr marL="265176" marR="0" lvl="1" indent="-13716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rgbClr val="1CADE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Ressources matérielles</a:t>
            </a:r>
          </a:p>
          <a:p>
            <a:pPr marL="448056" marR="0" lvl="2" indent="-13716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rgbClr val="1CADE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Périphériques d'ordinateur</a:t>
            </a:r>
          </a:p>
          <a:p>
            <a:pPr marL="448056" marR="0" lvl="2" indent="-13716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rgbClr val="1CADE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Supports de stockage</a:t>
            </a:r>
          </a:p>
          <a:p>
            <a:pPr marL="448056" marR="0" lvl="2" indent="-13716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rgbClr val="1CADE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Processeurs</a:t>
            </a:r>
          </a:p>
          <a:p>
            <a:pPr marL="265176" marR="0" lvl="1" indent="-13716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rgbClr val="1CADE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Ressources logicielles</a:t>
            </a:r>
          </a:p>
          <a:p>
            <a:pPr marL="448056" marR="0" lvl="2" indent="-13716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rgbClr val="1CADE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Partage de fichiers</a:t>
            </a:r>
          </a:p>
          <a:p>
            <a:pPr marL="448056" marR="0" lvl="2" indent="-13716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rgbClr val="1CADE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Bases de données</a:t>
            </a:r>
          </a:p>
          <a:p>
            <a:pPr marL="448056" marR="0" lvl="2" indent="-13716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rgbClr val="1CADE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Applications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Prestations de service</a:t>
            </a:r>
          </a:p>
          <a:p>
            <a:pPr marL="265176" marR="0" lvl="1" indent="-13716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rgbClr val="1CADE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Navigation et courrier électronique</a:t>
            </a:r>
          </a:p>
          <a:p>
            <a:pPr marL="265176" marR="0" lvl="1" indent="-13716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rgbClr val="1CADE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Appels vocaux et vidéoconférences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2C1DB3B7-8940-49E1-BC49-E618659A5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028" y="1585609"/>
            <a:ext cx="6183085" cy="5272391"/>
          </a:xfrm>
          <a:prstGeom prst="rect">
            <a:avLst/>
          </a:prstGeom>
        </p:spPr>
      </p:pic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C03C1E85-058C-4308-9C00-D1E9E7989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6317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Catégorisation</a:t>
            </a:r>
            <a:r>
              <a:rPr lang="en-US" dirty="0"/>
              <a:t> des réseaux </a:t>
            </a:r>
            <a:r>
              <a:rPr lang="en-US" dirty="0" err="1"/>
              <a:t>informatiques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24128" y="2084832"/>
            <a:ext cx="6460890" cy="4297680"/>
          </a:xfrm>
        </p:spPr>
        <p:txBody>
          <a:bodyPr>
            <a:noAutofit/>
          </a:bodyPr>
          <a:lstStyle/>
          <a:p>
            <a:pPr algn="justLow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Zone </a:t>
            </a:r>
            <a:r>
              <a:rPr lang="en-US" sz="2400" dirty="0" err="1"/>
              <a:t>géographique</a:t>
            </a:r>
            <a:endParaRPr lang="en-US" sz="2400" dirty="0"/>
          </a:p>
          <a:p>
            <a:pPr algn="justLow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Mode Transmission</a:t>
            </a:r>
          </a:p>
          <a:p>
            <a:pPr algn="justLow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  Type de </a:t>
            </a:r>
            <a:r>
              <a:rPr lang="en-US" sz="2400" dirty="0" err="1"/>
              <a:t>topologie</a:t>
            </a:r>
            <a:endParaRPr lang="en-US" sz="2400" dirty="0"/>
          </a:p>
          <a:p>
            <a:pPr algn="justLow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 Type </a:t>
            </a:r>
            <a:r>
              <a:rPr lang="en-US" sz="2400" dirty="0" err="1"/>
              <a:t>d’Administration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017" y="2084832"/>
            <a:ext cx="6277636" cy="3806815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3336245-5FF6-4929-B053-4F090FA64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1730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Zone </a:t>
            </a:r>
            <a:r>
              <a:rPr lang="en-US" sz="5400" dirty="0" err="1"/>
              <a:t>géographique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13581" y="2084832"/>
            <a:ext cx="5071871" cy="1358538"/>
          </a:xfrm>
        </p:spPr>
        <p:txBody>
          <a:bodyPr>
            <a:noAutofit/>
          </a:bodyPr>
          <a:lstStyle/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 </a:t>
            </a:r>
            <a:r>
              <a:rPr lang="en-US" sz="2400" dirty="0" err="1"/>
              <a:t>Réseau</a:t>
            </a:r>
            <a:r>
              <a:rPr lang="en-US" sz="2400" dirty="0"/>
              <a:t> LAN : Local Area Network</a:t>
            </a:r>
          </a:p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 </a:t>
            </a:r>
            <a:r>
              <a:rPr lang="en-US" sz="2400" dirty="0" err="1"/>
              <a:t>Réseau</a:t>
            </a:r>
            <a:r>
              <a:rPr lang="en-US" sz="2400" dirty="0"/>
              <a:t> WAN: Wide Area Network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062" y="1617989"/>
            <a:ext cx="6257388" cy="4654795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CC4E09-0EB7-4E2D-8B12-AE4E542E1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5947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Area Network (LAN)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02357" y="2349072"/>
            <a:ext cx="5071872" cy="4508928"/>
          </a:xfrm>
        </p:spPr>
        <p:txBody>
          <a:bodyPr>
            <a:noAutofit/>
          </a:bodyPr>
          <a:lstStyle/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Groupe d'ordinateurs connectés dans une petite zone géographique</a:t>
            </a:r>
          </a:p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Surface inférieure à 3 km (un bâtiment)</a:t>
            </a:r>
          </a:p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Utilisé pour partager des fichiers et des services</a:t>
            </a:r>
          </a:p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Haute vitesse de communication</a:t>
            </a:r>
          </a:p>
        </p:txBody>
      </p:sp>
      <p:pic>
        <p:nvPicPr>
          <p:cNvPr id="6" name="Picture 2" descr="C:\Users\T@rek EL-B@z\Desktop\network-diagram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4229" y="2446594"/>
            <a:ext cx="5366656" cy="350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7B990AA-613F-44BE-B67F-A298754EA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6319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Services des réseaux Locals (LAN)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908752" y="2156676"/>
            <a:ext cx="5104517" cy="3604044"/>
          </a:xfrm>
        </p:spPr>
        <p:txBody>
          <a:bodyPr>
            <a:normAutofit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Centralisation des ressources logicielles</a:t>
            </a:r>
          </a:p>
          <a:p>
            <a:pPr lvl="1" algn="justLow">
              <a:buFont typeface="Wingdings" panose="05000000000000000000" pitchFamily="2" charset="2"/>
              <a:buChar char="§"/>
            </a:pPr>
            <a:r>
              <a:rPr lang="fr-FR" sz="2000" dirty="0"/>
              <a:t> Des dossiers</a:t>
            </a:r>
          </a:p>
          <a:p>
            <a:pPr lvl="1" algn="justLow">
              <a:buFont typeface="Wingdings" panose="05000000000000000000" pitchFamily="2" charset="2"/>
              <a:buChar char="§"/>
            </a:pPr>
            <a:r>
              <a:rPr lang="fr-FR" sz="2000" dirty="0"/>
              <a:t> Bases de données</a:t>
            </a:r>
          </a:p>
          <a:p>
            <a:pPr lvl="1" algn="justLow">
              <a:buFont typeface="Wingdings" panose="05000000000000000000" pitchFamily="2" charset="2"/>
              <a:buChar char="§"/>
            </a:pPr>
            <a:r>
              <a:rPr lang="fr-FR" sz="2000" dirty="0"/>
              <a:t> Applications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Partage de périphériques matériels</a:t>
            </a:r>
          </a:p>
          <a:p>
            <a:pPr lvl="1" algn="justLow">
              <a:buFont typeface="Wingdings" panose="05000000000000000000" pitchFamily="2" charset="2"/>
              <a:buChar char="§"/>
            </a:pPr>
            <a:r>
              <a:rPr lang="fr-FR" sz="2000" dirty="0"/>
              <a:t> Imprimante</a:t>
            </a:r>
          </a:p>
          <a:p>
            <a:pPr lvl="1" algn="justLow">
              <a:buFont typeface="Wingdings" panose="05000000000000000000" pitchFamily="2" charset="2"/>
              <a:buChar char="§"/>
            </a:pPr>
            <a:r>
              <a:rPr lang="fr-FR" sz="2000" dirty="0"/>
              <a:t> Scanner</a:t>
            </a:r>
          </a:p>
          <a:p>
            <a:pPr lvl="1" algn="justLow">
              <a:buFont typeface="Wingdings" panose="05000000000000000000" pitchFamily="2" charset="2"/>
              <a:buChar char="§"/>
            </a:pPr>
            <a:r>
              <a:rPr lang="fr-FR" sz="2000" dirty="0"/>
              <a:t> Photocopieuse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731" y="2291987"/>
            <a:ext cx="5373189" cy="3962727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2750DBA-956B-489E-B81B-2844B5C33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8745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 Area Network (WAN)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24128" y="2363072"/>
            <a:ext cx="5071872" cy="4820194"/>
          </a:xfrm>
        </p:spPr>
        <p:txBody>
          <a:bodyPr>
            <a:noAutofit/>
          </a:bodyPr>
          <a:lstStyle/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Groupe d'ordinateurs connectés dans une grande zone géographique</a:t>
            </a:r>
          </a:p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Faible vitesse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89649" y="3216076"/>
            <a:ext cx="8453535" cy="348330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E0C1EA-FC34-42E8-A43C-CB09E163B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6247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Services des réseaux </a:t>
            </a:r>
            <a:r>
              <a:rPr lang="en-US" dirty="0" err="1"/>
              <a:t>Etendus</a:t>
            </a:r>
            <a:r>
              <a:rPr lang="en-US" dirty="0"/>
              <a:t> (WAN)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908753" y="2156676"/>
            <a:ext cx="3192984" cy="4270250"/>
          </a:xfrm>
        </p:spPr>
        <p:txBody>
          <a:bodyPr>
            <a:normAutofit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Services Web</a:t>
            </a:r>
          </a:p>
          <a:p>
            <a:pPr lvl="1" algn="justLow">
              <a:buFont typeface="Wingdings" panose="05000000000000000000" pitchFamily="2" charset="2"/>
              <a:buChar char="§"/>
            </a:pPr>
            <a:r>
              <a:rPr lang="fr-FR" sz="2000" dirty="0"/>
              <a:t> Navigation sur le Web</a:t>
            </a:r>
          </a:p>
          <a:p>
            <a:pPr lvl="1" algn="justLow">
              <a:buFont typeface="Wingdings" panose="05000000000000000000" pitchFamily="2" charset="2"/>
              <a:buChar char="§"/>
            </a:pPr>
            <a:r>
              <a:rPr lang="fr-FR" sz="2000" dirty="0"/>
              <a:t> Recherche Web</a:t>
            </a:r>
          </a:p>
          <a:p>
            <a:pPr lvl="1" algn="justLow">
              <a:buFont typeface="Wingdings" panose="05000000000000000000" pitchFamily="2" charset="2"/>
              <a:buChar char="§"/>
            </a:pPr>
            <a:r>
              <a:rPr lang="fr-FR" sz="2000" dirty="0"/>
              <a:t> Des médias sociaux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Echange des E-mails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Transfert de fichier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Appels vocaux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Visioconférence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280" y="2400401"/>
            <a:ext cx="5857765" cy="3395806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7B8926F-8866-45C3-AD53-643F8173D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6036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 de transmission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4619026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Simplex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Half-Duplex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Full-Duplex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715" y="2084832"/>
            <a:ext cx="8640146" cy="4558564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90D84B5-EE6E-49DF-AE51-290ECE311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156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48" y="864760"/>
            <a:ext cx="9720072" cy="1499616"/>
          </a:xfrm>
        </p:spPr>
        <p:txBody>
          <a:bodyPr/>
          <a:lstStyle/>
          <a:p>
            <a:r>
              <a:rPr lang="en-US" dirty="0"/>
              <a:t>Type </a:t>
            </a:r>
            <a:r>
              <a:rPr lang="en-US" dirty="0" err="1"/>
              <a:t>d’administration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931145" y="2128126"/>
            <a:ext cx="7130503" cy="1300874"/>
          </a:xfrm>
        </p:spPr>
        <p:txBody>
          <a:bodyPr>
            <a:normAutofit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en-US" sz="2400" dirty="0"/>
              <a:t> </a:t>
            </a:r>
            <a:r>
              <a:rPr lang="en-US" sz="2400" dirty="0" err="1"/>
              <a:t>Réseau</a:t>
            </a:r>
            <a:r>
              <a:rPr lang="en-US" sz="2400" dirty="0"/>
              <a:t> poste à poste : peer to peer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</a:t>
            </a:r>
            <a:r>
              <a:rPr lang="en-US" sz="2400" dirty="0" err="1"/>
              <a:t>Réeau</a:t>
            </a:r>
            <a:r>
              <a:rPr lang="en-US" sz="2400" dirty="0"/>
              <a:t> Client/</a:t>
            </a:r>
            <a:r>
              <a:rPr lang="en-US" sz="2400" dirty="0" err="1"/>
              <a:t>Serveur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539" y="3209731"/>
            <a:ext cx="8994710" cy="3406113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56B23C0-3A4A-43B8-B711-C0872FC4D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6401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Réseau</a:t>
            </a:r>
            <a:r>
              <a:rPr lang="en-US" dirty="0"/>
              <a:t> Peer-to-Peer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908753" y="2156676"/>
            <a:ext cx="6210504" cy="1410789"/>
          </a:xfrm>
        </p:spPr>
        <p:txBody>
          <a:bodyPr>
            <a:normAutofit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Chaque hôte a les mêmes privilèges administratifs</a:t>
            </a:r>
            <a:endParaRPr lang="en-US" sz="2400" dirty="0"/>
          </a:p>
          <a:p>
            <a:pPr algn="justLow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8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584" y="2967135"/>
            <a:ext cx="7569663" cy="3638938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D32ACC-F383-458C-BF3C-8838E0DE8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300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Réseau</a:t>
            </a:r>
            <a:r>
              <a:rPr lang="en-US" dirty="0"/>
              <a:t> Client/</a:t>
            </a:r>
            <a:r>
              <a:rPr lang="en-US" dirty="0" err="1"/>
              <a:t>Serveur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78122" y="2526355"/>
            <a:ext cx="6445993" cy="3030583"/>
          </a:xfrm>
        </p:spPr>
        <p:txBody>
          <a:bodyPr>
            <a:normAutofit lnSpcReduction="10000"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Certains hôtes se voient attribuer des rôles de serveur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Le serveur est supérieur en matériel et en logiciel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Les serveurs fournissent des ressources réseau aux hôtes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Les autres hôtes se voient attribuer des rôles du client</a:t>
            </a:r>
          </a:p>
          <a:p>
            <a:pPr marL="0" indent="0" algn="justLow">
              <a:buNone/>
            </a:pPr>
            <a:endParaRPr lang="en-US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4115" y="1551865"/>
            <a:ext cx="3925034" cy="4446597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7A00E3-0E8F-4A41-AA87-7B86F94C8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7308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</a:t>
            </a:r>
            <a:r>
              <a:rPr lang="en-US" dirty="0" err="1"/>
              <a:t>d’administration</a:t>
            </a:r>
            <a:endParaRPr lang="en-US"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BA973E1B-0E19-47F6-ACE4-524BAC7BA112}"/>
              </a:ext>
            </a:extLst>
          </p:cNvPr>
          <p:cNvGraphicFramePr>
            <a:graphicFrameLocks noGrp="1"/>
          </p:cNvGraphicFramePr>
          <p:nvPr/>
        </p:nvGraphicFramePr>
        <p:xfrm>
          <a:off x="541175" y="2084832"/>
          <a:ext cx="1145799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3918">
                  <a:extLst>
                    <a:ext uri="{9D8B030D-6E8A-4147-A177-3AD203B41FA5}">
                      <a16:colId xmlns:a16="http://schemas.microsoft.com/office/drawing/2014/main" val="2902531867"/>
                    </a:ext>
                  </a:extLst>
                </a:gridCol>
                <a:gridCol w="4889315">
                  <a:extLst>
                    <a:ext uri="{9D8B030D-6E8A-4147-A177-3AD203B41FA5}">
                      <a16:colId xmlns:a16="http://schemas.microsoft.com/office/drawing/2014/main" val="1386633138"/>
                    </a:ext>
                  </a:extLst>
                </a:gridCol>
                <a:gridCol w="4254758">
                  <a:extLst>
                    <a:ext uri="{9D8B030D-6E8A-4147-A177-3AD203B41FA5}">
                      <a16:colId xmlns:a16="http://schemas.microsoft.com/office/drawing/2014/main" val="1068600427"/>
                    </a:ext>
                  </a:extLst>
                </a:gridCol>
              </a:tblGrid>
              <a:tr h="598279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Peer-to-Peer</a:t>
                      </a:r>
                      <a:r>
                        <a:rPr lang="en-US" sz="2800" baseline="0" dirty="0"/>
                        <a:t> 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Client/Server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451553"/>
                  </a:ext>
                </a:extLst>
              </a:tr>
              <a:tr h="809436">
                <a:tc>
                  <a:txBody>
                    <a:bodyPr/>
                    <a:lstStyle/>
                    <a:p>
                      <a:pPr algn="justLow"/>
                      <a:r>
                        <a:rPr lang="en-US" sz="2400" dirty="0" err="1"/>
                        <a:t>Centralisation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Low"/>
                      <a:r>
                        <a:rPr lang="en-US" sz="2000" dirty="0"/>
                        <a:t>Pas de </a:t>
                      </a:r>
                      <a:r>
                        <a:rPr lang="en-US" sz="2000" dirty="0" err="1"/>
                        <a:t>serveur</a:t>
                      </a:r>
                      <a:r>
                        <a:rPr lang="en-US" sz="2000" dirty="0"/>
                        <a:t> central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Low"/>
                      <a:r>
                        <a:rPr lang="fr-FR" sz="2000" dirty="0"/>
                        <a:t>Tous les ordinateurs clients se connectent au serveur central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442023"/>
                  </a:ext>
                </a:extLst>
              </a:tr>
              <a:tr h="1161365">
                <a:tc>
                  <a:txBody>
                    <a:bodyPr/>
                    <a:lstStyle/>
                    <a:p>
                      <a:pPr algn="justLow"/>
                      <a:r>
                        <a:rPr lang="en-US" sz="2400" dirty="0"/>
                        <a:t>Stockage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Low"/>
                      <a:r>
                        <a:rPr lang="fr-FR" sz="2000" dirty="0"/>
                        <a:t>Chaque machine partage des fichiers à égalité avec les autres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F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Tous les fichiers / dossiers sont sur un serveur de stockage dédié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3537"/>
                  </a:ext>
                </a:extLst>
              </a:tr>
              <a:tr h="809436">
                <a:tc>
                  <a:txBody>
                    <a:bodyPr/>
                    <a:lstStyle/>
                    <a:p>
                      <a:pPr algn="justLow"/>
                      <a:r>
                        <a:rPr lang="en-US" sz="2400" dirty="0" err="1"/>
                        <a:t>Côut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Low"/>
                      <a:r>
                        <a:rPr lang="en-US" sz="2000" dirty="0"/>
                        <a:t>Pas </a:t>
                      </a:r>
                      <a:r>
                        <a:rPr lang="en-US" sz="2000" dirty="0" err="1"/>
                        <a:t>côuteux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Low"/>
                      <a:r>
                        <a:rPr lang="fr-FR" sz="2000" dirty="0"/>
                        <a:t>Cher en raison du coût du serveur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189926"/>
                  </a:ext>
                </a:extLst>
              </a:tr>
              <a:tr h="809436">
                <a:tc>
                  <a:txBody>
                    <a:bodyPr/>
                    <a:lstStyle/>
                    <a:p>
                      <a:pPr algn="justLow"/>
                      <a:r>
                        <a:rPr lang="en-US" sz="2400" dirty="0" err="1"/>
                        <a:t>L'évolutivité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Low"/>
                      <a:r>
                        <a:rPr lang="en-US" sz="2000" dirty="0"/>
                        <a:t>Maison </a:t>
                      </a:r>
                      <a:r>
                        <a:rPr lang="en-US" sz="2000" dirty="0" err="1"/>
                        <a:t>ou</a:t>
                      </a:r>
                      <a:r>
                        <a:rPr lang="en-US" sz="2000" dirty="0"/>
                        <a:t> petit bureau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Low"/>
                      <a:r>
                        <a:rPr lang="en-US" sz="2000" dirty="0" err="1"/>
                        <a:t>Moyennes</a:t>
                      </a:r>
                      <a:r>
                        <a:rPr lang="en-US" sz="2000" dirty="0"/>
                        <a:t> / </a:t>
                      </a:r>
                      <a:r>
                        <a:rPr lang="en-US" sz="2000" dirty="0" err="1"/>
                        <a:t>grandes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entreprises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810501"/>
                  </a:ext>
                </a:extLst>
              </a:tr>
            </a:tbl>
          </a:graphicData>
        </a:graphic>
      </p:graphicFrame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B97B76-9209-486D-92F9-D0FAD0CC0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6593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Topologies des reseaux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340526E4-7024-446A-BBCB-CDF241EF1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707" y="3459477"/>
            <a:ext cx="4774980" cy="3124203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4940BED2-7B7D-40A6-A5AC-A65508536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465576"/>
            <a:ext cx="5382181" cy="284378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FFC78A-7B8E-4C70-949C-0F14A5CB9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504" y="2286000"/>
            <a:ext cx="10734843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</a:t>
            </a:r>
            <a:r>
              <a:rPr lang="en-US" sz="2400" dirty="0" err="1"/>
              <a:t>Topologie</a:t>
            </a:r>
            <a:r>
              <a:rPr lang="en-US" sz="2400" dirty="0"/>
              <a:t> physique: </a:t>
            </a:r>
            <a:r>
              <a:rPr lang="fr-FR" sz="2400" dirty="0"/>
              <a:t>la manière physique dont le réseau est câblé 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</a:t>
            </a:r>
            <a:r>
              <a:rPr lang="en-US" sz="2400" dirty="0" err="1"/>
              <a:t>Topologie</a:t>
            </a:r>
            <a:r>
              <a:rPr lang="en-US" sz="2400" dirty="0"/>
              <a:t> </a:t>
            </a:r>
            <a:r>
              <a:rPr lang="en-US" sz="2400" dirty="0" err="1"/>
              <a:t>logique</a:t>
            </a:r>
            <a:r>
              <a:rPr lang="en-US" sz="2400" dirty="0"/>
              <a:t> : </a:t>
            </a:r>
            <a:r>
              <a:rPr lang="fr-FR" sz="2400" dirty="0"/>
              <a:t>la manière dont les messages sont envoyés </a:t>
            </a:r>
            <a:endParaRPr lang="en-US" sz="2400" dirty="0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C5F89059-83D8-461C-AA49-0C877722D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34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Topologies Physiques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4396958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</a:t>
            </a:r>
            <a:r>
              <a:rPr lang="en-US" sz="2800" dirty="0" err="1"/>
              <a:t>En</a:t>
            </a:r>
            <a:r>
              <a:rPr lang="en-US" sz="2800" dirty="0"/>
              <a:t> Bus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</a:t>
            </a:r>
            <a:r>
              <a:rPr lang="en-US" sz="2800" dirty="0" err="1"/>
              <a:t>En</a:t>
            </a:r>
            <a:r>
              <a:rPr lang="en-US" sz="2800" dirty="0"/>
              <a:t> </a:t>
            </a:r>
            <a:r>
              <a:rPr lang="en-US" sz="2800" dirty="0" err="1"/>
              <a:t>anneau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</a:t>
            </a:r>
            <a:r>
              <a:rPr lang="en-US" sz="2800" dirty="0" err="1"/>
              <a:t>En</a:t>
            </a:r>
            <a:r>
              <a:rPr lang="en-US" sz="2800" dirty="0"/>
              <a:t> étoile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</a:t>
            </a:r>
            <a:r>
              <a:rPr lang="en-US" sz="2800" dirty="0" err="1"/>
              <a:t>Maillée</a:t>
            </a:r>
            <a:endParaRPr lang="ar-EG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359" y="1791478"/>
            <a:ext cx="8082423" cy="4264832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36340A4-A4D5-44C6-ADE2-9F9CDFE8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367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Topologie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bus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56501" y="1841863"/>
            <a:ext cx="9763602" cy="16459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sz="2400" dirty="0"/>
              <a:t> Un seul câble fonctionne comme un bus de communication partagé (Backbone)</a:t>
            </a:r>
          </a:p>
        </p:txBody>
      </p:sp>
      <p:pic>
        <p:nvPicPr>
          <p:cNvPr id="7" name="Picture 2" descr="C:\Users\T@rek EL-B@z\Desktop\Bus Topolog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46" y="2909285"/>
            <a:ext cx="10608553" cy="336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4DFE04D1-89F2-414A-AE31-C2502EBF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5814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Topologie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bus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24128" y="1901952"/>
            <a:ext cx="4592901" cy="443353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800" dirty="0"/>
              <a:t> Avantages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 Simple à concevoir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 Facile à installer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 Peu coûteux en raison de l'utilisation</a:t>
            </a:r>
            <a:endParaRPr lang="fr-FR" sz="2400" dirty="0"/>
          </a:p>
          <a:p>
            <a:pPr marL="91440" lvl="2" indent="-91440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§"/>
            </a:pPr>
            <a:r>
              <a:rPr lang="fr-FR" sz="2800" dirty="0"/>
              <a:t> Inconvénients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 Moins de sécurité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 Lent pendant le trafic intense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 Conduit à des collisions</a:t>
            </a:r>
            <a:endParaRPr lang="en-US" sz="2000" dirty="0"/>
          </a:p>
        </p:txBody>
      </p:sp>
      <p:pic>
        <p:nvPicPr>
          <p:cNvPr id="6" name="Picture 2" descr="C:\Users\T@rek EL-B@z\Desktop\Bus Topolog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716" y="1601879"/>
            <a:ext cx="5449531" cy="4433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E0F3F0E-48AF-4A3E-80FA-AE437C16E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0386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Topologie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anneau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24128" y="2084832"/>
            <a:ext cx="6459023" cy="4572000"/>
          </a:xfrm>
        </p:spPr>
        <p:txBody>
          <a:bodyPr>
            <a:noAutofit/>
          </a:bodyPr>
          <a:lstStyle/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Le câble connecte un nœud à un autre pour former un anneau</a:t>
            </a:r>
          </a:p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Les messages de données sont transmis dans des trames qui font circuler toutes les machines</a:t>
            </a:r>
          </a:p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La trame envoyée retourne à la source</a:t>
            </a:r>
            <a:endParaRPr lang="en-US" sz="2400" dirty="0"/>
          </a:p>
        </p:txBody>
      </p:sp>
      <p:pic>
        <p:nvPicPr>
          <p:cNvPr id="6" name="Picture 5" descr="topology_r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151" y="1700784"/>
            <a:ext cx="4231140" cy="4572000"/>
          </a:xfrm>
          <a:prstGeom prst="rect">
            <a:avLst/>
          </a:prstGeom>
          <a:noFill/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D6EB665-E95A-4A80-A31C-0A6D2E51D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1572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Topologie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anneau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24128" y="1993393"/>
            <a:ext cx="5141541" cy="4433534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800" dirty="0"/>
              <a:t>Avantages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 Simple à concevoir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 Facile à installer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 Peu coûteux en raison de l'utilisation</a:t>
            </a:r>
            <a:endParaRPr lang="fr-FR" sz="1400" dirty="0"/>
          </a:p>
          <a:p>
            <a:pPr marL="91440" lvl="2" indent="-91440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§"/>
            </a:pPr>
            <a:r>
              <a:rPr lang="fr-FR" sz="2800" dirty="0"/>
              <a:t>Inconvénients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 L'ensemble du réseau tombe en panne  Si une machine tombe en panne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 Lent pour grand nombre de machines</a:t>
            </a:r>
            <a:endParaRPr lang="en-US" sz="2000" dirty="0"/>
          </a:p>
        </p:txBody>
      </p:sp>
      <p:pic>
        <p:nvPicPr>
          <p:cNvPr id="7" name="Picture 6" descr="topology_r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155" y="1194319"/>
            <a:ext cx="5299787" cy="5141168"/>
          </a:xfrm>
          <a:prstGeom prst="rect">
            <a:avLst/>
          </a:prstGeom>
          <a:noFill/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07A864-9EFA-4E87-8DC8-2009BD608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9812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Topologie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étoile</a:t>
            </a:r>
          </a:p>
        </p:txBody>
      </p:sp>
      <p:pic>
        <p:nvPicPr>
          <p:cNvPr id="4" name="Picture 2" descr="C:\Users\tarek\Downloads\star_network_topology_ani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9212" y="1497061"/>
            <a:ext cx="4889241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53143" y="1841863"/>
            <a:ext cx="6512767" cy="4572000"/>
          </a:xfrm>
        </p:spPr>
        <p:txBody>
          <a:bodyPr>
            <a:noAutofit/>
          </a:bodyPr>
          <a:lstStyle/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Chaque station est connectée directement à un appareil central</a:t>
            </a:r>
          </a:p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La connexion est comme un certain nombre de liens point à point</a:t>
            </a:r>
          </a:p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Le périphérique central est un concentrateur ou un commutateur</a:t>
            </a:r>
          </a:p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Switch est une technologie plus récente et un périphérique plus sécurisé que le hub</a:t>
            </a:r>
            <a:endParaRPr lang="en-US" sz="240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CEF6B13-A6A5-4589-B51C-0FF0A6D39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0289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Topologie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étoile</a:t>
            </a:r>
          </a:p>
        </p:txBody>
      </p:sp>
      <p:pic>
        <p:nvPicPr>
          <p:cNvPr id="4" name="Picture 2" descr="C:\Users\tarek\Downloads\star_network_topology_ani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589" y="1497060"/>
            <a:ext cx="4926562" cy="4775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24128" y="1841863"/>
            <a:ext cx="5324421" cy="4572000"/>
          </a:xfrm>
        </p:spPr>
        <p:txBody>
          <a:bodyPr>
            <a:noAutofit/>
          </a:bodyPr>
          <a:lstStyle/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800" dirty="0"/>
              <a:t>Avantages</a:t>
            </a:r>
          </a:p>
          <a:p>
            <a:pPr lvl="1"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Réseau non affecté si une machine tombe en panne</a:t>
            </a:r>
          </a:p>
          <a:p>
            <a:pPr lvl="1"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Le dépannage est facile</a:t>
            </a:r>
          </a:p>
          <a:p>
            <a:pPr marL="91440" lvl="2" indent="-91440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§"/>
            </a:pPr>
            <a:r>
              <a:rPr lang="fr-FR" sz="2800" dirty="0"/>
              <a:t>Inconvénients</a:t>
            </a:r>
          </a:p>
          <a:p>
            <a:pPr lvl="1"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Si le périphérique central tombe en panne, tout le réseau tombe en panne</a:t>
            </a:r>
            <a:endParaRPr lang="en-US" sz="160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86B1B7A-AD5F-44D8-920F-36E6D9C21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1128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Topologie</a:t>
            </a:r>
            <a:r>
              <a:rPr lang="en-US" dirty="0"/>
              <a:t> </a:t>
            </a:r>
            <a:r>
              <a:rPr lang="en-US" dirty="0" err="1"/>
              <a:t>Maillée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32242" y="2084832"/>
            <a:ext cx="6515007" cy="4572000"/>
          </a:xfrm>
        </p:spPr>
        <p:txBody>
          <a:bodyPr>
            <a:noAutofit/>
          </a:bodyPr>
          <a:lstStyle/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800" dirty="0"/>
              <a:t> Connecter tous les appareils avec plusieurs chemins</a:t>
            </a:r>
          </a:p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800" dirty="0"/>
              <a:t> Offres redondantes</a:t>
            </a:r>
            <a:endParaRPr lang="en-US" sz="2800" dirty="0"/>
          </a:p>
        </p:txBody>
      </p:sp>
      <p:pic>
        <p:nvPicPr>
          <p:cNvPr id="6" name="Picture 4" descr="mes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150" y="1841863"/>
            <a:ext cx="4310743" cy="4194048"/>
          </a:xfrm>
          <a:prstGeom prst="rect">
            <a:avLst/>
          </a:prstGeom>
          <a:noFill/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419F455-AC23-4CCF-AB5D-DEB5C1CB4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5620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Topologie</a:t>
            </a:r>
            <a:r>
              <a:rPr lang="en-US" dirty="0"/>
              <a:t> </a:t>
            </a:r>
            <a:r>
              <a:rPr lang="en-US" dirty="0" err="1"/>
              <a:t>Maillée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24128" y="1841863"/>
            <a:ext cx="4984785" cy="4572000"/>
          </a:xfrm>
        </p:spPr>
        <p:txBody>
          <a:bodyPr>
            <a:noAutofit/>
          </a:bodyPr>
          <a:lstStyle/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800" dirty="0"/>
              <a:t> Avantages</a:t>
            </a:r>
          </a:p>
          <a:p>
            <a:pPr lvl="1"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Tolérance de panne</a:t>
            </a:r>
          </a:p>
          <a:p>
            <a:pPr lvl="1"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Sécurisé (haute disponibilité)</a:t>
            </a:r>
          </a:p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fr-FR" sz="2800" dirty="0"/>
          </a:p>
          <a:p>
            <a:pPr marL="91440" lvl="2" indent="-91440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§"/>
            </a:pPr>
            <a:r>
              <a:rPr lang="fr-FR" sz="2800" dirty="0"/>
              <a:t> Inconvénients</a:t>
            </a:r>
          </a:p>
          <a:p>
            <a:pPr lvl="1"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Cher en raison de la redondance</a:t>
            </a:r>
            <a:endParaRPr lang="en-US" sz="2400" dirty="0"/>
          </a:p>
        </p:txBody>
      </p:sp>
      <p:pic>
        <p:nvPicPr>
          <p:cNvPr id="6" name="Picture 4" descr="mes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7166" y="1841862"/>
            <a:ext cx="4497355" cy="4430921"/>
          </a:xfrm>
          <a:prstGeom prst="rect">
            <a:avLst/>
          </a:prstGeom>
          <a:noFill/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603EC4B-9C6F-4F1C-8A36-0F56D7189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70608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Topologie</a:t>
            </a:r>
            <a:r>
              <a:rPr lang="en-US" dirty="0"/>
              <a:t> </a:t>
            </a:r>
            <a:r>
              <a:rPr lang="en-US" dirty="0" err="1"/>
              <a:t>logique</a:t>
            </a:r>
            <a:endParaRPr lang="en-US" dirty="0"/>
          </a:p>
        </p:txBody>
      </p:sp>
      <p:pic>
        <p:nvPicPr>
          <p:cNvPr id="10957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82" y="2084832"/>
            <a:ext cx="10490190" cy="2230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957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82" y="4472171"/>
            <a:ext cx="10412963" cy="2209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F41596-C378-40CF-82F8-0F577B638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2789585"/>
      </p:ext>
    </p:extLst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834" name="Rectangle 2"/>
          <p:cNvSpPr>
            <a:spLocks noGrp="1" noChangeArrowheads="1"/>
          </p:cNvSpPr>
          <p:nvPr>
            <p:ph type="title"/>
          </p:nvPr>
        </p:nvSpPr>
        <p:spPr>
          <a:xfrm>
            <a:off x="485192" y="603878"/>
            <a:ext cx="6825344" cy="1499616"/>
          </a:xfrm>
        </p:spPr>
        <p:txBody>
          <a:bodyPr/>
          <a:lstStyle/>
          <a:p>
            <a:pPr algn="ctr"/>
            <a:r>
              <a:rPr lang="en-US" dirty="0"/>
              <a:t>Elements de base du reseau</a:t>
            </a:r>
          </a:p>
        </p:txBody>
      </p:sp>
      <p:pic>
        <p:nvPicPr>
          <p:cNvPr id="127283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2319" y="1841863"/>
            <a:ext cx="5363609" cy="4572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24128" y="1841863"/>
            <a:ext cx="5363609" cy="4572000"/>
          </a:xfrm>
        </p:spPr>
        <p:txBody>
          <a:bodyPr>
            <a:noAutofit/>
          </a:bodyPr>
          <a:lstStyle/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Appareils finaux</a:t>
            </a:r>
          </a:p>
          <a:p>
            <a:pPr lvl="1"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 Communiquer les uns avec les autres (Envoyer / Recevoir)</a:t>
            </a:r>
          </a:p>
          <a:p>
            <a:pPr marL="91440" lvl="2" indent="-91440" algn="justLow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§"/>
            </a:pPr>
            <a:r>
              <a:rPr lang="fr-FR" sz="2400" dirty="0"/>
              <a:t>Appareils de connexion </a:t>
            </a:r>
          </a:p>
          <a:p>
            <a:pPr lvl="2"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1600" dirty="0"/>
              <a:t>Commutateurs, routeurs et points d'accès</a:t>
            </a:r>
          </a:p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Médias</a:t>
            </a:r>
          </a:p>
          <a:p>
            <a:pPr lvl="1"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Comment les appareils sont </a:t>
            </a:r>
            <a:r>
              <a:rPr lang="fr-FR" sz="2400" dirty="0"/>
              <a:t>connectés</a:t>
            </a:r>
            <a:r>
              <a:rPr lang="fr-FR" sz="2000" dirty="0"/>
              <a:t>?</a:t>
            </a:r>
          </a:p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messages</a:t>
            </a:r>
          </a:p>
          <a:p>
            <a:pPr lvl="1"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Informations transitant par le réseau</a:t>
            </a:r>
          </a:p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Protocoles</a:t>
            </a:r>
          </a:p>
          <a:p>
            <a:pPr lvl="1"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Règles régissant le transfert d'informations</a:t>
            </a:r>
            <a:endParaRPr lang="en-US" sz="16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0CE162-7C63-447A-81AE-6AA8B6560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84021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Dispositifs</a:t>
            </a:r>
            <a:r>
              <a:rPr lang="en-US" dirty="0"/>
              <a:t> de </a:t>
            </a:r>
            <a:r>
              <a:rPr lang="en-US" dirty="0" err="1"/>
              <a:t>réseau</a:t>
            </a:r>
            <a:r>
              <a:rPr lang="en-US" dirty="0"/>
              <a:t> </a:t>
            </a:r>
            <a:r>
              <a:rPr lang="en-US" dirty="0" err="1"/>
              <a:t>informatique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24128" y="2084832"/>
            <a:ext cx="6460890" cy="4297680"/>
          </a:xfrm>
        </p:spPr>
        <p:txBody>
          <a:bodyPr>
            <a:noAutofit/>
          </a:bodyPr>
          <a:lstStyle/>
          <a:p>
            <a:pPr algn="justLow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 Carte </a:t>
            </a:r>
            <a:r>
              <a:rPr lang="en-US" sz="2400" dirty="0" err="1"/>
              <a:t>Réseau</a:t>
            </a:r>
            <a:r>
              <a:rPr lang="en-US" sz="2400" dirty="0"/>
              <a:t> (NIC)</a:t>
            </a:r>
          </a:p>
          <a:p>
            <a:pPr algn="justLow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 Hub</a:t>
            </a:r>
          </a:p>
          <a:p>
            <a:pPr algn="justLow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 Switch</a:t>
            </a:r>
          </a:p>
          <a:p>
            <a:pPr algn="justLow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 Point </a:t>
            </a:r>
            <a:r>
              <a:rPr lang="en-US" sz="2400" dirty="0" err="1"/>
              <a:t>d’accès</a:t>
            </a:r>
            <a:r>
              <a:rPr lang="en-US" sz="2400" dirty="0"/>
              <a:t> (AP)</a:t>
            </a:r>
          </a:p>
          <a:p>
            <a:pPr algn="justLow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 </a:t>
            </a:r>
            <a:r>
              <a:rPr lang="en-US" sz="2400" dirty="0" err="1"/>
              <a:t>Routeur</a:t>
            </a:r>
            <a:endParaRPr lang="en-US" sz="24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F5C359-4757-43D9-BC38-17225583B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7400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Carte </a:t>
            </a:r>
            <a:r>
              <a:rPr lang="en-US" sz="5400" dirty="0" err="1"/>
              <a:t>Réseau</a:t>
            </a:r>
            <a:r>
              <a:rPr lang="en-US" sz="5400" dirty="0"/>
              <a:t> </a:t>
            </a:r>
            <a:r>
              <a:rPr lang="en-US" dirty="0"/>
              <a:t>(NIC)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24127" y="2286000"/>
            <a:ext cx="7802632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sz="2400" dirty="0"/>
              <a:t> Adaptateur de réseau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/>
              <a:t> Interface entre le PC et le câble réseau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/>
              <a:t> Réside dans la carte mère de PC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/>
              <a:t> Communiquer avec un PC via le pilote de périphérique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/>
              <a:t> Contenir émetteur / récepteur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/>
              <a:t> Filaire ou sans fil</a:t>
            </a:r>
            <a:endParaRPr lang="en-US" sz="2400" dirty="0"/>
          </a:p>
        </p:txBody>
      </p:sp>
      <p:pic>
        <p:nvPicPr>
          <p:cNvPr id="6" name="Picture 4" descr="NI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339" y="2734019"/>
            <a:ext cx="2946400" cy="3127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4B2881-FC1B-4C2A-A8BE-0679E0C71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54364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HUB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70709" y="2286000"/>
            <a:ext cx="6061166" cy="3644537"/>
          </a:xfrm>
        </p:spPr>
        <p:txBody>
          <a:bodyPr>
            <a:normAutofit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Partage des trames entre machines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Contient des ports pour connecter plusieurs machines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Permet les collisions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569" y="933061"/>
            <a:ext cx="4381985" cy="4551783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47F3A7A-0B8B-49B9-906F-A2EDF21B1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42957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HUB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919624" y="1899231"/>
            <a:ext cx="9413095" cy="1716459"/>
          </a:xfrm>
        </p:spPr>
        <p:txBody>
          <a:bodyPr>
            <a:noAutofit/>
          </a:bodyPr>
          <a:lstStyle/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Hub a  un seul domaine de collision</a:t>
            </a:r>
          </a:p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Hub a un seul domaine de diffusion.</a:t>
            </a:r>
          </a:p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Les collisions rendent le réseau lent et encombré</a:t>
            </a:r>
            <a:endParaRPr lang="en-US" sz="2400" dirty="0"/>
          </a:p>
        </p:txBody>
      </p:sp>
      <p:pic>
        <p:nvPicPr>
          <p:cNvPr id="6" name="Picture 30" descr="301P_1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64" y="3926476"/>
            <a:ext cx="8585200" cy="244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FD99F53-9628-4EEC-A242-80342E375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80377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CSMA/CD</a:t>
            </a:r>
          </a:p>
        </p:txBody>
      </p:sp>
      <p:pic>
        <p:nvPicPr>
          <p:cNvPr id="7" name="Picture 5" descr="301P_07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3130" y="1439526"/>
            <a:ext cx="6549693" cy="5144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868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24128" y="1886649"/>
            <a:ext cx="6328395" cy="4820194"/>
          </a:xfrm>
        </p:spPr>
        <p:txBody>
          <a:bodyPr>
            <a:noAutofit/>
          </a:bodyPr>
          <a:lstStyle/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Transférer et filtrer les trames</a:t>
            </a:r>
          </a:p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Contenir Un  domaine de diffusion</a:t>
            </a:r>
          </a:p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Chaque port est un domaine de collision séparé</a:t>
            </a:r>
          </a:p>
          <a:p>
            <a:pPr algn="justLow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Pas de collisions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978" y="1343608"/>
            <a:ext cx="4446296" cy="4820194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CF1E291-DDB0-4461-B3DC-0809E797D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36505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 </a:t>
            </a:r>
            <a:r>
              <a:rPr lang="en-US" dirty="0" err="1"/>
              <a:t>d’ACCES</a:t>
            </a:r>
            <a:r>
              <a:rPr lang="en-US" dirty="0"/>
              <a:t> (AP)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04249" y="2111707"/>
            <a:ext cx="5992881" cy="3950208"/>
          </a:xfrm>
        </p:spPr>
        <p:txBody>
          <a:bodyPr>
            <a:normAutofit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Relie la partie sans fil à l'infrastructure câblée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Connecte les machines sans fil au réseau local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Transmet des trames dans l’air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Un seul domaine de diffusion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Un seul domaine de collision</a:t>
            </a:r>
            <a:endParaRPr lang="en-US" sz="2400" dirty="0"/>
          </a:p>
          <a:p>
            <a:pPr algn="justLow"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pic>
        <p:nvPicPr>
          <p:cNvPr id="1026" name="Picture 2" descr="Image result for access poi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130" y="796085"/>
            <a:ext cx="5220698" cy="4712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B53282-E068-44E5-87E9-04CD3BA34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28471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04249" y="2335639"/>
            <a:ext cx="5706055" cy="3950208"/>
          </a:xfrm>
        </p:spPr>
        <p:txBody>
          <a:bodyPr>
            <a:normAutofit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Redirige les paquets entre les réseaux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Fonctionne sur une table de routage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Divise le réseau en domaines de diffusion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Divise le réseau en domaines de collision</a:t>
            </a:r>
            <a:endParaRPr lang="en-US" sz="2400" dirty="0"/>
          </a:p>
          <a:p>
            <a:pPr algn="justLow"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128" y="2734664"/>
            <a:ext cx="5706055" cy="2038505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6005318-6E97-4D0B-A13A-68210C478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2957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Bande</a:t>
            </a:r>
            <a:r>
              <a:rPr lang="en-US" dirty="0"/>
              <a:t> </a:t>
            </a:r>
            <a:r>
              <a:rPr lang="en-US" dirty="0" err="1"/>
              <a:t>passante</a:t>
            </a:r>
            <a:endParaRPr 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047" y="1894860"/>
            <a:ext cx="10849905" cy="4617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6ADF70-FE6E-4FA8-BC4E-6C5A52E03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4005236"/>
      </p:ext>
    </p:extLst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Débit</a:t>
            </a:r>
            <a:endParaRPr lang="en-US" dirty="0"/>
          </a:p>
        </p:txBody>
      </p:sp>
      <p:pic>
        <p:nvPicPr>
          <p:cNvPr id="27650" name="Content Placeholder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" y="1847462"/>
            <a:ext cx="10135283" cy="4461264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2DDC0F-883A-4F02-86D4-AEE60CA09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5667154"/>
      </p:ext>
    </p:extLst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ISO/OSI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24127" y="2286000"/>
            <a:ext cx="10327496" cy="41409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The Open System Interconnection (OSI): </a:t>
            </a:r>
            <a:r>
              <a:rPr lang="fr-FR" sz="3600" dirty="0"/>
              <a:t>Le modèle d'interconnexion de systèmes ouverts définit un cadre de réseau permettant d'implémenter des protocoles en sept couches.</a:t>
            </a:r>
          </a:p>
          <a:p>
            <a:pPr marL="0" indent="0" algn="just">
              <a:buNone/>
            </a:pPr>
            <a:r>
              <a:rPr lang="fr-FR" sz="3600" dirty="0"/>
              <a:t>L'objectif est l'interopérabilité de divers systèmes de communication avec des protocoles standards.</a:t>
            </a:r>
            <a:endParaRPr lang="en-US" sz="360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E06AAC0-8597-4077-9D4C-7FFED3317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14046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Avantages du modèle OSI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67372" y="2299063"/>
            <a:ext cx="10943627" cy="4023360"/>
          </a:xfrm>
        </p:spPr>
        <p:txBody>
          <a:bodyPr>
            <a:normAutofit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fr-FR" sz="2800" dirty="0"/>
              <a:t> Divise le processus de communication réseau en couches pour faciliter le dépannage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800" dirty="0"/>
              <a:t> Différents types de matériel réseau et de logiciels peuvent communiquer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800" dirty="0"/>
              <a:t> Les couches peuvent interagir les unes avec les autres</a:t>
            </a:r>
            <a:endParaRPr lang="en-US" sz="28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F284E6-B8BB-43D6-A67A-878D4386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08545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Couches </a:t>
            </a:r>
            <a:r>
              <a:rPr lang="en-US" dirty="0" err="1"/>
              <a:t>Modele</a:t>
            </a:r>
            <a:r>
              <a:rPr lang="en-US" dirty="0"/>
              <a:t> OSI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18457" y="2053481"/>
            <a:ext cx="3387012" cy="4451822"/>
          </a:xfrm>
        </p:spPr>
        <p:txBody>
          <a:bodyPr>
            <a:normAutofit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Application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Présentation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Session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Transport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Réseau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Liaison de données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Physique</a:t>
            </a:r>
            <a:endParaRPr lang="en-US" sz="2400" dirty="0"/>
          </a:p>
          <a:p>
            <a:pPr algn="justLow"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641" y="1673958"/>
            <a:ext cx="7041095" cy="4672251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E3A273B-6C5C-4F14-8ED3-0E0391883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15801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ISO/OSI à </a:t>
            </a:r>
            <a:r>
              <a:rPr lang="en-US" dirty="0" err="1"/>
              <a:t>l’action</a:t>
            </a:r>
            <a:endParaRPr lang="en-US" dirty="0"/>
          </a:p>
        </p:txBody>
      </p:sp>
      <p:pic>
        <p:nvPicPr>
          <p:cNvPr id="6" name="Picture 5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967266"/>
            <a:ext cx="11655490" cy="4777758"/>
          </a:xfrm>
          <a:prstGeom prst="rect">
            <a:avLst/>
          </a:prstGeom>
          <a:noFill/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9723E72-92D5-4300-838D-7864137C0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51422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Encapsulation</a:t>
            </a:r>
          </a:p>
        </p:txBody>
      </p:sp>
      <p:pic>
        <p:nvPicPr>
          <p:cNvPr id="62466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05" b="15561"/>
          <a:stretch>
            <a:fillRect/>
          </a:stretch>
        </p:blipFill>
        <p:spPr>
          <a:xfrm>
            <a:off x="190500" y="1922106"/>
            <a:ext cx="11811000" cy="4822918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1786B95-C50B-4A18-AFA4-2F8BA9FC4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3758713"/>
      </p:ext>
    </p:extLst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De-encapsulation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9DBDA29-CCEE-4FB7-945C-E66712A3B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7384FF6-A6A3-406A-99E4-FE15968F7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" y="1847850"/>
            <a:ext cx="11420475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60898"/>
      </p:ext>
    </p:extLst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Couche Physique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24128" y="2084832"/>
            <a:ext cx="6664296" cy="4023360"/>
          </a:xfrm>
        </p:spPr>
        <p:txBody>
          <a:bodyPr>
            <a:normAutofit lnSpcReduction="10000"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Transmet un flux de bits sur le lien physique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Envoie et reçoit des signaux de données au support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S'adapte au support de transmission</a:t>
            </a:r>
          </a:p>
          <a:p>
            <a:pPr lvl="1" algn="justLow">
              <a:buFont typeface="Arial" panose="020B0604020202020204" pitchFamily="34" charset="0"/>
              <a:buChar char="•"/>
            </a:pPr>
            <a:r>
              <a:rPr lang="fr-FR" sz="2000" dirty="0"/>
              <a:t>Câbles</a:t>
            </a:r>
          </a:p>
          <a:p>
            <a:pPr lvl="2" algn="justLow">
              <a:buFont typeface="Wingdings" panose="05000000000000000000" pitchFamily="2" charset="2"/>
              <a:buChar char="ü"/>
            </a:pPr>
            <a:r>
              <a:rPr lang="fr-FR" sz="1600" dirty="0"/>
              <a:t>Cuivre (coaxial, paire torsadée)</a:t>
            </a:r>
          </a:p>
          <a:p>
            <a:pPr lvl="2" algn="justLow">
              <a:buFont typeface="Wingdings" panose="05000000000000000000" pitchFamily="2" charset="2"/>
              <a:buChar char="ü"/>
            </a:pPr>
            <a:r>
              <a:rPr lang="fr-FR" sz="1600" dirty="0"/>
              <a:t>Fibre Optique (Mode Unique, Mode Multi)</a:t>
            </a:r>
          </a:p>
          <a:p>
            <a:pPr lvl="1" algn="justLow">
              <a:buFont typeface="Arial" panose="020B0604020202020204" pitchFamily="34" charset="0"/>
              <a:buChar char="•"/>
            </a:pPr>
            <a:r>
              <a:rPr lang="fr-FR" sz="2000" dirty="0"/>
              <a:t>Sans fil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Responsable de la représentation des 1 et des 0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La carte réseau, le concentrateur (HUB) et le </a:t>
            </a:r>
            <a:r>
              <a:rPr lang="fr-FR" sz="2400" dirty="0" err="1"/>
              <a:t>le</a:t>
            </a:r>
            <a:r>
              <a:rPr lang="fr-FR" sz="2400" dirty="0"/>
              <a:t> répéteur fonctionnent dans la couche physique</a:t>
            </a:r>
            <a:endParaRPr lang="en-US" sz="2400" dirty="0"/>
          </a:p>
          <a:p>
            <a:pPr algn="justLow"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457" y="1454021"/>
            <a:ext cx="4386705" cy="4711647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3801A1-72CD-4678-920C-21AE52A2A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82825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Couche liaison de </a:t>
            </a:r>
            <a:r>
              <a:rPr lang="en-US" dirty="0" err="1"/>
              <a:t>données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45455" y="1948978"/>
            <a:ext cx="6121876" cy="4323806"/>
          </a:xfrm>
        </p:spPr>
        <p:txBody>
          <a:bodyPr>
            <a:noAutofit/>
          </a:bodyPr>
          <a:lstStyle/>
          <a:p>
            <a:pPr marL="0" indent="0" algn="justLow">
              <a:lnSpc>
                <a:spcPct val="150000"/>
              </a:lnSpc>
              <a:buNone/>
            </a:pPr>
            <a:endParaRPr lang="en-US" sz="2400" dirty="0"/>
          </a:p>
          <a:p>
            <a:pPr algn="justLow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Responsable de l'adressage physique</a:t>
            </a:r>
          </a:p>
          <a:p>
            <a:pPr algn="justLow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Convertit les paquets en trames en insérant 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sz="2000" dirty="0"/>
              <a:t>Adresse physique de l'expéditeur et du destinataire,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sz="2000" dirty="0"/>
              <a:t> Contrôle de flux: Erreur de vérification et informations de contrôle</a:t>
            </a:r>
          </a:p>
          <a:p>
            <a:pPr algn="justLow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762" y="1660850"/>
            <a:ext cx="4959201" cy="4809854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7A098CC-C2C6-4639-A6D3-5FC649C4F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46390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Adresse</a:t>
            </a:r>
            <a:r>
              <a:rPr lang="en-US" dirty="0"/>
              <a:t> physique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67373" y="2299063"/>
            <a:ext cx="10366684" cy="4023360"/>
          </a:xfrm>
        </p:spPr>
        <p:txBody>
          <a:bodyPr>
            <a:normAutofit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Identifiant unique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Pas liée à la localisation géographique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Ne peut pas être changée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Orientée vendeur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Exemple courant  est l'adresse MAC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Parfois appelée adresse matérielle</a:t>
            </a:r>
            <a:endParaRPr lang="en-US" sz="24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1D065E-D48D-4F3A-808A-104B2E9E2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78873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Couche </a:t>
            </a:r>
            <a:r>
              <a:rPr lang="en-US" dirty="0" err="1"/>
              <a:t>réseau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25872" y="2084832"/>
            <a:ext cx="10586561" cy="3950208"/>
          </a:xfrm>
        </p:spPr>
        <p:txBody>
          <a:bodyPr>
            <a:normAutofit lnSpcReduction="10000"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Reçoit les segments de données de la couche de transport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Convertit les segments en paquets en ajoutant des informations d'adressage</a:t>
            </a:r>
          </a:p>
          <a:p>
            <a:pPr lvl="1" algn="justLow">
              <a:buFont typeface="Wingdings" panose="05000000000000000000" pitchFamily="2" charset="2"/>
              <a:buChar char="ü"/>
            </a:pPr>
            <a:r>
              <a:rPr lang="fr-FR" sz="2000" dirty="0"/>
              <a:t>Adresse source</a:t>
            </a:r>
          </a:p>
          <a:p>
            <a:pPr lvl="1" algn="justLow">
              <a:buFont typeface="Wingdings" panose="05000000000000000000" pitchFamily="2" charset="2"/>
              <a:buChar char="ü"/>
            </a:pPr>
            <a:r>
              <a:rPr lang="fr-FR" sz="2000" dirty="0"/>
              <a:t>Adresse de destination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Trouve un itinéraire pour que les données soient livrées au destinataire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Les itinéraires peuvent différer car ils sont déterminés en fonction des éléments suivants:</a:t>
            </a:r>
          </a:p>
          <a:p>
            <a:pPr lvl="1" algn="justLow">
              <a:buFont typeface="Wingdings" panose="05000000000000000000" pitchFamily="2" charset="2"/>
              <a:buChar char="ü"/>
            </a:pPr>
            <a:r>
              <a:rPr lang="fr-FR" sz="2000" dirty="0"/>
              <a:t>Surcharge du réseau</a:t>
            </a:r>
          </a:p>
          <a:p>
            <a:pPr lvl="1" algn="justLow">
              <a:buFont typeface="Wingdings" panose="05000000000000000000" pitchFamily="2" charset="2"/>
              <a:buChar char="ü"/>
            </a:pPr>
            <a:r>
              <a:rPr lang="fr-FR" sz="2000" dirty="0"/>
              <a:t>Qualité de service (QoS)</a:t>
            </a:r>
          </a:p>
          <a:p>
            <a:pPr lvl="1" algn="justLow">
              <a:buFont typeface="Wingdings" panose="05000000000000000000" pitchFamily="2" charset="2"/>
              <a:buChar char="ü"/>
            </a:pPr>
            <a:r>
              <a:rPr lang="fr-FR" sz="2000" dirty="0"/>
              <a:t>Coût des itinéraires alternatifs</a:t>
            </a:r>
          </a:p>
          <a:p>
            <a:pPr lvl="1" algn="justLow">
              <a:buFont typeface="Wingdings" panose="05000000000000000000" pitchFamily="2" charset="2"/>
              <a:buChar char="ü"/>
            </a:pPr>
            <a:r>
              <a:rPr lang="fr-FR" sz="2000" dirty="0"/>
              <a:t>Priorités de livraison</a:t>
            </a:r>
            <a:endParaRPr lang="en-US" sz="20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3F9AE8-E03F-4C3B-8538-3A768E8AF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07687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Adresse</a:t>
            </a:r>
            <a:r>
              <a:rPr lang="en-US" dirty="0"/>
              <a:t> </a:t>
            </a:r>
            <a:r>
              <a:rPr lang="en-US" dirty="0" err="1"/>
              <a:t>logique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90883" y="1748930"/>
            <a:ext cx="10586561" cy="3950208"/>
          </a:xfrm>
        </p:spPr>
        <p:txBody>
          <a:bodyPr>
            <a:normAutofit/>
          </a:bodyPr>
          <a:lstStyle/>
          <a:p>
            <a:pPr marL="0" indent="0" algn="justLow">
              <a:buNone/>
            </a:pPr>
            <a:endParaRPr lang="fr-FR" sz="2400" dirty="0"/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 Identifiant unique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 Liée à l'emplacement géographique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 Utilisée pour le routage de bout en bout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 Peut être changée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 Non orientée vendeur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 Exemple courant: l'adresse IP dans TCP / IP</a:t>
            </a:r>
            <a:endParaRPr lang="en-US" sz="24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3D3E2D-F923-4F02-B39F-D0AD90D2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95488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Couche Transport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208822" y="3534835"/>
            <a:ext cx="3835255" cy="2646162"/>
          </a:xfrm>
        </p:spPr>
        <p:txBody>
          <a:bodyPr>
            <a:normAutofit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Fiabilité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Segmentation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Utilise TCP ou UDP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Ajoute le numéro de port</a:t>
            </a:r>
            <a:endParaRPr lang="en-US" sz="2400" dirty="0"/>
          </a:p>
          <a:p>
            <a:pPr algn="justLow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0" indent="0" algn="justLow">
              <a:buNone/>
            </a:pPr>
            <a:endParaRPr lang="en-US" sz="2400" dirty="0"/>
          </a:p>
        </p:txBody>
      </p:sp>
      <p:pic>
        <p:nvPicPr>
          <p:cNvPr id="4" name="Picture 6" descr="301P_17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58" y="2084832"/>
            <a:ext cx="3254375" cy="450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4"/>
          <p:cNvSpPr>
            <a:spLocks noChangeArrowheads="1"/>
          </p:cNvSpPr>
          <p:nvPr/>
        </p:nvSpPr>
        <p:spPr bwMode="auto">
          <a:xfrm rot="2608598">
            <a:off x="4241545" y="3801353"/>
            <a:ext cx="1289445" cy="1290995"/>
          </a:xfrm>
          <a:prstGeom prst="rtTriangle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025" tIns="36512" rIns="73025" bIns="36512" anchor="ctr"/>
          <a:lstStyle>
            <a:lvl1pPr>
              <a:defRPr sz="3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44381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Couche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3875417" cy="4023360"/>
          </a:xfrm>
        </p:spPr>
        <p:txBody>
          <a:bodyPr>
            <a:normAutofit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Etablissement de la session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Gestion de la session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Contrôle de la session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Terminaison de la </a:t>
            </a:r>
            <a:r>
              <a:rPr lang="fr-FR" sz="2400" dirty="0" err="1"/>
              <a:t>sesion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175" y="1632923"/>
            <a:ext cx="6534150" cy="4486275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676A4D4-C4ED-4657-8E4D-6FC1117EE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24276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Couche Session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053481"/>
            <a:ext cx="10204343" cy="4407408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CC952B-FF85-4784-8401-558D49D6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78713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Couche session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S'assurer que la connexion est active pendant la session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Sécuriser la connexion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Synchronisation de dialogue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Vérification de l'échec de la connexion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Reconnexion si la connexion est coupée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Mettre fin à la communication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331D7B-6CE3-4FFE-B55B-95606DC2C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88365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Couche Presentation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24128" y="2269706"/>
            <a:ext cx="5736133" cy="4140926"/>
          </a:xfrm>
        </p:spPr>
        <p:txBody>
          <a:bodyPr>
            <a:normAutofit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Responsable de la représentation commune des données entre la source et la destination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Transforme les données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Codage de la syntaxe des données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Cryptage / décryptage des données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Compression / décompression de donnée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951" y="970385"/>
            <a:ext cx="4889359" cy="5522490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C627D4-ACE6-4C4E-A9EF-A73A38D01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98253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couche</a:t>
            </a:r>
            <a:r>
              <a:rPr lang="en-US" dirty="0"/>
              <a:t> Application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74731" y="2491958"/>
            <a:ext cx="6789865" cy="4297680"/>
          </a:xfrm>
        </p:spPr>
        <p:txBody>
          <a:bodyPr>
            <a:noAutofit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Interface d’utilisateur pour les couches inférieures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Préparation des données pour chaque service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Communication de bout en bout des deux côtés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Les applications logicielles y résident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Envoie des demandes et reçoit une réponse</a:t>
            </a:r>
            <a:endParaRPr lang="en-US" sz="2400" dirty="0"/>
          </a:p>
          <a:p>
            <a:pPr algn="justLow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 lvl="1" algn="justLow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/>
          </a:p>
          <a:p>
            <a:pPr lvl="1" algn="justLow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199" y="1188084"/>
            <a:ext cx="4615735" cy="5282620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821FF69-2392-4C3A-8254-9616BF36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90895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couche</a:t>
            </a:r>
            <a:r>
              <a:rPr lang="en-US" dirty="0"/>
              <a:t> Application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18457" y="2053481"/>
            <a:ext cx="5368834" cy="4451822"/>
          </a:xfrm>
        </p:spPr>
        <p:txBody>
          <a:bodyPr>
            <a:normAutofit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en-US" sz="2400" dirty="0"/>
              <a:t>HTTP (Hyper Text Transfer Protocol)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en-US" sz="2400" dirty="0"/>
              <a:t>FTP (File Transfer Protocol)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en-US" sz="2400" dirty="0"/>
              <a:t>SMTP (Simple Mail Transfer Protocol)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en-US" sz="2400" dirty="0"/>
              <a:t>POP3 (Post Office transfers Protocol)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en-US" sz="2400" dirty="0"/>
              <a:t>IMAP (Internet Message Access Protocol)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en-US" sz="2400" dirty="0"/>
              <a:t>Telnet/SSH (Secure Shell)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en-US" sz="2400" dirty="0"/>
              <a:t>DNS (Domain Name Server) 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en-US" sz="2400" dirty="0"/>
              <a:t>RTP (Real-time Protocol)</a:t>
            </a:r>
          </a:p>
          <a:p>
            <a:pPr algn="justLow">
              <a:buFont typeface="Wingdings" panose="05000000000000000000" pitchFamily="2" charset="2"/>
              <a:buChar char="§"/>
            </a:pPr>
            <a:endParaRPr lang="en-US" sz="2400" dirty="0"/>
          </a:p>
          <a:p>
            <a:pPr algn="justLow"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438" y="1951627"/>
            <a:ext cx="5392288" cy="331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1112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Qu'est-ce qu'un protocole de réseau informatique?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867373" y="2299063"/>
            <a:ext cx="10366684" cy="4023360"/>
          </a:xfrm>
        </p:spPr>
        <p:txBody>
          <a:bodyPr>
            <a:normAutofit lnSpcReduction="10000"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Ensemble de règles et d'accords régissant le processus de communication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Inclut les processus d'adressage, de routage, de gestion de session et de récupération d'erreur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Le réseau de messagerie traditionnel comme exemple de réseau avec un protocole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Le réseau téléphonique PSTN, un autre exemple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Le réseau de téléphonie mobile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Le modèle en couches et ses avantages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Protocoles de réseaux informatiques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NetBEUI, IPX / SPX, Apple Talk et le protocole TCP / IP</a:t>
            </a:r>
            <a:endParaRPr lang="en-US" sz="2400" dirty="0"/>
          </a:p>
          <a:p>
            <a:pPr marL="0" indent="0" algn="justLow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217819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67372" y="2084832"/>
            <a:ext cx="10774167" cy="4023360"/>
          </a:xfrm>
        </p:spPr>
        <p:txBody>
          <a:bodyPr>
            <a:normAutofit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 Protocole standard sur Internet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 Compatible ISO / OSI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 Assure l'interopérabilité entre différents systèmes matériels et logiciels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 Ouvert au développement et non orienté fournisseur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 Fournit la fiabilité ainsi que la meilleure prestation possible au besoin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 Composé d'un certain nombre de protocoles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 Offre la navigation sur le Web, le transfert de fichiers et l'échange de courrier électronique</a:t>
            </a:r>
          </a:p>
        </p:txBody>
      </p:sp>
    </p:spTree>
    <p:extLst>
      <p:ext uri="{BB962C8B-B14F-4D97-AF65-F5344CB8AC3E}">
        <p14:creationId xmlns:p14="http://schemas.microsoft.com/office/powerpoint/2010/main" val="2652818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 vs ISO/OSI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833" y="1733265"/>
            <a:ext cx="9844039" cy="498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0921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 VS ISO/OSI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2013" y="585216"/>
            <a:ext cx="4315311" cy="5950212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67373" y="2299063"/>
            <a:ext cx="6460890" cy="4023360"/>
          </a:xfrm>
        </p:spPr>
        <p:txBody>
          <a:bodyPr>
            <a:normAutofit lnSpcReduction="10000"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Fusion de certaines couches à 4 au lieu de 7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Fusion de la liaison physique et de la liaison de données en une couche appelée couche d'accès physique ou réseau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Garder les couches de réseau et de transport séparées telles quelles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Fusion des 3 couches supérieures en une couche appelée couche d'application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400" dirty="0"/>
              <a:t> TCP / IP est maintenant le protocole par défaut pour tous les systèmes d'exploitation Microsoft, Linux et autres.</a:t>
            </a:r>
            <a:endParaRPr lang="en-US" sz="2400" dirty="0"/>
          </a:p>
          <a:p>
            <a:pPr algn="justLow"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724006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de revision: Première </a:t>
            </a:r>
            <a:r>
              <a:rPr lang="en-US" dirty="0" err="1"/>
              <a:t>Partie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67373" y="2299063"/>
            <a:ext cx="10366684" cy="4023360"/>
          </a:xfrm>
        </p:spPr>
        <p:txBody>
          <a:bodyPr>
            <a:normAutofit lnSpcReduction="10000"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fr-FR" sz="2800" dirty="0"/>
              <a:t> Le support de transmission peut être soit… constitué de… ou…, soit il peut être… en utilisant le… comme support de transmission.</a:t>
            </a:r>
          </a:p>
          <a:p>
            <a:pPr algn="justLow">
              <a:buFont typeface="Wingdings" panose="05000000000000000000" pitchFamily="2" charset="2"/>
              <a:buChar char="§"/>
            </a:pPr>
            <a:endParaRPr lang="fr-FR" sz="2800" dirty="0"/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800" dirty="0"/>
              <a:t>La topologie de réseau la plus utilisée de nos jours est la topologie…, où les ordinateurs sont connectés à un périphérique central qui est le….</a:t>
            </a:r>
          </a:p>
          <a:p>
            <a:pPr algn="justLow">
              <a:buFont typeface="Wingdings" panose="05000000000000000000" pitchFamily="2" charset="2"/>
              <a:buChar char="§"/>
            </a:pPr>
            <a:endParaRPr lang="fr-FR" sz="2800" dirty="0"/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800" dirty="0"/>
              <a:t> Sur la base de la zone géographique couverte, le réseau peut être un… ou un…, tandis que, selon le type d’administration, il peut être un réseau … ou…. </a:t>
            </a:r>
          </a:p>
          <a:p>
            <a:pPr algn="justLow">
              <a:buFont typeface="Wingdings" panose="05000000000000000000" pitchFamily="2" charset="2"/>
              <a:buChar char="§"/>
            </a:pPr>
            <a:endParaRPr lang="fr-FR" sz="2800" dirty="0"/>
          </a:p>
          <a:p>
            <a:pPr algn="justLow">
              <a:buFont typeface="Wingdings" panose="05000000000000000000" pitchFamily="2" charset="2"/>
              <a:buChar char="§"/>
            </a:pPr>
            <a:endParaRPr lang="fr-FR" sz="2800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3BDFB2A-5190-48E1-B3E8-D1AA4C9D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60825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de revision: Première </a:t>
            </a:r>
            <a:r>
              <a:rPr lang="en-US" dirty="0" err="1"/>
              <a:t>Partie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67373" y="2299063"/>
            <a:ext cx="10366684" cy="4023360"/>
          </a:xfrm>
        </p:spPr>
        <p:txBody>
          <a:bodyPr>
            <a:normAutofit/>
          </a:bodyPr>
          <a:lstStyle/>
          <a:p>
            <a:pPr algn="justLow">
              <a:buFont typeface="Wingdings" panose="05000000000000000000" pitchFamily="2" charset="2"/>
              <a:buChar char="§"/>
            </a:pPr>
            <a:r>
              <a:rPr lang="en-US" sz="2800" dirty="0"/>
              <a:t>Les principals functionalities de la Couche reseau </a:t>
            </a:r>
            <a:r>
              <a:rPr lang="en-US" sz="2800" dirty="0" err="1"/>
              <a:t>sont</a:t>
            </a:r>
            <a:r>
              <a:rPr lang="en-US" sz="2800" dirty="0"/>
              <a:t> les </a:t>
            </a:r>
            <a:r>
              <a:rPr lang="en-US" sz="2800" dirty="0" err="1"/>
              <a:t>suivantes</a:t>
            </a:r>
            <a:r>
              <a:rPr lang="en-US" sz="2800" dirty="0"/>
              <a:t> : … et ….</a:t>
            </a:r>
          </a:p>
          <a:p>
            <a:pPr algn="justLow">
              <a:buFont typeface="Wingdings" panose="05000000000000000000" pitchFamily="2" charset="2"/>
              <a:buChar char="§"/>
            </a:pPr>
            <a:r>
              <a:rPr lang="fr-FR" sz="2800" dirty="0"/>
              <a:t>  La couche réseau est responsable de l'adressage…, tandis que la couche liaison de données est responsable de l'adressage….</a:t>
            </a:r>
            <a:endParaRPr lang="en-US" sz="2800" dirty="0"/>
          </a:p>
          <a:p>
            <a:pPr algn="justLow"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B4B452-C4B1-4337-8863-9D2BD06F2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0863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Dans ce chapitre, vous avez appris: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fr-FR" dirty="0"/>
              <a:t>L'infrastructure réseau est la plate-forme prenant en charge le réseau. Il fournit le canal stable et fiable sur lequel la communication peut avoir lieu. Il est composé de composants réseau, y compris les périphériques finaux, les périphériques intermédiaires et les supports réseau.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7C77971-9B6D-4359-942F-45943490D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DB579-C20E-467A-9F9A-A5D476AA898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144371E-FEAB-4CF9-9055-BC59C511DA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718426"/>
            <a:ext cx="10515600" cy="1325563"/>
          </a:xfrm>
        </p:spPr>
        <p:txBody>
          <a:bodyPr/>
          <a:lstStyle/>
          <a:p>
            <a:pPr eaLnBrk="1" hangingPunct="1"/>
            <a:r>
              <a:rPr lang="en-US" dirty="0"/>
              <a:t>Résumé</a:t>
            </a:r>
          </a:p>
        </p:txBody>
      </p:sp>
    </p:spTree>
    <p:extLst>
      <p:ext uri="{BB962C8B-B14F-4D97-AF65-F5344CB8AC3E}">
        <p14:creationId xmlns:p14="http://schemas.microsoft.com/office/powerpoint/2010/main" val="697829644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3655</Words>
  <Application>Microsoft Office PowerPoint</Application>
  <PresentationFormat>Grand écran</PresentationFormat>
  <Paragraphs>510</Paragraphs>
  <Slides>63</Slides>
  <Notes>39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63</vt:i4>
      </vt:variant>
    </vt:vector>
  </HeadingPairs>
  <TitlesOfParts>
    <vt:vector size="72" baseType="lpstr">
      <vt:lpstr>ＭＳ Ｐゴシック</vt:lpstr>
      <vt:lpstr>Arial</vt:lpstr>
      <vt:lpstr>Calibri</vt:lpstr>
      <vt:lpstr>Calibri Light</vt:lpstr>
      <vt:lpstr>Tw Cen MT</vt:lpstr>
      <vt:lpstr>Tw Cen MT Condensed</vt:lpstr>
      <vt:lpstr>Wingdings</vt:lpstr>
      <vt:lpstr>Thème Office</vt:lpstr>
      <vt:lpstr>NetAcad-4F_PPT-WHT_060408</vt:lpstr>
      <vt:lpstr>Initiation aux réseaux</vt:lpstr>
      <vt:lpstr>Objectifs Globaux du cours</vt:lpstr>
      <vt:lpstr>Qu’est ce qu’un réseau informatique?</vt:lpstr>
      <vt:lpstr>Réseaux dans notre vie passée et quotidienne</vt:lpstr>
      <vt:lpstr>Avantages et services du réseau</vt:lpstr>
      <vt:lpstr>Catégorisation des réseaux informatiques</vt:lpstr>
      <vt:lpstr>Zone géographique</vt:lpstr>
      <vt:lpstr>Local Area Network (LAN)</vt:lpstr>
      <vt:lpstr>Services des réseaux Locals (LAN)</vt:lpstr>
      <vt:lpstr>Wide Area Network (WAN)</vt:lpstr>
      <vt:lpstr>Services des réseaux Etendus (WAN)</vt:lpstr>
      <vt:lpstr>Mode de transmission</vt:lpstr>
      <vt:lpstr>Type d’administration</vt:lpstr>
      <vt:lpstr>Réseau Peer-to-Peer</vt:lpstr>
      <vt:lpstr>Réseau Client/Serveur</vt:lpstr>
      <vt:lpstr>Type d’administration</vt:lpstr>
      <vt:lpstr>Topologies des reseaux</vt:lpstr>
      <vt:lpstr>Topologies Physiques</vt:lpstr>
      <vt:lpstr>Topologie en bus</vt:lpstr>
      <vt:lpstr>Topologie en bus</vt:lpstr>
      <vt:lpstr>Topologie en anneau</vt:lpstr>
      <vt:lpstr>Topologie en anneau</vt:lpstr>
      <vt:lpstr>Topologie en étoile</vt:lpstr>
      <vt:lpstr>Topologie en étoile</vt:lpstr>
      <vt:lpstr>Topologie Maillée</vt:lpstr>
      <vt:lpstr>Topologie Maillée</vt:lpstr>
      <vt:lpstr>Topologie logique</vt:lpstr>
      <vt:lpstr>Elements de base du reseau</vt:lpstr>
      <vt:lpstr>Dispositifs de réseau informatique</vt:lpstr>
      <vt:lpstr>Carte Réseau (NIC)</vt:lpstr>
      <vt:lpstr>HUB</vt:lpstr>
      <vt:lpstr>HUB</vt:lpstr>
      <vt:lpstr>CSMA/CD</vt:lpstr>
      <vt:lpstr>Switch</vt:lpstr>
      <vt:lpstr>Point d’ACCES (AP)</vt:lpstr>
      <vt:lpstr>Router</vt:lpstr>
      <vt:lpstr>Bande passante</vt:lpstr>
      <vt:lpstr>Débit</vt:lpstr>
      <vt:lpstr>ISO/OSI</vt:lpstr>
      <vt:lpstr>Avantages du modèle OSI</vt:lpstr>
      <vt:lpstr>Couches Modele OSI</vt:lpstr>
      <vt:lpstr>ISO/OSI à l’action</vt:lpstr>
      <vt:lpstr>Encapsulation</vt:lpstr>
      <vt:lpstr>De-encapsulation</vt:lpstr>
      <vt:lpstr>Couche Physique</vt:lpstr>
      <vt:lpstr>Couche liaison de données</vt:lpstr>
      <vt:lpstr>Adresse physique</vt:lpstr>
      <vt:lpstr>Couche réseau</vt:lpstr>
      <vt:lpstr>Adresse logique</vt:lpstr>
      <vt:lpstr>Couche Transport</vt:lpstr>
      <vt:lpstr>Couche session</vt:lpstr>
      <vt:lpstr>Couche Session</vt:lpstr>
      <vt:lpstr>Couche session</vt:lpstr>
      <vt:lpstr>Couche Presentation</vt:lpstr>
      <vt:lpstr>La couche Application</vt:lpstr>
      <vt:lpstr>La couche Application</vt:lpstr>
      <vt:lpstr>Qu'est-ce qu'un protocole de réseau informatique?</vt:lpstr>
      <vt:lpstr>TCP/IP</vt:lpstr>
      <vt:lpstr>TCP/IP vs ISO/OSI</vt:lpstr>
      <vt:lpstr>TCP/IP VS ISO/OSI</vt:lpstr>
      <vt:lpstr>Question de revision: Première Partie</vt:lpstr>
      <vt:lpstr>Question de revision: Première Partie</vt:lpstr>
      <vt:lpstr>Résumé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UMP 1</dc:creator>
  <cp:lastModifiedBy>Oussama ELHADJI</cp:lastModifiedBy>
  <cp:revision>36</cp:revision>
  <dcterms:created xsi:type="dcterms:W3CDTF">2019-12-17T19:54:16Z</dcterms:created>
  <dcterms:modified xsi:type="dcterms:W3CDTF">2024-06-06T14:25:06Z</dcterms:modified>
</cp:coreProperties>
</file>