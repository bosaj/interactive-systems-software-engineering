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74" r:id="rId4"/>
    <p:sldId id="698" r:id="rId5"/>
    <p:sldId id="700" r:id="rId6"/>
    <p:sldId id="699" r:id="rId7"/>
    <p:sldId id="697" r:id="rId8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Section par défaut" id="{CFB2216F-FBF0-49F1-A7C8-5F15FD617A49}">
          <p14:sldIdLst>
            <p14:sldId id="256"/>
            <p14:sldId id="260"/>
            <p14:sldId id="274"/>
            <p14:sldId id="698"/>
            <p14:sldId id="700"/>
            <p14:sldId id="699"/>
            <p14:sldId id="6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870" autoAdjust="0"/>
  </p:normalViewPr>
  <p:slideViewPr>
    <p:cSldViewPr>
      <p:cViewPr>
        <p:scale>
          <a:sx n="66" d="100"/>
          <a:sy n="66" d="100"/>
        </p:scale>
        <p:origin x="1224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9D06F-8644-4093-BFAB-BEE37625643B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5E13D-E8C0-4774-A298-6E06C61A58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8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Continuons</a:t>
            </a:r>
            <a:r>
              <a:rPr lang="fr-FR" sz="1200" spc="6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la</a:t>
            </a:r>
            <a:r>
              <a:rPr lang="fr-FR" sz="1200" spc="6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présentation</a:t>
            </a:r>
            <a:r>
              <a:rPr lang="fr-FR" sz="1200" spc="5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des</a:t>
            </a:r>
            <a:r>
              <a:rPr lang="fr-FR" sz="1200" spc="8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concepts</a:t>
            </a:r>
            <a:r>
              <a:rPr lang="fr-FR" sz="1200" spc="6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fondamentaux</a:t>
            </a:r>
            <a:r>
              <a:rPr lang="fr-FR" sz="1200" spc="6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d’un</a:t>
            </a:r>
            <a:r>
              <a:rPr lang="fr-FR" sz="1200" spc="4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SE.</a:t>
            </a:r>
            <a:r>
              <a:rPr lang="fr-FR" sz="1200" spc="5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</a:t>
            </a:r>
            <a:r>
              <a:rPr lang="fr-FR" sz="1200" spc="7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système</a:t>
            </a:r>
            <a:r>
              <a:rPr lang="fr-FR" sz="1200" spc="4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d’exploitation</a:t>
            </a:r>
            <a:r>
              <a:rPr lang="fr-FR" sz="1200" spc="6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gère</a:t>
            </a:r>
            <a:r>
              <a:rPr lang="fr-FR" sz="1200" spc="5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</a:t>
            </a:r>
            <a:r>
              <a:rPr lang="fr-FR" sz="1200" spc="5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processus</a:t>
            </a:r>
            <a:r>
              <a:rPr lang="fr-FR" sz="1200" spc="6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et</a:t>
            </a:r>
            <a:r>
              <a:rPr lang="fr-FR" sz="1200" spc="5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</a:t>
            </a:r>
            <a:r>
              <a:rPr lang="fr-FR" sz="1200" spc="6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mémoires.</a:t>
            </a:r>
            <a:r>
              <a:rPr lang="fr-FR" sz="1200" spc="5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Aussi,</a:t>
            </a:r>
            <a:r>
              <a:rPr lang="fr-FR" sz="1200" spc="6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il</a:t>
            </a:r>
            <a:r>
              <a:rPr lang="fr-FR" sz="1200" spc="3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assure</a:t>
            </a:r>
            <a:r>
              <a:rPr lang="fr-FR" sz="1200" spc="7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la</a:t>
            </a:r>
            <a:r>
              <a:rPr lang="fr-FR" sz="1200" spc="7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gestion</a:t>
            </a:r>
            <a:r>
              <a:rPr lang="fr-FR" sz="1200" spc="4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des</a:t>
            </a:r>
            <a:r>
              <a:rPr lang="fr-FR" sz="1200" spc="8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entrées</a:t>
            </a:r>
            <a:r>
              <a:rPr lang="fr-FR" sz="1200" spc="6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et</a:t>
            </a:r>
            <a:endParaRPr lang="fr-FR" sz="1200" dirty="0" smtClean="0">
              <a:latin typeface="+mn-lt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sortie</a:t>
            </a:r>
            <a:endParaRPr lang="fr-FR" sz="1200" b="1" dirty="0" smtClean="0">
              <a:solidFill>
                <a:srgbClr val="0058A0"/>
              </a:solidFill>
              <a:latin typeface="+mn-lt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5E13D-E8C0-4774-A298-6E06C61A58D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9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 périphériques  sont les composants matériels connectés à un système de traitement de l’information central comme un ordinateur, une console de</a:t>
            </a:r>
            <a:r>
              <a:rPr lang="fr-FR" sz="1200" spc="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jeu,</a:t>
            </a:r>
            <a:r>
              <a:rPr lang="fr-FR" sz="1200" spc="1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permettant</a:t>
            </a:r>
            <a:r>
              <a:rPr lang="fr-FR" sz="1200" spc="1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un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échange</a:t>
            </a:r>
            <a:r>
              <a:rPr lang="fr-FR" sz="1200" spc="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avec</a:t>
            </a:r>
            <a:r>
              <a:rPr lang="fr-FR" sz="1200" dirty="0" smtClean="0">
                <a:latin typeface="+mn-lt"/>
                <a:cs typeface="Calibri"/>
              </a:rPr>
              <a:t> l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’extérieur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;</a:t>
            </a:r>
            <a:endParaRPr lang="fr-FR" sz="1200" dirty="0" smtClean="0">
              <a:solidFill>
                <a:srgbClr val="585858"/>
              </a:solidFill>
              <a:latin typeface="+mn-lt"/>
              <a:cs typeface="Calibri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5E13D-E8C0-4774-A298-6E06C61A58D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205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>
                <a:latin typeface="+mn-lt"/>
                <a:cs typeface="Calibri"/>
              </a:rPr>
              <a:t>Il garde une trace de tous les périphériques. Le contrôleur d'E/S est le responsable de cette tâche. Il permet l’allocation et la libération des périphériques de manière efficace.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Canal</a:t>
            </a:r>
            <a:r>
              <a:rPr lang="fr-FR" sz="1200" b="1" spc="-2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spc="-10" dirty="0" smtClean="0">
                <a:solidFill>
                  <a:srgbClr val="001F5F"/>
                </a:solidFill>
                <a:latin typeface="+mn-lt"/>
                <a:cs typeface="Calibri"/>
              </a:rPr>
              <a:t>d’Entrée/Sortie</a:t>
            </a:r>
            <a:r>
              <a:rPr lang="fr-FR" sz="1200" b="1" spc="-15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:</a:t>
            </a:r>
            <a:r>
              <a:rPr lang="fr-FR" sz="1200" b="1" spc="21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indique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au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processeur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central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(CPU)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1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ne</a:t>
            </a:r>
            <a:r>
              <a:rPr lang="fr-FR" sz="1200" spc="-4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pas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considérer</a:t>
            </a:r>
            <a:r>
              <a:rPr lang="fr-FR" sz="1200" spc="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détails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relatifs</a:t>
            </a:r>
            <a:r>
              <a:rPr lang="fr-FR" sz="1200" spc="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aux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E/S.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Contrôleur</a:t>
            </a:r>
            <a:r>
              <a:rPr lang="fr-FR" sz="1200" b="1" spc="1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de</a:t>
            </a:r>
            <a:r>
              <a:rPr lang="fr-FR" sz="1200" b="1" spc="-25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périphérique</a:t>
            </a:r>
            <a:r>
              <a:rPr lang="fr-FR" sz="1200" b="1" spc="-2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:</a:t>
            </a:r>
            <a:r>
              <a:rPr lang="fr-FR" sz="1200" b="1" spc="26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l’objectif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 contrôleur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périphérique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est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d’adapter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 la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diversité</a:t>
            </a:r>
            <a:r>
              <a:rPr lang="fr-FR" sz="1200" spc="-1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des</a:t>
            </a:r>
            <a:r>
              <a:rPr lang="fr-FR" sz="1200" spc="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périphériques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(débit,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format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données,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temps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réponse,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forme</a:t>
            </a:r>
            <a:r>
              <a:rPr lang="fr-FR" sz="1200" spc="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de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signaux</a:t>
            </a:r>
            <a:r>
              <a:rPr lang="fr-FR" sz="1200" spc="-3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commande)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à</a:t>
            </a:r>
            <a:r>
              <a:rPr lang="fr-FR" sz="1200" spc="-4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une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interface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commune,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afin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4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respecter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normes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suivies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par</a:t>
            </a:r>
            <a:r>
              <a:rPr lang="fr-FR" sz="1200" spc="-5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constructeur.</a:t>
            </a:r>
            <a:endParaRPr lang="fr-FR" sz="1200" dirty="0" smtClean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>
              <a:latin typeface="+mn-lt"/>
              <a:cs typeface="Calibri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5E13D-E8C0-4774-A298-6E06C61A58D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706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>
                <a:latin typeface="+mn-lt"/>
                <a:cs typeface="Calibri"/>
              </a:rPr>
              <a:t>Il garde une trace de tous les périphériques. Le contrôleur d'E/S est le responsable de cette tâche. Il permet l’allocation et la libération des périphériques de manière efficace.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Canal</a:t>
            </a:r>
            <a:r>
              <a:rPr lang="fr-FR" sz="1200" b="1" spc="-2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spc="-10" dirty="0" smtClean="0">
                <a:solidFill>
                  <a:srgbClr val="001F5F"/>
                </a:solidFill>
                <a:latin typeface="+mn-lt"/>
                <a:cs typeface="Calibri"/>
              </a:rPr>
              <a:t>d’Entrée/Sortie</a:t>
            </a:r>
            <a:r>
              <a:rPr lang="fr-FR" sz="1200" b="1" spc="-15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:</a:t>
            </a:r>
            <a:r>
              <a:rPr lang="fr-FR" sz="1200" b="1" spc="21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indique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au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processeur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central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(CPU)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1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ne</a:t>
            </a:r>
            <a:r>
              <a:rPr lang="fr-FR" sz="1200" spc="-4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pas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considérer</a:t>
            </a:r>
            <a:r>
              <a:rPr lang="fr-FR" sz="1200" spc="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détails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relatifs</a:t>
            </a:r>
            <a:r>
              <a:rPr lang="fr-FR" sz="1200" spc="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aux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E/S.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Contrôleur</a:t>
            </a:r>
            <a:r>
              <a:rPr lang="fr-FR" sz="1200" b="1" spc="1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de</a:t>
            </a:r>
            <a:r>
              <a:rPr lang="fr-FR" sz="1200" b="1" spc="-25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périphérique</a:t>
            </a:r>
            <a:r>
              <a:rPr lang="fr-FR" sz="1200" b="1" spc="-2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b="1" dirty="0" smtClean="0">
                <a:solidFill>
                  <a:srgbClr val="001F5F"/>
                </a:solidFill>
                <a:latin typeface="+mn-lt"/>
                <a:cs typeface="Calibri"/>
              </a:rPr>
              <a:t>:</a:t>
            </a:r>
            <a:r>
              <a:rPr lang="fr-FR" sz="1200" b="1" spc="260" dirty="0" smtClean="0">
                <a:solidFill>
                  <a:srgbClr val="001F5F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l’objectif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 contrôleur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périphérique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est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d’adapter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 la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diversité</a:t>
            </a:r>
            <a:r>
              <a:rPr lang="fr-FR" sz="1200" spc="-1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des</a:t>
            </a:r>
            <a:r>
              <a:rPr lang="fr-FR" sz="1200" spc="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périphériques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(débit,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format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données,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temps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réponse,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forme</a:t>
            </a:r>
            <a:r>
              <a:rPr lang="fr-FR" sz="1200" spc="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de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signaux</a:t>
            </a:r>
            <a:r>
              <a:rPr lang="fr-FR" sz="1200" spc="-3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commande)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à</a:t>
            </a:r>
            <a:r>
              <a:rPr lang="fr-FR" sz="1200" spc="-4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une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interface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commune,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afin</a:t>
            </a:r>
            <a:r>
              <a:rPr lang="fr-FR" sz="1200" spc="-2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de</a:t>
            </a:r>
            <a:r>
              <a:rPr lang="fr-FR" sz="1200" spc="-4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respecter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les</a:t>
            </a:r>
            <a:r>
              <a:rPr lang="fr-FR" sz="1200" spc="-3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normes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suivies</a:t>
            </a:r>
            <a:r>
              <a:rPr lang="fr-FR" sz="1200" spc="-5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par</a:t>
            </a:r>
            <a:r>
              <a:rPr lang="fr-FR" sz="1200" spc="-5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dirty="0" smtClean="0">
                <a:solidFill>
                  <a:srgbClr val="585858"/>
                </a:solidFill>
                <a:latin typeface="+mn-lt"/>
                <a:cs typeface="Calibri"/>
              </a:rPr>
              <a:t>le</a:t>
            </a:r>
            <a:r>
              <a:rPr lang="fr-FR" sz="1200" spc="-20" dirty="0" smtClean="0">
                <a:solidFill>
                  <a:srgbClr val="585858"/>
                </a:solidFill>
                <a:latin typeface="+mn-lt"/>
                <a:cs typeface="Calibri"/>
              </a:rPr>
              <a:t> </a:t>
            </a:r>
            <a:r>
              <a:rPr lang="fr-FR" sz="1200" spc="-10" dirty="0" smtClean="0">
                <a:solidFill>
                  <a:srgbClr val="585858"/>
                </a:solidFill>
                <a:latin typeface="+mn-lt"/>
                <a:cs typeface="Calibri"/>
              </a:rPr>
              <a:t>constructeur.</a:t>
            </a:r>
            <a:endParaRPr lang="fr-FR" sz="1200" dirty="0" smtClean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>
              <a:latin typeface="+mn-lt"/>
              <a:cs typeface="Calibri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5E13D-E8C0-4774-A298-6E06C61A58D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421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17"/>
            <a:ext cx="12185903" cy="68552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7972" y="1461515"/>
            <a:ext cx="11119485" cy="5148580"/>
          </a:xfrm>
          <a:custGeom>
            <a:avLst/>
            <a:gdLst/>
            <a:ahLst/>
            <a:cxnLst/>
            <a:rect l="l" t="t" r="r" b="b"/>
            <a:pathLst>
              <a:path w="11119485" h="5148580">
                <a:moveTo>
                  <a:pt x="11119104" y="0"/>
                </a:moveTo>
                <a:lnTo>
                  <a:pt x="0" y="0"/>
                </a:lnTo>
                <a:lnTo>
                  <a:pt x="0" y="5148072"/>
                </a:lnTo>
                <a:lnTo>
                  <a:pt x="11119104" y="5148072"/>
                </a:lnTo>
                <a:lnTo>
                  <a:pt x="111191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7972" y="1461515"/>
            <a:ext cx="11119485" cy="5148580"/>
          </a:xfrm>
          <a:custGeom>
            <a:avLst/>
            <a:gdLst/>
            <a:ahLst/>
            <a:cxnLst/>
            <a:rect l="l" t="t" r="r" b="b"/>
            <a:pathLst>
              <a:path w="11119485" h="5148580">
                <a:moveTo>
                  <a:pt x="0" y="5148072"/>
                </a:moveTo>
                <a:lnTo>
                  <a:pt x="11119104" y="5148072"/>
                </a:lnTo>
                <a:lnTo>
                  <a:pt x="11119104" y="0"/>
                </a:lnTo>
                <a:lnTo>
                  <a:pt x="0" y="0"/>
                </a:lnTo>
                <a:lnTo>
                  <a:pt x="0" y="5148072"/>
                </a:lnTo>
                <a:close/>
              </a:path>
            </a:pathLst>
          </a:custGeom>
          <a:ln w="9525">
            <a:solidFill>
              <a:srgbClr val="F8C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59679"/>
            <a:ext cx="536575" cy="1347470"/>
          </a:xfrm>
          <a:custGeom>
            <a:avLst/>
            <a:gdLst/>
            <a:ahLst/>
            <a:cxnLst/>
            <a:rect l="l" t="t" r="r" b="b"/>
            <a:pathLst>
              <a:path w="536575" h="1347470">
                <a:moveTo>
                  <a:pt x="536448" y="0"/>
                </a:moveTo>
                <a:lnTo>
                  <a:pt x="0" y="0"/>
                </a:lnTo>
                <a:lnTo>
                  <a:pt x="0" y="1078992"/>
                </a:lnTo>
                <a:lnTo>
                  <a:pt x="4318" y="1127213"/>
                </a:lnTo>
                <a:lnTo>
                  <a:pt x="16776" y="1172591"/>
                </a:lnTo>
                <a:lnTo>
                  <a:pt x="36614" y="1214374"/>
                </a:lnTo>
                <a:lnTo>
                  <a:pt x="63080" y="1251813"/>
                </a:lnTo>
                <a:lnTo>
                  <a:pt x="95402" y="1284135"/>
                </a:lnTo>
                <a:lnTo>
                  <a:pt x="132842" y="1310601"/>
                </a:lnTo>
                <a:lnTo>
                  <a:pt x="174625" y="1330439"/>
                </a:lnTo>
                <a:lnTo>
                  <a:pt x="220002" y="1342898"/>
                </a:lnTo>
                <a:lnTo>
                  <a:pt x="268224" y="1347216"/>
                </a:lnTo>
                <a:lnTo>
                  <a:pt x="536448" y="1347216"/>
                </a:lnTo>
                <a:lnTo>
                  <a:pt x="536448" y="1078992"/>
                </a:lnTo>
                <a:lnTo>
                  <a:pt x="536448" y="0"/>
                </a:lnTo>
                <a:close/>
              </a:path>
            </a:pathLst>
          </a:custGeom>
          <a:solidFill>
            <a:srgbClr val="FF7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17"/>
            <a:ext cx="12185903" cy="68552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7972" y="1461515"/>
            <a:ext cx="11119485" cy="5148580"/>
          </a:xfrm>
          <a:custGeom>
            <a:avLst/>
            <a:gdLst/>
            <a:ahLst/>
            <a:cxnLst/>
            <a:rect l="l" t="t" r="r" b="b"/>
            <a:pathLst>
              <a:path w="11119485" h="5148580">
                <a:moveTo>
                  <a:pt x="11119104" y="0"/>
                </a:moveTo>
                <a:lnTo>
                  <a:pt x="0" y="0"/>
                </a:lnTo>
                <a:lnTo>
                  <a:pt x="0" y="5148072"/>
                </a:lnTo>
                <a:lnTo>
                  <a:pt x="11119104" y="5148072"/>
                </a:lnTo>
                <a:lnTo>
                  <a:pt x="111191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7972" y="1461515"/>
            <a:ext cx="11119485" cy="5148580"/>
          </a:xfrm>
          <a:custGeom>
            <a:avLst/>
            <a:gdLst/>
            <a:ahLst/>
            <a:cxnLst/>
            <a:rect l="l" t="t" r="r" b="b"/>
            <a:pathLst>
              <a:path w="11119485" h="5148580">
                <a:moveTo>
                  <a:pt x="0" y="5148072"/>
                </a:moveTo>
                <a:lnTo>
                  <a:pt x="11119104" y="5148072"/>
                </a:lnTo>
                <a:lnTo>
                  <a:pt x="11119104" y="0"/>
                </a:lnTo>
                <a:lnTo>
                  <a:pt x="0" y="0"/>
                </a:lnTo>
                <a:lnTo>
                  <a:pt x="0" y="5148072"/>
                </a:lnTo>
                <a:close/>
              </a:path>
            </a:pathLst>
          </a:custGeom>
          <a:ln w="9525">
            <a:solidFill>
              <a:srgbClr val="F8C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59679"/>
            <a:ext cx="536575" cy="1347470"/>
          </a:xfrm>
          <a:custGeom>
            <a:avLst/>
            <a:gdLst/>
            <a:ahLst/>
            <a:cxnLst/>
            <a:rect l="l" t="t" r="r" b="b"/>
            <a:pathLst>
              <a:path w="536575" h="1347470">
                <a:moveTo>
                  <a:pt x="536448" y="0"/>
                </a:moveTo>
                <a:lnTo>
                  <a:pt x="0" y="0"/>
                </a:lnTo>
                <a:lnTo>
                  <a:pt x="0" y="1078992"/>
                </a:lnTo>
                <a:lnTo>
                  <a:pt x="4318" y="1127213"/>
                </a:lnTo>
                <a:lnTo>
                  <a:pt x="16776" y="1172591"/>
                </a:lnTo>
                <a:lnTo>
                  <a:pt x="36614" y="1214374"/>
                </a:lnTo>
                <a:lnTo>
                  <a:pt x="63080" y="1251813"/>
                </a:lnTo>
                <a:lnTo>
                  <a:pt x="95402" y="1284135"/>
                </a:lnTo>
                <a:lnTo>
                  <a:pt x="132842" y="1310601"/>
                </a:lnTo>
                <a:lnTo>
                  <a:pt x="174625" y="1330439"/>
                </a:lnTo>
                <a:lnTo>
                  <a:pt x="220002" y="1342898"/>
                </a:lnTo>
                <a:lnTo>
                  <a:pt x="268224" y="1347216"/>
                </a:lnTo>
                <a:lnTo>
                  <a:pt x="536448" y="1347216"/>
                </a:lnTo>
                <a:lnTo>
                  <a:pt x="536448" y="1078992"/>
                </a:lnTo>
                <a:lnTo>
                  <a:pt x="536448" y="0"/>
                </a:lnTo>
                <a:close/>
              </a:path>
            </a:pathLst>
          </a:custGeom>
          <a:solidFill>
            <a:srgbClr val="FF7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753" y="332308"/>
            <a:ext cx="11664492" cy="76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8982" y="1605152"/>
            <a:ext cx="10590530" cy="4752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3621" y="6694423"/>
            <a:ext cx="1986915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Copyright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Tout</a:t>
            </a:r>
            <a:r>
              <a:rPr spc="-15" dirty="0"/>
              <a:t> </a:t>
            </a:r>
            <a:r>
              <a:rPr dirty="0"/>
              <a:t>droit</a:t>
            </a:r>
            <a:r>
              <a:rPr spc="-40" dirty="0"/>
              <a:t> </a:t>
            </a:r>
            <a:r>
              <a:rPr dirty="0"/>
              <a:t>réservé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45417" y="6709968"/>
            <a:ext cx="28130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6946"/>
            <a:ext cx="12191999" cy="47632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16863" y="5043373"/>
            <a:ext cx="8973185" cy="12965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3200" b="1" dirty="0" smtClean="0">
                <a:solidFill>
                  <a:srgbClr val="1C3051"/>
                </a:solidFill>
                <a:latin typeface="Calibri"/>
                <a:cs typeface="Calibri"/>
              </a:rPr>
              <a:t>M</a:t>
            </a:r>
            <a:r>
              <a:rPr lang="fr-FR" sz="3200" b="1" dirty="0" err="1" smtClean="0">
                <a:solidFill>
                  <a:srgbClr val="1C3051"/>
                </a:solidFill>
                <a:latin typeface="Calibri"/>
                <a:cs typeface="Calibri"/>
              </a:rPr>
              <a:t>odule</a:t>
            </a:r>
            <a:r>
              <a:rPr lang="fr-FR" sz="3200" b="1" spc="-75" dirty="0">
                <a:solidFill>
                  <a:srgbClr val="1C3051"/>
                </a:solidFill>
                <a:latin typeface="Calibri"/>
                <a:cs typeface="Calibri"/>
              </a:rPr>
              <a:t>:</a:t>
            </a:r>
            <a:r>
              <a:rPr sz="3200" b="1" spc="-35" dirty="0" smtClean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lang="fr-FR" sz="3200" b="1" dirty="0">
                <a:solidFill>
                  <a:srgbClr val="1C3051"/>
                </a:solidFill>
                <a:latin typeface="Calibri"/>
                <a:cs typeface="Calibri"/>
              </a:rPr>
              <a:t>S</a:t>
            </a:r>
            <a:r>
              <a:rPr sz="3200" b="1" dirty="0" err="1" smtClean="0">
                <a:solidFill>
                  <a:srgbClr val="1C3051"/>
                </a:solidFill>
                <a:latin typeface="Calibri"/>
                <a:cs typeface="Calibri"/>
              </a:rPr>
              <a:t>ystème</a:t>
            </a:r>
            <a:r>
              <a:rPr sz="3200" b="1" spc="-20" dirty="0" smtClean="0">
                <a:solidFill>
                  <a:srgbClr val="1C3051"/>
                </a:solidFill>
                <a:latin typeface="Calibri"/>
                <a:cs typeface="Calibri"/>
              </a:rPr>
              <a:t> </a:t>
            </a:r>
            <a:r>
              <a:rPr sz="3200" b="1" dirty="0" err="1" smtClean="0">
                <a:solidFill>
                  <a:srgbClr val="1C3051"/>
                </a:solidFill>
                <a:latin typeface="Calibri"/>
                <a:cs typeface="Calibri"/>
              </a:rPr>
              <a:t>d'exploitation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400" dirty="0">
              <a:latin typeface="Calibri"/>
              <a:cs typeface="Calibri"/>
            </a:endParaRPr>
          </a:p>
          <a:p>
            <a:pPr marL="1055370"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135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0"/>
            <a:ext cx="6483078" cy="685799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696325" y="6339713"/>
            <a:ext cx="126492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heures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6380479" y="2358897"/>
            <a:ext cx="5201921" cy="2375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lang="fr-FR" sz="1800" b="1" spc="-60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que</a:t>
            </a:r>
            <a:r>
              <a:rPr lang="fr-FR" sz="1800" b="1" spc="-35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lang="fr-FR" sz="1800" b="1" spc="-15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lang="fr-FR" sz="1800" b="1" spc="-35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apprendre</a:t>
            </a:r>
            <a:r>
              <a:rPr lang="fr-FR" sz="1800" b="1" spc="-55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lang="fr-FR" sz="1800" b="1" spc="-40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lang="fr-FR" sz="1800" b="1" spc="-35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dirty="0" smtClean="0">
                <a:solidFill>
                  <a:srgbClr val="FF7800"/>
                </a:solidFill>
                <a:latin typeface="Calibri"/>
                <a:cs typeface="Calibri"/>
              </a:rPr>
              <a:t>chapitre</a:t>
            </a:r>
            <a:r>
              <a:rPr lang="fr-FR" sz="1800" b="1" spc="-40" dirty="0" smtClean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lang="fr-FR" sz="1800" b="1" spc="-50" dirty="0" smtClean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lang="fr-FR" sz="180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lang="fr-FR" dirty="0" smtClean="0">
                <a:solidFill>
                  <a:srgbClr val="555555"/>
                </a:solidFill>
                <a:latin typeface="Calibri"/>
                <a:cs typeface="Calibri"/>
              </a:rPr>
              <a:t>Découvrir la notion des périphériques</a:t>
            </a:r>
            <a:endParaRPr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1370"/>
              </a:spcBef>
              <a:buFont typeface="Arial"/>
              <a:buChar char="•"/>
              <a:tabLst>
                <a:tab pos="356870" algn="l"/>
              </a:tabLst>
            </a:pPr>
            <a:r>
              <a:rPr lang="fr-FR" spc="-10" dirty="0" smtClean="0">
                <a:solidFill>
                  <a:srgbClr val="555555"/>
                </a:solidFill>
                <a:latin typeface="Calibri"/>
                <a:cs typeface="Calibri"/>
              </a:rPr>
              <a:t>Connaître les types de </a:t>
            </a:r>
            <a:r>
              <a:rPr lang="fr-FR" dirty="0" smtClean="0">
                <a:solidFill>
                  <a:srgbClr val="555555"/>
                </a:solidFill>
                <a:latin typeface="Calibri"/>
                <a:cs typeface="Calibri"/>
              </a:rPr>
              <a:t>périphérique</a:t>
            </a:r>
            <a:endParaRPr dirty="0">
              <a:latin typeface="Calibri"/>
              <a:cs typeface="Calibri"/>
            </a:endParaRPr>
          </a:p>
          <a:p>
            <a:pPr marL="356870" indent="-344170">
              <a:lnSpc>
                <a:spcPct val="150000"/>
              </a:lnSpc>
              <a:spcBef>
                <a:spcPts val="1345"/>
              </a:spcBef>
              <a:buFont typeface="Arial"/>
              <a:buChar char="•"/>
              <a:tabLst>
                <a:tab pos="356870" algn="l"/>
              </a:tabLst>
            </a:pPr>
            <a:r>
              <a:rPr lang="fr-FR" dirty="0" smtClean="0">
                <a:solidFill>
                  <a:srgbClr val="555555"/>
                </a:solidFill>
                <a:latin typeface="Calibri"/>
                <a:cs typeface="Calibri"/>
              </a:rPr>
              <a:t>Présenter</a:t>
            </a:r>
            <a:r>
              <a:rPr spc="10" dirty="0" smtClean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lang="fr-FR" dirty="0" smtClean="0">
                <a:solidFill>
                  <a:srgbClr val="555555"/>
                </a:solidFill>
                <a:latin typeface="Calibri"/>
                <a:cs typeface="Calibri"/>
              </a:rPr>
              <a:t>composants intervenant au transfert des données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10"/>
          <p:cNvSpPr txBox="1">
            <a:spLocks/>
          </p:cNvSpPr>
          <p:nvPr/>
        </p:nvSpPr>
        <p:spPr>
          <a:xfrm>
            <a:off x="4648200" y="533400"/>
            <a:ext cx="6494019" cy="97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rgbClr val="585858"/>
                </a:solidFill>
                <a:latin typeface="Calibri"/>
                <a:ea typeface="+mj-ea"/>
                <a:cs typeface="Calibri"/>
              </a:defRPr>
            </a:lvl1pPr>
          </a:lstStyle>
          <a:p>
            <a:pPr marR="5080" indent="1355725" algn="ctr">
              <a:lnSpc>
                <a:spcPct val="112200"/>
              </a:lnSpc>
              <a:spcBef>
                <a:spcPts val="100"/>
              </a:spcBef>
              <a:tabLst>
                <a:tab pos="2870200" algn="l"/>
              </a:tabLst>
            </a:pPr>
            <a:r>
              <a:rPr lang="fr-FR" sz="2800" spc="-25" smtClean="0">
                <a:solidFill>
                  <a:srgbClr val="008245"/>
                </a:solidFill>
              </a:rPr>
              <a:t>CHAPITRE 7 </a:t>
            </a:r>
            <a:br>
              <a:rPr lang="fr-FR" sz="2800" spc="-25" smtClean="0">
                <a:solidFill>
                  <a:srgbClr val="008245"/>
                </a:solidFill>
              </a:rPr>
            </a:br>
            <a:r>
              <a:rPr lang="fr-FR" sz="2800" spc="-25" smtClean="0">
                <a:solidFill>
                  <a:srgbClr val="008245"/>
                </a:solidFill>
              </a:rPr>
              <a:t>                   </a:t>
            </a:r>
            <a:r>
              <a:rPr lang="fr-FR" sz="2800" smtClean="0">
                <a:solidFill>
                  <a:srgbClr val="007842"/>
                </a:solidFill>
              </a:rPr>
              <a:t>Gestion des E/S</a:t>
            </a:r>
            <a:endParaRPr lang="fr-FR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6285" cy="6855459"/>
            <a:chOff x="0" y="17"/>
            <a:chExt cx="12186285" cy="685545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"/>
              <a:ext cx="12185903" cy="68552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59679"/>
              <a:ext cx="536575" cy="1347470"/>
            </a:xfrm>
            <a:custGeom>
              <a:avLst/>
              <a:gdLst/>
              <a:ahLst/>
              <a:cxnLst/>
              <a:rect l="l" t="t" r="r" b="b"/>
              <a:pathLst>
                <a:path w="536575" h="1347470">
                  <a:moveTo>
                    <a:pt x="536448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4318" y="1127213"/>
                  </a:lnTo>
                  <a:lnTo>
                    <a:pt x="16776" y="1172591"/>
                  </a:lnTo>
                  <a:lnTo>
                    <a:pt x="36614" y="1214374"/>
                  </a:lnTo>
                  <a:lnTo>
                    <a:pt x="63080" y="1251813"/>
                  </a:lnTo>
                  <a:lnTo>
                    <a:pt x="95402" y="1284135"/>
                  </a:lnTo>
                  <a:lnTo>
                    <a:pt x="132842" y="1310601"/>
                  </a:lnTo>
                  <a:lnTo>
                    <a:pt x="174625" y="1330439"/>
                  </a:lnTo>
                  <a:lnTo>
                    <a:pt x="220002" y="1342898"/>
                  </a:lnTo>
                  <a:lnTo>
                    <a:pt x="268224" y="1347216"/>
                  </a:lnTo>
                  <a:lnTo>
                    <a:pt x="536448" y="1347216"/>
                  </a:lnTo>
                  <a:lnTo>
                    <a:pt x="536448" y="1078992"/>
                  </a:lnTo>
                  <a:lnTo>
                    <a:pt x="536448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925" y="4755154"/>
            <a:ext cx="247119" cy="156857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z="1900" b="1" spc="-25" dirty="0" smtClean="0">
                <a:solidFill>
                  <a:srgbClr val="FFFFFF"/>
                </a:solidFill>
                <a:latin typeface="Calibri"/>
                <a:cs typeface="Calibri"/>
              </a:rPr>
              <a:t>CHAPITRE </a:t>
            </a:r>
            <a:r>
              <a:rPr lang="fr-FR" sz="19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691975"/>
            <a:ext cx="10591165" cy="42986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système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d’exploitation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fournit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ensemble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services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facilitent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création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l’utilisation des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logiciels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applicatifs.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 err="1" smtClean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400" spc="10" dirty="0" smtClean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services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vont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permettre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plusieurs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programmes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à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plusieurs usagers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partager</a:t>
            </a:r>
            <a:r>
              <a:rPr sz="14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ressources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l’ordinateur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manière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fiable, rapide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rationnelle.</a:t>
            </a:r>
            <a:endParaRPr sz="14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32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partie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suivante,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va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découvrir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détail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 </a:t>
            </a:r>
            <a:r>
              <a:rPr sz="1400" b="1" i="1" spc="-10" dirty="0">
                <a:solidFill>
                  <a:srgbClr val="FF7800"/>
                </a:solidFill>
                <a:latin typeface="Calibri"/>
                <a:cs typeface="Calibri"/>
              </a:rPr>
              <a:t>concepts</a:t>
            </a:r>
            <a:r>
              <a:rPr sz="1400" b="1" i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FF7800"/>
                </a:solidFill>
                <a:latin typeface="Calibri"/>
                <a:cs typeface="Calibri"/>
              </a:rPr>
              <a:t>fondamentaux</a:t>
            </a:r>
            <a:r>
              <a:rPr sz="1400" b="1" i="1" spc="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suivant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00" dirty="0">
              <a:latin typeface="Calibri"/>
              <a:cs typeface="Calibri"/>
            </a:endParaRPr>
          </a:p>
          <a:p>
            <a:pPr marL="1384300" indent="-286385">
              <a:lnSpc>
                <a:spcPct val="100000"/>
              </a:lnSpc>
              <a:buAutoNum type="arabicPeriod"/>
              <a:tabLst>
                <a:tab pos="1384300" algn="l"/>
              </a:tabLst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gestion</a:t>
            </a:r>
            <a:r>
              <a:rPr sz="1400" b="1" spc="-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Processus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7800"/>
              </a:buClr>
              <a:buFont typeface="Calibri"/>
              <a:buAutoNum type="arabicPeriod"/>
            </a:pPr>
            <a:endParaRPr sz="1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384300" indent="-286385">
              <a:lnSpc>
                <a:spcPct val="100000"/>
              </a:lnSpc>
              <a:buAutoNum type="arabicPeriod"/>
              <a:tabLst>
                <a:tab pos="1384300" algn="l"/>
              </a:tabLst>
            </a:pPr>
            <a:r>
              <a:rPr sz="1400" b="1" spc="-5" dirty="0">
                <a:solidFill>
                  <a:srgbClr val="FF7800"/>
                </a:solidFill>
                <a:latin typeface="Calibri"/>
                <a:cs typeface="Calibri"/>
              </a:rPr>
              <a:t>La gestion de la Mémoire</a:t>
            </a:r>
          </a:p>
          <a:p>
            <a:pPr>
              <a:lnSpc>
                <a:spcPct val="100000"/>
              </a:lnSpc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 marL="1384300" indent="-286385">
              <a:buAutoNum type="arabicPeriod"/>
              <a:tabLst>
                <a:tab pos="1384300" algn="l"/>
              </a:tabLst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La gestion des Entrées/Sorties</a:t>
            </a:r>
          </a:p>
          <a:p>
            <a:pPr>
              <a:lnSpc>
                <a:spcPct val="100000"/>
              </a:lnSpc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 marL="1384300" indent="-286385">
              <a:lnSpc>
                <a:spcPct val="100000"/>
              </a:lnSpc>
              <a:buAutoNum type="arabicPeriod"/>
              <a:tabLst>
                <a:tab pos="1384300" algn="l"/>
              </a:tabLst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gestion</a:t>
            </a:r>
            <a:r>
              <a:rPr sz="1400" b="1" spc="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Fichiers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7800"/>
              </a:buClr>
              <a:buFont typeface="Calibri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 marL="1384300" indent="-286385">
              <a:lnSpc>
                <a:spcPct val="100000"/>
              </a:lnSpc>
              <a:buAutoNum type="arabicPeriod"/>
              <a:tabLst>
                <a:tab pos="1384300" algn="l"/>
              </a:tabLst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La</a:t>
            </a:r>
            <a:r>
              <a:rPr sz="14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gestion</a:t>
            </a:r>
            <a:r>
              <a:rPr sz="1400" b="1" spc="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des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Utilisateurs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3753" y="332308"/>
            <a:ext cx="11664492" cy="702808"/>
          </a:xfrm>
          <a:prstGeom prst="rect">
            <a:avLst/>
          </a:prstGeom>
        </p:spPr>
        <p:txBody>
          <a:bodyPr vert="horz" wrap="square" lIns="0" tIns="1473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mtClean="0">
                <a:solidFill>
                  <a:srgbClr val="007842"/>
                </a:solidFill>
              </a:rPr>
              <a:t>0</a:t>
            </a:r>
            <a:r>
              <a:rPr lang="fr-FR" dirty="0">
                <a:solidFill>
                  <a:srgbClr val="007842"/>
                </a:solidFill>
              </a:rPr>
              <a:t>7</a:t>
            </a:r>
            <a:r>
              <a:rPr spc="-35" dirty="0" smtClean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lang="fr-FR" dirty="0">
                <a:solidFill>
                  <a:srgbClr val="007842"/>
                </a:solidFill>
              </a:rPr>
              <a:t>Gestion des </a:t>
            </a:r>
            <a:r>
              <a:rPr lang="fr-FR" dirty="0" smtClean="0">
                <a:solidFill>
                  <a:srgbClr val="007842"/>
                </a:solidFill>
              </a:rPr>
              <a:t>E/S</a:t>
            </a:r>
            <a:br>
              <a:rPr lang="fr-FR" dirty="0" smtClean="0">
                <a:solidFill>
                  <a:srgbClr val="007842"/>
                </a:solidFill>
              </a:rPr>
            </a:br>
            <a:r>
              <a:rPr lang="fr-FR" sz="1600" spc="-10" dirty="0" smtClean="0">
                <a:solidFill>
                  <a:srgbClr val="007842"/>
                </a:solidFill>
              </a:rPr>
              <a:t>Rappeler</a:t>
            </a:r>
            <a:r>
              <a:rPr sz="1600" spc="-55" dirty="0" smtClean="0">
                <a:solidFill>
                  <a:srgbClr val="007842"/>
                </a:solidFill>
              </a:rPr>
              <a:t> </a:t>
            </a:r>
            <a:r>
              <a:rPr sz="1600" dirty="0" smtClean="0">
                <a:solidFill>
                  <a:srgbClr val="007842"/>
                </a:solidFill>
              </a:rPr>
              <a:t>les</a:t>
            </a:r>
            <a:r>
              <a:rPr sz="1600" spc="-25" dirty="0" smtClean="0">
                <a:solidFill>
                  <a:srgbClr val="007842"/>
                </a:solidFill>
              </a:rPr>
              <a:t> </a:t>
            </a:r>
            <a:r>
              <a:rPr sz="1600" dirty="0" smtClean="0">
                <a:solidFill>
                  <a:srgbClr val="007842"/>
                </a:solidFill>
              </a:rPr>
              <a:t>concepts</a:t>
            </a:r>
            <a:r>
              <a:rPr sz="1600" spc="-45" dirty="0" smtClean="0">
                <a:solidFill>
                  <a:srgbClr val="007842"/>
                </a:solidFill>
              </a:rPr>
              <a:t> </a:t>
            </a:r>
            <a:r>
              <a:rPr sz="1600" spc="-10" dirty="0" err="1" smtClean="0">
                <a:solidFill>
                  <a:srgbClr val="007842"/>
                </a:solidFill>
              </a:rPr>
              <a:t>fondamentaux</a:t>
            </a:r>
            <a:r>
              <a:rPr sz="1600" spc="-30" dirty="0" smtClean="0">
                <a:solidFill>
                  <a:srgbClr val="007842"/>
                </a:solidFill>
              </a:rPr>
              <a:t> </a:t>
            </a:r>
            <a:r>
              <a:rPr sz="1600" dirty="0" smtClean="0">
                <a:solidFill>
                  <a:srgbClr val="007842"/>
                </a:solidFill>
              </a:rPr>
              <a:t>d’un </a:t>
            </a:r>
            <a:r>
              <a:rPr sz="1600" spc="-25" dirty="0" smtClean="0">
                <a:solidFill>
                  <a:srgbClr val="007842"/>
                </a:solidFill>
              </a:rPr>
              <a:t>SE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"/>
            <a:ext cx="12186285" cy="6855459"/>
            <a:chOff x="0" y="17"/>
            <a:chExt cx="12186285" cy="685545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"/>
              <a:ext cx="12185903" cy="68552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59679"/>
              <a:ext cx="536575" cy="1347470"/>
            </a:xfrm>
            <a:custGeom>
              <a:avLst/>
              <a:gdLst/>
              <a:ahLst/>
              <a:cxnLst/>
              <a:rect l="l" t="t" r="r" b="b"/>
              <a:pathLst>
                <a:path w="536575" h="1347470">
                  <a:moveTo>
                    <a:pt x="536448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4318" y="1127213"/>
                  </a:lnTo>
                  <a:lnTo>
                    <a:pt x="16776" y="1172591"/>
                  </a:lnTo>
                  <a:lnTo>
                    <a:pt x="36614" y="1214374"/>
                  </a:lnTo>
                  <a:lnTo>
                    <a:pt x="63080" y="1251813"/>
                  </a:lnTo>
                  <a:lnTo>
                    <a:pt x="95402" y="1284135"/>
                  </a:lnTo>
                  <a:lnTo>
                    <a:pt x="132842" y="1310601"/>
                  </a:lnTo>
                  <a:lnTo>
                    <a:pt x="174625" y="1330439"/>
                  </a:lnTo>
                  <a:lnTo>
                    <a:pt x="220002" y="1342898"/>
                  </a:lnTo>
                  <a:lnTo>
                    <a:pt x="268224" y="1347216"/>
                  </a:lnTo>
                  <a:lnTo>
                    <a:pt x="536448" y="1347216"/>
                  </a:lnTo>
                  <a:lnTo>
                    <a:pt x="536448" y="1078992"/>
                  </a:lnTo>
                  <a:lnTo>
                    <a:pt x="536448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98982" y="1602105"/>
            <a:ext cx="10593070" cy="40043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105"/>
              </a:spcBef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Les </a:t>
            </a:r>
            <a:r>
              <a:rPr sz="1600" dirty="0" err="1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sont les composants matériels connectés à un système de traitement de </a:t>
            </a:r>
            <a:r>
              <a:rPr sz="1600" dirty="0" err="1">
                <a:solidFill>
                  <a:srgbClr val="585858"/>
                </a:solidFill>
                <a:latin typeface="Calibri"/>
                <a:cs typeface="Calibri"/>
              </a:rPr>
              <a:t>l’information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 smtClean="0">
                <a:solidFill>
                  <a:srgbClr val="585858"/>
                </a:solidFill>
                <a:latin typeface="Calibri"/>
                <a:cs typeface="Calibri"/>
              </a:rPr>
              <a:t>central</a:t>
            </a:r>
            <a:r>
              <a:rPr sz="1600" spc="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permettant</a:t>
            </a:r>
            <a:r>
              <a:rPr sz="1600" spc="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un</a:t>
            </a: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 err="1">
                <a:solidFill>
                  <a:srgbClr val="585858"/>
                </a:solidFill>
                <a:latin typeface="Calibri"/>
                <a:cs typeface="Calibri"/>
              </a:rPr>
              <a:t>échange</a:t>
            </a:r>
            <a:r>
              <a:rPr sz="1600" spc="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avec</a:t>
            </a:r>
            <a:r>
              <a:rPr lang="fr-FR" sz="1600" dirty="0">
                <a:latin typeface="Calibri"/>
                <a:cs typeface="Calibri"/>
              </a:rPr>
              <a:t> </a:t>
            </a:r>
            <a:r>
              <a:rPr lang="fr-FR" sz="1600" dirty="0" smtClean="0">
                <a:latin typeface="Calibri"/>
                <a:cs typeface="Calibri"/>
              </a:rPr>
              <a:t>l</a:t>
            </a:r>
            <a:r>
              <a:rPr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’</a:t>
            </a:r>
            <a:r>
              <a:rPr sz="1600" spc="-10" dirty="0" err="1" smtClean="0">
                <a:solidFill>
                  <a:srgbClr val="585858"/>
                </a:solidFill>
                <a:latin typeface="Calibri"/>
                <a:cs typeface="Calibri"/>
              </a:rPr>
              <a:t>extérieur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;</a:t>
            </a:r>
            <a:endParaRPr lang="fr-FR" sz="1600" dirty="0">
              <a:solidFill>
                <a:srgbClr val="585858"/>
              </a:solidFill>
              <a:latin typeface="Calibri"/>
              <a:cs typeface="Calibri"/>
            </a:endParaRPr>
          </a:p>
          <a:p>
            <a:pPr marL="12700">
              <a:lnSpc>
                <a:spcPct val="200000"/>
              </a:lnSpc>
              <a:spcBef>
                <a:spcPts val="105"/>
              </a:spcBef>
            </a:pPr>
            <a:r>
              <a:rPr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Il</a:t>
            </a:r>
            <a:r>
              <a:rPr sz="16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existe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trois</a:t>
            </a:r>
            <a:r>
              <a:rPr sz="16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types</a:t>
            </a:r>
            <a:r>
              <a:rPr sz="16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-5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 err="1">
                <a:solidFill>
                  <a:srgbClr val="585858"/>
                </a:solidFill>
                <a:latin typeface="Calibri"/>
                <a:cs typeface="Calibri"/>
              </a:rPr>
              <a:t>périphérique</a:t>
            </a:r>
            <a:r>
              <a:rPr sz="16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endParaRPr lang="fr-FR" sz="1600" dirty="0">
              <a:latin typeface="Calibri"/>
              <a:cs typeface="Calibri"/>
            </a:endParaRPr>
          </a:p>
          <a:p>
            <a:pPr marL="298450" indent="-285750">
              <a:lnSpc>
                <a:spcPct val="200000"/>
              </a:lnSpc>
              <a:spcBef>
                <a:spcPts val="105"/>
              </a:spcBef>
              <a:buFont typeface="Wingdings" panose="05000000000000000000" pitchFamily="2" charset="2"/>
              <a:buChar char="§"/>
            </a:pPr>
            <a:r>
              <a:rPr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sz="1600" spc="-4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sz="1600" spc="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d’entrées</a:t>
            </a: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qui</a:t>
            </a:r>
            <a:r>
              <a:rPr sz="16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permettent</a:t>
            </a:r>
            <a:r>
              <a:rPr sz="1600" spc="2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l’entrée</a:t>
            </a:r>
            <a:r>
              <a:rPr sz="1600" spc="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données</a:t>
            </a: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dans</a:t>
            </a:r>
            <a:r>
              <a:rPr sz="16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l’ordinateur</a:t>
            </a:r>
            <a:r>
              <a:rPr sz="1600" spc="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(comme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le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 clavier,</a:t>
            </a:r>
            <a:r>
              <a:rPr sz="16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la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sourie,</a:t>
            </a: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le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microphone,</a:t>
            </a:r>
            <a:r>
              <a:rPr sz="1600" spc="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le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scanner,...)</a:t>
            </a:r>
            <a:r>
              <a:rPr sz="16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;</a:t>
            </a:r>
            <a:endParaRPr lang="fr-FR" sz="1600" dirty="0">
              <a:latin typeface="Calibri"/>
              <a:cs typeface="Calibri"/>
            </a:endParaRPr>
          </a:p>
          <a:p>
            <a:pPr marL="298450" indent="-285750">
              <a:lnSpc>
                <a:spcPct val="200000"/>
              </a:lnSpc>
              <a:spcBef>
                <a:spcPts val="105"/>
              </a:spcBef>
              <a:buFont typeface="Wingdings" panose="05000000000000000000" pitchFamily="2" charset="2"/>
              <a:buChar char="§"/>
            </a:pPr>
            <a:r>
              <a:rPr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sz="1600" spc="17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sz="1600" spc="18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19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sortie</a:t>
            </a:r>
            <a:r>
              <a:rPr sz="1600" spc="1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qui</a:t>
            </a:r>
            <a:r>
              <a:rPr sz="1600" spc="1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permettent</a:t>
            </a:r>
            <a:r>
              <a:rPr sz="1600" spc="1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la</a:t>
            </a:r>
            <a:r>
              <a:rPr sz="1600" spc="19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sortie</a:t>
            </a:r>
            <a:r>
              <a:rPr sz="1600" spc="19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des</a:t>
            </a:r>
            <a:r>
              <a:rPr sz="1600" spc="1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données</a:t>
            </a:r>
            <a:r>
              <a:rPr sz="1600" spc="1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2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l’ordinateurs</a:t>
            </a:r>
            <a:r>
              <a:rPr sz="1600" spc="204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comme</a:t>
            </a:r>
            <a:r>
              <a:rPr sz="1600" spc="19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l’écran</a:t>
            </a:r>
            <a:r>
              <a:rPr sz="1600" spc="1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(sous</a:t>
            </a:r>
            <a:r>
              <a:rPr sz="1600" spc="204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forme</a:t>
            </a:r>
            <a:r>
              <a:rPr sz="1600" spc="1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d’affichage),</a:t>
            </a:r>
            <a:r>
              <a:rPr sz="1600" spc="1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le</a:t>
            </a:r>
            <a:r>
              <a:rPr sz="1600" spc="18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haut</a:t>
            </a:r>
            <a:r>
              <a:rPr sz="1600" spc="1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parleur</a:t>
            </a:r>
            <a:r>
              <a:rPr sz="1600" spc="18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(sous</a:t>
            </a:r>
            <a:r>
              <a:rPr sz="1600" spc="1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forme</a:t>
            </a:r>
            <a:r>
              <a:rPr sz="1600" spc="19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19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son</a:t>
            </a:r>
            <a:r>
              <a:rPr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),</a:t>
            </a:r>
            <a:r>
              <a:rPr lang="fr-FR" sz="1600" dirty="0">
                <a:latin typeface="Calibri"/>
                <a:cs typeface="Calibri"/>
              </a:rPr>
              <a:t> </a:t>
            </a:r>
            <a:r>
              <a:rPr sz="1600" spc="-10" dirty="0" err="1" smtClean="0">
                <a:solidFill>
                  <a:srgbClr val="585858"/>
                </a:solidFill>
                <a:latin typeface="Calibri"/>
                <a:cs typeface="Calibri"/>
              </a:rPr>
              <a:t>l’imprimante</a:t>
            </a:r>
            <a:r>
              <a:rPr sz="1600" spc="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(sous</a:t>
            </a:r>
            <a:r>
              <a:rPr sz="16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forme de</a:t>
            </a:r>
            <a:r>
              <a:rPr sz="16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papier) </a:t>
            </a:r>
            <a:r>
              <a:rPr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;</a:t>
            </a:r>
            <a:endParaRPr lang="fr-FR" sz="1600" dirty="0">
              <a:latin typeface="Calibri"/>
              <a:cs typeface="Calibri"/>
            </a:endParaRPr>
          </a:p>
          <a:p>
            <a:pPr marL="298450" indent="-285750">
              <a:lnSpc>
                <a:spcPct val="200000"/>
              </a:lnSpc>
              <a:spcBef>
                <a:spcPts val="105"/>
              </a:spcBef>
              <a:buFont typeface="Wingdings" panose="05000000000000000000" pitchFamily="2" charset="2"/>
              <a:buChar char="§"/>
            </a:pPr>
            <a:r>
              <a:rPr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sz="1600" spc="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d’entrée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 /</a:t>
            </a:r>
            <a:r>
              <a:rPr sz="16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sortie comme</a:t>
            </a:r>
            <a:r>
              <a:rPr sz="16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flash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USB</a:t>
            </a:r>
            <a:r>
              <a:rPr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3753" y="332308"/>
            <a:ext cx="11664492" cy="702808"/>
          </a:xfrm>
          <a:prstGeom prst="rect">
            <a:avLst/>
          </a:prstGeom>
        </p:spPr>
        <p:txBody>
          <a:bodyPr vert="horz" wrap="square" lIns="0" tIns="1473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fr-FR" dirty="0">
                <a:solidFill>
                  <a:srgbClr val="007842"/>
                </a:solidFill>
              </a:rPr>
              <a:t>07</a:t>
            </a:r>
            <a:r>
              <a:rPr lang="fr-FR" spc="-35" dirty="0">
                <a:solidFill>
                  <a:srgbClr val="007842"/>
                </a:solidFill>
              </a:rPr>
              <a:t> </a:t>
            </a:r>
            <a:r>
              <a:rPr lang="fr-FR" dirty="0">
                <a:solidFill>
                  <a:srgbClr val="007842"/>
                </a:solidFill>
              </a:rPr>
              <a:t>–</a:t>
            </a:r>
            <a:r>
              <a:rPr lang="fr-FR" spc="-20" dirty="0">
                <a:solidFill>
                  <a:srgbClr val="007842"/>
                </a:solidFill>
              </a:rPr>
              <a:t> </a:t>
            </a:r>
            <a:r>
              <a:rPr lang="fr-FR" dirty="0">
                <a:solidFill>
                  <a:srgbClr val="007842"/>
                </a:solidFill>
              </a:rPr>
              <a:t>Gestion des E/S </a:t>
            </a:r>
            <a:r>
              <a:rPr lang="fr-FR" dirty="0" smtClean="0">
                <a:solidFill>
                  <a:srgbClr val="007842"/>
                </a:solidFill>
              </a:rPr>
              <a:t/>
            </a:r>
            <a:br>
              <a:rPr lang="fr-FR" dirty="0" smtClean="0">
                <a:solidFill>
                  <a:srgbClr val="007842"/>
                </a:solidFill>
              </a:rPr>
            </a:br>
            <a:r>
              <a:rPr lang="fr-FR" sz="1600" spc="-10" dirty="0">
                <a:solidFill>
                  <a:srgbClr val="007842"/>
                </a:solidFill>
              </a:rPr>
              <a:t>Les périphériques </a:t>
            </a:r>
            <a:endParaRPr sz="1600" dirty="0"/>
          </a:p>
        </p:txBody>
      </p:sp>
      <p:sp>
        <p:nvSpPr>
          <p:cNvPr id="15" name="object 7"/>
          <p:cNvSpPr txBox="1"/>
          <p:nvPr/>
        </p:nvSpPr>
        <p:spPr>
          <a:xfrm>
            <a:off x="141925" y="4755154"/>
            <a:ext cx="247119" cy="156857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z="1900" b="1" spc="-25" dirty="0" smtClean="0">
                <a:solidFill>
                  <a:srgbClr val="FFFFFF"/>
                </a:solidFill>
                <a:latin typeface="Calibri"/>
                <a:cs typeface="Calibri"/>
              </a:rPr>
              <a:t>CHAPITRE </a:t>
            </a:r>
            <a:r>
              <a:rPr lang="fr-FR" sz="19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156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6285" cy="6855459"/>
            <a:chOff x="0" y="17"/>
            <a:chExt cx="12186285" cy="685545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"/>
              <a:ext cx="12185903" cy="68552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59679"/>
              <a:ext cx="536575" cy="1347470"/>
            </a:xfrm>
            <a:custGeom>
              <a:avLst/>
              <a:gdLst/>
              <a:ahLst/>
              <a:cxnLst/>
              <a:rect l="l" t="t" r="r" b="b"/>
              <a:pathLst>
                <a:path w="536575" h="1347470">
                  <a:moveTo>
                    <a:pt x="536448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4318" y="1127213"/>
                  </a:lnTo>
                  <a:lnTo>
                    <a:pt x="16776" y="1172591"/>
                  </a:lnTo>
                  <a:lnTo>
                    <a:pt x="36614" y="1214374"/>
                  </a:lnTo>
                  <a:lnTo>
                    <a:pt x="63080" y="1251813"/>
                  </a:lnTo>
                  <a:lnTo>
                    <a:pt x="95402" y="1284135"/>
                  </a:lnTo>
                  <a:lnTo>
                    <a:pt x="132842" y="1310601"/>
                  </a:lnTo>
                  <a:lnTo>
                    <a:pt x="174625" y="1330439"/>
                  </a:lnTo>
                  <a:lnTo>
                    <a:pt x="220002" y="1342898"/>
                  </a:lnTo>
                  <a:lnTo>
                    <a:pt x="268224" y="1347216"/>
                  </a:lnTo>
                  <a:lnTo>
                    <a:pt x="536448" y="1347216"/>
                  </a:lnTo>
                  <a:lnTo>
                    <a:pt x="536448" y="1078992"/>
                  </a:lnTo>
                  <a:lnTo>
                    <a:pt x="536448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1602105"/>
            <a:ext cx="10592435" cy="2786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40"/>
              </a:spcBef>
            </a:pP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On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distingue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deux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types</a:t>
            </a:r>
            <a:r>
              <a:rPr lang="fr-FR" sz="1600" spc="-4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périphériques</a:t>
            </a:r>
            <a:r>
              <a:rPr lang="fr-FR" sz="1600" spc="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selon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la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manière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transfert</a:t>
            </a:r>
            <a:r>
              <a:rPr lang="fr-FR" sz="1600" spc="-4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données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endParaRPr lang="fr-FR" sz="16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Bef>
                <a:spcPts val="1440"/>
              </a:spcBef>
              <a:buFont typeface="Wingdings" panose="05000000000000000000" pitchFamily="2" charset="2"/>
              <a:buChar char="§"/>
              <a:tabLst>
                <a:tab pos="184150" algn="l"/>
              </a:tabLst>
            </a:pP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lang="fr-FR" sz="1600" spc="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type</a:t>
            </a:r>
            <a:r>
              <a:rPr lang="fr-FR" sz="1600" spc="2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bloc</a:t>
            </a:r>
            <a:r>
              <a:rPr lang="fr-FR" sz="1600" spc="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(disque,</a:t>
            </a:r>
            <a:r>
              <a:rPr lang="fr-FR" sz="1600" spc="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bande)</a:t>
            </a:r>
            <a:r>
              <a:rPr lang="fr-FR" sz="1600" spc="-3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35" dirty="0" smtClean="0">
                <a:solidFill>
                  <a:srgbClr val="585858"/>
                </a:solidFill>
                <a:latin typeface="Calibri"/>
                <a:cs typeface="Calibri"/>
              </a:rPr>
              <a:t>c’est-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à-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dire</a:t>
            </a:r>
            <a:r>
              <a:rPr lang="fr-FR" sz="1600" spc="3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que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données sont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transférées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en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bloc</a:t>
            </a:r>
            <a:r>
              <a:rPr lang="fr-FR" sz="1600" spc="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;</a:t>
            </a:r>
            <a:endParaRPr lang="fr-FR" sz="16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Bef>
                <a:spcPts val="1445"/>
              </a:spcBef>
              <a:buFont typeface="Wingdings" panose="05000000000000000000" pitchFamily="2" charset="2"/>
              <a:buChar char="§"/>
              <a:tabLst>
                <a:tab pos="184150" algn="l"/>
              </a:tabLst>
            </a:pP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lang="fr-FR" sz="1600" spc="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3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type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caractère 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(clavier,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 souris,</a:t>
            </a:r>
            <a:r>
              <a:rPr lang="fr-FR" sz="1600" spc="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imprimante…)</a:t>
            </a:r>
            <a:r>
              <a:rPr lang="fr-FR" sz="1600" spc="2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ce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qui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signifie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que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 données sont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transférées</a:t>
            </a:r>
            <a:r>
              <a:rPr lang="fr-FR" sz="1600" spc="-4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caractère</a:t>
            </a:r>
            <a:r>
              <a:rPr lang="fr-FR" sz="1600" spc="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par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caractère.</a:t>
            </a:r>
            <a:endParaRPr lang="fr-FR" sz="1600" dirty="0" smtClean="0">
              <a:latin typeface="Calibri"/>
              <a:cs typeface="Calibri"/>
            </a:endParaRPr>
          </a:p>
          <a:p>
            <a:pPr marL="12700">
              <a:lnSpc>
                <a:spcPct val="200000"/>
              </a:lnSpc>
              <a:spcBef>
                <a:spcPts val="105"/>
              </a:spcBef>
            </a:pPr>
            <a:endParaRPr sz="160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 smtClean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3753" y="332308"/>
            <a:ext cx="11664492" cy="702808"/>
          </a:xfrm>
          <a:prstGeom prst="rect">
            <a:avLst/>
          </a:prstGeom>
        </p:spPr>
        <p:txBody>
          <a:bodyPr vert="horz" wrap="square" lIns="0" tIns="1473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mtClean="0">
                <a:solidFill>
                  <a:srgbClr val="007842"/>
                </a:solidFill>
              </a:rPr>
              <a:t>0</a:t>
            </a:r>
            <a:r>
              <a:rPr lang="fr-FR" dirty="0" smtClean="0">
                <a:solidFill>
                  <a:srgbClr val="007842"/>
                </a:solidFill>
              </a:rPr>
              <a:t>7</a:t>
            </a:r>
            <a:r>
              <a:rPr spc="-35" dirty="0" smtClean="0">
                <a:solidFill>
                  <a:srgbClr val="007842"/>
                </a:solidFill>
              </a:rPr>
              <a:t> </a:t>
            </a:r>
            <a:r>
              <a:rPr dirty="0" smtClean="0">
                <a:solidFill>
                  <a:srgbClr val="007842"/>
                </a:solidFill>
              </a:rPr>
              <a:t>–</a:t>
            </a:r>
            <a:r>
              <a:rPr spc="-20" dirty="0" smtClean="0">
                <a:solidFill>
                  <a:srgbClr val="007842"/>
                </a:solidFill>
              </a:rPr>
              <a:t> </a:t>
            </a:r>
            <a:r>
              <a:rPr lang="fr-FR" dirty="0" smtClean="0">
                <a:solidFill>
                  <a:srgbClr val="007842"/>
                </a:solidFill>
              </a:rPr>
              <a:t>Gestion </a:t>
            </a:r>
            <a:r>
              <a:rPr lang="fr-FR" dirty="0">
                <a:solidFill>
                  <a:srgbClr val="007842"/>
                </a:solidFill>
              </a:rPr>
              <a:t>des E/S</a:t>
            </a:r>
            <a:br>
              <a:rPr lang="fr-FR" dirty="0">
                <a:solidFill>
                  <a:srgbClr val="007842"/>
                </a:solidFill>
              </a:rPr>
            </a:br>
            <a:r>
              <a:rPr lang="fr-FR" sz="1600" dirty="0">
                <a:solidFill>
                  <a:srgbClr val="007842"/>
                </a:solidFill>
              </a:rPr>
              <a:t>Les périphériques </a:t>
            </a:r>
            <a:endParaRPr sz="1600" dirty="0"/>
          </a:p>
        </p:txBody>
      </p:sp>
      <p:sp>
        <p:nvSpPr>
          <p:cNvPr id="16" name="object 7"/>
          <p:cNvSpPr txBox="1"/>
          <p:nvPr/>
        </p:nvSpPr>
        <p:spPr>
          <a:xfrm>
            <a:off x="141925" y="4755154"/>
            <a:ext cx="247119" cy="156857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z="1900" b="1" spc="-25" dirty="0" smtClean="0">
                <a:solidFill>
                  <a:srgbClr val="FFFFFF"/>
                </a:solidFill>
                <a:latin typeface="Calibri"/>
                <a:cs typeface="Calibri"/>
              </a:rPr>
              <a:t>CHAPITRE </a:t>
            </a:r>
            <a:r>
              <a:rPr lang="fr-FR" sz="19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6131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6285" cy="6855459"/>
            <a:chOff x="0" y="17"/>
            <a:chExt cx="12186285" cy="68554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"/>
              <a:ext cx="12185903" cy="68552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59679"/>
              <a:ext cx="536575" cy="1347470"/>
            </a:xfrm>
            <a:custGeom>
              <a:avLst/>
              <a:gdLst/>
              <a:ahLst/>
              <a:cxnLst/>
              <a:rect l="l" t="t" r="r" b="b"/>
              <a:pathLst>
                <a:path w="536575" h="1347470">
                  <a:moveTo>
                    <a:pt x="536448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4318" y="1127213"/>
                  </a:lnTo>
                  <a:lnTo>
                    <a:pt x="16776" y="1172591"/>
                  </a:lnTo>
                  <a:lnTo>
                    <a:pt x="36614" y="1214374"/>
                  </a:lnTo>
                  <a:lnTo>
                    <a:pt x="63080" y="1251813"/>
                  </a:lnTo>
                  <a:lnTo>
                    <a:pt x="95402" y="1284135"/>
                  </a:lnTo>
                  <a:lnTo>
                    <a:pt x="132842" y="1310601"/>
                  </a:lnTo>
                  <a:lnTo>
                    <a:pt x="174625" y="1330439"/>
                  </a:lnTo>
                  <a:lnTo>
                    <a:pt x="220002" y="1342898"/>
                  </a:lnTo>
                  <a:lnTo>
                    <a:pt x="268224" y="1347216"/>
                  </a:lnTo>
                  <a:lnTo>
                    <a:pt x="536448" y="1347216"/>
                  </a:lnTo>
                  <a:lnTo>
                    <a:pt x="536448" y="1078992"/>
                  </a:lnTo>
                  <a:lnTo>
                    <a:pt x="536448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129532" y="6173825"/>
            <a:ext cx="38963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Figure</a:t>
            </a:r>
            <a:r>
              <a:rPr sz="1200" i="1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25" dirty="0" smtClean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: La</a:t>
            </a:r>
            <a:r>
              <a:rPr sz="1200" i="1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liste</a:t>
            </a:r>
            <a:r>
              <a:rPr sz="1200" i="1" spc="5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des</a:t>
            </a:r>
            <a:r>
              <a:rPr sz="1200" i="1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périphériques</a:t>
            </a:r>
            <a:r>
              <a:rPr sz="1200" i="1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connectés</a:t>
            </a:r>
            <a:r>
              <a:rPr sz="1200" i="1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à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un</a:t>
            </a:r>
            <a:r>
              <a:rPr sz="1200" i="1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ordinateur</a:t>
            </a:r>
            <a:endParaRPr sz="1200" dirty="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602992" y="2139695"/>
          <a:ext cx="6986905" cy="3860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Device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40767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Input/Output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rate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Keyboard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char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Mouse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3800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char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Voice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input/output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Input/Output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264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Kbps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Sound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burst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steady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Scanner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3.2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Laser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printer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3.2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Sound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burst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steady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Flash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drive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Storage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480-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800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Mbps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read;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80 Mbps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write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USB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1.6-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480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Network/Wireless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LAN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11-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Network/LAN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100-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1000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burst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Graphics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display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800-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8000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 burst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steady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Optical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disk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Storage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4-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400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burst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steady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Magnetic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tape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Storage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32-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burst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steady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9271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Magnetic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disk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Storage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ts val="126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240-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3000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Mbps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2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burst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41925" y="4755154"/>
            <a:ext cx="247119" cy="156857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z="1900" b="1" spc="-25" dirty="0" smtClean="0">
                <a:solidFill>
                  <a:srgbClr val="FFFFFF"/>
                </a:solidFill>
                <a:latin typeface="Calibri"/>
                <a:cs typeface="Calibri"/>
              </a:rPr>
              <a:t>CHAPITRE </a:t>
            </a:r>
            <a:r>
              <a:rPr lang="fr-FR" sz="19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4" name="object 13"/>
          <p:cNvSpPr txBox="1">
            <a:spLocks noGrp="1"/>
          </p:cNvSpPr>
          <p:nvPr>
            <p:ph type="title"/>
          </p:nvPr>
        </p:nvSpPr>
        <p:spPr>
          <a:xfrm>
            <a:off x="263753" y="332308"/>
            <a:ext cx="11664492" cy="702808"/>
          </a:xfrm>
          <a:prstGeom prst="rect">
            <a:avLst/>
          </a:prstGeom>
        </p:spPr>
        <p:txBody>
          <a:bodyPr vert="horz" wrap="square" lIns="0" tIns="1473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mtClean="0">
                <a:solidFill>
                  <a:srgbClr val="007842"/>
                </a:solidFill>
              </a:rPr>
              <a:t>0</a:t>
            </a:r>
            <a:r>
              <a:rPr lang="fr-FR" dirty="0" smtClean="0">
                <a:solidFill>
                  <a:srgbClr val="007842"/>
                </a:solidFill>
              </a:rPr>
              <a:t>7</a:t>
            </a:r>
            <a:r>
              <a:rPr spc="-35" dirty="0" smtClean="0">
                <a:solidFill>
                  <a:srgbClr val="007842"/>
                </a:solidFill>
              </a:rPr>
              <a:t> </a:t>
            </a:r>
            <a:r>
              <a:rPr dirty="0" smtClean="0">
                <a:solidFill>
                  <a:srgbClr val="007842"/>
                </a:solidFill>
              </a:rPr>
              <a:t>–</a:t>
            </a:r>
            <a:r>
              <a:rPr spc="-20" dirty="0" smtClean="0">
                <a:solidFill>
                  <a:srgbClr val="007842"/>
                </a:solidFill>
              </a:rPr>
              <a:t> </a:t>
            </a:r>
            <a:r>
              <a:rPr lang="fr-FR" dirty="0" smtClean="0">
                <a:solidFill>
                  <a:srgbClr val="007842"/>
                </a:solidFill>
              </a:rPr>
              <a:t>Gestion </a:t>
            </a:r>
            <a:r>
              <a:rPr lang="fr-FR" dirty="0">
                <a:solidFill>
                  <a:srgbClr val="007842"/>
                </a:solidFill>
              </a:rPr>
              <a:t>des E/S</a:t>
            </a:r>
            <a:br>
              <a:rPr lang="fr-FR" dirty="0">
                <a:solidFill>
                  <a:srgbClr val="007842"/>
                </a:solidFill>
              </a:rPr>
            </a:br>
            <a:r>
              <a:rPr lang="fr-FR" sz="1600" dirty="0">
                <a:solidFill>
                  <a:srgbClr val="007842"/>
                </a:solidFill>
              </a:rPr>
              <a:t>Les périphériques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00194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6285" cy="6855459"/>
            <a:chOff x="0" y="17"/>
            <a:chExt cx="12186285" cy="685545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"/>
              <a:ext cx="12185903" cy="68552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11119104" y="0"/>
                  </a:moveTo>
                  <a:lnTo>
                    <a:pt x="0" y="0"/>
                  </a:lnTo>
                  <a:lnTo>
                    <a:pt x="0" y="5154168"/>
                  </a:lnTo>
                  <a:lnTo>
                    <a:pt x="11119104" y="5154168"/>
                  </a:lnTo>
                  <a:lnTo>
                    <a:pt x="1111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972" y="1464563"/>
              <a:ext cx="11119485" cy="5154295"/>
            </a:xfrm>
            <a:custGeom>
              <a:avLst/>
              <a:gdLst/>
              <a:ahLst/>
              <a:cxnLst/>
              <a:rect l="l" t="t" r="r" b="b"/>
              <a:pathLst>
                <a:path w="11119485" h="5154295">
                  <a:moveTo>
                    <a:pt x="0" y="5154168"/>
                  </a:moveTo>
                  <a:lnTo>
                    <a:pt x="11119104" y="5154168"/>
                  </a:lnTo>
                  <a:lnTo>
                    <a:pt x="11119104" y="0"/>
                  </a:lnTo>
                  <a:lnTo>
                    <a:pt x="0" y="0"/>
                  </a:lnTo>
                  <a:lnTo>
                    <a:pt x="0" y="5154168"/>
                  </a:lnTo>
                  <a:close/>
                </a:path>
              </a:pathLst>
            </a:custGeom>
            <a:ln w="9524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59679"/>
              <a:ext cx="536575" cy="1347470"/>
            </a:xfrm>
            <a:custGeom>
              <a:avLst/>
              <a:gdLst/>
              <a:ahLst/>
              <a:cxnLst/>
              <a:rect l="l" t="t" r="r" b="b"/>
              <a:pathLst>
                <a:path w="536575" h="1347470">
                  <a:moveTo>
                    <a:pt x="536448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4318" y="1127213"/>
                  </a:lnTo>
                  <a:lnTo>
                    <a:pt x="16776" y="1172591"/>
                  </a:lnTo>
                  <a:lnTo>
                    <a:pt x="36614" y="1214374"/>
                  </a:lnTo>
                  <a:lnTo>
                    <a:pt x="63080" y="1251813"/>
                  </a:lnTo>
                  <a:lnTo>
                    <a:pt x="95402" y="1284135"/>
                  </a:lnTo>
                  <a:lnTo>
                    <a:pt x="132842" y="1310601"/>
                  </a:lnTo>
                  <a:lnTo>
                    <a:pt x="174625" y="1330439"/>
                  </a:lnTo>
                  <a:lnTo>
                    <a:pt x="220002" y="1342898"/>
                  </a:lnTo>
                  <a:lnTo>
                    <a:pt x="268224" y="1347216"/>
                  </a:lnTo>
                  <a:lnTo>
                    <a:pt x="536448" y="1347216"/>
                  </a:lnTo>
                  <a:lnTo>
                    <a:pt x="536448" y="1078992"/>
                  </a:lnTo>
                  <a:lnTo>
                    <a:pt x="536448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1602105"/>
            <a:ext cx="10592435" cy="44557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2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Le </a:t>
            </a:r>
            <a:r>
              <a:rPr lang="fr-FR" sz="1600" spc="-10" dirty="0">
                <a:solidFill>
                  <a:srgbClr val="585858"/>
                </a:solidFill>
                <a:latin typeface="Calibri"/>
                <a:cs typeface="Calibri"/>
              </a:rPr>
              <a:t>système d'exploitation gère la communication des périphériques : soit les périphériques d’entrée (clavier, souris, scanner,…) soit les périphériques de sorties (écran, imprimante,…) via leurs pilotes respectifs. </a:t>
            </a:r>
          </a:p>
          <a:p>
            <a:pPr marL="298450" indent="-285750">
              <a:lnSpc>
                <a:spcPct val="2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Pour</a:t>
            </a:r>
            <a:r>
              <a:rPr lang="fr-FR" sz="1600" spc="-3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transférer</a:t>
            </a:r>
            <a:r>
              <a:rPr lang="fr-FR" sz="1600" spc="-4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données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entre</a:t>
            </a:r>
            <a:r>
              <a:rPr lang="fr-FR" sz="1600" spc="-4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supports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externes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et</a:t>
            </a:r>
            <a:r>
              <a:rPr lang="fr-FR" sz="1600" spc="-5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la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mémoire</a:t>
            </a:r>
            <a:r>
              <a:rPr lang="fr-FR" sz="1600" spc="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centrale,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plusieurs composants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interviennent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endParaRPr lang="fr-FR" sz="1600" dirty="0" smtClean="0">
              <a:latin typeface="Calibri"/>
              <a:cs typeface="Calibri"/>
            </a:endParaRPr>
          </a:p>
          <a:p>
            <a:pPr marL="636905" indent="-337820">
              <a:lnSpc>
                <a:spcPct val="100000"/>
              </a:lnSpc>
              <a:spcBef>
                <a:spcPts val="1440"/>
              </a:spcBef>
              <a:buFont typeface="Courier New"/>
              <a:buChar char="o"/>
              <a:tabLst>
                <a:tab pos="636905" algn="l"/>
              </a:tabLst>
            </a:pPr>
            <a:r>
              <a:rPr lang="fr-FR" sz="1600" b="1" dirty="0">
                <a:solidFill>
                  <a:srgbClr val="001F5F"/>
                </a:solidFill>
                <a:latin typeface="Calibri"/>
                <a:cs typeface="Calibri"/>
              </a:rPr>
              <a:t>Unité d’échange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(Canal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d’entrée/Sortie)</a:t>
            </a:r>
            <a:r>
              <a:rPr lang="fr-FR" sz="1600" spc="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;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processeur qui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gère</a:t>
            </a:r>
            <a:r>
              <a:rPr lang="fr-FR" sz="1600" spc="-3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les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opération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d’E/S</a:t>
            </a:r>
            <a:endParaRPr lang="fr-FR" sz="1600" dirty="0" smtClean="0">
              <a:latin typeface="Calibri"/>
              <a:cs typeface="Calibri"/>
            </a:endParaRPr>
          </a:p>
          <a:p>
            <a:pPr marL="636905" indent="-337820">
              <a:lnSpc>
                <a:spcPct val="100000"/>
              </a:lnSpc>
              <a:spcBef>
                <a:spcPts val="1440"/>
              </a:spcBef>
              <a:buFont typeface="Courier New"/>
              <a:buChar char="o"/>
              <a:tabLst>
                <a:tab pos="636905" algn="l"/>
              </a:tabLst>
            </a:pPr>
            <a:r>
              <a:rPr lang="fr-FR" sz="1600" b="1" dirty="0">
                <a:solidFill>
                  <a:srgbClr val="001F5F"/>
                </a:solidFill>
                <a:latin typeface="Calibri"/>
                <a:cs typeface="Calibri"/>
              </a:rPr>
              <a:t>Le périphérique ;</a:t>
            </a:r>
          </a:p>
          <a:p>
            <a:pPr marL="636905" indent="-337820">
              <a:lnSpc>
                <a:spcPct val="200000"/>
              </a:lnSpc>
              <a:spcBef>
                <a:spcPts val="1445"/>
              </a:spcBef>
              <a:buFont typeface="Courier New"/>
              <a:buChar char="o"/>
              <a:tabLst>
                <a:tab pos="636905" algn="l"/>
              </a:tabLst>
            </a:pPr>
            <a:r>
              <a:rPr lang="fr-FR" sz="1600" b="1" dirty="0">
                <a:solidFill>
                  <a:srgbClr val="001F5F"/>
                </a:solidFill>
                <a:latin typeface="Calibri"/>
                <a:cs typeface="Calibri"/>
              </a:rPr>
              <a:t>Le contrôleur de périphérique </a:t>
            </a:r>
            <a:r>
              <a:rPr lang="fr-FR" sz="1600" spc="-50" dirty="0" smtClean="0">
                <a:solidFill>
                  <a:srgbClr val="585858"/>
                </a:solidFill>
                <a:latin typeface="Calibri"/>
                <a:cs typeface="Calibri"/>
              </a:rPr>
              <a:t>: Permet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d’adapter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 la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diversité</a:t>
            </a:r>
            <a:r>
              <a:rPr lang="fr-FR" sz="1600" spc="-1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des</a:t>
            </a:r>
            <a:r>
              <a:rPr lang="fr-FR" sz="1600" spc="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périphériques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(débit,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format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données,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temps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réponse,</a:t>
            </a:r>
            <a:r>
              <a:rPr lang="fr-FR" sz="1600" spc="-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forme</a:t>
            </a:r>
            <a:r>
              <a:rPr lang="fr-FR" sz="1600" spc="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de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signaux</a:t>
            </a:r>
            <a:r>
              <a:rPr lang="fr-FR" sz="1600" spc="-3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lang="fr-FR" sz="1600" spc="-2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commande)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à</a:t>
            </a:r>
            <a:r>
              <a:rPr lang="fr-FR" sz="1600" spc="-45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une</a:t>
            </a:r>
            <a:r>
              <a:rPr lang="fr-FR" sz="1600" spc="-2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spc="-10" dirty="0" smtClean="0">
                <a:solidFill>
                  <a:srgbClr val="585858"/>
                </a:solidFill>
                <a:latin typeface="Calibri"/>
                <a:cs typeface="Calibri"/>
              </a:rPr>
              <a:t>interface</a:t>
            </a:r>
            <a:r>
              <a:rPr lang="fr-FR" sz="1600" spc="-30" dirty="0" smtClean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fr-FR" sz="1600" dirty="0" smtClean="0">
                <a:solidFill>
                  <a:srgbClr val="585858"/>
                </a:solidFill>
                <a:latin typeface="Calibri"/>
                <a:cs typeface="Calibri"/>
              </a:rPr>
              <a:t>commune.</a:t>
            </a:r>
            <a:endParaRPr lang="fr-FR" sz="1600" dirty="0" smtClean="0">
              <a:latin typeface="Calibri"/>
              <a:cs typeface="Calibri"/>
            </a:endParaRPr>
          </a:p>
          <a:p>
            <a:pPr marL="12700">
              <a:lnSpc>
                <a:spcPct val="200000"/>
              </a:lnSpc>
              <a:spcBef>
                <a:spcPts val="105"/>
              </a:spcBef>
            </a:pPr>
            <a:endParaRPr sz="160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 smtClean="0">
                <a:solidFill>
                  <a:srgbClr val="555555"/>
                </a:solidFill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3753" y="332308"/>
            <a:ext cx="11664492" cy="702808"/>
          </a:xfrm>
          <a:prstGeom prst="rect">
            <a:avLst/>
          </a:prstGeom>
        </p:spPr>
        <p:txBody>
          <a:bodyPr vert="horz" wrap="square" lIns="0" tIns="1473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mtClean="0">
                <a:solidFill>
                  <a:srgbClr val="007842"/>
                </a:solidFill>
              </a:rPr>
              <a:t>0</a:t>
            </a:r>
            <a:r>
              <a:rPr lang="fr-FR" dirty="0" smtClean="0">
                <a:solidFill>
                  <a:srgbClr val="007842"/>
                </a:solidFill>
              </a:rPr>
              <a:t>7</a:t>
            </a:r>
            <a:r>
              <a:rPr spc="-35" dirty="0" smtClean="0">
                <a:solidFill>
                  <a:srgbClr val="007842"/>
                </a:solidFill>
              </a:rPr>
              <a:t> </a:t>
            </a:r>
            <a:r>
              <a:rPr dirty="0" smtClean="0">
                <a:solidFill>
                  <a:srgbClr val="007842"/>
                </a:solidFill>
              </a:rPr>
              <a:t>–</a:t>
            </a:r>
            <a:r>
              <a:rPr spc="-20" dirty="0" smtClean="0">
                <a:solidFill>
                  <a:srgbClr val="007842"/>
                </a:solidFill>
              </a:rPr>
              <a:t> </a:t>
            </a:r>
            <a:r>
              <a:rPr lang="fr-FR" dirty="0" smtClean="0">
                <a:solidFill>
                  <a:srgbClr val="007842"/>
                </a:solidFill>
              </a:rPr>
              <a:t>Gestion </a:t>
            </a:r>
            <a:r>
              <a:rPr lang="fr-FR" dirty="0">
                <a:solidFill>
                  <a:srgbClr val="007842"/>
                </a:solidFill>
              </a:rPr>
              <a:t>des E/S</a:t>
            </a:r>
            <a:br>
              <a:rPr lang="fr-FR" dirty="0">
                <a:solidFill>
                  <a:srgbClr val="007842"/>
                </a:solidFill>
              </a:rPr>
            </a:br>
            <a:r>
              <a:rPr lang="fr-FR" sz="1600" dirty="0">
                <a:solidFill>
                  <a:srgbClr val="007842"/>
                </a:solidFill>
              </a:rPr>
              <a:t>Les périphériques </a:t>
            </a:r>
            <a:endParaRPr sz="1600" dirty="0"/>
          </a:p>
        </p:txBody>
      </p:sp>
      <p:sp>
        <p:nvSpPr>
          <p:cNvPr id="16" name="object 7"/>
          <p:cNvSpPr txBox="1"/>
          <p:nvPr/>
        </p:nvSpPr>
        <p:spPr>
          <a:xfrm>
            <a:off x="141925" y="4755154"/>
            <a:ext cx="247119" cy="156857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z="1900" b="1" spc="-25" dirty="0" smtClean="0">
                <a:solidFill>
                  <a:srgbClr val="FFFFFF"/>
                </a:solidFill>
                <a:latin typeface="Calibri"/>
                <a:cs typeface="Calibri"/>
              </a:rPr>
              <a:t>CHAPITRE </a:t>
            </a:r>
            <a:r>
              <a:rPr lang="fr-FR" sz="19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494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2997</TotalTime>
  <Words>819</Words>
  <Application>Microsoft Office PowerPoint</Application>
  <PresentationFormat>Grand écran</PresentationFormat>
  <Paragraphs>142</Paragraphs>
  <Slides>7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Times New Roman</vt:lpstr>
      <vt:lpstr>Wingdings</vt:lpstr>
      <vt:lpstr>Office Theme</vt:lpstr>
      <vt:lpstr>Présentation PowerPoint</vt:lpstr>
      <vt:lpstr>Présentation PowerPoint</vt:lpstr>
      <vt:lpstr>07 – Gestion des E/S Rappeler les concepts fondamentaux d’un SE</vt:lpstr>
      <vt:lpstr>07 – Gestion des E/S  Les périphériques </vt:lpstr>
      <vt:lpstr>07 – Gestion des E/S Les périphériques </vt:lpstr>
      <vt:lpstr>07 – Gestion des E/S Les périphériques </vt:lpstr>
      <vt:lpstr>07 – Gestion des E/S Les périphériques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</dc:creator>
  <cp:lastModifiedBy>amina</cp:lastModifiedBy>
  <cp:revision>304</cp:revision>
  <dcterms:created xsi:type="dcterms:W3CDTF">2024-03-16T11:10:38Z</dcterms:created>
  <dcterms:modified xsi:type="dcterms:W3CDTF">2024-05-10T14:35:42Z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2021-12-24T00:00:00Z</vt:filetime>
  </property>
  <property fmtid="{D5CDD505-2E9C-101B-9397-08002B2CF9AE}" pid="3" name="Creator">
    <vt:lpwstr>Microsoft® PowerPoint® pour Microsoft 365</vt:lpwstr>
  </property>
  <property fmtid="{D5CDD505-2E9C-101B-9397-08002B2CF9AE}" pid="4" name="LastSaved">
    <vt:filetime>2024-03-16T00:00:00Z</vt:filetime>
  </property>
  <property fmtid="{D5CDD505-2E9C-101B-9397-08002B2CF9AE}" pid="5" name="Producer">
    <vt:lpwstr>Microsoft® PowerPoint® pour Microsoft 365</vt:lpwstr>
  </property>
</Properties>
</file>