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7"/>
  </p:notesMasterIdLst>
  <p:sldIdLst>
    <p:sldId id="256" r:id="rId2"/>
    <p:sldId id="752" r:id="rId3"/>
    <p:sldId id="274" r:id="rId4"/>
    <p:sldId id="275" r:id="rId5"/>
    <p:sldId id="276" r:id="rId6"/>
    <p:sldId id="277" r:id="rId7"/>
    <p:sldId id="717" r:id="rId8"/>
    <p:sldId id="278" r:id="rId9"/>
    <p:sldId id="279" r:id="rId10"/>
    <p:sldId id="687" r:id="rId11"/>
    <p:sldId id="689" r:id="rId12"/>
    <p:sldId id="690" r:id="rId13"/>
    <p:sldId id="691" r:id="rId14"/>
    <p:sldId id="692" r:id="rId15"/>
    <p:sldId id="693" r:id="rId16"/>
    <p:sldId id="694" r:id="rId17"/>
    <p:sldId id="695" r:id="rId18"/>
    <p:sldId id="698" r:id="rId19"/>
    <p:sldId id="699" r:id="rId20"/>
    <p:sldId id="703" r:id="rId21"/>
    <p:sldId id="696" r:id="rId22"/>
    <p:sldId id="701" r:id="rId23"/>
    <p:sldId id="704" r:id="rId24"/>
    <p:sldId id="705" r:id="rId25"/>
    <p:sldId id="706" r:id="rId26"/>
    <p:sldId id="707" r:id="rId27"/>
    <p:sldId id="708" r:id="rId28"/>
    <p:sldId id="709" r:id="rId29"/>
    <p:sldId id="710" r:id="rId30"/>
    <p:sldId id="711" r:id="rId31"/>
    <p:sldId id="712" r:id="rId32"/>
    <p:sldId id="713" r:id="rId33"/>
    <p:sldId id="714" r:id="rId34"/>
    <p:sldId id="715" r:id="rId35"/>
    <p:sldId id="716" r:id="rId36"/>
    <p:sldId id="719" r:id="rId37"/>
    <p:sldId id="718" r:id="rId38"/>
    <p:sldId id="720" r:id="rId39"/>
    <p:sldId id="721" r:id="rId40"/>
    <p:sldId id="542" r:id="rId41"/>
    <p:sldId id="543" r:id="rId42"/>
    <p:sldId id="544" r:id="rId43"/>
    <p:sldId id="546" r:id="rId44"/>
    <p:sldId id="722" r:id="rId45"/>
    <p:sldId id="657" r:id="rId46"/>
    <p:sldId id="658" r:id="rId47"/>
    <p:sldId id="659" r:id="rId48"/>
    <p:sldId id="660" r:id="rId49"/>
    <p:sldId id="661" r:id="rId50"/>
    <p:sldId id="723" r:id="rId51"/>
    <p:sldId id="734" r:id="rId52"/>
    <p:sldId id="735" r:id="rId53"/>
    <p:sldId id="736" r:id="rId54"/>
    <p:sldId id="733" r:id="rId55"/>
    <p:sldId id="725" r:id="rId56"/>
    <p:sldId id="726" r:id="rId57"/>
    <p:sldId id="727" r:id="rId58"/>
    <p:sldId id="728" r:id="rId59"/>
    <p:sldId id="737" r:id="rId60"/>
    <p:sldId id="730" r:id="rId61"/>
    <p:sldId id="729" r:id="rId62"/>
    <p:sldId id="731" r:id="rId63"/>
    <p:sldId id="732" r:id="rId64"/>
    <p:sldId id="662" r:id="rId65"/>
    <p:sldId id="738" r:id="rId66"/>
    <p:sldId id="739" r:id="rId67"/>
    <p:sldId id="740" r:id="rId68"/>
    <p:sldId id="741" r:id="rId69"/>
    <p:sldId id="742" r:id="rId70"/>
    <p:sldId id="743" r:id="rId71"/>
    <p:sldId id="745" r:id="rId72"/>
    <p:sldId id="746" r:id="rId73"/>
    <p:sldId id="744" r:id="rId74"/>
    <p:sldId id="747" r:id="rId75"/>
    <p:sldId id="748" r:id="rId76"/>
  </p:sldIdLst>
  <p:sldSz cx="12192000" cy="6858000"/>
  <p:notesSz cx="12192000" cy="6858000"/>
  <p:defaultTextStyle>
    <a:defPPr>
      <a:defRPr kern="0"/>
    </a:defPPr>
  </p:defaultTextStyle>
  <p:extLst>
    <p:ext uri="{521415D9-36F7-43E2-AB2F-B90AF26B5E84}">
      <p14:sectionLst xmlns:p14="http://schemas.microsoft.com/office/powerpoint/2010/main">
        <p14:section name="Section par défaut" id="{CFB2216F-FBF0-49F1-A7C8-5F15FD617A49}">
          <p14:sldIdLst>
            <p14:sldId id="256"/>
            <p14:sldId id="752"/>
            <p14:sldId id="274"/>
            <p14:sldId id="275"/>
            <p14:sldId id="276"/>
            <p14:sldId id="277"/>
            <p14:sldId id="717"/>
            <p14:sldId id="278"/>
            <p14:sldId id="279"/>
            <p14:sldId id="687"/>
            <p14:sldId id="689"/>
            <p14:sldId id="690"/>
            <p14:sldId id="691"/>
            <p14:sldId id="692"/>
            <p14:sldId id="693"/>
            <p14:sldId id="694"/>
            <p14:sldId id="695"/>
            <p14:sldId id="698"/>
            <p14:sldId id="699"/>
            <p14:sldId id="703"/>
            <p14:sldId id="696"/>
            <p14:sldId id="701"/>
            <p14:sldId id="704"/>
            <p14:sldId id="705"/>
            <p14:sldId id="706"/>
            <p14:sldId id="707"/>
            <p14:sldId id="708"/>
            <p14:sldId id="709"/>
            <p14:sldId id="710"/>
            <p14:sldId id="711"/>
            <p14:sldId id="712"/>
            <p14:sldId id="713"/>
            <p14:sldId id="714"/>
            <p14:sldId id="715"/>
            <p14:sldId id="716"/>
            <p14:sldId id="719"/>
            <p14:sldId id="718"/>
            <p14:sldId id="720"/>
            <p14:sldId id="721"/>
            <p14:sldId id="542"/>
            <p14:sldId id="543"/>
            <p14:sldId id="544"/>
            <p14:sldId id="546"/>
            <p14:sldId id="722"/>
            <p14:sldId id="657"/>
            <p14:sldId id="658"/>
            <p14:sldId id="659"/>
            <p14:sldId id="660"/>
            <p14:sldId id="661"/>
            <p14:sldId id="723"/>
            <p14:sldId id="734"/>
            <p14:sldId id="735"/>
            <p14:sldId id="736"/>
            <p14:sldId id="733"/>
            <p14:sldId id="725"/>
            <p14:sldId id="726"/>
            <p14:sldId id="727"/>
            <p14:sldId id="728"/>
            <p14:sldId id="737"/>
            <p14:sldId id="730"/>
            <p14:sldId id="729"/>
            <p14:sldId id="731"/>
            <p14:sldId id="732"/>
            <p14:sldId id="662"/>
            <p14:sldId id="738"/>
            <p14:sldId id="739"/>
            <p14:sldId id="740"/>
            <p14:sldId id="741"/>
            <p14:sldId id="742"/>
            <p14:sldId id="743"/>
            <p14:sldId id="745"/>
            <p14:sldId id="746"/>
            <p14:sldId id="744"/>
            <p14:sldId id="747"/>
            <p14:sldId id="748"/>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870" autoAdjust="0"/>
  </p:normalViewPr>
  <p:slideViewPr>
    <p:cSldViewPr>
      <p:cViewPr varScale="1">
        <p:scale>
          <a:sx n="66" d="100"/>
          <a:sy n="66" d="100"/>
        </p:scale>
        <p:origin x="1224" y="3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3759D06F-8644-4093-BFAB-BEE37625643B}" type="datetimeFigureOut">
              <a:rPr lang="fr-FR" smtClean="0"/>
              <a:t>13/05/2024</a:t>
            </a:fld>
            <a:endParaRPr lang="fr-FR"/>
          </a:p>
        </p:txBody>
      </p:sp>
      <p:sp>
        <p:nvSpPr>
          <p:cNvPr id="4" name="Espace réservé de l'image des diapositives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8825E13D-E8C0-4774-A298-6E06C61A58D4}" type="slidenum">
              <a:rPr lang="fr-FR" smtClean="0"/>
              <a:t>‹N°›</a:t>
            </a:fld>
            <a:endParaRPr lang="fr-FR"/>
          </a:p>
        </p:txBody>
      </p:sp>
    </p:spTree>
    <p:extLst>
      <p:ext uri="{BB962C8B-B14F-4D97-AF65-F5344CB8AC3E}">
        <p14:creationId xmlns:p14="http://schemas.microsoft.com/office/powerpoint/2010/main" val="413388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2700" algn="just">
              <a:lnSpc>
                <a:spcPct val="100000"/>
              </a:lnSpc>
              <a:spcBef>
                <a:spcPts val="105"/>
              </a:spcBef>
            </a:pPr>
            <a:r>
              <a:rPr lang="fr-FR" sz="1600" b="1" dirty="0" smtClean="0">
                <a:solidFill>
                  <a:srgbClr val="FF7800"/>
                </a:solidFill>
                <a:latin typeface="+mn-lt"/>
                <a:cs typeface="Calibri"/>
              </a:rPr>
              <a:t>Fonctions</a:t>
            </a:r>
            <a:r>
              <a:rPr lang="fr-FR" sz="1600" b="1" spc="-20" dirty="0" smtClean="0">
                <a:solidFill>
                  <a:srgbClr val="FF7800"/>
                </a:solidFill>
                <a:latin typeface="+mn-lt"/>
                <a:cs typeface="Calibri"/>
              </a:rPr>
              <a:t> </a:t>
            </a:r>
            <a:r>
              <a:rPr lang="fr-FR" sz="1600" b="1" dirty="0" smtClean="0">
                <a:solidFill>
                  <a:srgbClr val="FF7800"/>
                </a:solidFill>
                <a:latin typeface="+mn-lt"/>
                <a:cs typeface="Calibri"/>
              </a:rPr>
              <a:t>d’un</a:t>
            </a:r>
            <a:r>
              <a:rPr lang="fr-FR" sz="1600" b="1" spc="-40" dirty="0" smtClean="0">
                <a:solidFill>
                  <a:srgbClr val="FF7800"/>
                </a:solidFill>
                <a:latin typeface="+mn-lt"/>
                <a:cs typeface="Calibri"/>
              </a:rPr>
              <a:t> </a:t>
            </a:r>
            <a:r>
              <a:rPr lang="fr-FR" sz="1600" b="1" spc="-10" dirty="0" smtClean="0">
                <a:solidFill>
                  <a:srgbClr val="FF7800"/>
                </a:solidFill>
                <a:latin typeface="+mn-lt"/>
                <a:cs typeface="Calibri"/>
              </a:rPr>
              <a:t>système</a:t>
            </a:r>
            <a:r>
              <a:rPr lang="fr-FR" sz="1600" b="1" spc="-80" dirty="0" smtClean="0">
                <a:solidFill>
                  <a:srgbClr val="FF7800"/>
                </a:solidFill>
                <a:latin typeface="+mn-lt"/>
                <a:cs typeface="Calibri"/>
              </a:rPr>
              <a:t> </a:t>
            </a:r>
            <a:r>
              <a:rPr lang="fr-FR" sz="1600" b="1" spc="-10" dirty="0" smtClean="0">
                <a:solidFill>
                  <a:srgbClr val="FF7800"/>
                </a:solidFill>
                <a:latin typeface="+mn-lt"/>
                <a:cs typeface="Calibri"/>
              </a:rPr>
              <a:t>d'exploitation</a:t>
            </a:r>
            <a:endParaRPr lang="fr-FR" sz="1600" dirty="0" smtClean="0">
              <a:latin typeface="+mn-lt"/>
              <a:cs typeface="Calibri"/>
            </a:endParaRPr>
          </a:p>
          <a:p>
            <a:pPr>
              <a:lnSpc>
                <a:spcPct val="100000"/>
              </a:lnSpc>
              <a:spcBef>
                <a:spcPts val="30"/>
              </a:spcBef>
            </a:pPr>
            <a:endParaRPr lang="fr-FR" sz="1600" dirty="0" smtClean="0">
              <a:latin typeface="+mn-lt"/>
              <a:cs typeface="Calibri"/>
            </a:endParaRPr>
          </a:p>
          <a:p>
            <a:pPr marL="12700" algn="just">
              <a:lnSpc>
                <a:spcPct val="100000"/>
              </a:lnSpc>
            </a:pPr>
            <a:r>
              <a:rPr lang="fr-FR" sz="1200" dirty="0" smtClean="0">
                <a:solidFill>
                  <a:srgbClr val="585858"/>
                </a:solidFill>
                <a:latin typeface="+mn-lt"/>
                <a:cs typeface="Calibri"/>
              </a:rPr>
              <a:t>Un</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système</a:t>
            </a:r>
            <a:r>
              <a:rPr lang="fr-FR" sz="1200" spc="-30" dirty="0" smtClean="0">
                <a:solidFill>
                  <a:srgbClr val="585858"/>
                </a:solidFill>
                <a:latin typeface="+mn-lt"/>
                <a:cs typeface="Calibri"/>
              </a:rPr>
              <a:t> </a:t>
            </a:r>
            <a:r>
              <a:rPr lang="fr-FR" sz="1200" spc="-10" dirty="0" smtClean="0">
                <a:solidFill>
                  <a:srgbClr val="585858"/>
                </a:solidFill>
                <a:latin typeface="+mn-lt"/>
                <a:cs typeface="Calibri"/>
              </a:rPr>
              <a:t>d’exploitation</a:t>
            </a:r>
            <a:r>
              <a:rPr lang="fr-FR" sz="1200" spc="30" dirty="0" smtClean="0">
                <a:solidFill>
                  <a:srgbClr val="585858"/>
                </a:solidFill>
                <a:latin typeface="+mn-lt"/>
                <a:cs typeface="Calibri"/>
              </a:rPr>
              <a:t> </a:t>
            </a:r>
            <a:r>
              <a:rPr lang="fr-FR" sz="1200" dirty="0" smtClean="0">
                <a:solidFill>
                  <a:srgbClr val="585858"/>
                </a:solidFill>
                <a:latin typeface="+mn-lt"/>
                <a:cs typeface="Calibri"/>
              </a:rPr>
              <a:t>offre</a:t>
            </a:r>
            <a:r>
              <a:rPr lang="fr-FR" sz="1200" spc="-5" dirty="0" smtClean="0">
                <a:solidFill>
                  <a:srgbClr val="585858"/>
                </a:solidFill>
                <a:latin typeface="+mn-lt"/>
                <a:cs typeface="Calibri"/>
              </a:rPr>
              <a:t> </a:t>
            </a:r>
            <a:r>
              <a:rPr lang="fr-FR" sz="1200" dirty="0" smtClean="0">
                <a:solidFill>
                  <a:srgbClr val="585858"/>
                </a:solidFill>
                <a:latin typeface="+mn-lt"/>
                <a:cs typeface="Calibri"/>
              </a:rPr>
              <a:t>un</a:t>
            </a:r>
            <a:r>
              <a:rPr lang="fr-FR" sz="1200" spc="-15" dirty="0" smtClean="0">
                <a:solidFill>
                  <a:srgbClr val="585858"/>
                </a:solidFill>
                <a:latin typeface="+mn-lt"/>
                <a:cs typeface="Calibri"/>
              </a:rPr>
              <a:t> </a:t>
            </a:r>
            <a:r>
              <a:rPr lang="fr-FR" sz="1200" dirty="0" smtClean="0">
                <a:solidFill>
                  <a:srgbClr val="585858"/>
                </a:solidFill>
                <a:latin typeface="+mn-lt"/>
                <a:cs typeface="Calibri"/>
              </a:rPr>
              <a:t>ensemble</a:t>
            </a:r>
            <a:r>
              <a:rPr lang="fr-FR" sz="1200" spc="-5" dirty="0" smtClean="0">
                <a:solidFill>
                  <a:srgbClr val="585858"/>
                </a:solidFill>
                <a:latin typeface="+mn-lt"/>
                <a:cs typeface="Calibri"/>
              </a:rPr>
              <a:t> </a:t>
            </a:r>
            <a:r>
              <a:rPr lang="fr-FR" sz="1200" dirty="0" smtClean="0">
                <a:solidFill>
                  <a:srgbClr val="585858"/>
                </a:solidFill>
                <a:latin typeface="+mn-lt"/>
                <a:cs typeface="Calibri"/>
              </a:rPr>
              <a:t>de</a:t>
            </a:r>
            <a:r>
              <a:rPr lang="fr-FR" sz="1200" spc="-35" dirty="0" smtClean="0">
                <a:solidFill>
                  <a:srgbClr val="585858"/>
                </a:solidFill>
                <a:latin typeface="+mn-lt"/>
                <a:cs typeface="Calibri"/>
              </a:rPr>
              <a:t> </a:t>
            </a:r>
            <a:r>
              <a:rPr lang="fr-FR" sz="1200" dirty="0" smtClean="0">
                <a:solidFill>
                  <a:srgbClr val="585858"/>
                </a:solidFill>
                <a:latin typeface="+mn-lt"/>
                <a:cs typeface="Calibri"/>
              </a:rPr>
              <a:t>services</a:t>
            </a:r>
            <a:r>
              <a:rPr lang="fr-FR" sz="1200" spc="5" dirty="0" smtClean="0">
                <a:solidFill>
                  <a:srgbClr val="585858"/>
                </a:solidFill>
                <a:latin typeface="+mn-lt"/>
                <a:cs typeface="Calibri"/>
              </a:rPr>
              <a:t> </a:t>
            </a:r>
            <a:r>
              <a:rPr lang="fr-FR" sz="1200" dirty="0" smtClean="0">
                <a:solidFill>
                  <a:srgbClr val="585858"/>
                </a:solidFill>
                <a:latin typeface="+mn-lt"/>
                <a:cs typeface="Calibri"/>
              </a:rPr>
              <a:t>ou</a:t>
            </a:r>
            <a:r>
              <a:rPr lang="fr-FR" sz="1200" spc="-15" dirty="0" smtClean="0">
                <a:solidFill>
                  <a:srgbClr val="585858"/>
                </a:solidFill>
                <a:latin typeface="+mn-lt"/>
                <a:cs typeface="Calibri"/>
              </a:rPr>
              <a:t> </a:t>
            </a:r>
            <a:r>
              <a:rPr lang="fr-FR" sz="1200" dirty="0" smtClean="0">
                <a:solidFill>
                  <a:srgbClr val="585858"/>
                </a:solidFill>
                <a:latin typeface="+mn-lt"/>
                <a:cs typeface="Calibri"/>
              </a:rPr>
              <a:t>fonctions</a:t>
            </a:r>
            <a:r>
              <a:rPr lang="fr-FR" sz="1200" spc="25" dirty="0" smtClean="0">
                <a:solidFill>
                  <a:srgbClr val="585858"/>
                </a:solidFill>
                <a:latin typeface="+mn-lt"/>
                <a:cs typeface="Calibri"/>
              </a:rPr>
              <a:t> </a:t>
            </a:r>
            <a:r>
              <a:rPr lang="fr-FR" sz="1200" dirty="0" smtClean="0">
                <a:solidFill>
                  <a:srgbClr val="585858"/>
                </a:solidFill>
                <a:latin typeface="+mn-lt"/>
                <a:cs typeface="Calibri"/>
              </a:rPr>
              <a:t>afin</a:t>
            </a:r>
            <a:r>
              <a:rPr lang="fr-FR" sz="1200" spc="-15" dirty="0" smtClean="0">
                <a:solidFill>
                  <a:srgbClr val="585858"/>
                </a:solidFill>
                <a:latin typeface="+mn-lt"/>
                <a:cs typeface="Calibri"/>
              </a:rPr>
              <a:t> </a:t>
            </a:r>
            <a:r>
              <a:rPr lang="fr-FR" sz="1200" dirty="0" smtClean="0">
                <a:solidFill>
                  <a:srgbClr val="585858"/>
                </a:solidFill>
                <a:latin typeface="+mn-lt"/>
                <a:cs typeface="Calibri"/>
              </a:rPr>
              <a:t>de</a:t>
            </a:r>
            <a:r>
              <a:rPr lang="fr-FR" sz="1200" spc="-35" dirty="0" smtClean="0">
                <a:solidFill>
                  <a:srgbClr val="585858"/>
                </a:solidFill>
                <a:latin typeface="+mn-lt"/>
                <a:cs typeface="Calibri"/>
              </a:rPr>
              <a:t> </a:t>
            </a:r>
            <a:r>
              <a:rPr lang="fr-FR" sz="1200" spc="-10" dirty="0" smtClean="0">
                <a:solidFill>
                  <a:srgbClr val="585858"/>
                </a:solidFill>
                <a:latin typeface="+mn-lt"/>
                <a:cs typeface="Calibri"/>
              </a:rPr>
              <a:t>garantir</a:t>
            </a:r>
            <a:r>
              <a:rPr lang="fr-FR" sz="1200" spc="-40" dirty="0" smtClean="0">
                <a:solidFill>
                  <a:srgbClr val="585858"/>
                </a:solidFill>
                <a:latin typeface="+mn-lt"/>
                <a:cs typeface="Calibri"/>
              </a:rPr>
              <a:t> </a:t>
            </a:r>
            <a:r>
              <a:rPr lang="fr-FR" sz="1200" dirty="0" smtClean="0">
                <a:solidFill>
                  <a:srgbClr val="585858"/>
                </a:solidFill>
                <a:latin typeface="+mn-lt"/>
                <a:cs typeface="Calibri"/>
              </a:rPr>
              <a:t>le</a:t>
            </a:r>
            <a:r>
              <a:rPr lang="fr-FR" sz="1200" spc="-10" dirty="0" smtClean="0">
                <a:solidFill>
                  <a:srgbClr val="585858"/>
                </a:solidFill>
                <a:latin typeface="+mn-lt"/>
                <a:cs typeface="Calibri"/>
              </a:rPr>
              <a:t> </a:t>
            </a:r>
            <a:r>
              <a:rPr lang="fr-FR" sz="1200" dirty="0" smtClean="0">
                <a:solidFill>
                  <a:srgbClr val="585858"/>
                </a:solidFill>
                <a:latin typeface="+mn-lt"/>
                <a:cs typeface="Calibri"/>
              </a:rPr>
              <a:t>bon</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fonctionnement</a:t>
            </a:r>
            <a:r>
              <a:rPr lang="fr-FR" sz="1200" spc="20" dirty="0" smtClean="0">
                <a:solidFill>
                  <a:srgbClr val="585858"/>
                </a:solidFill>
                <a:latin typeface="+mn-lt"/>
                <a:cs typeface="Calibri"/>
              </a:rPr>
              <a:t> </a:t>
            </a:r>
            <a:r>
              <a:rPr lang="fr-FR" sz="1200" dirty="0" smtClean="0">
                <a:solidFill>
                  <a:srgbClr val="585858"/>
                </a:solidFill>
                <a:latin typeface="+mn-lt"/>
                <a:cs typeface="Calibri"/>
              </a:rPr>
              <a:t>de</a:t>
            </a:r>
            <a:r>
              <a:rPr lang="fr-FR" sz="1200" spc="-30" dirty="0" smtClean="0">
                <a:solidFill>
                  <a:srgbClr val="585858"/>
                </a:solidFill>
                <a:latin typeface="+mn-lt"/>
                <a:cs typeface="Calibri"/>
              </a:rPr>
              <a:t> </a:t>
            </a:r>
            <a:r>
              <a:rPr lang="fr-FR" sz="1200" dirty="0" smtClean="0">
                <a:solidFill>
                  <a:srgbClr val="585858"/>
                </a:solidFill>
                <a:latin typeface="+mn-lt"/>
                <a:cs typeface="Calibri"/>
              </a:rPr>
              <a:t>la</a:t>
            </a:r>
            <a:r>
              <a:rPr lang="fr-FR" sz="1200" spc="-10" dirty="0" smtClean="0">
                <a:solidFill>
                  <a:srgbClr val="585858"/>
                </a:solidFill>
                <a:latin typeface="+mn-lt"/>
                <a:cs typeface="Calibri"/>
              </a:rPr>
              <a:t> </a:t>
            </a:r>
            <a:r>
              <a:rPr lang="fr-FR" sz="1200" dirty="0" smtClean="0">
                <a:solidFill>
                  <a:srgbClr val="585858"/>
                </a:solidFill>
                <a:latin typeface="+mn-lt"/>
                <a:cs typeface="Calibri"/>
              </a:rPr>
              <a:t>partie</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applicative</a:t>
            </a:r>
            <a:r>
              <a:rPr lang="fr-FR" sz="1200" spc="-30" dirty="0" smtClean="0">
                <a:solidFill>
                  <a:srgbClr val="585858"/>
                </a:solidFill>
                <a:latin typeface="+mn-lt"/>
                <a:cs typeface="Calibri"/>
              </a:rPr>
              <a:t> </a:t>
            </a:r>
            <a:r>
              <a:rPr lang="fr-FR" sz="1200" dirty="0" smtClean="0">
                <a:solidFill>
                  <a:srgbClr val="585858"/>
                </a:solidFill>
                <a:latin typeface="+mn-lt"/>
                <a:cs typeface="Calibri"/>
              </a:rPr>
              <a:t>de</a:t>
            </a:r>
            <a:r>
              <a:rPr lang="fr-FR" sz="1200" spc="-30" dirty="0" smtClean="0">
                <a:solidFill>
                  <a:srgbClr val="585858"/>
                </a:solidFill>
                <a:latin typeface="+mn-lt"/>
                <a:cs typeface="Calibri"/>
              </a:rPr>
              <a:t> </a:t>
            </a:r>
            <a:r>
              <a:rPr lang="fr-FR" sz="1200" spc="-10" dirty="0" smtClean="0">
                <a:solidFill>
                  <a:srgbClr val="585858"/>
                </a:solidFill>
                <a:latin typeface="+mn-lt"/>
                <a:cs typeface="Calibri"/>
              </a:rPr>
              <a:t>l’ordinateur.</a:t>
            </a:r>
            <a:endParaRPr lang="fr-FR" sz="1200" dirty="0" smtClean="0">
              <a:latin typeface="+mn-lt"/>
              <a:cs typeface="Calibri"/>
            </a:endParaRPr>
          </a:p>
          <a:p>
            <a:pPr marL="12700" algn="just">
              <a:lnSpc>
                <a:spcPct val="100000"/>
              </a:lnSpc>
              <a:spcBef>
                <a:spcPts val="1445"/>
              </a:spcBef>
            </a:pPr>
            <a:r>
              <a:rPr lang="fr-FR" sz="1200" dirty="0" smtClean="0">
                <a:solidFill>
                  <a:srgbClr val="585858"/>
                </a:solidFill>
                <a:latin typeface="+mn-lt"/>
                <a:cs typeface="Calibri"/>
              </a:rPr>
              <a:t>Le</a:t>
            </a:r>
            <a:r>
              <a:rPr lang="fr-FR" sz="1200" spc="-35" dirty="0" smtClean="0">
                <a:solidFill>
                  <a:srgbClr val="585858"/>
                </a:solidFill>
                <a:latin typeface="+mn-lt"/>
                <a:cs typeface="Calibri"/>
              </a:rPr>
              <a:t> </a:t>
            </a:r>
            <a:r>
              <a:rPr lang="fr-FR" sz="1200" spc="-10" dirty="0" smtClean="0">
                <a:solidFill>
                  <a:srgbClr val="585858"/>
                </a:solidFill>
                <a:latin typeface="+mn-lt"/>
                <a:cs typeface="Calibri"/>
              </a:rPr>
              <a:t>système</a:t>
            </a:r>
            <a:r>
              <a:rPr lang="fr-FR" sz="1200" spc="-20" dirty="0" smtClean="0">
                <a:solidFill>
                  <a:srgbClr val="585858"/>
                </a:solidFill>
                <a:latin typeface="+mn-lt"/>
                <a:cs typeface="Calibri"/>
              </a:rPr>
              <a:t> d’exploitation</a:t>
            </a:r>
            <a:r>
              <a:rPr lang="fr-FR" sz="1200" spc="30" dirty="0" smtClean="0">
                <a:solidFill>
                  <a:srgbClr val="585858"/>
                </a:solidFill>
                <a:latin typeface="+mn-lt"/>
                <a:cs typeface="Calibri"/>
              </a:rPr>
              <a:t> </a:t>
            </a:r>
            <a:r>
              <a:rPr lang="fr-FR" sz="1200" dirty="0" smtClean="0">
                <a:solidFill>
                  <a:srgbClr val="585858"/>
                </a:solidFill>
                <a:latin typeface="+mn-lt"/>
                <a:cs typeface="Calibri"/>
              </a:rPr>
              <a:t>assure la</a:t>
            </a:r>
            <a:r>
              <a:rPr lang="fr-FR" sz="1200" spc="-10" dirty="0" smtClean="0">
                <a:solidFill>
                  <a:srgbClr val="585858"/>
                </a:solidFill>
                <a:latin typeface="+mn-lt"/>
                <a:cs typeface="Calibri"/>
              </a:rPr>
              <a:t> </a:t>
            </a:r>
            <a:r>
              <a:rPr lang="fr-FR" sz="1200" dirty="0" smtClean="0">
                <a:solidFill>
                  <a:srgbClr val="585858"/>
                </a:solidFill>
                <a:latin typeface="+mn-lt"/>
                <a:cs typeface="Calibri"/>
              </a:rPr>
              <a:t>gestion</a:t>
            </a:r>
            <a:r>
              <a:rPr lang="fr-FR" sz="1200" spc="-35" dirty="0" smtClean="0">
                <a:solidFill>
                  <a:srgbClr val="585858"/>
                </a:solidFill>
                <a:latin typeface="+mn-lt"/>
                <a:cs typeface="Calibri"/>
              </a:rPr>
              <a:t> </a:t>
            </a:r>
            <a:r>
              <a:rPr lang="fr-FR" sz="1200" dirty="0" smtClean="0">
                <a:solidFill>
                  <a:srgbClr val="585858"/>
                </a:solidFill>
                <a:latin typeface="+mn-lt"/>
                <a:cs typeface="Calibri"/>
              </a:rPr>
              <a:t>des</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périphériques,</a:t>
            </a:r>
            <a:r>
              <a:rPr lang="fr-FR" sz="1200" spc="5" dirty="0" smtClean="0">
                <a:solidFill>
                  <a:srgbClr val="585858"/>
                </a:solidFill>
                <a:latin typeface="+mn-lt"/>
                <a:cs typeface="Calibri"/>
              </a:rPr>
              <a:t> </a:t>
            </a:r>
            <a:r>
              <a:rPr lang="fr-FR" sz="1200" dirty="0" smtClean="0">
                <a:solidFill>
                  <a:srgbClr val="585858"/>
                </a:solidFill>
                <a:latin typeface="+mn-lt"/>
                <a:cs typeface="Calibri"/>
              </a:rPr>
              <a:t>la</a:t>
            </a:r>
            <a:r>
              <a:rPr lang="fr-FR" sz="1200" spc="-10" dirty="0" smtClean="0">
                <a:solidFill>
                  <a:srgbClr val="585858"/>
                </a:solidFill>
                <a:latin typeface="+mn-lt"/>
                <a:cs typeface="Calibri"/>
              </a:rPr>
              <a:t> </a:t>
            </a:r>
            <a:r>
              <a:rPr lang="fr-FR" sz="1200" dirty="0" smtClean="0">
                <a:solidFill>
                  <a:srgbClr val="585858"/>
                </a:solidFill>
                <a:latin typeface="+mn-lt"/>
                <a:cs typeface="Calibri"/>
              </a:rPr>
              <a:t>gestion</a:t>
            </a:r>
            <a:r>
              <a:rPr lang="fr-FR" sz="1200" spc="-30" dirty="0" smtClean="0">
                <a:solidFill>
                  <a:srgbClr val="585858"/>
                </a:solidFill>
                <a:latin typeface="+mn-lt"/>
                <a:cs typeface="Calibri"/>
              </a:rPr>
              <a:t> </a:t>
            </a:r>
            <a:r>
              <a:rPr lang="fr-FR" sz="1200" dirty="0" smtClean="0">
                <a:solidFill>
                  <a:srgbClr val="585858"/>
                </a:solidFill>
                <a:latin typeface="+mn-lt"/>
                <a:cs typeface="Calibri"/>
              </a:rPr>
              <a:t>des</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ressources,</a:t>
            </a:r>
            <a:r>
              <a:rPr lang="fr-FR" sz="1200" spc="30" dirty="0" smtClean="0">
                <a:solidFill>
                  <a:srgbClr val="585858"/>
                </a:solidFill>
                <a:latin typeface="+mn-lt"/>
                <a:cs typeface="Calibri"/>
              </a:rPr>
              <a:t> </a:t>
            </a:r>
            <a:r>
              <a:rPr lang="fr-FR" sz="1200" dirty="0" smtClean="0">
                <a:solidFill>
                  <a:srgbClr val="585858"/>
                </a:solidFill>
                <a:latin typeface="+mn-lt"/>
                <a:cs typeface="Calibri"/>
              </a:rPr>
              <a:t>la</a:t>
            </a:r>
            <a:r>
              <a:rPr lang="fr-FR" sz="1200" spc="-5" dirty="0" smtClean="0">
                <a:solidFill>
                  <a:srgbClr val="585858"/>
                </a:solidFill>
                <a:latin typeface="+mn-lt"/>
                <a:cs typeface="Calibri"/>
              </a:rPr>
              <a:t> </a:t>
            </a:r>
            <a:r>
              <a:rPr lang="fr-FR" sz="1200" dirty="0" smtClean="0">
                <a:solidFill>
                  <a:srgbClr val="585858"/>
                </a:solidFill>
                <a:latin typeface="+mn-lt"/>
                <a:cs typeface="Calibri"/>
              </a:rPr>
              <a:t>gestions</a:t>
            </a:r>
            <a:r>
              <a:rPr lang="fr-FR" sz="1200" spc="-20" dirty="0" smtClean="0">
                <a:solidFill>
                  <a:srgbClr val="585858"/>
                </a:solidFill>
                <a:latin typeface="+mn-lt"/>
                <a:cs typeface="Calibri"/>
              </a:rPr>
              <a:t> </a:t>
            </a:r>
            <a:r>
              <a:rPr lang="fr-FR" sz="1200" dirty="0" smtClean="0">
                <a:solidFill>
                  <a:srgbClr val="585858"/>
                </a:solidFill>
                <a:latin typeface="+mn-lt"/>
                <a:cs typeface="Calibri"/>
              </a:rPr>
              <a:t>des</a:t>
            </a:r>
            <a:r>
              <a:rPr lang="fr-FR" sz="1200" spc="-15" dirty="0" smtClean="0">
                <a:solidFill>
                  <a:srgbClr val="585858"/>
                </a:solidFill>
                <a:latin typeface="+mn-lt"/>
                <a:cs typeface="Calibri"/>
              </a:rPr>
              <a:t> </a:t>
            </a:r>
            <a:r>
              <a:rPr lang="fr-FR" sz="1200" dirty="0" smtClean="0">
                <a:solidFill>
                  <a:srgbClr val="585858"/>
                </a:solidFill>
                <a:latin typeface="+mn-lt"/>
                <a:cs typeface="Calibri"/>
              </a:rPr>
              <a:t>processus,</a:t>
            </a:r>
            <a:r>
              <a:rPr lang="fr-FR" sz="1200" spc="10" dirty="0" smtClean="0">
                <a:solidFill>
                  <a:srgbClr val="585858"/>
                </a:solidFill>
                <a:latin typeface="+mn-lt"/>
                <a:cs typeface="Calibri"/>
              </a:rPr>
              <a:t> </a:t>
            </a:r>
            <a:r>
              <a:rPr lang="fr-FR" sz="1200" dirty="0" smtClean="0">
                <a:solidFill>
                  <a:srgbClr val="585858"/>
                </a:solidFill>
                <a:latin typeface="+mn-lt"/>
                <a:cs typeface="Calibri"/>
              </a:rPr>
              <a:t>la</a:t>
            </a:r>
            <a:r>
              <a:rPr lang="fr-FR" sz="1200" spc="-10" dirty="0" smtClean="0">
                <a:solidFill>
                  <a:srgbClr val="585858"/>
                </a:solidFill>
                <a:latin typeface="+mn-lt"/>
                <a:cs typeface="Calibri"/>
              </a:rPr>
              <a:t> </a:t>
            </a:r>
            <a:r>
              <a:rPr lang="fr-FR" sz="1200" dirty="0" smtClean="0">
                <a:solidFill>
                  <a:srgbClr val="585858"/>
                </a:solidFill>
                <a:latin typeface="+mn-lt"/>
                <a:cs typeface="Calibri"/>
              </a:rPr>
              <a:t>gestion</a:t>
            </a:r>
            <a:r>
              <a:rPr lang="fr-FR" sz="1200" spc="-35" dirty="0" smtClean="0">
                <a:solidFill>
                  <a:srgbClr val="585858"/>
                </a:solidFill>
                <a:latin typeface="+mn-lt"/>
                <a:cs typeface="Calibri"/>
              </a:rPr>
              <a:t> </a:t>
            </a:r>
            <a:r>
              <a:rPr lang="fr-FR" sz="1200" dirty="0" smtClean="0">
                <a:solidFill>
                  <a:srgbClr val="585858"/>
                </a:solidFill>
                <a:latin typeface="+mn-lt"/>
                <a:cs typeface="Calibri"/>
              </a:rPr>
              <a:t>de</a:t>
            </a:r>
            <a:r>
              <a:rPr lang="fr-FR" sz="1200" spc="-10" dirty="0" smtClean="0">
                <a:solidFill>
                  <a:srgbClr val="585858"/>
                </a:solidFill>
                <a:latin typeface="+mn-lt"/>
                <a:cs typeface="Calibri"/>
              </a:rPr>
              <a:t> stockage,</a:t>
            </a:r>
            <a:r>
              <a:rPr lang="fr-FR" sz="1200" spc="-55" dirty="0" smtClean="0">
                <a:solidFill>
                  <a:srgbClr val="585858"/>
                </a:solidFill>
                <a:latin typeface="+mn-lt"/>
                <a:cs typeface="Calibri"/>
              </a:rPr>
              <a:t> </a:t>
            </a:r>
            <a:r>
              <a:rPr lang="fr-FR" sz="1200" spc="-20" dirty="0" smtClean="0">
                <a:solidFill>
                  <a:srgbClr val="585858"/>
                </a:solidFill>
                <a:latin typeface="+mn-lt"/>
                <a:cs typeface="Calibri"/>
              </a:rPr>
              <a:t>etc.</a:t>
            </a:r>
            <a:endParaRPr lang="fr-FR" sz="1200" spc="0" dirty="0" smtClean="0">
              <a:solidFill>
                <a:schemeClr val="tx1"/>
              </a:solidFill>
              <a:latin typeface="+mn-lt"/>
              <a:cs typeface="Calibri"/>
            </a:endParaRPr>
          </a:p>
          <a:p>
            <a:pPr marL="12700" algn="just">
              <a:lnSpc>
                <a:spcPct val="100000"/>
              </a:lnSpc>
              <a:spcBef>
                <a:spcPts val="1445"/>
              </a:spcBef>
            </a:pPr>
            <a:r>
              <a:rPr lang="fr-FR" sz="1200" b="1" dirty="0" smtClean="0">
                <a:solidFill>
                  <a:srgbClr val="0058A0"/>
                </a:solidFill>
                <a:latin typeface="+mn-lt"/>
                <a:cs typeface="Calibri"/>
              </a:rPr>
              <a:t>La</a:t>
            </a:r>
            <a:r>
              <a:rPr lang="fr-FR" sz="1200" b="1" spc="-40" dirty="0" smtClean="0">
                <a:solidFill>
                  <a:srgbClr val="0058A0"/>
                </a:solidFill>
                <a:latin typeface="+mn-lt"/>
                <a:cs typeface="Calibri"/>
              </a:rPr>
              <a:t> </a:t>
            </a:r>
            <a:r>
              <a:rPr lang="fr-FR" sz="1200" b="1" dirty="0" smtClean="0">
                <a:solidFill>
                  <a:srgbClr val="0058A0"/>
                </a:solidFill>
                <a:latin typeface="+mn-lt"/>
                <a:cs typeface="Calibri"/>
              </a:rPr>
              <a:t>gestion des</a:t>
            </a:r>
            <a:r>
              <a:rPr lang="fr-FR" sz="1200" b="1" spc="-25" dirty="0" smtClean="0">
                <a:solidFill>
                  <a:srgbClr val="0058A0"/>
                </a:solidFill>
                <a:latin typeface="+mn-lt"/>
                <a:cs typeface="Calibri"/>
              </a:rPr>
              <a:t> </a:t>
            </a:r>
            <a:r>
              <a:rPr lang="fr-FR" sz="1200" b="1" dirty="0" smtClean="0">
                <a:solidFill>
                  <a:srgbClr val="0058A0"/>
                </a:solidFill>
                <a:latin typeface="+mn-lt"/>
                <a:cs typeface="Calibri"/>
              </a:rPr>
              <a:t>processus</a:t>
            </a:r>
            <a:r>
              <a:rPr lang="fr-FR" sz="1200" b="1" spc="-45" dirty="0" smtClean="0">
                <a:solidFill>
                  <a:srgbClr val="0058A0"/>
                </a:solidFill>
                <a:latin typeface="+mn-lt"/>
                <a:cs typeface="Calibri"/>
              </a:rPr>
              <a:t> </a:t>
            </a:r>
            <a:r>
              <a:rPr lang="fr-FR" sz="1200" b="1" spc="-50" dirty="0" smtClean="0">
                <a:solidFill>
                  <a:srgbClr val="0058A0"/>
                </a:solidFill>
                <a:latin typeface="+mn-lt"/>
                <a:cs typeface="Calibri"/>
              </a:rPr>
              <a:t>:</a:t>
            </a:r>
            <a:endParaRPr lang="fr-FR" sz="1200" dirty="0" smtClean="0">
              <a:latin typeface="+mn-lt"/>
              <a:cs typeface="Calibri"/>
            </a:endParaRPr>
          </a:p>
          <a:p>
            <a:pPr marL="12700" marR="5080">
              <a:lnSpc>
                <a:spcPts val="2880"/>
              </a:lnSpc>
              <a:spcBef>
                <a:spcPts val="335"/>
              </a:spcBef>
            </a:pPr>
            <a:r>
              <a:rPr lang="fr-FR" sz="1200" dirty="0" smtClean="0">
                <a:solidFill>
                  <a:srgbClr val="555555"/>
                </a:solidFill>
                <a:latin typeface="+mn-lt"/>
                <a:cs typeface="Calibri"/>
              </a:rPr>
              <a:t>Chaque</a:t>
            </a:r>
            <a:r>
              <a:rPr lang="fr-FR" sz="1200" spc="250" dirty="0" smtClean="0">
                <a:solidFill>
                  <a:srgbClr val="555555"/>
                </a:solidFill>
                <a:latin typeface="+mn-lt"/>
                <a:cs typeface="Calibri"/>
              </a:rPr>
              <a:t> </a:t>
            </a:r>
            <a:r>
              <a:rPr lang="fr-FR" sz="1200" dirty="0" smtClean="0">
                <a:solidFill>
                  <a:srgbClr val="555555"/>
                </a:solidFill>
                <a:latin typeface="+mn-lt"/>
                <a:cs typeface="Calibri"/>
              </a:rPr>
              <a:t>programme</a:t>
            </a:r>
            <a:r>
              <a:rPr lang="fr-FR" sz="1200" spc="260" dirty="0" smtClean="0">
                <a:solidFill>
                  <a:srgbClr val="555555"/>
                </a:solidFill>
                <a:latin typeface="+mn-lt"/>
                <a:cs typeface="Calibri"/>
              </a:rPr>
              <a:t> </a:t>
            </a:r>
            <a:r>
              <a:rPr lang="fr-FR" sz="1200" dirty="0" smtClean="0">
                <a:solidFill>
                  <a:srgbClr val="555555"/>
                </a:solidFill>
                <a:latin typeface="+mn-lt"/>
                <a:cs typeface="Calibri"/>
              </a:rPr>
              <a:t>exécuté</a:t>
            </a:r>
            <a:r>
              <a:rPr lang="fr-FR" sz="1200" spc="280" dirty="0" smtClean="0">
                <a:solidFill>
                  <a:srgbClr val="555555"/>
                </a:solidFill>
                <a:latin typeface="+mn-lt"/>
                <a:cs typeface="Calibri"/>
              </a:rPr>
              <a:t> </a:t>
            </a:r>
            <a:r>
              <a:rPr lang="fr-FR" sz="1200" dirty="0" smtClean="0">
                <a:solidFill>
                  <a:srgbClr val="555555"/>
                </a:solidFill>
                <a:latin typeface="+mn-lt"/>
                <a:cs typeface="Calibri"/>
              </a:rPr>
              <a:t>sur</a:t>
            </a:r>
            <a:r>
              <a:rPr lang="fr-FR" sz="1200" spc="235" dirty="0" smtClean="0">
                <a:solidFill>
                  <a:srgbClr val="555555"/>
                </a:solidFill>
                <a:latin typeface="+mn-lt"/>
                <a:cs typeface="Calibri"/>
              </a:rPr>
              <a:t> </a:t>
            </a:r>
            <a:r>
              <a:rPr lang="fr-FR" sz="1200" dirty="0" smtClean="0">
                <a:solidFill>
                  <a:srgbClr val="555555"/>
                </a:solidFill>
                <a:latin typeface="+mn-lt"/>
                <a:cs typeface="Calibri"/>
              </a:rPr>
              <a:t>un</a:t>
            </a:r>
            <a:r>
              <a:rPr lang="fr-FR" sz="1200" spc="265" dirty="0" smtClean="0">
                <a:solidFill>
                  <a:srgbClr val="555555"/>
                </a:solidFill>
                <a:latin typeface="+mn-lt"/>
                <a:cs typeface="Calibri"/>
              </a:rPr>
              <a:t> </a:t>
            </a:r>
            <a:r>
              <a:rPr lang="fr-FR" sz="1200" dirty="0" smtClean="0">
                <a:solidFill>
                  <a:srgbClr val="555555"/>
                </a:solidFill>
                <a:latin typeface="+mn-lt"/>
                <a:cs typeface="Calibri"/>
              </a:rPr>
              <a:t>ordinateur</a:t>
            </a:r>
            <a:r>
              <a:rPr lang="fr-FR" sz="1200" spc="270" dirty="0" smtClean="0">
                <a:solidFill>
                  <a:srgbClr val="555555"/>
                </a:solidFill>
                <a:latin typeface="+mn-lt"/>
                <a:cs typeface="Calibri"/>
              </a:rPr>
              <a:t> </a:t>
            </a:r>
            <a:r>
              <a:rPr lang="fr-FR" sz="1200" dirty="0" smtClean="0">
                <a:solidFill>
                  <a:srgbClr val="555555"/>
                </a:solidFill>
                <a:latin typeface="+mn-lt"/>
                <a:cs typeface="Calibri"/>
              </a:rPr>
              <a:t>est</a:t>
            </a:r>
            <a:r>
              <a:rPr lang="fr-FR" sz="1200" spc="260" dirty="0" smtClean="0">
                <a:solidFill>
                  <a:srgbClr val="555555"/>
                </a:solidFill>
                <a:latin typeface="+mn-lt"/>
                <a:cs typeface="Calibri"/>
              </a:rPr>
              <a:t> </a:t>
            </a:r>
            <a:r>
              <a:rPr lang="fr-FR" sz="1200" dirty="0" smtClean="0">
                <a:solidFill>
                  <a:srgbClr val="555555"/>
                </a:solidFill>
                <a:latin typeface="+mn-lt"/>
                <a:cs typeface="Calibri"/>
              </a:rPr>
              <a:t>un</a:t>
            </a:r>
            <a:r>
              <a:rPr lang="fr-FR" sz="1200" spc="245" dirty="0" smtClean="0">
                <a:solidFill>
                  <a:srgbClr val="555555"/>
                </a:solidFill>
                <a:latin typeface="+mn-lt"/>
                <a:cs typeface="Calibri"/>
              </a:rPr>
              <a:t> </a:t>
            </a:r>
            <a:r>
              <a:rPr lang="fr-FR" sz="1200" dirty="0" smtClean="0">
                <a:solidFill>
                  <a:srgbClr val="555555"/>
                </a:solidFill>
                <a:latin typeface="+mn-lt"/>
                <a:cs typeface="Calibri"/>
              </a:rPr>
              <a:t>processus,</a:t>
            </a:r>
            <a:r>
              <a:rPr lang="fr-FR" sz="1200" spc="245" dirty="0" smtClean="0">
                <a:solidFill>
                  <a:srgbClr val="555555"/>
                </a:solidFill>
                <a:latin typeface="+mn-lt"/>
                <a:cs typeface="Calibri"/>
              </a:rPr>
              <a:t> </a:t>
            </a:r>
            <a:r>
              <a:rPr lang="fr-FR" sz="1200" dirty="0" smtClean="0">
                <a:solidFill>
                  <a:srgbClr val="555555"/>
                </a:solidFill>
                <a:latin typeface="+mn-lt"/>
                <a:cs typeface="Calibri"/>
              </a:rPr>
              <a:t>qu'il</a:t>
            </a:r>
            <a:r>
              <a:rPr lang="fr-FR" sz="1200" spc="240" dirty="0" smtClean="0">
                <a:solidFill>
                  <a:srgbClr val="555555"/>
                </a:solidFill>
                <a:latin typeface="+mn-lt"/>
                <a:cs typeface="Calibri"/>
              </a:rPr>
              <a:t> </a:t>
            </a:r>
            <a:r>
              <a:rPr lang="fr-FR" sz="1200" dirty="0" smtClean="0">
                <a:solidFill>
                  <a:srgbClr val="555555"/>
                </a:solidFill>
                <a:latin typeface="+mn-lt"/>
                <a:cs typeface="Calibri"/>
              </a:rPr>
              <a:t>soit</a:t>
            </a:r>
            <a:r>
              <a:rPr lang="fr-FR" sz="1200" spc="260" dirty="0" smtClean="0">
                <a:solidFill>
                  <a:srgbClr val="555555"/>
                </a:solidFill>
                <a:latin typeface="+mn-lt"/>
                <a:cs typeface="Calibri"/>
              </a:rPr>
              <a:t> </a:t>
            </a:r>
            <a:r>
              <a:rPr lang="fr-FR" sz="1200" dirty="0" smtClean="0">
                <a:solidFill>
                  <a:srgbClr val="555555"/>
                </a:solidFill>
                <a:latin typeface="+mn-lt"/>
                <a:cs typeface="Calibri"/>
              </a:rPr>
              <a:t>en</a:t>
            </a:r>
            <a:r>
              <a:rPr lang="fr-FR" sz="1200" spc="245" dirty="0" smtClean="0">
                <a:solidFill>
                  <a:srgbClr val="555555"/>
                </a:solidFill>
                <a:latin typeface="+mn-lt"/>
                <a:cs typeface="Calibri"/>
              </a:rPr>
              <a:t> </a:t>
            </a:r>
            <a:r>
              <a:rPr lang="fr-FR" sz="1200" spc="-10" dirty="0" smtClean="0">
                <a:solidFill>
                  <a:srgbClr val="555555"/>
                </a:solidFill>
                <a:latin typeface="+mn-lt"/>
                <a:cs typeface="Calibri"/>
              </a:rPr>
              <a:t>arrière-</a:t>
            </a:r>
            <a:r>
              <a:rPr lang="fr-FR" sz="1200" dirty="0" smtClean="0">
                <a:solidFill>
                  <a:srgbClr val="555555"/>
                </a:solidFill>
                <a:latin typeface="+mn-lt"/>
                <a:cs typeface="Calibri"/>
              </a:rPr>
              <a:t>plan</a:t>
            </a:r>
            <a:r>
              <a:rPr lang="fr-FR" sz="1200" spc="270" dirty="0" smtClean="0">
                <a:solidFill>
                  <a:srgbClr val="555555"/>
                </a:solidFill>
                <a:latin typeface="+mn-lt"/>
                <a:cs typeface="Calibri"/>
              </a:rPr>
              <a:t> </a:t>
            </a:r>
            <a:r>
              <a:rPr lang="fr-FR" sz="1200" spc="-10" dirty="0" smtClean="0">
                <a:solidFill>
                  <a:srgbClr val="555555"/>
                </a:solidFill>
                <a:latin typeface="+mn-lt"/>
                <a:cs typeface="Calibri"/>
              </a:rPr>
              <a:t>(back-</a:t>
            </a:r>
            <a:r>
              <a:rPr lang="fr-FR" sz="1200" dirty="0" smtClean="0">
                <a:solidFill>
                  <a:srgbClr val="555555"/>
                </a:solidFill>
                <a:latin typeface="+mn-lt"/>
                <a:cs typeface="Calibri"/>
              </a:rPr>
              <a:t>end)</a:t>
            </a:r>
            <a:r>
              <a:rPr lang="fr-FR" sz="1200" spc="250" dirty="0" smtClean="0">
                <a:solidFill>
                  <a:srgbClr val="555555"/>
                </a:solidFill>
                <a:latin typeface="+mn-lt"/>
                <a:cs typeface="Calibri"/>
              </a:rPr>
              <a:t> </a:t>
            </a:r>
            <a:r>
              <a:rPr lang="fr-FR" sz="1200" dirty="0" smtClean="0">
                <a:solidFill>
                  <a:srgbClr val="555555"/>
                </a:solidFill>
                <a:latin typeface="+mn-lt"/>
                <a:cs typeface="Calibri"/>
              </a:rPr>
              <a:t>ou</a:t>
            </a:r>
            <a:r>
              <a:rPr lang="fr-FR" sz="1200" spc="265" dirty="0" smtClean="0">
                <a:solidFill>
                  <a:srgbClr val="555555"/>
                </a:solidFill>
                <a:latin typeface="+mn-lt"/>
                <a:cs typeface="Calibri"/>
              </a:rPr>
              <a:t> </a:t>
            </a:r>
            <a:r>
              <a:rPr lang="fr-FR" sz="1200" dirty="0" smtClean="0">
                <a:solidFill>
                  <a:srgbClr val="555555"/>
                </a:solidFill>
                <a:latin typeface="+mn-lt"/>
                <a:cs typeface="Calibri"/>
              </a:rPr>
              <a:t>en</a:t>
            </a:r>
            <a:r>
              <a:rPr lang="fr-FR" sz="1200" spc="245" dirty="0" smtClean="0">
                <a:solidFill>
                  <a:srgbClr val="555555"/>
                </a:solidFill>
                <a:latin typeface="+mn-lt"/>
                <a:cs typeface="Calibri"/>
              </a:rPr>
              <a:t> </a:t>
            </a:r>
            <a:r>
              <a:rPr lang="fr-FR" sz="1200" spc="-20" dirty="0" smtClean="0">
                <a:solidFill>
                  <a:srgbClr val="555555"/>
                </a:solidFill>
                <a:latin typeface="+mn-lt"/>
                <a:cs typeface="Calibri"/>
              </a:rPr>
              <a:t>avant-</a:t>
            </a:r>
            <a:r>
              <a:rPr lang="fr-FR" sz="1200" dirty="0" smtClean="0">
                <a:solidFill>
                  <a:srgbClr val="555555"/>
                </a:solidFill>
                <a:latin typeface="+mn-lt"/>
                <a:cs typeface="Calibri"/>
              </a:rPr>
              <a:t>plan</a:t>
            </a:r>
            <a:r>
              <a:rPr lang="fr-FR" sz="1200" spc="245" dirty="0" smtClean="0">
                <a:solidFill>
                  <a:srgbClr val="555555"/>
                </a:solidFill>
                <a:latin typeface="+mn-lt"/>
                <a:cs typeface="Calibri"/>
              </a:rPr>
              <a:t> </a:t>
            </a:r>
            <a:r>
              <a:rPr lang="fr-FR" sz="1200" spc="-10" dirty="0" smtClean="0">
                <a:solidFill>
                  <a:srgbClr val="555555"/>
                </a:solidFill>
                <a:latin typeface="+mn-lt"/>
                <a:cs typeface="Calibri"/>
              </a:rPr>
              <a:t>(front-</a:t>
            </a:r>
            <a:r>
              <a:rPr lang="fr-FR" sz="1200" dirty="0" smtClean="0">
                <a:solidFill>
                  <a:srgbClr val="555555"/>
                </a:solidFill>
                <a:latin typeface="+mn-lt"/>
                <a:cs typeface="Calibri"/>
              </a:rPr>
              <a:t>end).</a:t>
            </a:r>
            <a:r>
              <a:rPr lang="fr-FR" sz="1200" spc="260" dirty="0" smtClean="0">
                <a:solidFill>
                  <a:srgbClr val="555555"/>
                </a:solidFill>
                <a:latin typeface="+mn-lt"/>
                <a:cs typeface="Calibri"/>
              </a:rPr>
              <a:t> </a:t>
            </a:r>
            <a:r>
              <a:rPr lang="fr-FR" sz="1200" dirty="0" smtClean="0">
                <a:solidFill>
                  <a:srgbClr val="555555"/>
                </a:solidFill>
                <a:latin typeface="+mn-lt"/>
                <a:cs typeface="Calibri"/>
              </a:rPr>
              <a:t>Le</a:t>
            </a:r>
            <a:r>
              <a:rPr lang="fr-FR" sz="1200" spc="254" dirty="0" smtClean="0">
                <a:solidFill>
                  <a:srgbClr val="555555"/>
                </a:solidFill>
                <a:latin typeface="+mn-lt"/>
                <a:cs typeface="Calibri"/>
              </a:rPr>
              <a:t> </a:t>
            </a:r>
            <a:r>
              <a:rPr lang="fr-FR" sz="1200" dirty="0" smtClean="0">
                <a:solidFill>
                  <a:srgbClr val="555555"/>
                </a:solidFill>
                <a:latin typeface="+mn-lt"/>
                <a:cs typeface="Calibri"/>
              </a:rPr>
              <a:t>système</a:t>
            </a:r>
            <a:r>
              <a:rPr lang="fr-FR" sz="1200" spc="254" dirty="0" smtClean="0">
                <a:solidFill>
                  <a:srgbClr val="555555"/>
                </a:solidFill>
                <a:latin typeface="+mn-lt"/>
                <a:cs typeface="Calibri"/>
              </a:rPr>
              <a:t> </a:t>
            </a:r>
            <a:r>
              <a:rPr lang="fr-FR" sz="1200" dirty="0" smtClean="0">
                <a:solidFill>
                  <a:srgbClr val="555555"/>
                </a:solidFill>
                <a:latin typeface="+mn-lt"/>
                <a:cs typeface="Calibri"/>
              </a:rPr>
              <a:t>d'exploitation</a:t>
            </a:r>
            <a:r>
              <a:rPr lang="fr-FR" sz="1200" spc="275" dirty="0" smtClean="0">
                <a:solidFill>
                  <a:srgbClr val="555555"/>
                </a:solidFill>
                <a:latin typeface="+mn-lt"/>
                <a:cs typeface="Calibri"/>
              </a:rPr>
              <a:t> </a:t>
            </a:r>
            <a:r>
              <a:rPr lang="fr-FR" sz="1200" spc="-25" dirty="0" smtClean="0">
                <a:solidFill>
                  <a:srgbClr val="555555"/>
                </a:solidFill>
                <a:latin typeface="+mn-lt"/>
                <a:cs typeface="Calibri"/>
              </a:rPr>
              <a:t>est </a:t>
            </a:r>
            <a:r>
              <a:rPr lang="fr-FR" sz="1200" dirty="0" smtClean="0">
                <a:solidFill>
                  <a:srgbClr val="555555"/>
                </a:solidFill>
                <a:latin typeface="+mn-lt"/>
                <a:cs typeface="Calibri"/>
              </a:rPr>
              <a:t>responsable</a:t>
            </a:r>
            <a:r>
              <a:rPr lang="fr-FR" sz="1200" spc="5" dirty="0" smtClean="0">
                <a:solidFill>
                  <a:srgbClr val="555555"/>
                </a:solidFill>
                <a:latin typeface="+mn-lt"/>
                <a:cs typeface="Calibri"/>
              </a:rPr>
              <a:t> </a:t>
            </a:r>
            <a:r>
              <a:rPr lang="fr-FR" sz="1200" dirty="0" smtClean="0">
                <a:solidFill>
                  <a:srgbClr val="555555"/>
                </a:solidFill>
                <a:latin typeface="+mn-lt"/>
                <a:cs typeface="Calibri"/>
              </a:rPr>
              <a:t>de</a:t>
            </a:r>
            <a:r>
              <a:rPr lang="fr-FR" sz="1200" spc="20" dirty="0" smtClean="0">
                <a:solidFill>
                  <a:srgbClr val="555555"/>
                </a:solidFill>
                <a:latin typeface="+mn-lt"/>
                <a:cs typeface="Calibri"/>
              </a:rPr>
              <a:t> </a:t>
            </a:r>
            <a:r>
              <a:rPr lang="fr-FR" sz="1200" spc="-10" dirty="0" smtClean="0">
                <a:solidFill>
                  <a:srgbClr val="555555"/>
                </a:solidFill>
                <a:latin typeface="+mn-lt"/>
                <a:cs typeface="Calibri"/>
              </a:rPr>
              <a:t>l'exécution </a:t>
            </a:r>
            <a:r>
              <a:rPr lang="fr-FR" sz="1200" dirty="0" smtClean="0">
                <a:solidFill>
                  <a:srgbClr val="555555"/>
                </a:solidFill>
                <a:latin typeface="+mn-lt"/>
                <a:cs typeface="Calibri"/>
              </a:rPr>
              <a:t>simultanée</a:t>
            </a:r>
            <a:r>
              <a:rPr lang="fr-FR" sz="1200" spc="10" dirty="0" smtClean="0">
                <a:solidFill>
                  <a:srgbClr val="555555"/>
                </a:solidFill>
                <a:latin typeface="+mn-lt"/>
                <a:cs typeface="Calibri"/>
              </a:rPr>
              <a:t> </a:t>
            </a:r>
            <a:r>
              <a:rPr lang="fr-FR" sz="1200" dirty="0" smtClean="0">
                <a:solidFill>
                  <a:srgbClr val="555555"/>
                </a:solidFill>
                <a:latin typeface="+mn-lt"/>
                <a:cs typeface="Calibri"/>
              </a:rPr>
              <a:t>de</a:t>
            </a:r>
            <a:r>
              <a:rPr lang="fr-FR" sz="1200" spc="15" dirty="0" smtClean="0">
                <a:solidFill>
                  <a:srgbClr val="555555"/>
                </a:solidFill>
                <a:latin typeface="+mn-lt"/>
                <a:cs typeface="Calibri"/>
              </a:rPr>
              <a:t> </a:t>
            </a:r>
            <a:r>
              <a:rPr lang="fr-FR" sz="1200" dirty="0" smtClean="0">
                <a:solidFill>
                  <a:srgbClr val="555555"/>
                </a:solidFill>
                <a:latin typeface="+mn-lt"/>
                <a:cs typeface="Calibri"/>
              </a:rPr>
              <a:t>plusieurs</a:t>
            </a:r>
            <a:r>
              <a:rPr lang="fr-FR" sz="1200" spc="15" dirty="0" smtClean="0">
                <a:solidFill>
                  <a:srgbClr val="555555"/>
                </a:solidFill>
                <a:latin typeface="+mn-lt"/>
                <a:cs typeface="Calibri"/>
              </a:rPr>
              <a:t> </a:t>
            </a:r>
            <a:r>
              <a:rPr lang="fr-FR" sz="1200" dirty="0" smtClean="0">
                <a:solidFill>
                  <a:srgbClr val="555555"/>
                </a:solidFill>
                <a:latin typeface="+mn-lt"/>
                <a:cs typeface="Calibri"/>
              </a:rPr>
              <a:t>tâches</a:t>
            </a:r>
            <a:r>
              <a:rPr lang="fr-FR" sz="1200" spc="10" dirty="0" smtClean="0">
                <a:solidFill>
                  <a:srgbClr val="555555"/>
                </a:solidFill>
                <a:latin typeface="+mn-lt"/>
                <a:cs typeface="Calibri"/>
              </a:rPr>
              <a:t> </a:t>
            </a:r>
            <a:r>
              <a:rPr lang="fr-FR" sz="1200" dirty="0" smtClean="0">
                <a:solidFill>
                  <a:srgbClr val="555555"/>
                </a:solidFill>
                <a:latin typeface="+mn-lt"/>
                <a:cs typeface="Calibri"/>
              </a:rPr>
              <a:t>(multitâches). Le système </a:t>
            </a:r>
            <a:r>
              <a:rPr lang="fr-FR" sz="1200" spc="-10" dirty="0" smtClean="0">
                <a:solidFill>
                  <a:srgbClr val="555555"/>
                </a:solidFill>
                <a:latin typeface="+mn-lt"/>
                <a:cs typeface="Calibri"/>
              </a:rPr>
              <a:t>d'exploitation</a:t>
            </a:r>
            <a:r>
              <a:rPr lang="fr-FR" sz="1200" spc="15" dirty="0" smtClean="0">
                <a:solidFill>
                  <a:srgbClr val="555555"/>
                </a:solidFill>
                <a:latin typeface="+mn-lt"/>
                <a:cs typeface="Calibri"/>
              </a:rPr>
              <a:t> </a:t>
            </a:r>
            <a:r>
              <a:rPr lang="fr-FR" sz="1200" dirty="0" smtClean="0">
                <a:solidFill>
                  <a:srgbClr val="555555"/>
                </a:solidFill>
                <a:latin typeface="+mn-lt"/>
                <a:cs typeface="Calibri"/>
              </a:rPr>
              <a:t>manage</a:t>
            </a:r>
            <a:r>
              <a:rPr lang="fr-FR" sz="1200" spc="5" dirty="0" smtClean="0">
                <a:solidFill>
                  <a:srgbClr val="555555"/>
                </a:solidFill>
                <a:latin typeface="+mn-lt"/>
                <a:cs typeface="Calibri"/>
              </a:rPr>
              <a:t> </a:t>
            </a:r>
            <a:r>
              <a:rPr lang="fr-FR" sz="1200" spc="-10" dirty="0" smtClean="0">
                <a:solidFill>
                  <a:srgbClr val="555555"/>
                </a:solidFill>
                <a:latin typeface="+mn-lt"/>
                <a:cs typeface="Calibri"/>
              </a:rPr>
              <a:t>l’accès</a:t>
            </a:r>
            <a:r>
              <a:rPr lang="fr-FR" sz="1200" spc="5" dirty="0" smtClean="0">
                <a:solidFill>
                  <a:srgbClr val="555555"/>
                </a:solidFill>
                <a:latin typeface="+mn-lt"/>
                <a:cs typeface="Calibri"/>
              </a:rPr>
              <a:t> </a:t>
            </a:r>
            <a:r>
              <a:rPr lang="fr-FR" sz="1200" dirty="0" smtClean="0">
                <a:solidFill>
                  <a:srgbClr val="555555"/>
                </a:solidFill>
                <a:latin typeface="+mn-lt"/>
                <a:cs typeface="Calibri"/>
              </a:rPr>
              <a:t>des</a:t>
            </a:r>
            <a:r>
              <a:rPr lang="fr-FR" sz="1200" spc="5" dirty="0" smtClean="0">
                <a:solidFill>
                  <a:srgbClr val="555555"/>
                </a:solidFill>
                <a:latin typeface="+mn-lt"/>
                <a:cs typeface="Calibri"/>
              </a:rPr>
              <a:t> </a:t>
            </a:r>
            <a:r>
              <a:rPr lang="fr-FR" sz="1200" dirty="0" smtClean="0">
                <a:solidFill>
                  <a:srgbClr val="555555"/>
                </a:solidFill>
                <a:latin typeface="+mn-lt"/>
                <a:cs typeface="Calibri"/>
              </a:rPr>
              <a:t>processus</a:t>
            </a:r>
            <a:r>
              <a:rPr lang="fr-FR" sz="1200" spc="10" dirty="0" smtClean="0">
                <a:solidFill>
                  <a:srgbClr val="555555"/>
                </a:solidFill>
                <a:latin typeface="+mn-lt"/>
                <a:cs typeface="Calibri"/>
              </a:rPr>
              <a:t> </a:t>
            </a:r>
            <a:r>
              <a:rPr lang="fr-FR" sz="1200" dirty="0" smtClean="0">
                <a:solidFill>
                  <a:srgbClr val="555555"/>
                </a:solidFill>
                <a:latin typeface="+mn-lt"/>
                <a:cs typeface="Calibri"/>
              </a:rPr>
              <a:t>au</a:t>
            </a:r>
            <a:r>
              <a:rPr lang="fr-FR" sz="1200" spc="-10" dirty="0" smtClean="0">
                <a:solidFill>
                  <a:srgbClr val="555555"/>
                </a:solidFill>
                <a:latin typeface="+mn-lt"/>
                <a:cs typeface="Calibri"/>
              </a:rPr>
              <a:t> processeur.</a:t>
            </a:r>
            <a:r>
              <a:rPr lang="fr-FR" sz="1200" dirty="0" smtClean="0">
                <a:solidFill>
                  <a:srgbClr val="555555"/>
                </a:solidFill>
                <a:latin typeface="+mn-lt"/>
                <a:cs typeface="Calibri"/>
              </a:rPr>
              <a:t> Le système </a:t>
            </a:r>
            <a:r>
              <a:rPr lang="fr-FR" sz="1200" spc="-10" dirty="0" smtClean="0">
                <a:solidFill>
                  <a:srgbClr val="555555"/>
                </a:solidFill>
                <a:latin typeface="+mn-lt"/>
                <a:cs typeface="Calibri"/>
              </a:rPr>
              <a:t>d’exploitation</a:t>
            </a:r>
            <a:endParaRPr lang="fr-FR" sz="1200" dirty="0" smtClean="0">
              <a:latin typeface="+mn-lt"/>
              <a:cs typeface="Calibri"/>
            </a:endParaRPr>
          </a:p>
          <a:p>
            <a:pPr marL="12700">
              <a:lnSpc>
                <a:spcPct val="100000"/>
              </a:lnSpc>
              <a:spcBef>
                <a:spcPts val="1105"/>
              </a:spcBef>
            </a:pPr>
            <a:r>
              <a:rPr lang="fr-FR" sz="1200" dirty="0" smtClean="0">
                <a:solidFill>
                  <a:srgbClr val="555555"/>
                </a:solidFill>
                <a:latin typeface="+mn-lt"/>
                <a:cs typeface="Calibri"/>
              </a:rPr>
              <a:t>a</a:t>
            </a:r>
            <a:r>
              <a:rPr lang="fr-FR" sz="1200" spc="-35" dirty="0" smtClean="0">
                <a:solidFill>
                  <a:srgbClr val="555555"/>
                </a:solidFill>
                <a:latin typeface="+mn-lt"/>
                <a:cs typeface="Calibri"/>
              </a:rPr>
              <a:t> </a:t>
            </a:r>
            <a:r>
              <a:rPr lang="fr-FR" sz="1200" dirty="0" smtClean="0">
                <a:solidFill>
                  <a:srgbClr val="555555"/>
                </a:solidFill>
                <a:latin typeface="+mn-lt"/>
                <a:cs typeface="Calibri"/>
              </a:rPr>
              <a:t>une</a:t>
            </a:r>
            <a:r>
              <a:rPr lang="fr-FR" sz="1200" spc="-5" dirty="0" smtClean="0">
                <a:solidFill>
                  <a:srgbClr val="555555"/>
                </a:solidFill>
                <a:latin typeface="+mn-lt"/>
                <a:cs typeface="Calibri"/>
              </a:rPr>
              <a:t> </a:t>
            </a:r>
            <a:r>
              <a:rPr lang="fr-FR" sz="1200" dirty="0" smtClean="0">
                <a:solidFill>
                  <a:srgbClr val="555555"/>
                </a:solidFill>
                <a:latin typeface="+mn-lt"/>
                <a:cs typeface="Calibri"/>
              </a:rPr>
              <a:t>visibilité</a:t>
            </a:r>
            <a:r>
              <a:rPr lang="fr-FR" sz="1200" spc="20" dirty="0" smtClean="0">
                <a:solidFill>
                  <a:srgbClr val="555555"/>
                </a:solidFill>
                <a:latin typeface="+mn-lt"/>
                <a:cs typeface="Calibri"/>
              </a:rPr>
              <a:t> </a:t>
            </a:r>
            <a:r>
              <a:rPr lang="fr-FR" sz="1200" dirty="0" smtClean="0">
                <a:solidFill>
                  <a:srgbClr val="555555"/>
                </a:solidFill>
                <a:latin typeface="+mn-lt"/>
                <a:cs typeface="Calibri"/>
              </a:rPr>
              <a:t>sur</a:t>
            </a:r>
            <a:r>
              <a:rPr lang="fr-FR" sz="1200" spc="-15" dirty="0" smtClean="0">
                <a:solidFill>
                  <a:srgbClr val="555555"/>
                </a:solidFill>
                <a:latin typeface="+mn-lt"/>
                <a:cs typeface="Calibri"/>
              </a:rPr>
              <a:t> </a:t>
            </a:r>
            <a:r>
              <a:rPr lang="fr-FR" sz="1200" spc="-20" dirty="0" smtClean="0">
                <a:solidFill>
                  <a:srgbClr val="555555"/>
                </a:solidFill>
                <a:latin typeface="+mn-lt"/>
                <a:cs typeface="Calibri"/>
              </a:rPr>
              <a:t>l’état</a:t>
            </a:r>
            <a:r>
              <a:rPr lang="fr-FR" sz="1200" spc="-25" dirty="0" smtClean="0">
                <a:solidFill>
                  <a:srgbClr val="555555"/>
                </a:solidFill>
                <a:latin typeface="+mn-lt"/>
                <a:cs typeface="Calibri"/>
              </a:rPr>
              <a:t> </a:t>
            </a:r>
            <a:r>
              <a:rPr lang="fr-FR" sz="1200" dirty="0" smtClean="0">
                <a:solidFill>
                  <a:srgbClr val="555555"/>
                </a:solidFill>
                <a:latin typeface="+mn-lt"/>
                <a:cs typeface="Calibri"/>
              </a:rPr>
              <a:t>des processus</a:t>
            </a:r>
            <a:r>
              <a:rPr lang="fr-FR" sz="1200" spc="5" dirty="0" smtClean="0">
                <a:solidFill>
                  <a:srgbClr val="555555"/>
                </a:solidFill>
                <a:latin typeface="+mn-lt"/>
                <a:cs typeface="Calibri"/>
              </a:rPr>
              <a:t> </a:t>
            </a:r>
            <a:r>
              <a:rPr lang="fr-FR" sz="1200" dirty="0" smtClean="0">
                <a:solidFill>
                  <a:srgbClr val="555555"/>
                </a:solidFill>
                <a:latin typeface="+mn-lt"/>
                <a:cs typeface="Calibri"/>
              </a:rPr>
              <a:t>et</a:t>
            </a:r>
            <a:r>
              <a:rPr lang="fr-FR" sz="1200" spc="-25" dirty="0" smtClean="0">
                <a:solidFill>
                  <a:srgbClr val="555555"/>
                </a:solidFill>
                <a:latin typeface="+mn-lt"/>
                <a:cs typeface="Calibri"/>
              </a:rPr>
              <a:t> </a:t>
            </a:r>
            <a:r>
              <a:rPr lang="fr-FR" sz="1200" dirty="0" smtClean="0">
                <a:solidFill>
                  <a:srgbClr val="555555"/>
                </a:solidFill>
                <a:latin typeface="+mn-lt"/>
                <a:cs typeface="Calibri"/>
              </a:rPr>
              <a:t>des</a:t>
            </a:r>
            <a:r>
              <a:rPr lang="fr-FR" sz="1200" spc="-20" dirty="0" smtClean="0">
                <a:solidFill>
                  <a:srgbClr val="555555"/>
                </a:solidFill>
                <a:latin typeface="+mn-lt"/>
                <a:cs typeface="Calibri"/>
              </a:rPr>
              <a:t> </a:t>
            </a:r>
            <a:r>
              <a:rPr lang="fr-FR" sz="1200" spc="-10" dirty="0" smtClean="0">
                <a:solidFill>
                  <a:srgbClr val="555555"/>
                </a:solidFill>
                <a:latin typeface="+mn-lt"/>
                <a:cs typeface="Calibri"/>
              </a:rPr>
              <a:t>processeurs</a:t>
            </a:r>
            <a:r>
              <a:rPr lang="fr-FR" sz="1200" spc="30" dirty="0" smtClean="0">
                <a:solidFill>
                  <a:srgbClr val="555555"/>
                </a:solidFill>
                <a:latin typeface="+mn-lt"/>
                <a:cs typeface="Calibri"/>
              </a:rPr>
              <a:t> </a:t>
            </a:r>
            <a:r>
              <a:rPr lang="fr-FR" sz="1200" dirty="0" smtClean="0">
                <a:solidFill>
                  <a:srgbClr val="555555"/>
                </a:solidFill>
                <a:latin typeface="+mn-lt"/>
                <a:cs typeface="Calibri"/>
              </a:rPr>
              <a:t>à</a:t>
            </a:r>
            <a:r>
              <a:rPr lang="fr-FR" sz="1200" spc="-30" dirty="0" smtClean="0">
                <a:solidFill>
                  <a:srgbClr val="555555"/>
                </a:solidFill>
                <a:latin typeface="+mn-lt"/>
                <a:cs typeface="Calibri"/>
              </a:rPr>
              <a:t> </a:t>
            </a:r>
            <a:r>
              <a:rPr lang="fr-FR" sz="1200" dirty="0" smtClean="0">
                <a:solidFill>
                  <a:srgbClr val="555555"/>
                </a:solidFill>
                <a:latin typeface="+mn-lt"/>
                <a:cs typeface="Calibri"/>
              </a:rPr>
              <a:t>un</a:t>
            </a:r>
            <a:r>
              <a:rPr lang="fr-FR" sz="1200" spc="-15" dirty="0" smtClean="0">
                <a:solidFill>
                  <a:srgbClr val="555555"/>
                </a:solidFill>
                <a:latin typeface="+mn-lt"/>
                <a:cs typeface="Calibri"/>
              </a:rPr>
              <a:t> </a:t>
            </a:r>
            <a:r>
              <a:rPr lang="fr-FR" sz="1200" spc="-10" dirty="0" smtClean="0">
                <a:solidFill>
                  <a:srgbClr val="555555"/>
                </a:solidFill>
                <a:latin typeface="+mn-lt"/>
                <a:cs typeface="Calibri"/>
              </a:rPr>
              <a:t>instant</a:t>
            </a:r>
            <a:r>
              <a:rPr lang="fr-FR" sz="1200" spc="-25" dirty="0" smtClean="0">
                <a:solidFill>
                  <a:srgbClr val="555555"/>
                </a:solidFill>
                <a:latin typeface="+mn-lt"/>
                <a:cs typeface="Calibri"/>
              </a:rPr>
              <a:t> </a:t>
            </a:r>
            <a:r>
              <a:rPr lang="fr-FR" sz="1200" spc="-10" dirty="0" smtClean="0">
                <a:solidFill>
                  <a:srgbClr val="555555"/>
                </a:solidFill>
                <a:latin typeface="+mn-lt"/>
                <a:cs typeface="Calibri"/>
              </a:rPr>
              <a:t>donné.</a:t>
            </a:r>
            <a:endParaRPr lang="fr-FR" sz="1200" dirty="0" smtClean="0">
              <a:latin typeface="+mn-lt"/>
              <a:cs typeface="Calibri"/>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3</a:t>
            </a:fld>
            <a:endParaRPr lang="fr-FR"/>
          </a:p>
        </p:txBody>
      </p:sp>
    </p:spTree>
    <p:extLst>
      <p:ext uri="{BB962C8B-B14F-4D97-AF65-F5344CB8AC3E}">
        <p14:creationId xmlns:p14="http://schemas.microsoft.com/office/powerpoint/2010/main" val="1218952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2700" marR="5080">
              <a:lnSpc>
                <a:spcPts val="2880"/>
              </a:lnSpc>
              <a:spcBef>
                <a:spcPts val="335"/>
              </a:spcBef>
            </a:pPr>
            <a:r>
              <a:rPr lang="fr-FR" sz="1200" dirty="0" smtClean="0">
                <a:solidFill>
                  <a:srgbClr val="555555"/>
                </a:solidFill>
                <a:latin typeface="+mn-lt"/>
                <a:cs typeface="Calibri"/>
              </a:rPr>
              <a:t>Chaque</a:t>
            </a:r>
            <a:r>
              <a:rPr lang="fr-FR" sz="1200" spc="250" dirty="0" smtClean="0">
                <a:solidFill>
                  <a:srgbClr val="555555"/>
                </a:solidFill>
                <a:latin typeface="+mn-lt"/>
                <a:cs typeface="Calibri"/>
              </a:rPr>
              <a:t> </a:t>
            </a:r>
            <a:r>
              <a:rPr lang="fr-FR" sz="1200" dirty="0" smtClean="0">
                <a:solidFill>
                  <a:srgbClr val="555555"/>
                </a:solidFill>
                <a:latin typeface="+mn-lt"/>
                <a:cs typeface="Calibri"/>
              </a:rPr>
              <a:t>programme</a:t>
            </a:r>
            <a:r>
              <a:rPr lang="fr-FR" sz="1200" spc="260" dirty="0" smtClean="0">
                <a:solidFill>
                  <a:srgbClr val="555555"/>
                </a:solidFill>
                <a:latin typeface="+mn-lt"/>
                <a:cs typeface="Calibri"/>
              </a:rPr>
              <a:t> </a:t>
            </a:r>
            <a:r>
              <a:rPr lang="fr-FR" sz="1200" dirty="0" smtClean="0">
                <a:solidFill>
                  <a:srgbClr val="555555"/>
                </a:solidFill>
                <a:latin typeface="+mn-lt"/>
                <a:cs typeface="Calibri"/>
              </a:rPr>
              <a:t>exécuté</a:t>
            </a:r>
            <a:r>
              <a:rPr lang="fr-FR" sz="1200" spc="280" dirty="0" smtClean="0">
                <a:solidFill>
                  <a:srgbClr val="555555"/>
                </a:solidFill>
                <a:latin typeface="+mn-lt"/>
                <a:cs typeface="Calibri"/>
              </a:rPr>
              <a:t> </a:t>
            </a:r>
            <a:r>
              <a:rPr lang="fr-FR" sz="1200" dirty="0" smtClean="0">
                <a:solidFill>
                  <a:srgbClr val="555555"/>
                </a:solidFill>
                <a:latin typeface="+mn-lt"/>
                <a:cs typeface="Calibri"/>
              </a:rPr>
              <a:t>sur</a:t>
            </a:r>
            <a:r>
              <a:rPr lang="fr-FR" sz="1200" spc="235" dirty="0" smtClean="0">
                <a:solidFill>
                  <a:srgbClr val="555555"/>
                </a:solidFill>
                <a:latin typeface="+mn-lt"/>
                <a:cs typeface="Calibri"/>
              </a:rPr>
              <a:t> </a:t>
            </a:r>
            <a:r>
              <a:rPr lang="fr-FR" sz="1200" dirty="0" smtClean="0">
                <a:solidFill>
                  <a:srgbClr val="555555"/>
                </a:solidFill>
                <a:latin typeface="+mn-lt"/>
                <a:cs typeface="Calibri"/>
              </a:rPr>
              <a:t>un</a:t>
            </a:r>
            <a:r>
              <a:rPr lang="fr-FR" sz="1200" spc="265" dirty="0" smtClean="0">
                <a:solidFill>
                  <a:srgbClr val="555555"/>
                </a:solidFill>
                <a:latin typeface="+mn-lt"/>
                <a:cs typeface="Calibri"/>
              </a:rPr>
              <a:t> </a:t>
            </a:r>
            <a:r>
              <a:rPr lang="fr-FR" sz="1200" dirty="0" smtClean="0">
                <a:solidFill>
                  <a:srgbClr val="555555"/>
                </a:solidFill>
                <a:latin typeface="+mn-lt"/>
                <a:cs typeface="Calibri"/>
              </a:rPr>
              <a:t>ordinateur</a:t>
            </a:r>
            <a:r>
              <a:rPr lang="fr-FR" sz="1200" spc="270" dirty="0" smtClean="0">
                <a:solidFill>
                  <a:srgbClr val="555555"/>
                </a:solidFill>
                <a:latin typeface="+mn-lt"/>
                <a:cs typeface="Calibri"/>
              </a:rPr>
              <a:t> </a:t>
            </a:r>
            <a:r>
              <a:rPr lang="fr-FR" sz="1200" dirty="0" smtClean="0">
                <a:solidFill>
                  <a:srgbClr val="555555"/>
                </a:solidFill>
                <a:latin typeface="+mn-lt"/>
                <a:cs typeface="Calibri"/>
              </a:rPr>
              <a:t>est</a:t>
            </a:r>
            <a:r>
              <a:rPr lang="fr-FR" sz="1200" spc="260" dirty="0" smtClean="0">
                <a:solidFill>
                  <a:srgbClr val="555555"/>
                </a:solidFill>
                <a:latin typeface="+mn-lt"/>
                <a:cs typeface="Calibri"/>
              </a:rPr>
              <a:t> </a:t>
            </a:r>
            <a:r>
              <a:rPr lang="fr-FR" sz="1200" dirty="0" smtClean="0">
                <a:solidFill>
                  <a:srgbClr val="555555"/>
                </a:solidFill>
                <a:latin typeface="+mn-lt"/>
                <a:cs typeface="Calibri"/>
              </a:rPr>
              <a:t>un</a:t>
            </a:r>
            <a:r>
              <a:rPr lang="fr-FR" sz="1200" spc="245" dirty="0" smtClean="0">
                <a:solidFill>
                  <a:srgbClr val="555555"/>
                </a:solidFill>
                <a:latin typeface="+mn-lt"/>
                <a:cs typeface="Calibri"/>
              </a:rPr>
              <a:t> </a:t>
            </a:r>
            <a:r>
              <a:rPr lang="fr-FR" sz="1200" dirty="0" smtClean="0">
                <a:solidFill>
                  <a:srgbClr val="555555"/>
                </a:solidFill>
                <a:latin typeface="+mn-lt"/>
                <a:cs typeface="Calibri"/>
              </a:rPr>
              <a:t>processus,</a:t>
            </a:r>
            <a:r>
              <a:rPr lang="fr-FR" sz="1200" spc="245" dirty="0" smtClean="0">
                <a:solidFill>
                  <a:srgbClr val="555555"/>
                </a:solidFill>
                <a:latin typeface="+mn-lt"/>
                <a:cs typeface="Calibri"/>
              </a:rPr>
              <a:t> </a:t>
            </a:r>
            <a:r>
              <a:rPr lang="fr-FR" sz="1200" dirty="0" smtClean="0">
                <a:solidFill>
                  <a:srgbClr val="555555"/>
                </a:solidFill>
                <a:latin typeface="+mn-lt"/>
                <a:cs typeface="Calibri"/>
              </a:rPr>
              <a:t>qu'il</a:t>
            </a:r>
            <a:r>
              <a:rPr lang="fr-FR" sz="1200" spc="240" dirty="0" smtClean="0">
                <a:solidFill>
                  <a:srgbClr val="555555"/>
                </a:solidFill>
                <a:latin typeface="+mn-lt"/>
                <a:cs typeface="Calibri"/>
              </a:rPr>
              <a:t> </a:t>
            </a:r>
            <a:r>
              <a:rPr lang="fr-FR" sz="1200" dirty="0" smtClean="0">
                <a:solidFill>
                  <a:srgbClr val="555555"/>
                </a:solidFill>
                <a:latin typeface="+mn-lt"/>
                <a:cs typeface="Calibri"/>
              </a:rPr>
              <a:t>soit</a:t>
            </a:r>
            <a:r>
              <a:rPr lang="fr-FR" sz="1200" spc="260" dirty="0" smtClean="0">
                <a:solidFill>
                  <a:srgbClr val="555555"/>
                </a:solidFill>
                <a:latin typeface="+mn-lt"/>
                <a:cs typeface="Calibri"/>
              </a:rPr>
              <a:t> </a:t>
            </a:r>
            <a:r>
              <a:rPr lang="fr-FR" sz="1200" dirty="0" smtClean="0">
                <a:solidFill>
                  <a:srgbClr val="555555"/>
                </a:solidFill>
                <a:latin typeface="+mn-lt"/>
                <a:cs typeface="Calibri"/>
              </a:rPr>
              <a:t>en</a:t>
            </a:r>
            <a:r>
              <a:rPr lang="fr-FR" sz="1200" spc="245" dirty="0" smtClean="0">
                <a:solidFill>
                  <a:srgbClr val="555555"/>
                </a:solidFill>
                <a:latin typeface="+mn-lt"/>
                <a:cs typeface="Calibri"/>
              </a:rPr>
              <a:t> </a:t>
            </a:r>
            <a:r>
              <a:rPr lang="fr-FR" sz="1200" spc="-10" dirty="0" smtClean="0">
                <a:solidFill>
                  <a:srgbClr val="555555"/>
                </a:solidFill>
                <a:latin typeface="+mn-lt"/>
                <a:cs typeface="Calibri"/>
              </a:rPr>
              <a:t>arrière-</a:t>
            </a:r>
            <a:r>
              <a:rPr lang="fr-FR" sz="1200" dirty="0" smtClean="0">
                <a:solidFill>
                  <a:srgbClr val="555555"/>
                </a:solidFill>
                <a:latin typeface="+mn-lt"/>
                <a:cs typeface="Calibri"/>
              </a:rPr>
              <a:t>plan</a:t>
            </a:r>
            <a:r>
              <a:rPr lang="fr-FR" sz="1200" spc="270" dirty="0" smtClean="0">
                <a:solidFill>
                  <a:srgbClr val="555555"/>
                </a:solidFill>
                <a:latin typeface="+mn-lt"/>
                <a:cs typeface="Calibri"/>
              </a:rPr>
              <a:t> </a:t>
            </a:r>
            <a:r>
              <a:rPr lang="fr-FR" sz="1200" spc="-10" dirty="0" smtClean="0">
                <a:solidFill>
                  <a:srgbClr val="555555"/>
                </a:solidFill>
                <a:latin typeface="+mn-lt"/>
                <a:cs typeface="Calibri"/>
              </a:rPr>
              <a:t>(back-</a:t>
            </a:r>
            <a:r>
              <a:rPr lang="fr-FR" sz="1200" dirty="0" smtClean="0">
                <a:solidFill>
                  <a:srgbClr val="555555"/>
                </a:solidFill>
                <a:latin typeface="+mn-lt"/>
                <a:cs typeface="Calibri"/>
              </a:rPr>
              <a:t>end)</a:t>
            </a:r>
            <a:r>
              <a:rPr lang="fr-FR" sz="1200" spc="250" dirty="0" smtClean="0">
                <a:solidFill>
                  <a:srgbClr val="555555"/>
                </a:solidFill>
                <a:latin typeface="+mn-lt"/>
                <a:cs typeface="Calibri"/>
              </a:rPr>
              <a:t> </a:t>
            </a:r>
            <a:r>
              <a:rPr lang="fr-FR" sz="1200" dirty="0" smtClean="0">
                <a:solidFill>
                  <a:srgbClr val="555555"/>
                </a:solidFill>
                <a:latin typeface="+mn-lt"/>
                <a:cs typeface="Calibri"/>
              </a:rPr>
              <a:t>ou</a:t>
            </a:r>
            <a:r>
              <a:rPr lang="fr-FR" sz="1200" spc="265" dirty="0" smtClean="0">
                <a:solidFill>
                  <a:srgbClr val="555555"/>
                </a:solidFill>
                <a:latin typeface="+mn-lt"/>
                <a:cs typeface="Calibri"/>
              </a:rPr>
              <a:t> </a:t>
            </a:r>
            <a:r>
              <a:rPr lang="fr-FR" sz="1200" dirty="0" smtClean="0">
                <a:solidFill>
                  <a:srgbClr val="555555"/>
                </a:solidFill>
                <a:latin typeface="+mn-lt"/>
                <a:cs typeface="Calibri"/>
              </a:rPr>
              <a:t>en</a:t>
            </a:r>
            <a:r>
              <a:rPr lang="fr-FR" sz="1200" spc="245" dirty="0" smtClean="0">
                <a:solidFill>
                  <a:srgbClr val="555555"/>
                </a:solidFill>
                <a:latin typeface="+mn-lt"/>
                <a:cs typeface="Calibri"/>
              </a:rPr>
              <a:t> </a:t>
            </a:r>
            <a:r>
              <a:rPr lang="fr-FR" sz="1200" spc="-20" dirty="0" smtClean="0">
                <a:solidFill>
                  <a:srgbClr val="555555"/>
                </a:solidFill>
                <a:latin typeface="+mn-lt"/>
                <a:cs typeface="Calibri"/>
              </a:rPr>
              <a:t>avant-</a:t>
            </a:r>
            <a:r>
              <a:rPr lang="fr-FR" sz="1200" dirty="0" smtClean="0">
                <a:solidFill>
                  <a:srgbClr val="555555"/>
                </a:solidFill>
                <a:latin typeface="+mn-lt"/>
                <a:cs typeface="Calibri"/>
              </a:rPr>
              <a:t>plan</a:t>
            </a:r>
            <a:r>
              <a:rPr lang="fr-FR" sz="1200" spc="245" dirty="0" smtClean="0">
                <a:solidFill>
                  <a:srgbClr val="555555"/>
                </a:solidFill>
                <a:latin typeface="+mn-lt"/>
                <a:cs typeface="Calibri"/>
              </a:rPr>
              <a:t> </a:t>
            </a:r>
            <a:r>
              <a:rPr lang="fr-FR" sz="1200" spc="-10" dirty="0" smtClean="0">
                <a:solidFill>
                  <a:srgbClr val="555555"/>
                </a:solidFill>
                <a:latin typeface="+mn-lt"/>
                <a:cs typeface="Calibri"/>
              </a:rPr>
              <a:t>(front-</a:t>
            </a:r>
            <a:r>
              <a:rPr lang="fr-FR" sz="1200" dirty="0" smtClean="0">
                <a:solidFill>
                  <a:srgbClr val="555555"/>
                </a:solidFill>
                <a:latin typeface="+mn-lt"/>
                <a:cs typeface="Calibri"/>
              </a:rPr>
              <a:t>end).</a:t>
            </a:r>
            <a:r>
              <a:rPr lang="fr-FR" sz="1200" spc="260" dirty="0" smtClean="0">
                <a:solidFill>
                  <a:srgbClr val="555555"/>
                </a:solidFill>
                <a:latin typeface="+mn-lt"/>
                <a:cs typeface="Calibri"/>
              </a:rPr>
              <a:t> </a:t>
            </a:r>
            <a:r>
              <a:rPr lang="fr-FR" sz="1200" dirty="0" smtClean="0">
                <a:solidFill>
                  <a:srgbClr val="555555"/>
                </a:solidFill>
                <a:latin typeface="+mn-lt"/>
                <a:cs typeface="Calibri"/>
              </a:rPr>
              <a:t>Le</a:t>
            </a:r>
            <a:r>
              <a:rPr lang="fr-FR" sz="1200" spc="254" dirty="0" smtClean="0">
                <a:solidFill>
                  <a:srgbClr val="555555"/>
                </a:solidFill>
                <a:latin typeface="+mn-lt"/>
                <a:cs typeface="Calibri"/>
              </a:rPr>
              <a:t> </a:t>
            </a:r>
            <a:r>
              <a:rPr lang="fr-FR" sz="1200" dirty="0" smtClean="0">
                <a:solidFill>
                  <a:srgbClr val="555555"/>
                </a:solidFill>
                <a:latin typeface="+mn-lt"/>
                <a:cs typeface="Calibri"/>
              </a:rPr>
              <a:t>système</a:t>
            </a:r>
            <a:r>
              <a:rPr lang="fr-FR" sz="1200" spc="254" dirty="0" smtClean="0">
                <a:solidFill>
                  <a:srgbClr val="555555"/>
                </a:solidFill>
                <a:latin typeface="+mn-lt"/>
                <a:cs typeface="Calibri"/>
              </a:rPr>
              <a:t> </a:t>
            </a:r>
            <a:r>
              <a:rPr lang="fr-FR" sz="1200" dirty="0" smtClean="0">
                <a:solidFill>
                  <a:srgbClr val="555555"/>
                </a:solidFill>
                <a:latin typeface="+mn-lt"/>
                <a:cs typeface="Calibri"/>
              </a:rPr>
              <a:t>d'exploitation</a:t>
            </a:r>
            <a:r>
              <a:rPr lang="fr-FR" sz="1200" spc="275" dirty="0" smtClean="0">
                <a:solidFill>
                  <a:srgbClr val="555555"/>
                </a:solidFill>
                <a:latin typeface="+mn-lt"/>
                <a:cs typeface="Calibri"/>
              </a:rPr>
              <a:t> </a:t>
            </a:r>
            <a:r>
              <a:rPr lang="fr-FR" sz="1200" spc="-25" dirty="0" smtClean="0">
                <a:solidFill>
                  <a:srgbClr val="555555"/>
                </a:solidFill>
                <a:latin typeface="+mn-lt"/>
                <a:cs typeface="Calibri"/>
              </a:rPr>
              <a:t>est </a:t>
            </a:r>
            <a:r>
              <a:rPr lang="fr-FR" sz="1200" dirty="0" smtClean="0">
                <a:solidFill>
                  <a:srgbClr val="555555"/>
                </a:solidFill>
                <a:latin typeface="+mn-lt"/>
                <a:cs typeface="Calibri"/>
              </a:rPr>
              <a:t>responsable</a:t>
            </a:r>
            <a:r>
              <a:rPr lang="fr-FR" sz="1200" spc="5" dirty="0" smtClean="0">
                <a:solidFill>
                  <a:srgbClr val="555555"/>
                </a:solidFill>
                <a:latin typeface="+mn-lt"/>
                <a:cs typeface="Calibri"/>
              </a:rPr>
              <a:t> </a:t>
            </a:r>
            <a:r>
              <a:rPr lang="fr-FR" sz="1200" dirty="0" smtClean="0">
                <a:solidFill>
                  <a:srgbClr val="555555"/>
                </a:solidFill>
                <a:latin typeface="+mn-lt"/>
                <a:cs typeface="Calibri"/>
              </a:rPr>
              <a:t>de</a:t>
            </a:r>
            <a:r>
              <a:rPr lang="fr-FR" sz="1200" spc="20" dirty="0" smtClean="0">
                <a:solidFill>
                  <a:srgbClr val="555555"/>
                </a:solidFill>
                <a:latin typeface="+mn-lt"/>
                <a:cs typeface="Calibri"/>
              </a:rPr>
              <a:t> </a:t>
            </a:r>
            <a:r>
              <a:rPr lang="fr-FR" sz="1200" spc="-10" dirty="0" smtClean="0">
                <a:solidFill>
                  <a:srgbClr val="555555"/>
                </a:solidFill>
                <a:latin typeface="+mn-lt"/>
                <a:cs typeface="Calibri"/>
              </a:rPr>
              <a:t>l'exécution </a:t>
            </a:r>
            <a:r>
              <a:rPr lang="fr-FR" sz="1200" dirty="0" smtClean="0">
                <a:solidFill>
                  <a:srgbClr val="555555"/>
                </a:solidFill>
                <a:latin typeface="+mn-lt"/>
                <a:cs typeface="Calibri"/>
              </a:rPr>
              <a:t>simultanée</a:t>
            </a:r>
            <a:r>
              <a:rPr lang="fr-FR" sz="1200" spc="10" dirty="0" smtClean="0">
                <a:solidFill>
                  <a:srgbClr val="555555"/>
                </a:solidFill>
                <a:latin typeface="+mn-lt"/>
                <a:cs typeface="Calibri"/>
              </a:rPr>
              <a:t> </a:t>
            </a:r>
            <a:r>
              <a:rPr lang="fr-FR" sz="1200" dirty="0" smtClean="0">
                <a:solidFill>
                  <a:srgbClr val="555555"/>
                </a:solidFill>
                <a:latin typeface="+mn-lt"/>
                <a:cs typeface="Calibri"/>
              </a:rPr>
              <a:t>de</a:t>
            </a:r>
            <a:r>
              <a:rPr lang="fr-FR" sz="1200" spc="15" dirty="0" smtClean="0">
                <a:solidFill>
                  <a:srgbClr val="555555"/>
                </a:solidFill>
                <a:latin typeface="+mn-lt"/>
                <a:cs typeface="Calibri"/>
              </a:rPr>
              <a:t> </a:t>
            </a:r>
            <a:r>
              <a:rPr lang="fr-FR" sz="1200" dirty="0" smtClean="0">
                <a:solidFill>
                  <a:srgbClr val="555555"/>
                </a:solidFill>
                <a:latin typeface="+mn-lt"/>
                <a:cs typeface="Calibri"/>
              </a:rPr>
              <a:t>plusieurs</a:t>
            </a:r>
            <a:r>
              <a:rPr lang="fr-FR" sz="1200" spc="15" dirty="0" smtClean="0">
                <a:solidFill>
                  <a:srgbClr val="555555"/>
                </a:solidFill>
                <a:latin typeface="+mn-lt"/>
                <a:cs typeface="Calibri"/>
              </a:rPr>
              <a:t> </a:t>
            </a:r>
            <a:r>
              <a:rPr lang="fr-FR" sz="1200" dirty="0" smtClean="0">
                <a:solidFill>
                  <a:srgbClr val="555555"/>
                </a:solidFill>
                <a:latin typeface="+mn-lt"/>
                <a:cs typeface="Calibri"/>
              </a:rPr>
              <a:t>tâches</a:t>
            </a:r>
            <a:r>
              <a:rPr lang="fr-FR" sz="1200" spc="10" dirty="0" smtClean="0">
                <a:solidFill>
                  <a:srgbClr val="555555"/>
                </a:solidFill>
                <a:latin typeface="+mn-lt"/>
                <a:cs typeface="Calibri"/>
              </a:rPr>
              <a:t> </a:t>
            </a:r>
            <a:r>
              <a:rPr lang="fr-FR" sz="1200" dirty="0" smtClean="0">
                <a:solidFill>
                  <a:srgbClr val="555555"/>
                </a:solidFill>
                <a:latin typeface="+mn-lt"/>
                <a:cs typeface="Calibri"/>
              </a:rPr>
              <a:t>(multitâches). Le système </a:t>
            </a:r>
            <a:r>
              <a:rPr lang="fr-FR" sz="1200" spc="-10" dirty="0" smtClean="0">
                <a:solidFill>
                  <a:srgbClr val="555555"/>
                </a:solidFill>
                <a:latin typeface="+mn-lt"/>
                <a:cs typeface="Calibri"/>
              </a:rPr>
              <a:t>d'exploitation</a:t>
            </a:r>
            <a:r>
              <a:rPr lang="fr-FR" sz="1200" spc="15" dirty="0" smtClean="0">
                <a:solidFill>
                  <a:srgbClr val="555555"/>
                </a:solidFill>
                <a:latin typeface="+mn-lt"/>
                <a:cs typeface="Calibri"/>
              </a:rPr>
              <a:t> </a:t>
            </a:r>
            <a:r>
              <a:rPr lang="fr-FR" sz="1200" dirty="0" smtClean="0">
                <a:solidFill>
                  <a:srgbClr val="555555"/>
                </a:solidFill>
                <a:latin typeface="+mn-lt"/>
                <a:cs typeface="Calibri"/>
              </a:rPr>
              <a:t>manage</a:t>
            </a:r>
            <a:r>
              <a:rPr lang="fr-FR" sz="1200" spc="5" dirty="0" smtClean="0">
                <a:solidFill>
                  <a:srgbClr val="555555"/>
                </a:solidFill>
                <a:latin typeface="+mn-lt"/>
                <a:cs typeface="Calibri"/>
              </a:rPr>
              <a:t> </a:t>
            </a:r>
            <a:r>
              <a:rPr lang="fr-FR" sz="1200" spc="-10" dirty="0" smtClean="0">
                <a:solidFill>
                  <a:srgbClr val="555555"/>
                </a:solidFill>
                <a:latin typeface="+mn-lt"/>
                <a:cs typeface="Calibri"/>
              </a:rPr>
              <a:t>l’accès</a:t>
            </a:r>
            <a:r>
              <a:rPr lang="fr-FR" sz="1200" spc="5" dirty="0" smtClean="0">
                <a:solidFill>
                  <a:srgbClr val="555555"/>
                </a:solidFill>
                <a:latin typeface="+mn-lt"/>
                <a:cs typeface="Calibri"/>
              </a:rPr>
              <a:t> </a:t>
            </a:r>
            <a:r>
              <a:rPr lang="fr-FR" sz="1200" dirty="0" smtClean="0">
                <a:solidFill>
                  <a:srgbClr val="555555"/>
                </a:solidFill>
                <a:latin typeface="+mn-lt"/>
                <a:cs typeface="Calibri"/>
              </a:rPr>
              <a:t>des</a:t>
            </a:r>
            <a:r>
              <a:rPr lang="fr-FR" sz="1200" spc="5" dirty="0" smtClean="0">
                <a:solidFill>
                  <a:srgbClr val="555555"/>
                </a:solidFill>
                <a:latin typeface="+mn-lt"/>
                <a:cs typeface="Calibri"/>
              </a:rPr>
              <a:t> </a:t>
            </a:r>
            <a:r>
              <a:rPr lang="fr-FR" sz="1200" dirty="0" smtClean="0">
                <a:solidFill>
                  <a:srgbClr val="555555"/>
                </a:solidFill>
                <a:latin typeface="+mn-lt"/>
                <a:cs typeface="Calibri"/>
              </a:rPr>
              <a:t>processus</a:t>
            </a:r>
            <a:r>
              <a:rPr lang="fr-FR" sz="1200" spc="10" dirty="0" smtClean="0">
                <a:solidFill>
                  <a:srgbClr val="555555"/>
                </a:solidFill>
                <a:latin typeface="+mn-lt"/>
                <a:cs typeface="Calibri"/>
              </a:rPr>
              <a:t> </a:t>
            </a:r>
            <a:r>
              <a:rPr lang="fr-FR" sz="1200" dirty="0" smtClean="0">
                <a:solidFill>
                  <a:srgbClr val="555555"/>
                </a:solidFill>
                <a:latin typeface="+mn-lt"/>
                <a:cs typeface="Calibri"/>
              </a:rPr>
              <a:t>au</a:t>
            </a:r>
            <a:r>
              <a:rPr lang="fr-FR" sz="1200" spc="-10" dirty="0" smtClean="0">
                <a:solidFill>
                  <a:srgbClr val="555555"/>
                </a:solidFill>
                <a:latin typeface="+mn-lt"/>
                <a:cs typeface="Calibri"/>
              </a:rPr>
              <a:t> processeur.</a:t>
            </a:r>
            <a:r>
              <a:rPr lang="fr-FR" sz="1200" dirty="0" smtClean="0">
                <a:solidFill>
                  <a:srgbClr val="555555"/>
                </a:solidFill>
                <a:latin typeface="+mn-lt"/>
                <a:cs typeface="Calibri"/>
              </a:rPr>
              <a:t> Le système </a:t>
            </a:r>
            <a:r>
              <a:rPr lang="fr-FR" sz="1200" spc="-10" dirty="0" smtClean="0">
                <a:solidFill>
                  <a:srgbClr val="555555"/>
                </a:solidFill>
                <a:latin typeface="+mn-lt"/>
                <a:cs typeface="Calibri"/>
              </a:rPr>
              <a:t>d’exploitation</a:t>
            </a:r>
            <a:endParaRPr lang="fr-FR" sz="1200" dirty="0" smtClean="0">
              <a:latin typeface="+mn-lt"/>
              <a:cs typeface="Calibri"/>
            </a:endParaRPr>
          </a:p>
          <a:p>
            <a:pPr marL="12700">
              <a:lnSpc>
                <a:spcPct val="100000"/>
              </a:lnSpc>
              <a:spcBef>
                <a:spcPts val="1105"/>
              </a:spcBef>
            </a:pPr>
            <a:r>
              <a:rPr lang="fr-FR" sz="1200" dirty="0" smtClean="0">
                <a:solidFill>
                  <a:srgbClr val="555555"/>
                </a:solidFill>
                <a:latin typeface="+mn-lt"/>
                <a:cs typeface="Calibri"/>
              </a:rPr>
              <a:t>a</a:t>
            </a:r>
            <a:r>
              <a:rPr lang="fr-FR" sz="1200" spc="-35" dirty="0" smtClean="0">
                <a:solidFill>
                  <a:srgbClr val="555555"/>
                </a:solidFill>
                <a:latin typeface="+mn-lt"/>
                <a:cs typeface="Calibri"/>
              </a:rPr>
              <a:t> </a:t>
            </a:r>
            <a:r>
              <a:rPr lang="fr-FR" sz="1200" dirty="0" smtClean="0">
                <a:solidFill>
                  <a:srgbClr val="555555"/>
                </a:solidFill>
                <a:latin typeface="+mn-lt"/>
                <a:cs typeface="Calibri"/>
              </a:rPr>
              <a:t>une</a:t>
            </a:r>
            <a:r>
              <a:rPr lang="fr-FR" sz="1200" spc="-5" dirty="0" smtClean="0">
                <a:solidFill>
                  <a:srgbClr val="555555"/>
                </a:solidFill>
                <a:latin typeface="+mn-lt"/>
                <a:cs typeface="Calibri"/>
              </a:rPr>
              <a:t> </a:t>
            </a:r>
            <a:r>
              <a:rPr lang="fr-FR" sz="1200" dirty="0" smtClean="0">
                <a:solidFill>
                  <a:srgbClr val="555555"/>
                </a:solidFill>
                <a:latin typeface="+mn-lt"/>
                <a:cs typeface="Calibri"/>
              </a:rPr>
              <a:t>visibilité</a:t>
            </a:r>
            <a:r>
              <a:rPr lang="fr-FR" sz="1200" spc="20" dirty="0" smtClean="0">
                <a:solidFill>
                  <a:srgbClr val="555555"/>
                </a:solidFill>
                <a:latin typeface="+mn-lt"/>
                <a:cs typeface="Calibri"/>
              </a:rPr>
              <a:t> </a:t>
            </a:r>
            <a:r>
              <a:rPr lang="fr-FR" sz="1200" dirty="0" smtClean="0">
                <a:solidFill>
                  <a:srgbClr val="555555"/>
                </a:solidFill>
                <a:latin typeface="+mn-lt"/>
                <a:cs typeface="Calibri"/>
              </a:rPr>
              <a:t>sur</a:t>
            </a:r>
            <a:r>
              <a:rPr lang="fr-FR" sz="1200" spc="-15" dirty="0" smtClean="0">
                <a:solidFill>
                  <a:srgbClr val="555555"/>
                </a:solidFill>
                <a:latin typeface="+mn-lt"/>
                <a:cs typeface="Calibri"/>
              </a:rPr>
              <a:t> </a:t>
            </a:r>
            <a:r>
              <a:rPr lang="fr-FR" sz="1200" spc="-20" dirty="0" smtClean="0">
                <a:solidFill>
                  <a:srgbClr val="555555"/>
                </a:solidFill>
                <a:latin typeface="+mn-lt"/>
                <a:cs typeface="Calibri"/>
              </a:rPr>
              <a:t>l’état</a:t>
            </a:r>
            <a:r>
              <a:rPr lang="fr-FR" sz="1200" spc="-25" dirty="0" smtClean="0">
                <a:solidFill>
                  <a:srgbClr val="555555"/>
                </a:solidFill>
                <a:latin typeface="+mn-lt"/>
                <a:cs typeface="Calibri"/>
              </a:rPr>
              <a:t> </a:t>
            </a:r>
            <a:r>
              <a:rPr lang="fr-FR" sz="1200" dirty="0" smtClean="0">
                <a:solidFill>
                  <a:srgbClr val="555555"/>
                </a:solidFill>
                <a:latin typeface="+mn-lt"/>
                <a:cs typeface="Calibri"/>
              </a:rPr>
              <a:t>des processus</a:t>
            </a:r>
            <a:r>
              <a:rPr lang="fr-FR" sz="1200" spc="5" dirty="0" smtClean="0">
                <a:solidFill>
                  <a:srgbClr val="555555"/>
                </a:solidFill>
                <a:latin typeface="+mn-lt"/>
                <a:cs typeface="Calibri"/>
              </a:rPr>
              <a:t> </a:t>
            </a:r>
            <a:r>
              <a:rPr lang="fr-FR" sz="1200" dirty="0" smtClean="0">
                <a:solidFill>
                  <a:srgbClr val="555555"/>
                </a:solidFill>
                <a:latin typeface="+mn-lt"/>
                <a:cs typeface="Calibri"/>
              </a:rPr>
              <a:t>et</a:t>
            </a:r>
            <a:r>
              <a:rPr lang="fr-FR" sz="1200" spc="-25" dirty="0" smtClean="0">
                <a:solidFill>
                  <a:srgbClr val="555555"/>
                </a:solidFill>
                <a:latin typeface="+mn-lt"/>
                <a:cs typeface="Calibri"/>
              </a:rPr>
              <a:t> </a:t>
            </a:r>
            <a:r>
              <a:rPr lang="fr-FR" sz="1200" dirty="0" smtClean="0">
                <a:solidFill>
                  <a:srgbClr val="555555"/>
                </a:solidFill>
                <a:latin typeface="+mn-lt"/>
                <a:cs typeface="Calibri"/>
              </a:rPr>
              <a:t>des</a:t>
            </a:r>
            <a:r>
              <a:rPr lang="fr-FR" sz="1200" spc="-20" dirty="0" smtClean="0">
                <a:solidFill>
                  <a:srgbClr val="555555"/>
                </a:solidFill>
                <a:latin typeface="+mn-lt"/>
                <a:cs typeface="Calibri"/>
              </a:rPr>
              <a:t> </a:t>
            </a:r>
            <a:r>
              <a:rPr lang="fr-FR" sz="1200" spc="-10" dirty="0" smtClean="0">
                <a:solidFill>
                  <a:srgbClr val="555555"/>
                </a:solidFill>
                <a:latin typeface="+mn-lt"/>
                <a:cs typeface="Calibri"/>
              </a:rPr>
              <a:t>processeurs</a:t>
            </a:r>
            <a:r>
              <a:rPr lang="fr-FR" sz="1200" spc="30" dirty="0" smtClean="0">
                <a:solidFill>
                  <a:srgbClr val="555555"/>
                </a:solidFill>
                <a:latin typeface="+mn-lt"/>
                <a:cs typeface="Calibri"/>
              </a:rPr>
              <a:t> </a:t>
            </a:r>
            <a:r>
              <a:rPr lang="fr-FR" sz="1200" dirty="0" smtClean="0">
                <a:solidFill>
                  <a:srgbClr val="555555"/>
                </a:solidFill>
                <a:latin typeface="+mn-lt"/>
                <a:cs typeface="Calibri"/>
              </a:rPr>
              <a:t>à</a:t>
            </a:r>
            <a:r>
              <a:rPr lang="fr-FR" sz="1200" spc="-30" dirty="0" smtClean="0">
                <a:solidFill>
                  <a:srgbClr val="555555"/>
                </a:solidFill>
                <a:latin typeface="+mn-lt"/>
                <a:cs typeface="Calibri"/>
              </a:rPr>
              <a:t> </a:t>
            </a:r>
            <a:r>
              <a:rPr lang="fr-FR" sz="1200" dirty="0" smtClean="0">
                <a:solidFill>
                  <a:srgbClr val="555555"/>
                </a:solidFill>
                <a:latin typeface="+mn-lt"/>
                <a:cs typeface="Calibri"/>
              </a:rPr>
              <a:t>un</a:t>
            </a:r>
            <a:r>
              <a:rPr lang="fr-FR" sz="1200" spc="-15" dirty="0" smtClean="0">
                <a:solidFill>
                  <a:srgbClr val="555555"/>
                </a:solidFill>
                <a:latin typeface="+mn-lt"/>
                <a:cs typeface="Calibri"/>
              </a:rPr>
              <a:t> </a:t>
            </a:r>
            <a:r>
              <a:rPr lang="fr-FR" sz="1200" spc="-10" dirty="0" smtClean="0">
                <a:solidFill>
                  <a:srgbClr val="555555"/>
                </a:solidFill>
                <a:latin typeface="+mn-lt"/>
                <a:cs typeface="Calibri"/>
              </a:rPr>
              <a:t>instant</a:t>
            </a:r>
            <a:r>
              <a:rPr lang="fr-FR" sz="1200" spc="-25" dirty="0" smtClean="0">
                <a:solidFill>
                  <a:srgbClr val="555555"/>
                </a:solidFill>
                <a:latin typeface="+mn-lt"/>
                <a:cs typeface="Calibri"/>
              </a:rPr>
              <a:t> </a:t>
            </a:r>
            <a:r>
              <a:rPr lang="fr-FR" sz="1200" spc="-10" dirty="0" smtClean="0">
                <a:solidFill>
                  <a:srgbClr val="555555"/>
                </a:solidFill>
                <a:latin typeface="+mn-lt"/>
                <a:cs typeface="Calibri"/>
              </a:rPr>
              <a:t>donné.</a:t>
            </a:r>
            <a:endParaRPr lang="fr-FR" sz="1200" dirty="0" smtClean="0">
              <a:latin typeface="+mn-lt"/>
              <a:cs typeface="Calibri"/>
            </a:endParaRPr>
          </a:p>
          <a:p>
            <a:endParaRPr lang="fr-FR" sz="1200" b="0" i="0" kern="1200" dirty="0" smtClean="0">
              <a:solidFill>
                <a:schemeClr val="tx1"/>
              </a:solidFill>
              <a:effectLst/>
              <a:latin typeface="+mn-lt"/>
              <a:ea typeface="+mn-ea"/>
              <a:cs typeface="+mn-cs"/>
            </a:endParaRPr>
          </a:p>
          <a:p>
            <a:r>
              <a:rPr lang="fr-FR" sz="1200" b="0" i="0" kern="1200" dirty="0" smtClean="0">
                <a:solidFill>
                  <a:schemeClr val="tx1"/>
                </a:solidFill>
                <a:effectLst/>
                <a:latin typeface="+mn-lt"/>
                <a:ea typeface="+mn-ea"/>
                <a:cs typeface="+mn-cs"/>
              </a:rPr>
              <a:t>Un registre est un emplacement de mémoire interne à un processeur. Les registres se situent au sommet de la hiérarchie mémoire : il s'agit de la mémoire la plus rapide d'un ordinateur, mais dont le coût de fabrication est le plus élevé, </a:t>
            </a:r>
          </a:p>
          <a:p>
            <a:r>
              <a:rPr lang="fr-FR" sz="1200" b="0" i="0" kern="1200" dirty="0" smtClean="0">
                <a:solidFill>
                  <a:schemeClr val="tx1"/>
                </a:solidFill>
                <a:effectLst/>
                <a:latin typeface="+mn-lt"/>
                <a:ea typeface="+mn-ea"/>
                <a:cs typeface="+mn-cs"/>
              </a:rPr>
              <a:t>La pile est utilisée pour gérer les appels de fonctions, les variables locales et d'autres structures de données temporaires.</a:t>
            </a:r>
          </a:p>
          <a:p>
            <a:r>
              <a:rPr lang="fr-FR" sz="1200" b="0" i="0" kern="1200" dirty="0" smtClean="0">
                <a:solidFill>
                  <a:schemeClr val="tx1"/>
                </a:solidFill>
                <a:effectLst/>
                <a:latin typeface="+mn-lt"/>
                <a:ea typeface="+mn-ea"/>
                <a:cs typeface="+mn-cs"/>
              </a:rPr>
              <a:t>Test-and-Set gérer la synchronisation entre processus concurrents</a:t>
            </a:r>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4</a:t>
            </a:fld>
            <a:endParaRPr lang="fr-FR"/>
          </a:p>
        </p:txBody>
      </p:sp>
    </p:spTree>
    <p:extLst>
      <p:ext uri="{BB962C8B-B14F-4D97-AF65-F5344CB8AC3E}">
        <p14:creationId xmlns:p14="http://schemas.microsoft.com/office/powerpoint/2010/main" val="22096596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smtClean="0">
                <a:solidFill>
                  <a:schemeClr val="tx1"/>
                </a:solidFill>
                <a:effectLst/>
                <a:latin typeface="+mn-lt"/>
                <a:ea typeface="+mn-ea"/>
                <a:cs typeface="+mn-cs"/>
              </a:rPr>
              <a:t>En informatique, une pile (en anglais </a:t>
            </a:r>
            <a:r>
              <a:rPr lang="fr-FR" sz="1200" b="0" i="0" kern="1200" dirty="0" err="1" smtClean="0">
                <a:solidFill>
                  <a:schemeClr val="tx1"/>
                </a:solidFill>
                <a:effectLst/>
                <a:latin typeface="+mn-lt"/>
                <a:ea typeface="+mn-ea"/>
                <a:cs typeface="+mn-cs"/>
              </a:rPr>
              <a:t>stack</a:t>
            </a:r>
            <a:r>
              <a:rPr lang="fr-FR" sz="1200" b="0" i="0" kern="1200" dirty="0" smtClean="0">
                <a:solidFill>
                  <a:schemeClr val="tx1"/>
                </a:solidFill>
                <a:effectLst/>
                <a:latin typeface="+mn-lt"/>
                <a:ea typeface="+mn-ea"/>
                <a:cs typeface="+mn-cs"/>
              </a:rPr>
              <a:t>) est une structure de données fondée sur le principe « dernier arrivé, premier sorti » (en anglais LIFO pour last in, first out), ce qui veut dire qu'en général, le dernier élément ajouté à la pile est le premier à en sortir.</a:t>
            </a:r>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5</a:t>
            </a:fld>
            <a:endParaRPr lang="fr-FR"/>
          </a:p>
        </p:txBody>
      </p:sp>
    </p:spTree>
    <p:extLst>
      <p:ext uri="{BB962C8B-B14F-4D97-AF65-F5344CB8AC3E}">
        <p14:creationId xmlns:p14="http://schemas.microsoft.com/office/powerpoint/2010/main" val="35844535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2700" algn="just">
              <a:lnSpc>
                <a:spcPct val="100000"/>
              </a:lnSpc>
              <a:spcBef>
                <a:spcPts val="700"/>
              </a:spcBef>
            </a:pPr>
            <a:r>
              <a:rPr lang="fr-FR" sz="1200" dirty="0" smtClean="0">
                <a:solidFill>
                  <a:srgbClr val="585858"/>
                </a:solidFill>
                <a:latin typeface="+mn-lt"/>
                <a:cs typeface="Calibri"/>
              </a:rPr>
              <a:t>initialement,</a:t>
            </a:r>
            <a:r>
              <a:rPr lang="fr-FR" sz="1200" spc="-10" dirty="0" smtClean="0">
                <a:solidFill>
                  <a:srgbClr val="585858"/>
                </a:solidFill>
                <a:latin typeface="+mn-lt"/>
                <a:cs typeface="Calibri"/>
              </a:rPr>
              <a:t> </a:t>
            </a:r>
            <a:r>
              <a:rPr lang="fr-FR" sz="1200" dirty="0" smtClean="0">
                <a:solidFill>
                  <a:srgbClr val="585858"/>
                </a:solidFill>
                <a:latin typeface="+mn-lt"/>
                <a:cs typeface="Calibri"/>
              </a:rPr>
              <a:t>le</a:t>
            </a:r>
            <a:r>
              <a:rPr lang="fr-FR" sz="1200" spc="5" dirty="0" smtClean="0">
                <a:solidFill>
                  <a:srgbClr val="585858"/>
                </a:solidFill>
                <a:latin typeface="+mn-lt"/>
                <a:cs typeface="Calibri"/>
              </a:rPr>
              <a:t> </a:t>
            </a:r>
            <a:r>
              <a:rPr lang="fr-FR" sz="1200" dirty="0" smtClean="0">
                <a:solidFill>
                  <a:srgbClr val="585858"/>
                </a:solidFill>
                <a:latin typeface="+mn-lt"/>
                <a:cs typeface="Calibri"/>
              </a:rPr>
              <a:t>processus</a:t>
            </a:r>
            <a:r>
              <a:rPr lang="fr-FR" sz="1200" spc="-10" dirty="0" smtClean="0">
                <a:solidFill>
                  <a:srgbClr val="585858"/>
                </a:solidFill>
                <a:latin typeface="+mn-lt"/>
                <a:cs typeface="Calibri"/>
              </a:rPr>
              <a:t> </a:t>
            </a:r>
            <a:r>
              <a:rPr lang="fr-FR" sz="1200" dirty="0" smtClean="0">
                <a:solidFill>
                  <a:srgbClr val="585858"/>
                </a:solidFill>
                <a:latin typeface="+mn-lt"/>
                <a:cs typeface="Calibri"/>
              </a:rPr>
              <a:t>est</a:t>
            </a:r>
            <a:r>
              <a:rPr lang="fr-FR" sz="1200" spc="5" dirty="0" smtClean="0">
                <a:solidFill>
                  <a:srgbClr val="585858"/>
                </a:solidFill>
                <a:latin typeface="+mn-lt"/>
                <a:cs typeface="Calibri"/>
              </a:rPr>
              <a:t> </a:t>
            </a:r>
            <a:r>
              <a:rPr lang="fr-FR" sz="1200" dirty="0" smtClean="0">
                <a:solidFill>
                  <a:srgbClr val="585858"/>
                </a:solidFill>
                <a:latin typeface="+mn-lt"/>
                <a:cs typeface="Calibri"/>
              </a:rPr>
              <a:t>à</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l’état</a:t>
            </a:r>
            <a:r>
              <a:rPr lang="fr-FR" sz="1200" spc="10" dirty="0" smtClean="0">
                <a:solidFill>
                  <a:srgbClr val="585858"/>
                </a:solidFill>
                <a:latin typeface="+mn-lt"/>
                <a:cs typeface="Calibri"/>
              </a:rPr>
              <a:t> </a:t>
            </a:r>
            <a:r>
              <a:rPr lang="fr-FR" sz="1200" b="1" spc="-10" dirty="0" smtClean="0">
                <a:solidFill>
                  <a:srgbClr val="585858"/>
                </a:solidFill>
                <a:latin typeface="+mn-lt"/>
                <a:cs typeface="Calibri"/>
              </a:rPr>
              <a:t>Nouveau :</a:t>
            </a:r>
            <a:r>
              <a:rPr lang="fr-FR" sz="1200" b="1" spc="-10" dirty="0" err="1" smtClean="0">
                <a:solidFill>
                  <a:srgbClr val="585858"/>
                </a:solidFill>
                <a:latin typeface="+mn-lt"/>
                <a:cs typeface="Calibri"/>
              </a:rPr>
              <a:t>cad</a:t>
            </a:r>
            <a:r>
              <a:rPr lang="fr-FR" sz="1200" b="1" spc="-10" dirty="0" smtClean="0">
                <a:solidFill>
                  <a:srgbClr val="585858"/>
                </a:solidFill>
                <a:latin typeface="+mn-lt"/>
                <a:cs typeface="Calibri"/>
              </a:rPr>
              <a:t> </a:t>
            </a:r>
            <a:r>
              <a:rPr lang="fr-FR" sz="1200" kern="1200" dirty="0" smtClean="0">
                <a:solidFill>
                  <a:schemeClr val="tx1"/>
                </a:solidFill>
                <a:effectLst/>
                <a:latin typeface="+mn-lt"/>
                <a:ea typeface="+mn-ea"/>
                <a:cs typeface="+mn-cs"/>
              </a:rPr>
              <a:t>ses ressources n'ont pas encore été entièrement allouées par le système d'exploitation.</a:t>
            </a:r>
            <a:r>
              <a:rPr lang="fr-FR" sz="1200" dirty="0" smtClean="0">
                <a:latin typeface="+mn-lt"/>
                <a:cs typeface="Calibri"/>
              </a:rPr>
              <a:t> </a:t>
            </a:r>
            <a:r>
              <a:rPr lang="fr-FR" sz="1200" dirty="0" smtClean="0">
                <a:solidFill>
                  <a:srgbClr val="585858"/>
                </a:solidFill>
                <a:latin typeface="+mn-lt"/>
                <a:cs typeface="Calibri"/>
              </a:rPr>
              <a:t>Une</a:t>
            </a:r>
            <a:r>
              <a:rPr lang="fr-FR" sz="1200" spc="-5" dirty="0" smtClean="0">
                <a:solidFill>
                  <a:srgbClr val="585858"/>
                </a:solidFill>
                <a:latin typeface="+mn-lt"/>
                <a:cs typeface="Calibri"/>
              </a:rPr>
              <a:t> </a:t>
            </a:r>
            <a:r>
              <a:rPr lang="fr-FR" sz="1200" dirty="0" smtClean="0">
                <a:solidFill>
                  <a:srgbClr val="585858"/>
                </a:solidFill>
                <a:latin typeface="+mn-lt"/>
                <a:cs typeface="Calibri"/>
              </a:rPr>
              <a:t>fois</a:t>
            </a:r>
            <a:r>
              <a:rPr lang="fr-FR" sz="1200" spc="20" dirty="0" smtClean="0">
                <a:solidFill>
                  <a:srgbClr val="585858"/>
                </a:solidFill>
                <a:latin typeface="+mn-lt"/>
                <a:cs typeface="Calibri"/>
              </a:rPr>
              <a:t> </a:t>
            </a:r>
            <a:r>
              <a:rPr lang="fr-FR" sz="1200" dirty="0" smtClean="0">
                <a:solidFill>
                  <a:srgbClr val="585858"/>
                </a:solidFill>
                <a:latin typeface="+mn-lt"/>
                <a:cs typeface="Calibri"/>
              </a:rPr>
              <a:t>que</a:t>
            </a:r>
            <a:r>
              <a:rPr lang="fr-FR" sz="1200" spc="10" dirty="0" smtClean="0">
                <a:solidFill>
                  <a:srgbClr val="585858"/>
                </a:solidFill>
                <a:latin typeface="+mn-lt"/>
                <a:cs typeface="Calibri"/>
              </a:rPr>
              <a:t> </a:t>
            </a:r>
            <a:r>
              <a:rPr lang="fr-FR" sz="1200" dirty="0" smtClean="0">
                <a:solidFill>
                  <a:srgbClr val="585858"/>
                </a:solidFill>
                <a:latin typeface="+mn-lt"/>
                <a:cs typeface="Calibri"/>
              </a:rPr>
              <a:t>le</a:t>
            </a:r>
            <a:r>
              <a:rPr lang="fr-FR" sz="1200" spc="305" dirty="0" smtClean="0">
                <a:solidFill>
                  <a:srgbClr val="585858"/>
                </a:solidFill>
                <a:latin typeface="+mn-lt"/>
                <a:cs typeface="Calibri"/>
              </a:rPr>
              <a:t> </a:t>
            </a:r>
            <a:r>
              <a:rPr lang="fr-FR" sz="1200" dirty="0" smtClean="0">
                <a:solidFill>
                  <a:srgbClr val="585858"/>
                </a:solidFill>
                <a:latin typeface="+mn-lt"/>
                <a:cs typeface="Calibri"/>
              </a:rPr>
              <a:t>processus est</a:t>
            </a:r>
            <a:r>
              <a:rPr lang="fr-FR" sz="1200" spc="-5" dirty="0" smtClean="0">
                <a:solidFill>
                  <a:srgbClr val="585858"/>
                </a:solidFill>
                <a:latin typeface="+mn-lt"/>
                <a:cs typeface="Calibri"/>
              </a:rPr>
              <a:t> </a:t>
            </a:r>
            <a:r>
              <a:rPr lang="fr-FR" sz="1200" dirty="0" smtClean="0">
                <a:solidFill>
                  <a:srgbClr val="585858"/>
                </a:solidFill>
                <a:latin typeface="+mn-lt"/>
                <a:cs typeface="Calibri"/>
              </a:rPr>
              <a:t>créé</a:t>
            </a:r>
            <a:r>
              <a:rPr lang="fr-FR" sz="1200" spc="15" dirty="0" smtClean="0">
                <a:solidFill>
                  <a:srgbClr val="585858"/>
                </a:solidFill>
                <a:latin typeface="+mn-lt"/>
                <a:cs typeface="Calibri"/>
              </a:rPr>
              <a:t> </a:t>
            </a:r>
            <a:r>
              <a:rPr lang="fr-FR" sz="1200" dirty="0" smtClean="0">
                <a:solidFill>
                  <a:srgbClr val="585858"/>
                </a:solidFill>
                <a:latin typeface="+mn-lt"/>
                <a:cs typeface="Calibri"/>
              </a:rPr>
              <a:t>il</a:t>
            </a:r>
            <a:r>
              <a:rPr lang="fr-FR" sz="1200" spc="-20" dirty="0" smtClean="0">
                <a:solidFill>
                  <a:srgbClr val="585858"/>
                </a:solidFill>
                <a:latin typeface="+mn-lt"/>
                <a:cs typeface="Calibri"/>
              </a:rPr>
              <a:t> </a:t>
            </a:r>
            <a:r>
              <a:rPr lang="fr-FR" sz="1200" dirty="0" smtClean="0">
                <a:solidFill>
                  <a:srgbClr val="585858"/>
                </a:solidFill>
                <a:latin typeface="+mn-lt"/>
                <a:cs typeface="Calibri"/>
              </a:rPr>
              <a:t>passe</a:t>
            </a:r>
            <a:r>
              <a:rPr lang="fr-FR" sz="1200" spc="15" dirty="0" smtClean="0">
                <a:solidFill>
                  <a:srgbClr val="585858"/>
                </a:solidFill>
                <a:latin typeface="+mn-lt"/>
                <a:cs typeface="Calibri"/>
              </a:rPr>
              <a:t> </a:t>
            </a:r>
            <a:r>
              <a:rPr lang="fr-FR" sz="1200" spc="-50" dirty="0" smtClean="0">
                <a:solidFill>
                  <a:srgbClr val="585858"/>
                </a:solidFill>
                <a:latin typeface="+mn-lt"/>
                <a:cs typeface="Calibri"/>
              </a:rPr>
              <a:t>à</a:t>
            </a:r>
            <a:r>
              <a:rPr lang="fr-FR" sz="1200" dirty="0" smtClean="0">
                <a:latin typeface="+mn-lt"/>
                <a:cs typeface="Calibri"/>
              </a:rPr>
              <a:t> </a:t>
            </a:r>
            <a:r>
              <a:rPr lang="fr-FR" sz="1200" dirty="0" smtClean="0">
                <a:solidFill>
                  <a:srgbClr val="585858"/>
                </a:solidFill>
                <a:latin typeface="+mn-lt"/>
                <a:cs typeface="Calibri"/>
              </a:rPr>
              <a:t>l’état</a:t>
            </a:r>
            <a:r>
              <a:rPr lang="fr-FR" sz="1200" spc="130" dirty="0" smtClean="0">
                <a:solidFill>
                  <a:srgbClr val="585858"/>
                </a:solidFill>
                <a:latin typeface="+mn-lt"/>
                <a:cs typeface="Calibri"/>
              </a:rPr>
              <a:t> </a:t>
            </a:r>
            <a:r>
              <a:rPr lang="fr-FR" sz="1200" b="1" dirty="0" smtClean="0">
                <a:solidFill>
                  <a:srgbClr val="585858"/>
                </a:solidFill>
                <a:latin typeface="+mn-lt"/>
                <a:cs typeface="Calibri"/>
              </a:rPr>
              <a:t>Prêt</a:t>
            </a:r>
            <a:r>
              <a:rPr lang="fr-FR" sz="1200" b="1" spc="114" dirty="0" smtClean="0">
                <a:solidFill>
                  <a:srgbClr val="585858"/>
                </a:solidFill>
                <a:latin typeface="+mn-lt"/>
                <a:cs typeface="Calibri"/>
              </a:rPr>
              <a:t> </a:t>
            </a:r>
            <a:r>
              <a:rPr lang="fr-FR" sz="1200" b="1" dirty="0" smtClean="0">
                <a:solidFill>
                  <a:srgbClr val="585858"/>
                </a:solidFill>
                <a:latin typeface="+mn-lt"/>
                <a:cs typeface="Calibri"/>
              </a:rPr>
              <a:t>(</a:t>
            </a:r>
            <a:r>
              <a:rPr lang="fr-FR" sz="1200" b="1" dirty="0" err="1" smtClean="0">
                <a:solidFill>
                  <a:srgbClr val="585858"/>
                </a:solidFill>
                <a:latin typeface="+mn-lt"/>
                <a:cs typeface="Calibri"/>
              </a:rPr>
              <a:t>Ready</a:t>
            </a:r>
            <a:r>
              <a:rPr lang="fr-FR" sz="1200" b="1" dirty="0" smtClean="0">
                <a:solidFill>
                  <a:srgbClr val="585858"/>
                </a:solidFill>
                <a:latin typeface="+mn-lt"/>
                <a:cs typeface="Calibri"/>
              </a:rPr>
              <a:t>);</a:t>
            </a:r>
            <a:r>
              <a:rPr lang="fr-FR" sz="1200" b="1" spc="130" dirty="0" smtClean="0">
                <a:solidFill>
                  <a:srgbClr val="585858"/>
                </a:solidFill>
                <a:latin typeface="+mn-lt"/>
                <a:cs typeface="Calibri"/>
              </a:rPr>
              <a:t> </a:t>
            </a:r>
            <a:r>
              <a:rPr lang="fr-FR" sz="1200" kern="1200" dirty="0" smtClean="0">
                <a:solidFill>
                  <a:schemeClr val="tx1"/>
                </a:solidFill>
                <a:effectLst/>
                <a:latin typeface="+mn-lt"/>
                <a:ea typeface="+mn-ea"/>
                <a:cs typeface="+mn-cs"/>
              </a:rPr>
              <a:t>Le processus a toutes les ressources dont il a besoin pour s'exécuter et attend d'être affecté à un processeur. Il est prêt à être exécuté dès que le CPU lui sera alloué.</a:t>
            </a:r>
          </a:p>
          <a:p>
            <a:pPr marL="12700" algn="just">
              <a:lnSpc>
                <a:spcPct val="100000"/>
              </a:lnSpc>
              <a:spcBef>
                <a:spcPts val="700"/>
              </a:spcBef>
            </a:pPr>
            <a:r>
              <a:rPr lang="fr-FR" sz="1200" dirty="0" smtClean="0">
                <a:solidFill>
                  <a:srgbClr val="585858"/>
                </a:solidFill>
                <a:latin typeface="+mn-lt"/>
                <a:cs typeface="Calibri"/>
              </a:rPr>
              <a:t>le</a:t>
            </a:r>
            <a:r>
              <a:rPr lang="fr-FR" sz="1200" spc="335" dirty="0" smtClean="0">
                <a:solidFill>
                  <a:srgbClr val="585858"/>
                </a:solidFill>
                <a:latin typeface="+mn-lt"/>
                <a:cs typeface="Calibri"/>
              </a:rPr>
              <a:t> </a:t>
            </a:r>
            <a:r>
              <a:rPr lang="fr-FR" sz="1200" dirty="0" smtClean="0">
                <a:solidFill>
                  <a:srgbClr val="585858"/>
                </a:solidFill>
                <a:latin typeface="+mn-lt"/>
                <a:cs typeface="Calibri"/>
              </a:rPr>
              <a:t>processus</a:t>
            </a:r>
            <a:r>
              <a:rPr lang="fr-FR" sz="1200" spc="345" dirty="0" smtClean="0">
                <a:solidFill>
                  <a:srgbClr val="585858"/>
                </a:solidFill>
                <a:latin typeface="+mn-lt"/>
                <a:cs typeface="Calibri"/>
              </a:rPr>
              <a:t> </a:t>
            </a:r>
            <a:r>
              <a:rPr lang="fr-FR" sz="1200" dirty="0" smtClean="0">
                <a:solidFill>
                  <a:srgbClr val="585858"/>
                </a:solidFill>
                <a:latin typeface="+mn-lt"/>
                <a:cs typeface="Calibri"/>
              </a:rPr>
              <a:t>sélectionné</a:t>
            </a:r>
            <a:r>
              <a:rPr lang="fr-FR" sz="1200" spc="340" dirty="0" smtClean="0">
                <a:solidFill>
                  <a:srgbClr val="585858"/>
                </a:solidFill>
                <a:latin typeface="+mn-lt"/>
                <a:cs typeface="Calibri"/>
              </a:rPr>
              <a:t> </a:t>
            </a:r>
            <a:r>
              <a:rPr lang="fr-FR" sz="1200" dirty="0" smtClean="0">
                <a:solidFill>
                  <a:srgbClr val="585858"/>
                </a:solidFill>
                <a:latin typeface="+mn-lt"/>
                <a:cs typeface="Calibri"/>
              </a:rPr>
              <a:t>par</a:t>
            </a:r>
            <a:r>
              <a:rPr lang="fr-FR" sz="1200" spc="340" dirty="0" smtClean="0">
                <a:solidFill>
                  <a:srgbClr val="585858"/>
                </a:solidFill>
                <a:latin typeface="+mn-lt"/>
                <a:cs typeface="Calibri"/>
              </a:rPr>
              <a:t> </a:t>
            </a:r>
            <a:r>
              <a:rPr lang="fr-FR" sz="1200" dirty="0" smtClean="0">
                <a:solidFill>
                  <a:srgbClr val="585858"/>
                </a:solidFill>
                <a:latin typeface="+mn-lt"/>
                <a:cs typeface="Calibri"/>
              </a:rPr>
              <a:t>l’ordonnanceur</a:t>
            </a:r>
            <a:r>
              <a:rPr lang="fr-FR" sz="1200" spc="325" dirty="0" smtClean="0">
                <a:solidFill>
                  <a:srgbClr val="585858"/>
                </a:solidFill>
                <a:latin typeface="+mn-lt"/>
                <a:cs typeface="Calibri"/>
              </a:rPr>
              <a:t> </a:t>
            </a:r>
            <a:r>
              <a:rPr lang="fr-FR" sz="1200" spc="-10" dirty="0" smtClean="0">
                <a:solidFill>
                  <a:srgbClr val="585858"/>
                </a:solidFill>
                <a:latin typeface="+mn-lt"/>
                <a:cs typeface="Calibri"/>
              </a:rPr>
              <a:t>(aussi </a:t>
            </a:r>
            <a:r>
              <a:rPr lang="fr-FR" sz="1200" dirty="0" smtClean="0">
                <a:solidFill>
                  <a:srgbClr val="585858"/>
                </a:solidFill>
                <a:latin typeface="+mn-lt"/>
                <a:cs typeface="Calibri"/>
              </a:rPr>
              <a:t>appeler</a:t>
            </a:r>
            <a:r>
              <a:rPr lang="fr-FR" sz="1200" spc="105" dirty="0" smtClean="0">
                <a:solidFill>
                  <a:srgbClr val="585858"/>
                </a:solidFill>
                <a:latin typeface="+mn-lt"/>
                <a:cs typeface="Calibri"/>
              </a:rPr>
              <a:t> </a:t>
            </a:r>
            <a:r>
              <a:rPr lang="fr-FR" sz="1200" i="1" dirty="0" err="1" smtClean="0">
                <a:solidFill>
                  <a:srgbClr val="585858"/>
                </a:solidFill>
                <a:latin typeface="+mn-lt"/>
                <a:cs typeface="Calibri"/>
              </a:rPr>
              <a:t>dispacher</a:t>
            </a:r>
            <a:r>
              <a:rPr lang="fr-FR" sz="1200" dirty="0" smtClean="0">
                <a:solidFill>
                  <a:srgbClr val="585858"/>
                </a:solidFill>
                <a:latin typeface="+mn-lt"/>
                <a:cs typeface="Calibri"/>
              </a:rPr>
              <a:t>,</a:t>
            </a:r>
            <a:r>
              <a:rPr lang="fr-FR" sz="1200" spc="105" dirty="0" smtClean="0">
                <a:solidFill>
                  <a:srgbClr val="585858"/>
                </a:solidFill>
                <a:latin typeface="+mn-lt"/>
                <a:cs typeface="Calibri"/>
              </a:rPr>
              <a:t> </a:t>
            </a:r>
            <a:r>
              <a:rPr lang="fr-FR" sz="1200" dirty="0" smtClean="0">
                <a:solidFill>
                  <a:srgbClr val="585858"/>
                </a:solidFill>
                <a:latin typeface="+mn-lt"/>
                <a:cs typeface="Calibri"/>
              </a:rPr>
              <a:t>répartiteur</a:t>
            </a:r>
            <a:r>
              <a:rPr lang="fr-FR" sz="1200" spc="114" dirty="0" smtClean="0">
                <a:solidFill>
                  <a:srgbClr val="585858"/>
                </a:solidFill>
                <a:latin typeface="+mn-lt"/>
                <a:cs typeface="Calibri"/>
              </a:rPr>
              <a:t> </a:t>
            </a:r>
            <a:r>
              <a:rPr lang="fr-FR" sz="1200" dirty="0" smtClean="0">
                <a:solidFill>
                  <a:srgbClr val="585858"/>
                </a:solidFill>
                <a:latin typeface="+mn-lt"/>
                <a:cs typeface="Calibri"/>
              </a:rPr>
              <a:t>ou</a:t>
            </a:r>
            <a:r>
              <a:rPr lang="fr-FR" sz="1200" spc="135" dirty="0" smtClean="0">
                <a:solidFill>
                  <a:srgbClr val="585858"/>
                </a:solidFill>
                <a:latin typeface="+mn-lt"/>
                <a:cs typeface="Calibri"/>
              </a:rPr>
              <a:t> </a:t>
            </a:r>
            <a:r>
              <a:rPr lang="fr-FR" sz="1200" b="1" dirty="0" smtClean="0">
                <a:solidFill>
                  <a:srgbClr val="585858"/>
                </a:solidFill>
                <a:latin typeface="+mn-lt"/>
                <a:cs typeface="Calibri"/>
              </a:rPr>
              <a:t>ordonnanceur</a:t>
            </a:r>
            <a:r>
              <a:rPr lang="fr-FR" sz="1200" b="1" spc="130" dirty="0" smtClean="0">
                <a:solidFill>
                  <a:srgbClr val="585858"/>
                </a:solidFill>
                <a:latin typeface="+mn-lt"/>
                <a:cs typeface="Calibri"/>
              </a:rPr>
              <a:t> </a:t>
            </a:r>
            <a:r>
              <a:rPr lang="fr-FR" sz="1200" b="1" dirty="0" smtClean="0">
                <a:solidFill>
                  <a:srgbClr val="585858"/>
                </a:solidFill>
                <a:latin typeface="+mn-lt"/>
                <a:cs typeface="Calibri"/>
              </a:rPr>
              <a:t>du</a:t>
            </a:r>
            <a:r>
              <a:rPr lang="fr-FR" sz="1200" b="1" spc="120" dirty="0" smtClean="0">
                <a:solidFill>
                  <a:srgbClr val="585858"/>
                </a:solidFill>
                <a:latin typeface="+mn-lt"/>
                <a:cs typeface="Calibri"/>
              </a:rPr>
              <a:t> </a:t>
            </a:r>
            <a:r>
              <a:rPr lang="fr-FR" sz="1200" b="1" dirty="0" smtClean="0">
                <a:solidFill>
                  <a:srgbClr val="585858"/>
                </a:solidFill>
                <a:latin typeface="+mn-lt"/>
                <a:cs typeface="Calibri"/>
              </a:rPr>
              <a:t>processeur,</a:t>
            </a:r>
            <a:r>
              <a:rPr lang="fr-FR" sz="1200" b="1" spc="125" dirty="0" smtClean="0">
                <a:solidFill>
                  <a:srgbClr val="585858"/>
                </a:solidFill>
                <a:latin typeface="+mn-lt"/>
                <a:cs typeface="Calibri"/>
              </a:rPr>
              <a:t> </a:t>
            </a:r>
            <a:r>
              <a:rPr lang="fr-FR" sz="1200" dirty="0" smtClean="0">
                <a:solidFill>
                  <a:srgbClr val="585858"/>
                </a:solidFill>
                <a:latin typeface="+mn-lt"/>
                <a:cs typeface="Calibri"/>
              </a:rPr>
              <a:t>son</a:t>
            </a:r>
            <a:r>
              <a:rPr lang="fr-FR" sz="1200" spc="114" dirty="0" smtClean="0">
                <a:solidFill>
                  <a:srgbClr val="585858"/>
                </a:solidFill>
                <a:latin typeface="+mn-lt"/>
                <a:cs typeface="Calibri"/>
              </a:rPr>
              <a:t> </a:t>
            </a:r>
            <a:r>
              <a:rPr lang="fr-FR" sz="1200" dirty="0" smtClean="0">
                <a:solidFill>
                  <a:srgbClr val="585858"/>
                </a:solidFill>
                <a:latin typeface="+mn-lt"/>
                <a:cs typeface="Calibri"/>
              </a:rPr>
              <a:t>rôle</a:t>
            </a:r>
            <a:r>
              <a:rPr lang="fr-FR" sz="1200" spc="145" dirty="0" smtClean="0">
                <a:solidFill>
                  <a:srgbClr val="585858"/>
                </a:solidFill>
                <a:latin typeface="+mn-lt"/>
                <a:cs typeface="Calibri"/>
              </a:rPr>
              <a:t> </a:t>
            </a:r>
            <a:r>
              <a:rPr lang="fr-FR" sz="1200" dirty="0" smtClean="0">
                <a:solidFill>
                  <a:srgbClr val="585858"/>
                </a:solidFill>
                <a:latin typeface="+mn-lt"/>
                <a:cs typeface="Calibri"/>
              </a:rPr>
              <a:t>étant</a:t>
            </a:r>
            <a:r>
              <a:rPr lang="fr-FR" sz="1200" spc="125" dirty="0" smtClean="0">
                <a:solidFill>
                  <a:srgbClr val="585858"/>
                </a:solidFill>
                <a:latin typeface="+mn-lt"/>
                <a:cs typeface="Calibri"/>
              </a:rPr>
              <a:t> </a:t>
            </a:r>
            <a:r>
              <a:rPr lang="fr-FR" sz="1200" dirty="0" smtClean="0">
                <a:solidFill>
                  <a:srgbClr val="585858"/>
                </a:solidFill>
                <a:latin typeface="+mn-lt"/>
                <a:cs typeface="Calibri"/>
              </a:rPr>
              <a:t>de</a:t>
            </a:r>
            <a:r>
              <a:rPr lang="fr-FR" sz="1200" spc="120" dirty="0" smtClean="0">
                <a:solidFill>
                  <a:srgbClr val="585858"/>
                </a:solidFill>
                <a:latin typeface="+mn-lt"/>
                <a:cs typeface="Calibri"/>
              </a:rPr>
              <a:t> </a:t>
            </a:r>
            <a:r>
              <a:rPr lang="fr-FR" sz="1200" dirty="0" smtClean="0">
                <a:solidFill>
                  <a:srgbClr val="585858"/>
                </a:solidFill>
                <a:latin typeface="+mn-lt"/>
                <a:cs typeface="Calibri"/>
              </a:rPr>
              <a:t>choisir</a:t>
            </a:r>
            <a:r>
              <a:rPr lang="fr-FR" sz="1200" spc="110" dirty="0" smtClean="0">
                <a:solidFill>
                  <a:srgbClr val="585858"/>
                </a:solidFill>
                <a:latin typeface="+mn-lt"/>
                <a:cs typeface="Calibri"/>
              </a:rPr>
              <a:t> </a:t>
            </a:r>
            <a:r>
              <a:rPr lang="fr-FR" sz="1200" dirty="0" smtClean="0">
                <a:solidFill>
                  <a:srgbClr val="585858"/>
                </a:solidFill>
                <a:latin typeface="+mn-lt"/>
                <a:cs typeface="Calibri"/>
              </a:rPr>
              <a:t>à</a:t>
            </a:r>
            <a:r>
              <a:rPr lang="fr-FR" sz="1200" spc="114" dirty="0" smtClean="0">
                <a:solidFill>
                  <a:srgbClr val="585858"/>
                </a:solidFill>
                <a:latin typeface="+mn-lt"/>
                <a:cs typeface="Calibri"/>
              </a:rPr>
              <a:t> </a:t>
            </a:r>
            <a:r>
              <a:rPr lang="fr-FR" sz="1200" spc="-20" dirty="0" smtClean="0">
                <a:solidFill>
                  <a:srgbClr val="585858"/>
                </a:solidFill>
                <a:latin typeface="+mn-lt"/>
                <a:cs typeface="Calibri"/>
              </a:rPr>
              <a:t>quel </a:t>
            </a:r>
            <a:r>
              <a:rPr lang="fr-FR" sz="1200" dirty="0" smtClean="0">
                <a:solidFill>
                  <a:srgbClr val="585858"/>
                </a:solidFill>
                <a:latin typeface="+mn-lt"/>
                <a:cs typeface="Calibri"/>
              </a:rPr>
              <a:t>processus</a:t>
            </a:r>
            <a:r>
              <a:rPr lang="fr-FR" sz="1200" spc="85" dirty="0" smtClean="0">
                <a:solidFill>
                  <a:srgbClr val="585858"/>
                </a:solidFill>
                <a:latin typeface="+mn-lt"/>
                <a:cs typeface="Calibri"/>
              </a:rPr>
              <a:t> </a:t>
            </a:r>
            <a:r>
              <a:rPr lang="fr-FR" sz="1200" dirty="0" smtClean="0">
                <a:solidFill>
                  <a:srgbClr val="585858"/>
                </a:solidFill>
                <a:latin typeface="+mn-lt"/>
                <a:cs typeface="Calibri"/>
              </a:rPr>
              <a:t>sera</a:t>
            </a:r>
            <a:r>
              <a:rPr lang="fr-FR" sz="1200" spc="50" dirty="0" smtClean="0">
                <a:solidFill>
                  <a:srgbClr val="585858"/>
                </a:solidFill>
                <a:latin typeface="+mn-lt"/>
                <a:cs typeface="Calibri"/>
              </a:rPr>
              <a:t> </a:t>
            </a:r>
            <a:r>
              <a:rPr lang="fr-FR" sz="1200" dirty="0" smtClean="0">
                <a:solidFill>
                  <a:srgbClr val="585858"/>
                </a:solidFill>
                <a:latin typeface="+mn-lt"/>
                <a:cs typeface="Calibri"/>
              </a:rPr>
              <a:t>alloué</a:t>
            </a:r>
            <a:r>
              <a:rPr lang="fr-FR" sz="1200" spc="65" dirty="0" smtClean="0">
                <a:solidFill>
                  <a:srgbClr val="585858"/>
                </a:solidFill>
                <a:latin typeface="+mn-lt"/>
                <a:cs typeface="Calibri"/>
              </a:rPr>
              <a:t> </a:t>
            </a:r>
          </a:p>
          <a:p>
            <a:pPr marL="12700" algn="just">
              <a:lnSpc>
                <a:spcPct val="100000"/>
              </a:lnSpc>
              <a:spcBef>
                <a:spcPts val="700"/>
              </a:spcBef>
            </a:pPr>
            <a:r>
              <a:rPr lang="fr-FR" sz="1200" dirty="0" smtClean="0">
                <a:solidFill>
                  <a:srgbClr val="585858"/>
                </a:solidFill>
                <a:latin typeface="+mn-lt"/>
                <a:cs typeface="Calibri"/>
              </a:rPr>
              <a:t>Il</a:t>
            </a:r>
            <a:r>
              <a:rPr lang="fr-FR" sz="1200" spc="65" dirty="0" smtClean="0">
                <a:solidFill>
                  <a:srgbClr val="585858"/>
                </a:solidFill>
                <a:latin typeface="+mn-lt"/>
                <a:cs typeface="Calibri"/>
              </a:rPr>
              <a:t> </a:t>
            </a:r>
            <a:r>
              <a:rPr lang="fr-FR" sz="1200" dirty="0" smtClean="0">
                <a:solidFill>
                  <a:srgbClr val="585858"/>
                </a:solidFill>
                <a:latin typeface="+mn-lt"/>
                <a:cs typeface="Calibri"/>
              </a:rPr>
              <a:t>passe</a:t>
            </a:r>
            <a:r>
              <a:rPr lang="fr-FR" sz="1200" spc="55" dirty="0" smtClean="0">
                <a:solidFill>
                  <a:srgbClr val="585858"/>
                </a:solidFill>
                <a:latin typeface="+mn-lt"/>
                <a:cs typeface="Calibri"/>
              </a:rPr>
              <a:t> </a:t>
            </a:r>
            <a:r>
              <a:rPr lang="fr-FR" sz="1200" dirty="0" smtClean="0">
                <a:solidFill>
                  <a:srgbClr val="585858"/>
                </a:solidFill>
                <a:latin typeface="+mn-lt"/>
                <a:cs typeface="Calibri"/>
              </a:rPr>
              <a:t>alors</a:t>
            </a:r>
            <a:r>
              <a:rPr lang="fr-FR" sz="1200" spc="80" dirty="0" smtClean="0">
                <a:solidFill>
                  <a:srgbClr val="585858"/>
                </a:solidFill>
                <a:latin typeface="+mn-lt"/>
                <a:cs typeface="Calibri"/>
              </a:rPr>
              <a:t> </a:t>
            </a:r>
            <a:r>
              <a:rPr lang="fr-FR" sz="1200" dirty="0" smtClean="0">
                <a:solidFill>
                  <a:srgbClr val="585858"/>
                </a:solidFill>
                <a:latin typeface="+mn-lt"/>
                <a:cs typeface="Calibri"/>
              </a:rPr>
              <a:t>à</a:t>
            </a:r>
            <a:r>
              <a:rPr lang="fr-FR" sz="1200" spc="75" dirty="0" smtClean="0">
                <a:solidFill>
                  <a:srgbClr val="585858"/>
                </a:solidFill>
                <a:latin typeface="+mn-lt"/>
                <a:cs typeface="Calibri"/>
              </a:rPr>
              <a:t> </a:t>
            </a:r>
            <a:r>
              <a:rPr lang="fr-FR" sz="1200" dirty="0" smtClean="0">
                <a:solidFill>
                  <a:srgbClr val="585858"/>
                </a:solidFill>
                <a:latin typeface="+mn-lt"/>
                <a:cs typeface="Calibri"/>
              </a:rPr>
              <a:t>l’état</a:t>
            </a:r>
            <a:r>
              <a:rPr lang="fr-FR" sz="1200" spc="85" dirty="0" smtClean="0">
                <a:solidFill>
                  <a:srgbClr val="585858"/>
                </a:solidFill>
                <a:latin typeface="+mn-lt"/>
                <a:cs typeface="Calibri"/>
              </a:rPr>
              <a:t> </a:t>
            </a:r>
            <a:r>
              <a:rPr lang="fr-FR" sz="1200" b="1" spc="-25" dirty="0" smtClean="0">
                <a:solidFill>
                  <a:srgbClr val="585858"/>
                </a:solidFill>
                <a:latin typeface="+mn-lt"/>
                <a:cs typeface="Calibri"/>
              </a:rPr>
              <a:t>En </a:t>
            </a:r>
            <a:r>
              <a:rPr lang="fr-FR" sz="1200" b="1" dirty="0" smtClean="0">
                <a:solidFill>
                  <a:srgbClr val="585858"/>
                </a:solidFill>
                <a:latin typeface="+mn-lt"/>
                <a:cs typeface="Calibri"/>
              </a:rPr>
              <a:t>exécution</a:t>
            </a:r>
            <a:r>
              <a:rPr lang="fr-FR" sz="1200" b="1" spc="285" dirty="0" smtClean="0">
                <a:solidFill>
                  <a:srgbClr val="585858"/>
                </a:solidFill>
                <a:latin typeface="+mn-lt"/>
                <a:cs typeface="Calibri"/>
              </a:rPr>
              <a:t> </a:t>
            </a:r>
            <a:r>
              <a:rPr lang="fr-FR" sz="1200" b="1" dirty="0" smtClean="0">
                <a:solidFill>
                  <a:srgbClr val="585858"/>
                </a:solidFill>
                <a:latin typeface="+mn-lt"/>
                <a:cs typeface="Calibri"/>
              </a:rPr>
              <a:t>(Running)</a:t>
            </a:r>
            <a:r>
              <a:rPr lang="fr-FR" sz="1200" b="1" spc="285" dirty="0" smtClean="0">
                <a:solidFill>
                  <a:srgbClr val="585858"/>
                </a:solidFill>
                <a:latin typeface="+mn-lt"/>
                <a:cs typeface="Calibri"/>
              </a:rPr>
              <a:t> </a:t>
            </a:r>
            <a:r>
              <a:rPr lang="fr-FR" sz="1200" dirty="0" smtClean="0">
                <a:solidFill>
                  <a:srgbClr val="585858"/>
                </a:solidFill>
                <a:latin typeface="+mn-lt"/>
                <a:cs typeface="Calibri"/>
              </a:rPr>
              <a:t>où</a:t>
            </a:r>
            <a:r>
              <a:rPr lang="fr-FR" sz="1200" spc="300" dirty="0" smtClean="0">
                <a:solidFill>
                  <a:srgbClr val="585858"/>
                </a:solidFill>
                <a:latin typeface="+mn-lt"/>
                <a:cs typeface="Calibri"/>
              </a:rPr>
              <a:t> </a:t>
            </a:r>
            <a:r>
              <a:rPr lang="fr-FR" sz="1200" dirty="0" smtClean="0">
                <a:solidFill>
                  <a:srgbClr val="585858"/>
                </a:solidFill>
                <a:latin typeface="+mn-lt"/>
                <a:cs typeface="Calibri"/>
              </a:rPr>
              <a:t>les</a:t>
            </a:r>
            <a:r>
              <a:rPr lang="fr-FR" sz="1200" spc="295" dirty="0" smtClean="0">
                <a:solidFill>
                  <a:srgbClr val="585858"/>
                </a:solidFill>
                <a:latin typeface="+mn-lt"/>
                <a:cs typeface="Calibri"/>
              </a:rPr>
              <a:t> </a:t>
            </a:r>
            <a:r>
              <a:rPr lang="fr-FR" sz="1200" dirty="0" smtClean="0">
                <a:solidFill>
                  <a:srgbClr val="585858"/>
                </a:solidFill>
                <a:latin typeface="+mn-lt"/>
                <a:cs typeface="Calibri"/>
              </a:rPr>
              <a:t>instructions</a:t>
            </a:r>
            <a:r>
              <a:rPr lang="fr-FR" sz="1200" spc="300" dirty="0" smtClean="0">
                <a:solidFill>
                  <a:srgbClr val="585858"/>
                </a:solidFill>
                <a:latin typeface="+mn-lt"/>
                <a:cs typeface="Calibri"/>
              </a:rPr>
              <a:t> </a:t>
            </a:r>
            <a:r>
              <a:rPr lang="fr-FR" sz="1200" dirty="0" smtClean="0">
                <a:solidFill>
                  <a:srgbClr val="585858"/>
                </a:solidFill>
                <a:latin typeface="+mn-lt"/>
                <a:cs typeface="Calibri"/>
              </a:rPr>
              <a:t>sont</a:t>
            </a:r>
            <a:r>
              <a:rPr lang="fr-FR" sz="1200" spc="290" dirty="0" smtClean="0">
                <a:solidFill>
                  <a:srgbClr val="585858"/>
                </a:solidFill>
                <a:latin typeface="+mn-lt"/>
                <a:cs typeface="Calibri"/>
              </a:rPr>
              <a:t> </a:t>
            </a:r>
            <a:r>
              <a:rPr lang="fr-FR" sz="1200" dirty="0" smtClean="0">
                <a:solidFill>
                  <a:srgbClr val="585858"/>
                </a:solidFill>
                <a:latin typeface="+mn-lt"/>
                <a:cs typeface="Calibri"/>
              </a:rPr>
              <a:t>en</a:t>
            </a:r>
            <a:r>
              <a:rPr lang="fr-FR" sz="1200" spc="280" dirty="0" smtClean="0">
                <a:solidFill>
                  <a:srgbClr val="585858"/>
                </a:solidFill>
                <a:latin typeface="+mn-lt"/>
                <a:cs typeface="Calibri"/>
              </a:rPr>
              <a:t> </a:t>
            </a:r>
            <a:r>
              <a:rPr lang="fr-FR" sz="1200" dirty="0" smtClean="0">
                <a:solidFill>
                  <a:srgbClr val="585858"/>
                </a:solidFill>
                <a:latin typeface="+mn-lt"/>
                <a:cs typeface="Calibri"/>
              </a:rPr>
              <a:t>cours</a:t>
            </a:r>
            <a:r>
              <a:rPr lang="fr-FR" sz="1200" spc="295" dirty="0" smtClean="0">
                <a:solidFill>
                  <a:srgbClr val="585858"/>
                </a:solidFill>
                <a:latin typeface="+mn-lt"/>
                <a:cs typeface="Calibri"/>
              </a:rPr>
              <a:t> </a:t>
            </a:r>
            <a:r>
              <a:rPr lang="fr-FR" sz="1200" dirty="0" smtClean="0">
                <a:solidFill>
                  <a:srgbClr val="585858"/>
                </a:solidFill>
                <a:latin typeface="+mn-lt"/>
                <a:cs typeface="Calibri"/>
              </a:rPr>
              <a:t>d</a:t>
            </a:r>
            <a:r>
              <a:rPr lang="fr-FR" sz="1200" spc="295" dirty="0" smtClean="0">
                <a:solidFill>
                  <a:srgbClr val="585858"/>
                </a:solidFill>
                <a:latin typeface="+mn-lt"/>
                <a:cs typeface="Calibri"/>
              </a:rPr>
              <a:t>‘</a:t>
            </a:r>
            <a:r>
              <a:rPr lang="fr-FR" sz="1200" dirty="0" smtClean="0">
                <a:solidFill>
                  <a:srgbClr val="585858"/>
                </a:solidFill>
                <a:latin typeface="+mn-lt"/>
                <a:cs typeface="Calibri"/>
              </a:rPr>
              <a:t>exécution.</a:t>
            </a:r>
            <a:r>
              <a:rPr lang="fr-FR" sz="1200" spc="295" dirty="0" smtClean="0">
                <a:solidFill>
                  <a:srgbClr val="585858"/>
                </a:solidFill>
                <a:latin typeface="+mn-lt"/>
                <a:cs typeface="Calibri"/>
              </a:rPr>
              <a:t> </a:t>
            </a:r>
            <a:r>
              <a:rPr lang="fr-FR" sz="1200" kern="1200" dirty="0" smtClean="0">
                <a:solidFill>
                  <a:schemeClr val="tx1"/>
                </a:solidFill>
                <a:effectLst/>
                <a:latin typeface="+mn-lt"/>
                <a:ea typeface="+mn-ea"/>
                <a:cs typeface="+mn-cs"/>
              </a:rPr>
              <a:t>Le processus est actuellement en train d'être exécuté par le processeur. Il utilise activement le temps CPU pour exécuter ses instructions</a:t>
            </a:r>
            <a:endParaRPr lang="fr-FR" sz="1200" spc="295" dirty="0" smtClean="0">
              <a:solidFill>
                <a:srgbClr val="585858"/>
              </a:solidFill>
              <a:latin typeface="+mn-lt"/>
              <a:cs typeface="Calibri"/>
            </a:endParaRPr>
          </a:p>
          <a:p>
            <a:pPr marL="12700">
              <a:lnSpc>
                <a:spcPct val="100000"/>
              </a:lnSpc>
              <a:spcBef>
                <a:spcPts val="100"/>
              </a:spcBef>
            </a:pPr>
            <a:r>
              <a:rPr lang="fr-FR" sz="1200" dirty="0" smtClean="0">
                <a:solidFill>
                  <a:srgbClr val="585858"/>
                </a:solidFill>
                <a:latin typeface="+mn-lt"/>
                <a:cs typeface="Calibri"/>
              </a:rPr>
              <a:t>Un</a:t>
            </a:r>
            <a:r>
              <a:rPr lang="fr-FR" sz="1200" spc="295" dirty="0" smtClean="0">
                <a:solidFill>
                  <a:srgbClr val="585858"/>
                </a:solidFill>
                <a:latin typeface="+mn-lt"/>
                <a:cs typeface="Calibri"/>
              </a:rPr>
              <a:t> </a:t>
            </a:r>
            <a:r>
              <a:rPr lang="fr-FR" sz="1200" dirty="0" smtClean="0">
                <a:solidFill>
                  <a:srgbClr val="585858"/>
                </a:solidFill>
                <a:latin typeface="+mn-lt"/>
                <a:cs typeface="Calibri"/>
              </a:rPr>
              <a:t>processus</a:t>
            </a:r>
            <a:r>
              <a:rPr lang="fr-FR" sz="1200" spc="300" dirty="0" smtClean="0">
                <a:solidFill>
                  <a:srgbClr val="585858"/>
                </a:solidFill>
                <a:latin typeface="+mn-lt"/>
                <a:cs typeface="Calibri"/>
              </a:rPr>
              <a:t> </a:t>
            </a:r>
            <a:r>
              <a:rPr lang="fr-FR" sz="1200" dirty="0" smtClean="0">
                <a:solidFill>
                  <a:srgbClr val="585858"/>
                </a:solidFill>
                <a:latin typeface="+mn-lt"/>
                <a:cs typeface="Calibri"/>
              </a:rPr>
              <a:t>peut</a:t>
            </a:r>
            <a:r>
              <a:rPr lang="fr-FR" sz="1200" spc="290" dirty="0" smtClean="0">
                <a:solidFill>
                  <a:srgbClr val="585858"/>
                </a:solidFill>
                <a:latin typeface="+mn-lt"/>
                <a:cs typeface="Calibri"/>
              </a:rPr>
              <a:t> </a:t>
            </a:r>
            <a:r>
              <a:rPr lang="fr-FR" sz="1200" spc="-20" dirty="0" smtClean="0">
                <a:solidFill>
                  <a:srgbClr val="585858"/>
                </a:solidFill>
                <a:latin typeface="+mn-lt"/>
                <a:cs typeface="Calibri"/>
              </a:rPr>
              <a:t>être </a:t>
            </a:r>
            <a:r>
              <a:rPr lang="fr-FR" sz="1200" dirty="0" smtClean="0">
                <a:solidFill>
                  <a:srgbClr val="585858"/>
                </a:solidFill>
                <a:latin typeface="+mn-lt"/>
                <a:cs typeface="Calibri"/>
              </a:rPr>
              <a:t>interrompu.</a:t>
            </a:r>
            <a:r>
              <a:rPr lang="fr-FR" sz="1200" spc="50" dirty="0" smtClean="0">
                <a:solidFill>
                  <a:srgbClr val="585858"/>
                </a:solidFill>
                <a:latin typeface="+mn-lt"/>
                <a:cs typeface="Calibri"/>
              </a:rPr>
              <a:t> </a:t>
            </a:r>
            <a:r>
              <a:rPr lang="fr-FR" sz="1200" spc="50" dirty="0" err="1" smtClean="0">
                <a:solidFill>
                  <a:srgbClr val="585858"/>
                </a:solidFill>
                <a:latin typeface="+mn-lt"/>
                <a:cs typeface="Calibri"/>
              </a:rPr>
              <a:t>Cad</a:t>
            </a:r>
            <a:r>
              <a:rPr lang="fr-FR" sz="1200" spc="50" dirty="0" smtClean="0">
                <a:solidFill>
                  <a:srgbClr val="585858"/>
                </a:solidFill>
                <a:latin typeface="+mn-lt"/>
                <a:cs typeface="Calibri"/>
              </a:rPr>
              <a:t> </a:t>
            </a:r>
            <a:r>
              <a:rPr lang="fr-FR" sz="1200" kern="1200" dirty="0" smtClean="0">
                <a:solidFill>
                  <a:schemeClr val="tx1"/>
                </a:solidFill>
                <a:effectLst/>
                <a:latin typeface="+mn-lt"/>
                <a:ea typeface="+mn-ea"/>
                <a:cs typeface="+mn-cs"/>
              </a:rPr>
              <a:t>Le processus est temporairement incapable de continuer son exécution car il attend une ressource ou un événement externe, comme une entrée/sortie ou un signal. Il est mis en attente jusqu'à ce que la ressource ou l'événement devienne disponible.</a:t>
            </a:r>
          </a:p>
          <a:p>
            <a:pPr marL="12700">
              <a:lnSpc>
                <a:spcPct val="100000"/>
              </a:lnSpc>
              <a:spcBef>
                <a:spcPts val="100"/>
              </a:spcBef>
            </a:pPr>
            <a:r>
              <a:rPr lang="fr-FR" sz="1200" dirty="0" smtClean="0">
                <a:solidFill>
                  <a:srgbClr val="585858"/>
                </a:solidFill>
                <a:latin typeface="+mn-lt"/>
                <a:cs typeface="Calibri"/>
              </a:rPr>
              <a:t>Dans</a:t>
            </a:r>
            <a:r>
              <a:rPr lang="fr-FR" sz="1200" spc="50" dirty="0" smtClean="0">
                <a:solidFill>
                  <a:srgbClr val="585858"/>
                </a:solidFill>
                <a:latin typeface="+mn-lt"/>
                <a:cs typeface="Calibri"/>
              </a:rPr>
              <a:t> </a:t>
            </a:r>
            <a:r>
              <a:rPr lang="fr-FR" sz="1200" dirty="0" smtClean="0">
                <a:solidFill>
                  <a:srgbClr val="585858"/>
                </a:solidFill>
                <a:latin typeface="+mn-lt"/>
                <a:cs typeface="Calibri"/>
              </a:rPr>
              <a:t>ce</a:t>
            </a:r>
            <a:r>
              <a:rPr lang="fr-FR" sz="1200" spc="60" dirty="0" smtClean="0">
                <a:solidFill>
                  <a:srgbClr val="585858"/>
                </a:solidFill>
                <a:latin typeface="+mn-lt"/>
                <a:cs typeface="Calibri"/>
              </a:rPr>
              <a:t> </a:t>
            </a:r>
            <a:r>
              <a:rPr lang="fr-FR" sz="1200" dirty="0" smtClean="0">
                <a:solidFill>
                  <a:srgbClr val="585858"/>
                </a:solidFill>
                <a:latin typeface="+mn-lt"/>
                <a:cs typeface="Calibri"/>
              </a:rPr>
              <a:t>cas,</a:t>
            </a:r>
            <a:r>
              <a:rPr lang="fr-FR" sz="1200" spc="50" dirty="0" smtClean="0">
                <a:solidFill>
                  <a:srgbClr val="585858"/>
                </a:solidFill>
                <a:latin typeface="+mn-lt"/>
                <a:cs typeface="Calibri"/>
              </a:rPr>
              <a:t> </a:t>
            </a:r>
            <a:r>
              <a:rPr lang="fr-FR" sz="1200" dirty="0" smtClean="0">
                <a:solidFill>
                  <a:srgbClr val="585858"/>
                </a:solidFill>
                <a:latin typeface="+mn-lt"/>
                <a:cs typeface="Calibri"/>
              </a:rPr>
              <a:t>il</a:t>
            </a:r>
            <a:r>
              <a:rPr lang="fr-FR" sz="1200" spc="55" dirty="0" smtClean="0">
                <a:solidFill>
                  <a:srgbClr val="585858"/>
                </a:solidFill>
                <a:latin typeface="+mn-lt"/>
                <a:cs typeface="Calibri"/>
              </a:rPr>
              <a:t> </a:t>
            </a:r>
            <a:r>
              <a:rPr lang="fr-FR" sz="1200" dirty="0" smtClean="0">
                <a:solidFill>
                  <a:srgbClr val="585858"/>
                </a:solidFill>
                <a:latin typeface="+mn-lt"/>
                <a:cs typeface="Calibri"/>
              </a:rPr>
              <a:t>retourne</a:t>
            </a:r>
            <a:r>
              <a:rPr lang="fr-FR" sz="1200" spc="45" dirty="0" smtClean="0">
                <a:solidFill>
                  <a:srgbClr val="585858"/>
                </a:solidFill>
                <a:latin typeface="+mn-lt"/>
                <a:cs typeface="Calibri"/>
              </a:rPr>
              <a:t> </a:t>
            </a:r>
            <a:r>
              <a:rPr lang="fr-FR" sz="1200" dirty="0" smtClean="0">
                <a:solidFill>
                  <a:srgbClr val="585858"/>
                </a:solidFill>
                <a:latin typeface="+mn-lt"/>
                <a:cs typeface="Calibri"/>
              </a:rPr>
              <a:t>à</a:t>
            </a:r>
            <a:r>
              <a:rPr lang="fr-FR" sz="1200" spc="60" dirty="0" smtClean="0">
                <a:solidFill>
                  <a:srgbClr val="585858"/>
                </a:solidFill>
                <a:latin typeface="+mn-lt"/>
                <a:cs typeface="Calibri"/>
              </a:rPr>
              <a:t> </a:t>
            </a:r>
            <a:r>
              <a:rPr lang="fr-FR" sz="1200" dirty="0" smtClean="0">
                <a:solidFill>
                  <a:srgbClr val="585858"/>
                </a:solidFill>
                <a:latin typeface="+mn-lt"/>
                <a:cs typeface="Calibri"/>
              </a:rPr>
              <a:t>l’état</a:t>
            </a:r>
            <a:r>
              <a:rPr lang="fr-FR" sz="1200" spc="45" dirty="0" smtClean="0">
                <a:solidFill>
                  <a:srgbClr val="585858"/>
                </a:solidFill>
                <a:latin typeface="+mn-lt"/>
                <a:cs typeface="Calibri"/>
              </a:rPr>
              <a:t> </a:t>
            </a:r>
            <a:r>
              <a:rPr lang="fr-FR" sz="1200" b="1" dirty="0" smtClean="0">
                <a:solidFill>
                  <a:srgbClr val="585858"/>
                </a:solidFill>
                <a:latin typeface="+mn-lt"/>
                <a:cs typeface="Calibri"/>
              </a:rPr>
              <a:t>Prêt</a:t>
            </a:r>
            <a:r>
              <a:rPr lang="fr-FR" sz="1200" b="1" spc="35" dirty="0" smtClean="0">
                <a:solidFill>
                  <a:srgbClr val="585858"/>
                </a:solidFill>
                <a:latin typeface="+mn-lt"/>
                <a:cs typeface="Calibri"/>
              </a:rPr>
              <a:t> </a:t>
            </a:r>
            <a:r>
              <a:rPr lang="fr-FR" sz="1200" dirty="0" smtClean="0">
                <a:solidFill>
                  <a:srgbClr val="585858"/>
                </a:solidFill>
                <a:latin typeface="+mn-lt"/>
                <a:cs typeface="Calibri"/>
              </a:rPr>
              <a:t>en</a:t>
            </a:r>
            <a:r>
              <a:rPr lang="fr-FR" sz="1200" spc="30" dirty="0" smtClean="0">
                <a:solidFill>
                  <a:srgbClr val="585858"/>
                </a:solidFill>
                <a:latin typeface="+mn-lt"/>
                <a:cs typeface="Calibri"/>
              </a:rPr>
              <a:t> </a:t>
            </a:r>
            <a:r>
              <a:rPr lang="fr-FR" sz="1200" dirty="0" smtClean="0">
                <a:solidFill>
                  <a:srgbClr val="585858"/>
                </a:solidFill>
                <a:latin typeface="+mn-lt"/>
                <a:cs typeface="Calibri"/>
              </a:rPr>
              <a:t>attendant</a:t>
            </a:r>
            <a:r>
              <a:rPr lang="fr-FR" sz="1200" spc="45" dirty="0" smtClean="0">
                <a:solidFill>
                  <a:srgbClr val="585858"/>
                </a:solidFill>
                <a:latin typeface="+mn-lt"/>
                <a:cs typeface="Calibri"/>
              </a:rPr>
              <a:t> </a:t>
            </a:r>
            <a:r>
              <a:rPr lang="fr-FR" sz="1200" dirty="0" smtClean="0">
                <a:solidFill>
                  <a:srgbClr val="585858"/>
                </a:solidFill>
                <a:latin typeface="+mn-lt"/>
                <a:cs typeface="Calibri"/>
              </a:rPr>
              <a:t>un</a:t>
            </a:r>
            <a:r>
              <a:rPr lang="fr-FR" sz="1200" spc="35" dirty="0" smtClean="0">
                <a:solidFill>
                  <a:srgbClr val="585858"/>
                </a:solidFill>
                <a:latin typeface="+mn-lt"/>
                <a:cs typeface="Calibri"/>
              </a:rPr>
              <a:t> </a:t>
            </a:r>
            <a:r>
              <a:rPr lang="fr-FR" sz="1200" dirty="0" smtClean="0">
                <a:solidFill>
                  <a:srgbClr val="585858"/>
                </a:solidFill>
                <a:latin typeface="+mn-lt"/>
                <a:cs typeface="Calibri"/>
              </a:rPr>
              <a:t>nouvel</a:t>
            </a:r>
            <a:r>
              <a:rPr lang="fr-FR" sz="1200" spc="35" dirty="0" smtClean="0">
                <a:solidFill>
                  <a:srgbClr val="585858"/>
                </a:solidFill>
                <a:latin typeface="+mn-lt"/>
                <a:cs typeface="Calibri"/>
              </a:rPr>
              <a:t> </a:t>
            </a:r>
            <a:r>
              <a:rPr lang="fr-FR" sz="1200" dirty="0" smtClean="0">
                <a:solidFill>
                  <a:srgbClr val="585858"/>
                </a:solidFill>
                <a:latin typeface="+mn-lt"/>
                <a:cs typeface="Calibri"/>
              </a:rPr>
              <a:t>accès</a:t>
            </a:r>
            <a:r>
              <a:rPr lang="fr-FR" sz="1200" spc="50" dirty="0" smtClean="0">
                <a:solidFill>
                  <a:srgbClr val="585858"/>
                </a:solidFill>
                <a:latin typeface="+mn-lt"/>
                <a:cs typeface="Calibri"/>
              </a:rPr>
              <a:t> </a:t>
            </a:r>
            <a:r>
              <a:rPr lang="fr-FR" sz="1200" dirty="0" smtClean="0">
                <a:solidFill>
                  <a:srgbClr val="585858"/>
                </a:solidFill>
                <a:latin typeface="+mn-lt"/>
                <a:cs typeface="Calibri"/>
              </a:rPr>
              <a:t>au</a:t>
            </a:r>
            <a:r>
              <a:rPr lang="fr-FR" sz="1200" spc="30" dirty="0" smtClean="0">
                <a:solidFill>
                  <a:srgbClr val="585858"/>
                </a:solidFill>
                <a:latin typeface="+mn-lt"/>
                <a:cs typeface="Calibri"/>
              </a:rPr>
              <a:t> </a:t>
            </a:r>
            <a:r>
              <a:rPr lang="fr-FR" sz="1200" dirty="0" smtClean="0">
                <a:solidFill>
                  <a:srgbClr val="585858"/>
                </a:solidFill>
                <a:latin typeface="+mn-lt"/>
                <a:cs typeface="Calibri"/>
              </a:rPr>
              <a:t>processeur.</a:t>
            </a:r>
            <a:r>
              <a:rPr lang="fr-FR" sz="1200" spc="50" dirty="0" smtClean="0">
                <a:solidFill>
                  <a:srgbClr val="585858"/>
                </a:solidFill>
                <a:latin typeface="+mn-lt"/>
                <a:cs typeface="Calibri"/>
              </a:rPr>
              <a:t> </a:t>
            </a:r>
            <a:r>
              <a:rPr lang="fr-FR" sz="1200" spc="-25" dirty="0" smtClean="0">
                <a:solidFill>
                  <a:srgbClr val="585858"/>
                </a:solidFill>
                <a:latin typeface="+mn-lt"/>
                <a:cs typeface="Calibri"/>
              </a:rPr>
              <a:t>Un </a:t>
            </a:r>
            <a:r>
              <a:rPr lang="fr-FR" sz="1200" dirty="0" smtClean="0">
                <a:solidFill>
                  <a:srgbClr val="585858"/>
                </a:solidFill>
                <a:latin typeface="+mn-lt"/>
                <a:cs typeface="Calibri"/>
              </a:rPr>
              <a:t>processeur</a:t>
            </a:r>
            <a:r>
              <a:rPr lang="fr-FR" sz="1200" spc="165" dirty="0" smtClean="0">
                <a:solidFill>
                  <a:srgbClr val="585858"/>
                </a:solidFill>
                <a:latin typeface="+mn-lt"/>
                <a:cs typeface="Calibri"/>
              </a:rPr>
              <a:t> </a:t>
            </a:r>
            <a:r>
              <a:rPr lang="fr-FR" sz="1200" dirty="0" smtClean="0">
                <a:solidFill>
                  <a:srgbClr val="585858"/>
                </a:solidFill>
                <a:latin typeface="+mn-lt"/>
                <a:cs typeface="Calibri"/>
              </a:rPr>
              <a:t>peut</a:t>
            </a:r>
            <a:r>
              <a:rPr lang="fr-FR" sz="1200" spc="155" dirty="0" smtClean="0">
                <a:solidFill>
                  <a:srgbClr val="585858"/>
                </a:solidFill>
                <a:latin typeface="+mn-lt"/>
                <a:cs typeface="Calibri"/>
              </a:rPr>
              <a:t> </a:t>
            </a:r>
            <a:r>
              <a:rPr lang="fr-FR" sz="1200" dirty="0" smtClean="0">
                <a:solidFill>
                  <a:srgbClr val="585858"/>
                </a:solidFill>
                <a:latin typeface="+mn-lt"/>
                <a:cs typeface="Calibri"/>
              </a:rPr>
              <a:t>attendre</a:t>
            </a:r>
            <a:r>
              <a:rPr lang="fr-FR" sz="1200" spc="175" dirty="0" smtClean="0">
                <a:solidFill>
                  <a:srgbClr val="585858"/>
                </a:solidFill>
                <a:latin typeface="+mn-lt"/>
                <a:cs typeface="Calibri"/>
              </a:rPr>
              <a:t> </a:t>
            </a:r>
            <a:r>
              <a:rPr lang="fr-FR" sz="1200" dirty="0" smtClean="0">
                <a:solidFill>
                  <a:srgbClr val="585858"/>
                </a:solidFill>
                <a:latin typeface="+mn-lt"/>
                <a:cs typeface="Calibri"/>
              </a:rPr>
              <a:t>qu’un</a:t>
            </a:r>
            <a:r>
              <a:rPr lang="fr-FR" sz="1200" spc="150" dirty="0" smtClean="0">
                <a:solidFill>
                  <a:srgbClr val="585858"/>
                </a:solidFill>
                <a:latin typeface="+mn-lt"/>
                <a:cs typeface="Calibri"/>
              </a:rPr>
              <a:t> </a:t>
            </a:r>
            <a:r>
              <a:rPr lang="fr-FR" sz="1200" dirty="0" smtClean="0">
                <a:solidFill>
                  <a:srgbClr val="585858"/>
                </a:solidFill>
                <a:latin typeface="+mn-lt"/>
                <a:cs typeface="Calibri"/>
              </a:rPr>
              <a:t>événement</a:t>
            </a:r>
            <a:r>
              <a:rPr lang="fr-FR" sz="1200" spc="155" dirty="0" smtClean="0">
                <a:solidFill>
                  <a:srgbClr val="585858"/>
                </a:solidFill>
                <a:latin typeface="+mn-lt"/>
                <a:cs typeface="Calibri"/>
              </a:rPr>
              <a:t> </a:t>
            </a:r>
            <a:r>
              <a:rPr lang="fr-FR" sz="1200" dirty="0" smtClean="0">
                <a:solidFill>
                  <a:srgbClr val="585858"/>
                </a:solidFill>
                <a:latin typeface="+mn-lt"/>
                <a:cs typeface="Calibri"/>
              </a:rPr>
              <a:t>se</a:t>
            </a:r>
            <a:r>
              <a:rPr lang="fr-FR" sz="1200" spc="175" dirty="0" smtClean="0">
                <a:solidFill>
                  <a:srgbClr val="585858"/>
                </a:solidFill>
                <a:latin typeface="+mn-lt"/>
                <a:cs typeface="Calibri"/>
              </a:rPr>
              <a:t> </a:t>
            </a:r>
            <a:r>
              <a:rPr lang="fr-FR" sz="1200" dirty="0" smtClean="0">
                <a:solidFill>
                  <a:srgbClr val="585858"/>
                </a:solidFill>
                <a:latin typeface="+mn-lt"/>
                <a:cs typeface="Calibri"/>
              </a:rPr>
              <a:t>produise</a:t>
            </a:r>
            <a:r>
              <a:rPr lang="fr-FR" sz="1200" spc="140" dirty="0" smtClean="0">
                <a:solidFill>
                  <a:srgbClr val="585858"/>
                </a:solidFill>
                <a:latin typeface="+mn-lt"/>
                <a:cs typeface="Calibri"/>
              </a:rPr>
              <a:t> </a:t>
            </a:r>
            <a:r>
              <a:rPr lang="fr-FR" sz="1200" dirty="0" smtClean="0">
                <a:solidFill>
                  <a:srgbClr val="585858"/>
                </a:solidFill>
                <a:latin typeface="+mn-lt"/>
                <a:cs typeface="Calibri"/>
              </a:rPr>
              <a:t>(un</a:t>
            </a:r>
            <a:r>
              <a:rPr lang="fr-FR" sz="1200" spc="170" dirty="0" smtClean="0">
                <a:solidFill>
                  <a:srgbClr val="585858"/>
                </a:solidFill>
                <a:latin typeface="+mn-lt"/>
                <a:cs typeface="Calibri"/>
              </a:rPr>
              <a:t> </a:t>
            </a:r>
            <a:r>
              <a:rPr lang="fr-FR" sz="1200" dirty="0" smtClean="0">
                <a:solidFill>
                  <a:srgbClr val="585858"/>
                </a:solidFill>
                <a:latin typeface="+mn-lt"/>
                <a:cs typeface="Calibri"/>
              </a:rPr>
              <a:t>signal</a:t>
            </a:r>
            <a:r>
              <a:rPr lang="fr-FR" sz="1200" spc="165" dirty="0" smtClean="0">
                <a:solidFill>
                  <a:srgbClr val="585858"/>
                </a:solidFill>
                <a:latin typeface="+mn-lt"/>
                <a:cs typeface="Calibri"/>
              </a:rPr>
              <a:t> </a:t>
            </a:r>
            <a:r>
              <a:rPr lang="fr-FR" sz="1200" dirty="0" smtClean="0">
                <a:solidFill>
                  <a:srgbClr val="585858"/>
                </a:solidFill>
                <a:latin typeface="+mn-lt"/>
                <a:cs typeface="Calibri"/>
              </a:rPr>
              <a:t>,</a:t>
            </a:r>
            <a:r>
              <a:rPr lang="fr-FR" sz="1200" spc="160" dirty="0" smtClean="0">
                <a:solidFill>
                  <a:srgbClr val="585858"/>
                </a:solidFill>
                <a:latin typeface="+mn-lt"/>
                <a:cs typeface="Calibri"/>
              </a:rPr>
              <a:t> </a:t>
            </a:r>
            <a:r>
              <a:rPr lang="fr-FR" sz="1200" dirty="0" smtClean="0">
                <a:solidFill>
                  <a:srgbClr val="585858"/>
                </a:solidFill>
                <a:latin typeface="+mn-lt"/>
                <a:cs typeface="Calibri"/>
              </a:rPr>
              <a:t>terminaison</a:t>
            </a:r>
            <a:r>
              <a:rPr lang="fr-FR" sz="1200" spc="145" dirty="0" smtClean="0">
                <a:solidFill>
                  <a:srgbClr val="585858"/>
                </a:solidFill>
                <a:latin typeface="+mn-lt"/>
                <a:cs typeface="Calibri"/>
              </a:rPr>
              <a:t> </a:t>
            </a:r>
            <a:r>
              <a:rPr lang="fr-FR" sz="1200" dirty="0" smtClean="0">
                <a:solidFill>
                  <a:srgbClr val="585858"/>
                </a:solidFill>
                <a:latin typeface="+mn-lt"/>
                <a:cs typeface="Calibri"/>
              </a:rPr>
              <a:t>d’une</a:t>
            </a:r>
            <a:r>
              <a:rPr lang="fr-FR" sz="1200" spc="175" dirty="0" smtClean="0">
                <a:solidFill>
                  <a:srgbClr val="585858"/>
                </a:solidFill>
                <a:latin typeface="+mn-lt"/>
                <a:cs typeface="Calibri"/>
              </a:rPr>
              <a:t> </a:t>
            </a:r>
            <a:r>
              <a:rPr lang="fr-FR" sz="1200" dirty="0" smtClean="0">
                <a:solidFill>
                  <a:srgbClr val="585858"/>
                </a:solidFill>
                <a:latin typeface="+mn-lt"/>
                <a:cs typeface="Calibri"/>
              </a:rPr>
              <a:t>E/S,</a:t>
            </a:r>
            <a:r>
              <a:rPr lang="fr-FR" sz="1200" spc="140" dirty="0" smtClean="0">
                <a:solidFill>
                  <a:srgbClr val="585858"/>
                </a:solidFill>
                <a:latin typeface="+mn-lt"/>
                <a:cs typeface="Calibri"/>
              </a:rPr>
              <a:t> </a:t>
            </a:r>
            <a:r>
              <a:rPr lang="fr-FR" sz="1200" spc="-10" dirty="0" smtClean="0">
                <a:solidFill>
                  <a:srgbClr val="585858"/>
                </a:solidFill>
                <a:latin typeface="+mn-lt"/>
                <a:cs typeface="Calibri"/>
              </a:rPr>
              <a:t>...), </a:t>
            </a:r>
            <a:r>
              <a:rPr lang="fr-FR" sz="1200" dirty="0" smtClean="0">
                <a:solidFill>
                  <a:srgbClr val="585858"/>
                </a:solidFill>
                <a:latin typeface="+mn-lt"/>
                <a:cs typeface="Calibri"/>
              </a:rPr>
              <a:t>dans</a:t>
            </a:r>
            <a:r>
              <a:rPr lang="fr-FR" sz="1200" spc="240" dirty="0" smtClean="0">
                <a:solidFill>
                  <a:srgbClr val="585858"/>
                </a:solidFill>
                <a:latin typeface="+mn-lt"/>
                <a:cs typeface="Calibri"/>
              </a:rPr>
              <a:t> </a:t>
            </a:r>
            <a:r>
              <a:rPr lang="fr-FR" sz="1200" dirty="0" smtClean="0">
                <a:solidFill>
                  <a:srgbClr val="585858"/>
                </a:solidFill>
                <a:latin typeface="+mn-lt"/>
                <a:cs typeface="Calibri"/>
              </a:rPr>
              <a:t>ce</a:t>
            </a:r>
            <a:r>
              <a:rPr lang="fr-FR" sz="1200" spc="235" dirty="0" smtClean="0">
                <a:solidFill>
                  <a:srgbClr val="585858"/>
                </a:solidFill>
                <a:latin typeface="+mn-lt"/>
                <a:cs typeface="Calibri"/>
              </a:rPr>
              <a:t> </a:t>
            </a:r>
            <a:r>
              <a:rPr lang="fr-FR" sz="1200" dirty="0" smtClean="0">
                <a:solidFill>
                  <a:srgbClr val="585858"/>
                </a:solidFill>
                <a:latin typeface="+mn-lt"/>
                <a:cs typeface="Calibri"/>
              </a:rPr>
              <a:t>cas</a:t>
            </a:r>
            <a:r>
              <a:rPr lang="fr-FR" sz="1200" spc="240" dirty="0" smtClean="0">
                <a:solidFill>
                  <a:srgbClr val="585858"/>
                </a:solidFill>
                <a:latin typeface="+mn-lt"/>
                <a:cs typeface="Calibri"/>
              </a:rPr>
              <a:t> </a:t>
            </a:r>
            <a:r>
              <a:rPr lang="fr-FR" sz="1200" dirty="0" smtClean="0">
                <a:solidFill>
                  <a:srgbClr val="585858"/>
                </a:solidFill>
                <a:latin typeface="+mn-lt"/>
                <a:cs typeface="Calibri"/>
              </a:rPr>
              <a:t>là,</a:t>
            </a:r>
            <a:r>
              <a:rPr lang="fr-FR" sz="1200" spc="220" dirty="0" smtClean="0">
                <a:solidFill>
                  <a:srgbClr val="585858"/>
                </a:solidFill>
                <a:latin typeface="+mn-lt"/>
                <a:cs typeface="Calibri"/>
              </a:rPr>
              <a:t> </a:t>
            </a:r>
            <a:r>
              <a:rPr lang="fr-FR" sz="1200" dirty="0" smtClean="0">
                <a:solidFill>
                  <a:srgbClr val="585858"/>
                </a:solidFill>
                <a:latin typeface="+mn-lt"/>
                <a:cs typeface="Calibri"/>
              </a:rPr>
              <a:t>il</a:t>
            </a:r>
            <a:r>
              <a:rPr lang="fr-FR" sz="1200" spc="220" dirty="0" smtClean="0">
                <a:solidFill>
                  <a:srgbClr val="585858"/>
                </a:solidFill>
                <a:latin typeface="+mn-lt"/>
                <a:cs typeface="Calibri"/>
              </a:rPr>
              <a:t> </a:t>
            </a:r>
            <a:r>
              <a:rPr lang="fr-FR" sz="1200" dirty="0" smtClean="0">
                <a:solidFill>
                  <a:srgbClr val="585858"/>
                </a:solidFill>
                <a:latin typeface="+mn-lt"/>
                <a:cs typeface="Calibri"/>
              </a:rPr>
              <a:t>va</a:t>
            </a:r>
            <a:r>
              <a:rPr lang="fr-FR" sz="1200" spc="235" dirty="0" smtClean="0">
                <a:solidFill>
                  <a:srgbClr val="585858"/>
                </a:solidFill>
                <a:latin typeface="+mn-lt"/>
                <a:cs typeface="Calibri"/>
              </a:rPr>
              <a:t> </a:t>
            </a:r>
            <a:r>
              <a:rPr lang="fr-FR" sz="1200" dirty="0" smtClean="0">
                <a:solidFill>
                  <a:srgbClr val="585858"/>
                </a:solidFill>
                <a:latin typeface="+mn-lt"/>
                <a:cs typeface="Calibri"/>
              </a:rPr>
              <a:t>passer</a:t>
            </a:r>
            <a:r>
              <a:rPr lang="fr-FR" sz="1200" spc="225" dirty="0" smtClean="0">
                <a:solidFill>
                  <a:srgbClr val="585858"/>
                </a:solidFill>
                <a:latin typeface="+mn-lt"/>
                <a:cs typeface="Calibri"/>
              </a:rPr>
              <a:t> </a:t>
            </a:r>
            <a:r>
              <a:rPr lang="fr-FR" sz="1200" dirty="0" smtClean="0">
                <a:solidFill>
                  <a:srgbClr val="585858"/>
                </a:solidFill>
                <a:latin typeface="+mn-lt"/>
                <a:cs typeface="Calibri"/>
              </a:rPr>
              <a:t>à</a:t>
            </a:r>
            <a:r>
              <a:rPr lang="fr-FR" sz="1200" spc="235" dirty="0" smtClean="0">
                <a:solidFill>
                  <a:srgbClr val="585858"/>
                </a:solidFill>
                <a:latin typeface="+mn-lt"/>
                <a:cs typeface="Calibri"/>
              </a:rPr>
              <a:t> </a:t>
            </a:r>
            <a:r>
              <a:rPr lang="fr-FR" sz="1200" dirty="0" smtClean="0">
                <a:solidFill>
                  <a:srgbClr val="585858"/>
                </a:solidFill>
                <a:latin typeface="+mn-lt"/>
                <a:cs typeface="Calibri"/>
              </a:rPr>
              <a:t>l’état</a:t>
            </a:r>
            <a:r>
              <a:rPr lang="fr-FR" sz="1200" spc="235" dirty="0" smtClean="0">
                <a:solidFill>
                  <a:srgbClr val="585858"/>
                </a:solidFill>
                <a:latin typeface="+mn-lt"/>
                <a:cs typeface="Calibri"/>
              </a:rPr>
              <a:t> </a:t>
            </a:r>
            <a:r>
              <a:rPr lang="fr-FR" sz="1200" b="1" dirty="0" smtClean="0">
                <a:solidFill>
                  <a:srgbClr val="585858"/>
                </a:solidFill>
                <a:latin typeface="+mn-lt"/>
                <a:cs typeface="Calibri"/>
              </a:rPr>
              <a:t>Bloqué</a:t>
            </a:r>
            <a:r>
              <a:rPr lang="fr-FR" sz="1200" b="1" spc="229" dirty="0" smtClean="0">
                <a:solidFill>
                  <a:srgbClr val="585858"/>
                </a:solidFill>
                <a:latin typeface="+mn-lt"/>
                <a:cs typeface="Calibri"/>
              </a:rPr>
              <a:t> </a:t>
            </a:r>
            <a:r>
              <a:rPr lang="fr-FR" sz="1200" b="1" dirty="0" smtClean="0">
                <a:solidFill>
                  <a:srgbClr val="585858"/>
                </a:solidFill>
                <a:latin typeface="+mn-lt"/>
                <a:cs typeface="Calibri"/>
              </a:rPr>
              <a:t>(</a:t>
            </a:r>
            <a:r>
              <a:rPr lang="fr-FR" sz="1200" b="1" dirty="0" err="1" smtClean="0">
                <a:solidFill>
                  <a:srgbClr val="585858"/>
                </a:solidFill>
                <a:latin typeface="+mn-lt"/>
                <a:cs typeface="Calibri"/>
              </a:rPr>
              <a:t>Sleep</a:t>
            </a:r>
            <a:r>
              <a:rPr lang="fr-FR" sz="1200" b="1" dirty="0" smtClean="0">
                <a:solidFill>
                  <a:srgbClr val="585858"/>
                </a:solidFill>
                <a:latin typeface="+mn-lt"/>
                <a:cs typeface="Calibri"/>
              </a:rPr>
              <a:t>)</a:t>
            </a:r>
            <a:r>
              <a:rPr lang="fr-FR" sz="1200" b="1" spc="240" dirty="0" smtClean="0">
                <a:solidFill>
                  <a:srgbClr val="585858"/>
                </a:solidFill>
                <a:latin typeface="+mn-lt"/>
                <a:cs typeface="Calibri"/>
              </a:rPr>
              <a:t> </a:t>
            </a:r>
            <a:r>
              <a:rPr lang="fr-FR" sz="1200" dirty="0" smtClean="0">
                <a:solidFill>
                  <a:srgbClr val="585858"/>
                </a:solidFill>
                <a:latin typeface="+mn-lt"/>
                <a:cs typeface="Calibri"/>
              </a:rPr>
              <a:t>jusqu’à</a:t>
            </a:r>
            <a:r>
              <a:rPr lang="fr-FR" sz="1200" spc="229" dirty="0" smtClean="0">
                <a:solidFill>
                  <a:srgbClr val="585858"/>
                </a:solidFill>
                <a:latin typeface="+mn-lt"/>
                <a:cs typeface="Calibri"/>
              </a:rPr>
              <a:t> </a:t>
            </a:r>
            <a:r>
              <a:rPr lang="fr-FR" sz="1200" dirty="0" smtClean="0">
                <a:solidFill>
                  <a:srgbClr val="585858"/>
                </a:solidFill>
                <a:latin typeface="+mn-lt"/>
                <a:cs typeface="Calibri"/>
              </a:rPr>
              <a:t>l’arrivée</a:t>
            </a:r>
            <a:r>
              <a:rPr lang="fr-FR" sz="1200" spc="240" dirty="0" smtClean="0">
                <a:solidFill>
                  <a:srgbClr val="585858"/>
                </a:solidFill>
                <a:latin typeface="+mn-lt"/>
                <a:cs typeface="Calibri"/>
              </a:rPr>
              <a:t> </a:t>
            </a:r>
            <a:r>
              <a:rPr lang="fr-FR" sz="1200" dirty="0" smtClean="0">
                <a:solidFill>
                  <a:srgbClr val="585858"/>
                </a:solidFill>
                <a:latin typeface="+mn-lt"/>
                <a:cs typeface="Calibri"/>
              </a:rPr>
              <a:t>de</a:t>
            </a:r>
            <a:r>
              <a:rPr lang="fr-FR" sz="1200" spc="235" dirty="0" smtClean="0">
                <a:solidFill>
                  <a:srgbClr val="585858"/>
                </a:solidFill>
                <a:latin typeface="+mn-lt"/>
                <a:cs typeface="Calibri"/>
              </a:rPr>
              <a:t> </a:t>
            </a:r>
            <a:r>
              <a:rPr lang="fr-FR" sz="1200" dirty="0" smtClean="0">
                <a:solidFill>
                  <a:srgbClr val="585858"/>
                </a:solidFill>
                <a:latin typeface="+mn-lt"/>
                <a:cs typeface="Calibri"/>
              </a:rPr>
              <a:t>l’événement.</a:t>
            </a:r>
            <a:r>
              <a:rPr lang="fr-FR" sz="1200" spc="240" dirty="0" smtClean="0">
                <a:solidFill>
                  <a:srgbClr val="585858"/>
                </a:solidFill>
                <a:latin typeface="+mn-lt"/>
                <a:cs typeface="Calibri"/>
              </a:rPr>
              <a:t> </a:t>
            </a:r>
            <a:r>
              <a:rPr lang="fr-FR" sz="1200" dirty="0" smtClean="0">
                <a:solidFill>
                  <a:srgbClr val="585858"/>
                </a:solidFill>
                <a:latin typeface="+mn-lt"/>
                <a:cs typeface="Calibri"/>
              </a:rPr>
              <a:t>Une</a:t>
            </a:r>
            <a:r>
              <a:rPr lang="fr-FR" sz="1200" spc="235" dirty="0" smtClean="0">
                <a:solidFill>
                  <a:srgbClr val="585858"/>
                </a:solidFill>
                <a:latin typeface="+mn-lt"/>
                <a:cs typeface="Calibri"/>
              </a:rPr>
              <a:t> </a:t>
            </a:r>
            <a:r>
              <a:rPr lang="fr-FR" sz="1200" spc="-20" dirty="0" smtClean="0">
                <a:solidFill>
                  <a:srgbClr val="585858"/>
                </a:solidFill>
                <a:latin typeface="+mn-lt"/>
                <a:cs typeface="Calibri"/>
              </a:rPr>
              <a:t>fois</a:t>
            </a:r>
            <a:endParaRPr lang="fr-FR" sz="1200" dirty="0" smtClean="0">
              <a:latin typeface="+mn-lt"/>
              <a:cs typeface="Calibri"/>
            </a:endParaRPr>
          </a:p>
          <a:p>
            <a:pPr marL="12700" marR="5080">
              <a:lnSpc>
                <a:spcPct val="200000"/>
              </a:lnSpc>
            </a:pPr>
            <a:r>
              <a:rPr lang="fr-FR" sz="1200" dirty="0" smtClean="0">
                <a:solidFill>
                  <a:srgbClr val="585858"/>
                </a:solidFill>
                <a:latin typeface="+mn-lt"/>
                <a:cs typeface="Calibri"/>
              </a:rPr>
              <a:t>l’événement</a:t>
            </a:r>
            <a:r>
              <a:rPr lang="fr-FR" sz="1200" spc="145" dirty="0" smtClean="0">
                <a:solidFill>
                  <a:srgbClr val="585858"/>
                </a:solidFill>
                <a:latin typeface="+mn-lt"/>
                <a:cs typeface="Calibri"/>
              </a:rPr>
              <a:t> </a:t>
            </a:r>
            <a:r>
              <a:rPr lang="fr-FR" sz="1200" dirty="0" smtClean="0">
                <a:solidFill>
                  <a:srgbClr val="585858"/>
                </a:solidFill>
                <a:latin typeface="+mn-lt"/>
                <a:cs typeface="Calibri"/>
              </a:rPr>
              <a:t>arrivé,</a:t>
            </a:r>
            <a:r>
              <a:rPr lang="fr-FR" sz="1200" spc="145" dirty="0" smtClean="0">
                <a:solidFill>
                  <a:srgbClr val="585858"/>
                </a:solidFill>
                <a:latin typeface="+mn-lt"/>
                <a:cs typeface="Calibri"/>
              </a:rPr>
              <a:t> </a:t>
            </a:r>
            <a:r>
              <a:rPr lang="fr-FR" sz="1200" dirty="0" smtClean="0">
                <a:solidFill>
                  <a:srgbClr val="585858"/>
                </a:solidFill>
                <a:latin typeface="+mn-lt"/>
                <a:cs typeface="Calibri"/>
              </a:rPr>
              <a:t>il</a:t>
            </a:r>
            <a:r>
              <a:rPr lang="fr-FR" sz="1200" spc="165" dirty="0" smtClean="0">
                <a:solidFill>
                  <a:srgbClr val="585858"/>
                </a:solidFill>
                <a:latin typeface="+mn-lt"/>
                <a:cs typeface="Calibri"/>
              </a:rPr>
              <a:t> </a:t>
            </a:r>
            <a:r>
              <a:rPr lang="fr-FR" sz="1200" dirty="0" smtClean="0">
                <a:solidFill>
                  <a:srgbClr val="585858"/>
                </a:solidFill>
                <a:latin typeface="+mn-lt"/>
                <a:cs typeface="Calibri"/>
              </a:rPr>
              <a:t>retourne</a:t>
            </a:r>
            <a:r>
              <a:rPr lang="fr-FR" sz="1200" spc="140" dirty="0" smtClean="0">
                <a:solidFill>
                  <a:srgbClr val="585858"/>
                </a:solidFill>
                <a:latin typeface="+mn-lt"/>
                <a:cs typeface="Calibri"/>
              </a:rPr>
              <a:t> </a:t>
            </a:r>
            <a:r>
              <a:rPr lang="fr-FR" sz="1200" dirty="0" smtClean="0">
                <a:solidFill>
                  <a:srgbClr val="585858"/>
                </a:solidFill>
                <a:latin typeface="+mn-lt"/>
                <a:cs typeface="Calibri"/>
              </a:rPr>
              <a:t>à</a:t>
            </a:r>
            <a:r>
              <a:rPr lang="fr-FR" sz="1200" spc="155" dirty="0" smtClean="0">
                <a:solidFill>
                  <a:srgbClr val="585858"/>
                </a:solidFill>
                <a:latin typeface="+mn-lt"/>
                <a:cs typeface="Calibri"/>
              </a:rPr>
              <a:t> </a:t>
            </a:r>
            <a:r>
              <a:rPr lang="fr-FR" sz="1200" dirty="0" smtClean="0">
                <a:solidFill>
                  <a:srgbClr val="585858"/>
                </a:solidFill>
                <a:latin typeface="+mn-lt"/>
                <a:cs typeface="Calibri"/>
              </a:rPr>
              <a:t>l’état</a:t>
            </a:r>
            <a:r>
              <a:rPr lang="fr-FR" sz="1200" spc="145" dirty="0" smtClean="0">
                <a:solidFill>
                  <a:srgbClr val="585858"/>
                </a:solidFill>
                <a:latin typeface="+mn-lt"/>
                <a:cs typeface="Calibri"/>
              </a:rPr>
              <a:t> </a:t>
            </a:r>
            <a:r>
              <a:rPr lang="fr-FR" sz="1200" b="1" dirty="0" smtClean="0">
                <a:solidFill>
                  <a:srgbClr val="585858"/>
                </a:solidFill>
                <a:latin typeface="+mn-lt"/>
                <a:cs typeface="Calibri"/>
              </a:rPr>
              <a:t>Prêt.</a:t>
            </a:r>
            <a:r>
              <a:rPr lang="fr-FR" sz="1200" b="1" spc="145" dirty="0" smtClean="0">
                <a:solidFill>
                  <a:srgbClr val="585858"/>
                </a:solidFill>
                <a:latin typeface="+mn-lt"/>
                <a:cs typeface="Calibri"/>
              </a:rPr>
              <a:t> </a:t>
            </a:r>
            <a:r>
              <a:rPr lang="fr-FR" sz="1200" dirty="0" smtClean="0">
                <a:solidFill>
                  <a:srgbClr val="585858"/>
                </a:solidFill>
                <a:latin typeface="+mn-lt"/>
                <a:cs typeface="Calibri"/>
              </a:rPr>
              <a:t>Une</a:t>
            </a:r>
            <a:r>
              <a:rPr lang="fr-FR" sz="1200" spc="140" dirty="0" smtClean="0">
                <a:solidFill>
                  <a:srgbClr val="585858"/>
                </a:solidFill>
                <a:latin typeface="+mn-lt"/>
                <a:cs typeface="Calibri"/>
              </a:rPr>
              <a:t> </a:t>
            </a:r>
            <a:r>
              <a:rPr lang="fr-FR" sz="1200" dirty="0" smtClean="0">
                <a:solidFill>
                  <a:srgbClr val="585858"/>
                </a:solidFill>
                <a:latin typeface="+mn-lt"/>
                <a:cs typeface="Calibri"/>
              </a:rPr>
              <a:t>fois</a:t>
            </a:r>
            <a:r>
              <a:rPr lang="fr-FR" sz="1200" spc="160" dirty="0" smtClean="0">
                <a:solidFill>
                  <a:srgbClr val="585858"/>
                </a:solidFill>
                <a:latin typeface="+mn-lt"/>
                <a:cs typeface="Calibri"/>
              </a:rPr>
              <a:t> </a:t>
            </a:r>
            <a:r>
              <a:rPr lang="fr-FR" sz="1200" dirty="0" smtClean="0">
                <a:solidFill>
                  <a:srgbClr val="585858"/>
                </a:solidFill>
                <a:latin typeface="+mn-lt"/>
                <a:cs typeface="Calibri"/>
              </a:rPr>
              <a:t>que</a:t>
            </a:r>
            <a:r>
              <a:rPr lang="fr-FR" sz="1200" spc="155" dirty="0" smtClean="0">
                <a:solidFill>
                  <a:srgbClr val="585858"/>
                </a:solidFill>
                <a:latin typeface="+mn-lt"/>
                <a:cs typeface="Calibri"/>
              </a:rPr>
              <a:t>  </a:t>
            </a:r>
            <a:r>
              <a:rPr lang="fr-FR" sz="1200" spc="-10" dirty="0" smtClean="0">
                <a:solidFill>
                  <a:srgbClr val="585858"/>
                </a:solidFill>
                <a:latin typeface="+mn-lt"/>
                <a:cs typeface="Calibri"/>
              </a:rPr>
              <a:t>l’exécution</a:t>
            </a:r>
            <a:r>
              <a:rPr lang="fr-FR" sz="1200" spc="140" dirty="0" smtClean="0">
                <a:solidFill>
                  <a:srgbClr val="585858"/>
                </a:solidFill>
                <a:latin typeface="+mn-lt"/>
                <a:cs typeface="Calibri"/>
              </a:rPr>
              <a:t> </a:t>
            </a:r>
            <a:r>
              <a:rPr lang="fr-FR" sz="1200" dirty="0" smtClean="0">
                <a:solidFill>
                  <a:srgbClr val="585858"/>
                </a:solidFill>
                <a:latin typeface="+mn-lt"/>
                <a:cs typeface="Calibri"/>
              </a:rPr>
              <a:t>du</a:t>
            </a:r>
            <a:r>
              <a:rPr lang="fr-FR" sz="1200" spc="150" dirty="0" smtClean="0">
                <a:solidFill>
                  <a:srgbClr val="585858"/>
                </a:solidFill>
                <a:latin typeface="+mn-lt"/>
                <a:cs typeface="Calibri"/>
              </a:rPr>
              <a:t> </a:t>
            </a:r>
            <a:r>
              <a:rPr lang="fr-FR" sz="1200" dirty="0" smtClean="0">
                <a:solidFill>
                  <a:srgbClr val="585858"/>
                </a:solidFill>
                <a:latin typeface="+mn-lt"/>
                <a:cs typeface="Calibri"/>
              </a:rPr>
              <a:t>processus</a:t>
            </a:r>
            <a:r>
              <a:rPr lang="fr-FR" sz="1200" spc="145" dirty="0" smtClean="0">
                <a:solidFill>
                  <a:srgbClr val="585858"/>
                </a:solidFill>
                <a:latin typeface="+mn-lt"/>
                <a:cs typeface="Calibri"/>
              </a:rPr>
              <a:t> </a:t>
            </a:r>
            <a:r>
              <a:rPr lang="fr-FR" sz="1200" dirty="0" smtClean="0">
                <a:solidFill>
                  <a:srgbClr val="585858"/>
                </a:solidFill>
                <a:latin typeface="+mn-lt"/>
                <a:cs typeface="Calibri"/>
              </a:rPr>
              <a:t>s’achève,</a:t>
            </a:r>
            <a:r>
              <a:rPr lang="fr-FR" sz="1200" spc="114" dirty="0" smtClean="0">
                <a:solidFill>
                  <a:srgbClr val="585858"/>
                </a:solidFill>
                <a:latin typeface="+mn-lt"/>
                <a:cs typeface="Calibri"/>
              </a:rPr>
              <a:t> </a:t>
            </a:r>
            <a:r>
              <a:rPr lang="fr-FR" sz="1200" spc="-25" dirty="0" smtClean="0">
                <a:solidFill>
                  <a:srgbClr val="585858"/>
                </a:solidFill>
                <a:latin typeface="+mn-lt"/>
                <a:cs typeface="Calibri"/>
              </a:rPr>
              <a:t>il </a:t>
            </a:r>
            <a:r>
              <a:rPr lang="fr-FR" sz="1200" dirty="0" smtClean="0">
                <a:solidFill>
                  <a:srgbClr val="585858"/>
                </a:solidFill>
                <a:latin typeface="+mn-lt"/>
                <a:cs typeface="Calibri"/>
              </a:rPr>
              <a:t>arrive</a:t>
            </a:r>
            <a:r>
              <a:rPr lang="fr-FR" sz="1200" spc="-30" dirty="0" smtClean="0">
                <a:solidFill>
                  <a:srgbClr val="585858"/>
                </a:solidFill>
                <a:latin typeface="+mn-lt"/>
                <a:cs typeface="Calibri"/>
              </a:rPr>
              <a:t> </a:t>
            </a:r>
            <a:r>
              <a:rPr lang="fr-FR" sz="1200" dirty="0" smtClean="0">
                <a:solidFill>
                  <a:srgbClr val="585858"/>
                </a:solidFill>
                <a:latin typeface="+mn-lt"/>
                <a:cs typeface="Calibri"/>
              </a:rPr>
              <a:t>à</a:t>
            </a:r>
            <a:r>
              <a:rPr lang="fr-FR" sz="1200" spc="-15" dirty="0" smtClean="0">
                <a:solidFill>
                  <a:srgbClr val="585858"/>
                </a:solidFill>
                <a:latin typeface="+mn-lt"/>
                <a:cs typeface="Calibri"/>
              </a:rPr>
              <a:t> </a:t>
            </a:r>
            <a:r>
              <a:rPr lang="fr-FR" sz="1200" dirty="0" smtClean="0">
                <a:solidFill>
                  <a:srgbClr val="585858"/>
                </a:solidFill>
                <a:latin typeface="+mn-lt"/>
                <a:cs typeface="Calibri"/>
              </a:rPr>
              <a:t>son</a:t>
            </a:r>
            <a:r>
              <a:rPr lang="fr-FR" sz="1200" spc="-30" dirty="0" smtClean="0">
                <a:solidFill>
                  <a:srgbClr val="585858"/>
                </a:solidFill>
                <a:latin typeface="+mn-lt"/>
                <a:cs typeface="Calibri"/>
              </a:rPr>
              <a:t> </a:t>
            </a:r>
            <a:r>
              <a:rPr lang="fr-FR" sz="1200" dirty="0" smtClean="0">
                <a:solidFill>
                  <a:srgbClr val="585858"/>
                </a:solidFill>
                <a:latin typeface="+mn-lt"/>
                <a:cs typeface="Calibri"/>
              </a:rPr>
              <a:t>état</a:t>
            </a:r>
            <a:r>
              <a:rPr lang="fr-FR" sz="1200" spc="-25" dirty="0" smtClean="0">
                <a:solidFill>
                  <a:srgbClr val="585858"/>
                </a:solidFill>
                <a:latin typeface="+mn-lt"/>
                <a:cs typeface="Calibri"/>
              </a:rPr>
              <a:t> </a:t>
            </a:r>
            <a:r>
              <a:rPr lang="fr-FR" sz="1200" dirty="0" smtClean="0">
                <a:solidFill>
                  <a:srgbClr val="585858"/>
                </a:solidFill>
                <a:latin typeface="+mn-lt"/>
                <a:cs typeface="Calibri"/>
              </a:rPr>
              <a:t>final</a:t>
            </a:r>
            <a:r>
              <a:rPr lang="fr-FR" sz="1200" spc="-20" dirty="0" smtClean="0">
                <a:solidFill>
                  <a:srgbClr val="585858"/>
                </a:solidFill>
                <a:latin typeface="+mn-lt"/>
                <a:cs typeface="Calibri"/>
              </a:rPr>
              <a:t> </a:t>
            </a:r>
            <a:r>
              <a:rPr lang="fr-FR" sz="1200" b="1" spc="-10" dirty="0" smtClean="0">
                <a:solidFill>
                  <a:srgbClr val="585858"/>
                </a:solidFill>
                <a:latin typeface="+mn-lt"/>
                <a:cs typeface="Calibri"/>
              </a:rPr>
              <a:t>Terminé</a:t>
            </a:r>
            <a:r>
              <a:rPr lang="fr-FR" sz="1200" spc="-10" dirty="0" smtClean="0">
                <a:solidFill>
                  <a:srgbClr val="585858"/>
                </a:solidFill>
                <a:latin typeface="+mn-lt"/>
                <a:cs typeface="Calibri"/>
              </a:rPr>
              <a:t>. </a:t>
            </a:r>
            <a:r>
              <a:rPr lang="fr-FR" sz="1200" kern="1200" dirty="0" smtClean="0">
                <a:solidFill>
                  <a:schemeClr val="tx1"/>
                </a:solidFill>
                <a:effectLst/>
                <a:latin typeface="+mn-lt"/>
                <a:ea typeface="+mn-ea"/>
                <a:cs typeface="+mn-cs"/>
              </a:rPr>
              <a:t>Le processus a terminé son exécution et toutes ses ressources sont libérées par le système d'exploitation.</a:t>
            </a:r>
            <a:endParaRPr lang="fr-FR" sz="1200" dirty="0" smtClean="0">
              <a:latin typeface="+mn-lt"/>
              <a:cs typeface="Calibri"/>
            </a:endParaRPr>
          </a:p>
          <a:p>
            <a:pPr marL="12700" algn="just">
              <a:lnSpc>
                <a:spcPct val="100000"/>
              </a:lnSpc>
              <a:spcBef>
                <a:spcPts val="700"/>
              </a:spcBef>
            </a:pPr>
            <a:endParaRPr lang="fr-FR" sz="1200" dirty="0" smtClean="0">
              <a:latin typeface="+mn-lt"/>
              <a:cs typeface="Calibri"/>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6</a:t>
            </a:fld>
            <a:endParaRPr lang="fr-FR"/>
          </a:p>
        </p:txBody>
      </p:sp>
    </p:spTree>
    <p:extLst>
      <p:ext uri="{BB962C8B-B14F-4D97-AF65-F5344CB8AC3E}">
        <p14:creationId xmlns:p14="http://schemas.microsoft.com/office/powerpoint/2010/main" val="31495609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effectLst/>
                <a:latin typeface="+mn-lt"/>
                <a:ea typeface="+mn-ea"/>
                <a:cs typeface="+mn-cs"/>
              </a:rPr>
              <a:t>Ces états représentent le cycle de vie typique d'un processus, depuis sa création jusqu'à sa terminaison. Le système d'exploitation gère les transitions entre ces états en fonction des événements survenant pendant l'exécution du processus et des décisions prises par l'ordonnanceur.</a:t>
            </a:r>
          </a:p>
          <a:p>
            <a:pPr marL="12700" algn="just">
              <a:lnSpc>
                <a:spcPct val="100000"/>
              </a:lnSpc>
              <a:spcBef>
                <a:spcPts val="700"/>
              </a:spcBef>
            </a:pPr>
            <a:endParaRPr lang="fr-FR" sz="1200" dirty="0" smtClean="0">
              <a:latin typeface="+mn-lt"/>
              <a:cs typeface="Calibri"/>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7</a:t>
            </a:fld>
            <a:endParaRPr lang="fr-FR"/>
          </a:p>
        </p:txBody>
      </p:sp>
    </p:spTree>
    <p:extLst>
      <p:ext uri="{BB962C8B-B14F-4D97-AF65-F5344CB8AC3E}">
        <p14:creationId xmlns:p14="http://schemas.microsoft.com/office/powerpoint/2010/main" val="2672032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solidFill>
                  <a:srgbClr val="585858"/>
                </a:solidFill>
                <a:latin typeface="+mn-lt"/>
                <a:cs typeface="Calibri"/>
              </a:rPr>
              <a:t>Pour</a:t>
            </a:r>
            <a:r>
              <a:rPr lang="fr-FR" sz="1200" spc="160" dirty="0" smtClean="0">
                <a:solidFill>
                  <a:srgbClr val="585858"/>
                </a:solidFill>
                <a:latin typeface="+mn-lt"/>
                <a:cs typeface="Calibri"/>
              </a:rPr>
              <a:t> </a:t>
            </a:r>
            <a:r>
              <a:rPr lang="fr-FR" sz="1200" dirty="0" smtClean="0">
                <a:solidFill>
                  <a:srgbClr val="585858"/>
                </a:solidFill>
                <a:latin typeface="+mn-lt"/>
                <a:cs typeface="Calibri"/>
              </a:rPr>
              <a:t>assurer</a:t>
            </a:r>
            <a:r>
              <a:rPr lang="fr-FR" sz="1200" spc="170" dirty="0" smtClean="0">
                <a:solidFill>
                  <a:srgbClr val="585858"/>
                </a:solidFill>
                <a:latin typeface="+mn-lt"/>
                <a:cs typeface="Calibri"/>
              </a:rPr>
              <a:t> </a:t>
            </a:r>
            <a:r>
              <a:rPr lang="fr-FR" sz="1200" dirty="0" smtClean="0">
                <a:solidFill>
                  <a:srgbClr val="585858"/>
                </a:solidFill>
                <a:latin typeface="+mn-lt"/>
                <a:cs typeface="Calibri"/>
              </a:rPr>
              <a:t>la</a:t>
            </a:r>
            <a:r>
              <a:rPr lang="fr-FR" sz="1200" spc="170" dirty="0" smtClean="0">
                <a:solidFill>
                  <a:srgbClr val="585858"/>
                </a:solidFill>
                <a:latin typeface="+mn-lt"/>
                <a:cs typeface="Calibri"/>
              </a:rPr>
              <a:t> </a:t>
            </a:r>
            <a:r>
              <a:rPr lang="fr-FR" sz="1200" dirty="0" smtClean="0">
                <a:solidFill>
                  <a:srgbClr val="585858"/>
                </a:solidFill>
                <a:latin typeface="+mn-lt"/>
                <a:cs typeface="Calibri"/>
              </a:rPr>
              <a:t>gestion</a:t>
            </a:r>
            <a:r>
              <a:rPr lang="fr-FR" sz="1200" spc="150" dirty="0" smtClean="0">
                <a:solidFill>
                  <a:srgbClr val="585858"/>
                </a:solidFill>
                <a:latin typeface="+mn-lt"/>
                <a:cs typeface="Calibri"/>
              </a:rPr>
              <a:t> </a:t>
            </a:r>
            <a:r>
              <a:rPr lang="fr-FR" sz="1200" dirty="0" smtClean="0">
                <a:solidFill>
                  <a:srgbClr val="585858"/>
                </a:solidFill>
                <a:latin typeface="+mn-lt"/>
                <a:cs typeface="Calibri"/>
              </a:rPr>
              <a:t>des</a:t>
            </a:r>
            <a:r>
              <a:rPr lang="fr-FR" sz="1200" spc="190" dirty="0" smtClean="0">
                <a:solidFill>
                  <a:srgbClr val="585858"/>
                </a:solidFill>
                <a:latin typeface="+mn-lt"/>
                <a:cs typeface="Calibri"/>
              </a:rPr>
              <a:t> </a:t>
            </a:r>
            <a:r>
              <a:rPr lang="fr-FR" sz="1200" dirty="0" smtClean="0">
                <a:solidFill>
                  <a:srgbClr val="585858"/>
                </a:solidFill>
                <a:latin typeface="+mn-lt"/>
                <a:cs typeface="Calibri"/>
              </a:rPr>
              <a:t>processus,</a:t>
            </a:r>
            <a:r>
              <a:rPr lang="fr-FR" sz="1200" spc="165" dirty="0" smtClean="0">
                <a:solidFill>
                  <a:srgbClr val="585858"/>
                </a:solidFill>
                <a:latin typeface="+mn-lt"/>
                <a:cs typeface="Calibri"/>
              </a:rPr>
              <a:t> </a:t>
            </a:r>
            <a:r>
              <a:rPr lang="fr-FR" sz="1200" dirty="0" smtClean="0">
                <a:solidFill>
                  <a:srgbClr val="585858"/>
                </a:solidFill>
                <a:latin typeface="+mn-lt"/>
                <a:cs typeface="Calibri"/>
              </a:rPr>
              <a:t>le</a:t>
            </a:r>
            <a:r>
              <a:rPr lang="fr-FR" sz="1200" spc="180" dirty="0" smtClean="0">
                <a:solidFill>
                  <a:srgbClr val="585858"/>
                </a:solidFill>
                <a:latin typeface="+mn-lt"/>
                <a:cs typeface="Calibri"/>
              </a:rPr>
              <a:t> </a:t>
            </a:r>
            <a:r>
              <a:rPr lang="fr-FR" sz="1200" dirty="0" smtClean="0">
                <a:solidFill>
                  <a:srgbClr val="585858"/>
                </a:solidFill>
                <a:latin typeface="+mn-lt"/>
                <a:cs typeface="Calibri"/>
              </a:rPr>
              <a:t>SE</a:t>
            </a:r>
            <a:r>
              <a:rPr lang="fr-FR" sz="1200" spc="160" dirty="0" smtClean="0">
                <a:solidFill>
                  <a:srgbClr val="585858"/>
                </a:solidFill>
                <a:latin typeface="+mn-lt"/>
                <a:cs typeface="Calibri"/>
              </a:rPr>
              <a:t> </a:t>
            </a:r>
            <a:r>
              <a:rPr lang="fr-FR" sz="1200" dirty="0" smtClean="0">
                <a:solidFill>
                  <a:srgbClr val="585858"/>
                </a:solidFill>
                <a:latin typeface="+mn-lt"/>
                <a:cs typeface="Calibri"/>
              </a:rPr>
              <a:t>utilise</a:t>
            </a:r>
            <a:r>
              <a:rPr lang="fr-FR" sz="1200" spc="160" dirty="0" smtClean="0">
                <a:solidFill>
                  <a:srgbClr val="585858"/>
                </a:solidFill>
                <a:latin typeface="+mn-lt"/>
                <a:cs typeface="Calibri"/>
              </a:rPr>
              <a:t> </a:t>
            </a:r>
            <a:r>
              <a:rPr lang="fr-FR" sz="1200" dirty="0" smtClean="0">
                <a:solidFill>
                  <a:srgbClr val="585858"/>
                </a:solidFill>
                <a:latin typeface="+mn-lt"/>
                <a:cs typeface="Calibri"/>
              </a:rPr>
              <a:t>les</a:t>
            </a:r>
            <a:r>
              <a:rPr lang="fr-FR" sz="1200" spc="190" dirty="0" smtClean="0">
                <a:solidFill>
                  <a:srgbClr val="585858"/>
                </a:solidFill>
                <a:latin typeface="+mn-lt"/>
                <a:cs typeface="Calibri"/>
              </a:rPr>
              <a:t> </a:t>
            </a:r>
            <a:r>
              <a:rPr lang="fr-FR" sz="1200" dirty="0" smtClean="0">
                <a:solidFill>
                  <a:srgbClr val="585858"/>
                </a:solidFill>
                <a:latin typeface="+mn-lt"/>
                <a:cs typeface="Calibri"/>
              </a:rPr>
              <a:t>blocs</a:t>
            </a:r>
            <a:r>
              <a:rPr lang="fr-FR" sz="1200" spc="180" dirty="0" smtClean="0">
                <a:solidFill>
                  <a:srgbClr val="585858"/>
                </a:solidFill>
                <a:latin typeface="+mn-lt"/>
                <a:cs typeface="Calibri"/>
              </a:rPr>
              <a:t> </a:t>
            </a:r>
            <a:r>
              <a:rPr lang="fr-FR" sz="1200" dirty="0" smtClean="0">
                <a:solidFill>
                  <a:srgbClr val="585858"/>
                </a:solidFill>
                <a:latin typeface="+mn-lt"/>
                <a:cs typeface="Calibri"/>
              </a:rPr>
              <a:t>de</a:t>
            </a:r>
            <a:r>
              <a:rPr lang="fr-FR" sz="1200" spc="155" dirty="0" smtClean="0">
                <a:solidFill>
                  <a:srgbClr val="585858"/>
                </a:solidFill>
                <a:latin typeface="+mn-lt"/>
                <a:cs typeface="Calibri"/>
              </a:rPr>
              <a:t> </a:t>
            </a:r>
            <a:r>
              <a:rPr lang="fr-FR" sz="1200" dirty="0" smtClean="0">
                <a:solidFill>
                  <a:srgbClr val="585858"/>
                </a:solidFill>
                <a:latin typeface="+mn-lt"/>
                <a:cs typeface="Calibri"/>
              </a:rPr>
              <a:t>contrôle.</a:t>
            </a:r>
            <a:r>
              <a:rPr lang="fr-FR" sz="1200" spc="160" dirty="0" smtClean="0">
                <a:solidFill>
                  <a:srgbClr val="585858"/>
                </a:solidFill>
                <a:latin typeface="+mn-lt"/>
                <a:cs typeface="Calibri"/>
              </a:rPr>
              <a:t> </a:t>
            </a:r>
            <a:r>
              <a:rPr lang="fr-FR" sz="1200" spc="-25" dirty="0" smtClean="0">
                <a:solidFill>
                  <a:srgbClr val="585858"/>
                </a:solidFill>
                <a:latin typeface="+mn-lt"/>
                <a:cs typeface="Calibri"/>
              </a:rPr>
              <a:t>Ils </a:t>
            </a:r>
            <a:r>
              <a:rPr lang="fr-FR" sz="1200" dirty="0" smtClean="0">
                <a:solidFill>
                  <a:srgbClr val="585858"/>
                </a:solidFill>
                <a:latin typeface="+mn-lt"/>
                <a:cs typeface="Calibri"/>
              </a:rPr>
              <a:t>permettent</a:t>
            </a:r>
            <a:r>
              <a:rPr lang="fr-FR" sz="1200" spc="125" dirty="0" smtClean="0">
                <a:solidFill>
                  <a:srgbClr val="585858"/>
                </a:solidFill>
                <a:latin typeface="+mn-lt"/>
                <a:cs typeface="Calibri"/>
              </a:rPr>
              <a:t> </a:t>
            </a:r>
            <a:r>
              <a:rPr lang="fr-FR" sz="1200" dirty="0" smtClean="0">
                <a:solidFill>
                  <a:srgbClr val="585858"/>
                </a:solidFill>
                <a:latin typeface="+mn-lt"/>
                <a:cs typeface="Calibri"/>
              </a:rPr>
              <a:t>le</a:t>
            </a:r>
            <a:r>
              <a:rPr lang="fr-FR" sz="1200" spc="125" dirty="0" smtClean="0">
                <a:solidFill>
                  <a:srgbClr val="585858"/>
                </a:solidFill>
                <a:latin typeface="+mn-lt"/>
                <a:cs typeface="Calibri"/>
              </a:rPr>
              <a:t> </a:t>
            </a:r>
            <a:r>
              <a:rPr lang="fr-FR" sz="1200" dirty="0" smtClean="0">
                <a:solidFill>
                  <a:srgbClr val="585858"/>
                </a:solidFill>
                <a:latin typeface="+mn-lt"/>
                <a:cs typeface="Calibri"/>
              </a:rPr>
              <a:t>contrôle</a:t>
            </a:r>
            <a:r>
              <a:rPr lang="fr-FR" sz="1200" spc="125" dirty="0" smtClean="0">
                <a:solidFill>
                  <a:srgbClr val="585858"/>
                </a:solidFill>
                <a:latin typeface="+mn-lt"/>
                <a:cs typeface="Calibri"/>
              </a:rPr>
              <a:t> </a:t>
            </a:r>
            <a:r>
              <a:rPr lang="fr-FR" sz="1200" dirty="0" smtClean="0">
                <a:solidFill>
                  <a:srgbClr val="585858"/>
                </a:solidFill>
                <a:latin typeface="+mn-lt"/>
                <a:cs typeface="Calibri"/>
              </a:rPr>
              <a:t>d’accès</a:t>
            </a:r>
            <a:r>
              <a:rPr lang="fr-FR" sz="1200" spc="135" dirty="0" smtClean="0">
                <a:solidFill>
                  <a:srgbClr val="585858"/>
                </a:solidFill>
                <a:latin typeface="+mn-lt"/>
                <a:cs typeface="Calibri"/>
              </a:rPr>
              <a:t> </a:t>
            </a:r>
            <a:r>
              <a:rPr lang="fr-FR" sz="1200" dirty="0" smtClean="0">
                <a:solidFill>
                  <a:srgbClr val="585858"/>
                </a:solidFill>
                <a:latin typeface="+mn-lt"/>
                <a:cs typeface="Calibri"/>
              </a:rPr>
              <a:t>des</a:t>
            </a:r>
            <a:r>
              <a:rPr lang="fr-FR" sz="1200" spc="135" dirty="0" smtClean="0">
                <a:solidFill>
                  <a:srgbClr val="585858"/>
                </a:solidFill>
                <a:latin typeface="+mn-lt"/>
                <a:cs typeface="Calibri"/>
              </a:rPr>
              <a:t> </a:t>
            </a:r>
            <a:r>
              <a:rPr lang="fr-FR" sz="1200" dirty="0" smtClean="0">
                <a:solidFill>
                  <a:srgbClr val="585858"/>
                </a:solidFill>
                <a:latin typeface="+mn-lt"/>
                <a:cs typeface="Calibri"/>
              </a:rPr>
              <a:t>processus</a:t>
            </a:r>
            <a:r>
              <a:rPr lang="fr-FR" sz="1200" spc="130" dirty="0" smtClean="0">
                <a:solidFill>
                  <a:srgbClr val="585858"/>
                </a:solidFill>
                <a:latin typeface="+mn-lt"/>
                <a:cs typeface="Calibri"/>
              </a:rPr>
              <a:t> </a:t>
            </a:r>
            <a:r>
              <a:rPr lang="fr-FR" sz="1200" dirty="0" smtClean="0">
                <a:solidFill>
                  <a:srgbClr val="585858"/>
                </a:solidFill>
                <a:latin typeface="+mn-lt"/>
                <a:cs typeface="Calibri"/>
              </a:rPr>
              <a:t>au</a:t>
            </a:r>
            <a:r>
              <a:rPr lang="fr-FR" sz="1200" spc="140" dirty="0" smtClean="0">
                <a:solidFill>
                  <a:srgbClr val="585858"/>
                </a:solidFill>
                <a:latin typeface="+mn-lt"/>
                <a:cs typeface="Calibri"/>
              </a:rPr>
              <a:t> </a:t>
            </a:r>
            <a:r>
              <a:rPr lang="fr-FR" sz="1200" dirty="0" smtClean="0">
                <a:solidFill>
                  <a:srgbClr val="585858"/>
                </a:solidFill>
                <a:latin typeface="+mn-lt"/>
                <a:cs typeface="Calibri"/>
              </a:rPr>
              <a:t>processeur.</a:t>
            </a:r>
            <a:r>
              <a:rPr lang="fr-FR" sz="1200" spc="125" dirty="0" smtClean="0">
                <a:solidFill>
                  <a:srgbClr val="585858"/>
                </a:solidFill>
                <a:latin typeface="+mn-lt"/>
                <a:cs typeface="Calibri"/>
              </a:rPr>
              <a:t> </a:t>
            </a:r>
            <a:r>
              <a:rPr lang="fr-FR" sz="1200" dirty="0" smtClean="0">
                <a:solidFill>
                  <a:srgbClr val="585858"/>
                </a:solidFill>
                <a:latin typeface="+mn-lt"/>
                <a:cs typeface="Calibri"/>
              </a:rPr>
              <a:t>En</a:t>
            </a:r>
            <a:r>
              <a:rPr lang="fr-FR" sz="1200" spc="114" dirty="0" smtClean="0">
                <a:solidFill>
                  <a:srgbClr val="585858"/>
                </a:solidFill>
                <a:latin typeface="+mn-lt"/>
                <a:cs typeface="Calibri"/>
              </a:rPr>
              <a:t> </a:t>
            </a:r>
            <a:r>
              <a:rPr lang="fr-FR" sz="1200" dirty="0" smtClean="0">
                <a:solidFill>
                  <a:srgbClr val="585858"/>
                </a:solidFill>
                <a:latin typeface="+mn-lt"/>
                <a:cs typeface="Calibri"/>
              </a:rPr>
              <a:t>utilisant</a:t>
            </a:r>
            <a:r>
              <a:rPr lang="fr-FR" sz="1200" spc="135" dirty="0" smtClean="0">
                <a:solidFill>
                  <a:srgbClr val="585858"/>
                </a:solidFill>
                <a:latin typeface="+mn-lt"/>
                <a:cs typeface="Calibri"/>
              </a:rPr>
              <a:t> </a:t>
            </a:r>
            <a:r>
              <a:rPr lang="fr-FR" sz="1200" spc="-25" dirty="0" smtClean="0">
                <a:solidFill>
                  <a:srgbClr val="585858"/>
                </a:solidFill>
                <a:latin typeface="+mn-lt"/>
                <a:cs typeface="Calibri"/>
              </a:rPr>
              <a:t>ces </a:t>
            </a:r>
            <a:r>
              <a:rPr lang="fr-FR" sz="1200" dirty="0" smtClean="0">
                <a:solidFill>
                  <a:srgbClr val="585858"/>
                </a:solidFill>
                <a:latin typeface="+mn-lt"/>
                <a:cs typeface="Calibri"/>
              </a:rPr>
              <a:t>blocs</a:t>
            </a:r>
            <a:r>
              <a:rPr lang="fr-FR" sz="1200" spc="55" dirty="0" smtClean="0">
                <a:solidFill>
                  <a:srgbClr val="585858"/>
                </a:solidFill>
                <a:latin typeface="+mn-lt"/>
                <a:cs typeface="Calibri"/>
              </a:rPr>
              <a:t> </a:t>
            </a:r>
            <a:r>
              <a:rPr lang="fr-FR" sz="1200" dirty="0" smtClean="0">
                <a:solidFill>
                  <a:srgbClr val="585858"/>
                </a:solidFill>
                <a:latin typeface="+mn-lt"/>
                <a:cs typeface="Calibri"/>
              </a:rPr>
              <a:t>de</a:t>
            </a:r>
            <a:r>
              <a:rPr lang="fr-FR" sz="1200" spc="75" dirty="0" smtClean="0">
                <a:solidFill>
                  <a:srgbClr val="585858"/>
                </a:solidFill>
                <a:latin typeface="+mn-lt"/>
                <a:cs typeface="Calibri"/>
              </a:rPr>
              <a:t> </a:t>
            </a:r>
            <a:r>
              <a:rPr lang="fr-FR" sz="1200" dirty="0" smtClean="0">
                <a:solidFill>
                  <a:srgbClr val="585858"/>
                </a:solidFill>
                <a:latin typeface="+mn-lt"/>
                <a:cs typeface="Calibri"/>
              </a:rPr>
              <a:t>contrôle,</a:t>
            </a:r>
            <a:r>
              <a:rPr lang="fr-FR" sz="1200" spc="65" dirty="0" smtClean="0">
                <a:solidFill>
                  <a:srgbClr val="585858"/>
                </a:solidFill>
                <a:latin typeface="+mn-lt"/>
                <a:cs typeface="Calibri"/>
              </a:rPr>
              <a:t> </a:t>
            </a:r>
            <a:r>
              <a:rPr lang="fr-FR" sz="1200" dirty="0" smtClean="0">
                <a:solidFill>
                  <a:srgbClr val="585858"/>
                </a:solidFill>
                <a:latin typeface="+mn-lt"/>
                <a:cs typeface="Calibri"/>
              </a:rPr>
              <a:t>le</a:t>
            </a:r>
            <a:r>
              <a:rPr lang="fr-FR" sz="1200" spc="55" dirty="0" smtClean="0">
                <a:solidFill>
                  <a:srgbClr val="585858"/>
                </a:solidFill>
                <a:latin typeface="+mn-lt"/>
                <a:cs typeface="Calibri"/>
              </a:rPr>
              <a:t> </a:t>
            </a:r>
            <a:r>
              <a:rPr lang="fr-FR" sz="1200" dirty="0" smtClean="0">
                <a:solidFill>
                  <a:srgbClr val="585858"/>
                </a:solidFill>
                <a:latin typeface="+mn-lt"/>
                <a:cs typeface="Calibri"/>
              </a:rPr>
              <a:t>SE</a:t>
            </a:r>
            <a:r>
              <a:rPr lang="fr-FR" sz="1200" spc="45" dirty="0" smtClean="0">
                <a:solidFill>
                  <a:srgbClr val="585858"/>
                </a:solidFill>
                <a:latin typeface="+mn-lt"/>
                <a:cs typeface="Calibri"/>
              </a:rPr>
              <a:t> </a:t>
            </a:r>
            <a:r>
              <a:rPr lang="fr-FR" sz="1200" dirty="0" smtClean="0">
                <a:solidFill>
                  <a:srgbClr val="585858"/>
                </a:solidFill>
                <a:latin typeface="+mn-lt"/>
                <a:cs typeface="Calibri"/>
              </a:rPr>
              <a:t>a</a:t>
            </a:r>
            <a:r>
              <a:rPr lang="fr-FR" sz="1200" spc="50" dirty="0" smtClean="0">
                <a:solidFill>
                  <a:srgbClr val="585858"/>
                </a:solidFill>
                <a:latin typeface="+mn-lt"/>
                <a:cs typeface="Calibri"/>
              </a:rPr>
              <a:t> </a:t>
            </a:r>
            <a:r>
              <a:rPr lang="fr-FR" sz="1200" dirty="0" smtClean="0">
                <a:solidFill>
                  <a:srgbClr val="585858"/>
                </a:solidFill>
                <a:latin typeface="+mn-lt"/>
                <a:cs typeface="Calibri"/>
              </a:rPr>
              <a:t>une</a:t>
            </a:r>
            <a:r>
              <a:rPr lang="fr-FR" sz="1200" spc="55" dirty="0" smtClean="0">
                <a:solidFill>
                  <a:srgbClr val="585858"/>
                </a:solidFill>
                <a:latin typeface="+mn-lt"/>
                <a:cs typeface="Calibri"/>
              </a:rPr>
              <a:t> </a:t>
            </a:r>
            <a:r>
              <a:rPr lang="fr-FR" sz="1200" dirty="0" smtClean="0">
                <a:solidFill>
                  <a:srgbClr val="585858"/>
                </a:solidFill>
                <a:latin typeface="+mn-lt"/>
                <a:cs typeface="Calibri"/>
              </a:rPr>
              <a:t>visibilité</a:t>
            </a:r>
            <a:r>
              <a:rPr lang="fr-FR" sz="1200" spc="50" dirty="0" smtClean="0">
                <a:solidFill>
                  <a:srgbClr val="585858"/>
                </a:solidFill>
                <a:latin typeface="+mn-lt"/>
                <a:cs typeface="Calibri"/>
              </a:rPr>
              <a:t> </a:t>
            </a:r>
            <a:r>
              <a:rPr lang="fr-FR" sz="1200" dirty="0" smtClean="0">
                <a:solidFill>
                  <a:srgbClr val="585858"/>
                </a:solidFill>
                <a:latin typeface="+mn-lt"/>
                <a:cs typeface="Calibri"/>
              </a:rPr>
              <a:t>totale</a:t>
            </a:r>
            <a:r>
              <a:rPr lang="fr-FR" sz="1200" spc="55" dirty="0" smtClean="0">
                <a:solidFill>
                  <a:srgbClr val="585858"/>
                </a:solidFill>
                <a:latin typeface="+mn-lt"/>
                <a:cs typeface="Calibri"/>
              </a:rPr>
              <a:t> </a:t>
            </a:r>
            <a:r>
              <a:rPr lang="fr-FR" sz="1200" dirty="0" smtClean="0">
                <a:solidFill>
                  <a:srgbClr val="585858"/>
                </a:solidFill>
                <a:latin typeface="+mn-lt"/>
                <a:cs typeface="Calibri"/>
              </a:rPr>
              <a:t>sur</a:t>
            </a:r>
            <a:r>
              <a:rPr lang="fr-FR" sz="1200" spc="65" dirty="0" smtClean="0">
                <a:solidFill>
                  <a:srgbClr val="585858"/>
                </a:solidFill>
                <a:latin typeface="+mn-lt"/>
                <a:cs typeface="Calibri"/>
              </a:rPr>
              <a:t> </a:t>
            </a:r>
            <a:r>
              <a:rPr lang="fr-FR" sz="1200" dirty="0" smtClean="0">
                <a:solidFill>
                  <a:srgbClr val="585858"/>
                </a:solidFill>
                <a:latin typeface="+mn-lt"/>
                <a:cs typeface="Calibri"/>
              </a:rPr>
              <a:t>l’état</a:t>
            </a:r>
            <a:r>
              <a:rPr lang="fr-FR" sz="1200" spc="60" dirty="0" smtClean="0">
                <a:solidFill>
                  <a:srgbClr val="585858"/>
                </a:solidFill>
                <a:latin typeface="+mn-lt"/>
                <a:cs typeface="Calibri"/>
              </a:rPr>
              <a:t> </a:t>
            </a:r>
            <a:r>
              <a:rPr lang="fr-FR" sz="1200" dirty="0" smtClean="0">
                <a:solidFill>
                  <a:srgbClr val="585858"/>
                </a:solidFill>
                <a:latin typeface="+mn-lt"/>
                <a:cs typeface="Calibri"/>
              </a:rPr>
              <a:t>de</a:t>
            </a:r>
            <a:r>
              <a:rPr lang="fr-FR" sz="1200" spc="50" dirty="0" smtClean="0">
                <a:solidFill>
                  <a:srgbClr val="585858"/>
                </a:solidFill>
                <a:latin typeface="+mn-lt"/>
                <a:cs typeface="Calibri"/>
              </a:rPr>
              <a:t> </a:t>
            </a:r>
            <a:r>
              <a:rPr lang="fr-FR" sz="1200" dirty="0" smtClean="0">
                <a:solidFill>
                  <a:srgbClr val="585858"/>
                </a:solidFill>
                <a:latin typeface="+mn-lt"/>
                <a:cs typeface="Calibri"/>
              </a:rPr>
              <a:t>chaque</a:t>
            </a:r>
            <a:r>
              <a:rPr lang="fr-FR" sz="1200" spc="55" dirty="0" smtClean="0">
                <a:solidFill>
                  <a:srgbClr val="585858"/>
                </a:solidFill>
                <a:latin typeface="+mn-lt"/>
                <a:cs typeface="Calibri"/>
              </a:rPr>
              <a:t> </a:t>
            </a:r>
            <a:r>
              <a:rPr lang="fr-FR" sz="1200" dirty="0" smtClean="0">
                <a:solidFill>
                  <a:srgbClr val="585858"/>
                </a:solidFill>
                <a:latin typeface="+mn-lt"/>
                <a:cs typeface="Calibri"/>
              </a:rPr>
              <a:t>processus</a:t>
            </a:r>
            <a:r>
              <a:rPr lang="fr-FR" sz="1200" spc="70" dirty="0" smtClean="0">
                <a:solidFill>
                  <a:srgbClr val="585858"/>
                </a:solidFill>
                <a:latin typeface="+mn-lt"/>
                <a:cs typeface="Calibri"/>
              </a:rPr>
              <a:t> </a:t>
            </a:r>
            <a:r>
              <a:rPr lang="fr-FR" sz="1200" spc="-50" dirty="0" smtClean="0">
                <a:solidFill>
                  <a:srgbClr val="585858"/>
                </a:solidFill>
                <a:latin typeface="+mn-lt"/>
                <a:cs typeface="Calibri"/>
              </a:rPr>
              <a:t>à </a:t>
            </a:r>
            <a:r>
              <a:rPr lang="fr-FR" sz="1200" dirty="0" smtClean="0">
                <a:solidFill>
                  <a:srgbClr val="585858"/>
                </a:solidFill>
                <a:latin typeface="+mn-lt"/>
                <a:cs typeface="Calibri"/>
              </a:rPr>
              <a:t>un</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instant</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donné.</a:t>
            </a:r>
            <a:endParaRPr lang="fr-FR" sz="1200" dirty="0" smtClean="0">
              <a:latin typeface="+mn-lt"/>
              <a:cs typeface="Calibri"/>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8</a:t>
            </a:fld>
            <a:endParaRPr lang="fr-FR"/>
          </a:p>
        </p:txBody>
      </p:sp>
    </p:spTree>
    <p:extLst>
      <p:ext uri="{BB962C8B-B14F-4D97-AF65-F5344CB8AC3E}">
        <p14:creationId xmlns:p14="http://schemas.microsoft.com/office/powerpoint/2010/main" val="33272439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solidFill>
                  <a:srgbClr val="585858"/>
                </a:solidFill>
                <a:latin typeface="+mn-lt"/>
                <a:cs typeface="Calibri"/>
              </a:rPr>
              <a:t>La</a:t>
            </a:r>
            <a:r>
              <a:rPr lang="fr-FR" sz="1200" spc="75" dirty="0" smtClean="0">
                <a:solidFill>
                  <a:srgbClr val="585858"/>
                </a:solidFill>
                <a:latin typeface="+mn-lt"/>
                <a:cs typeface="Calibri"/>
              </a:rPr>
              <a:t> </a:t>
            </a:r>
            <a:r>
              <a:rPr lang="fr-FR" sz="1200" b="1" dirty="0" smtClean="0">
                <a:solidFill>
                  <a:srgbClr val="585858"/>
                </a:solidFill>
                <a:latin typeface="+mn-lt"/>
                <a:cs typeface="Calibri"/>
              </a:rPr>
              <a:t>Figure</a:t>
            </a:r>
            <a:r>
              <a:rPr lang="fr-FR" sz="1200" b="1" spc="95" dirty="0" smtClean="0">
                <a:solidFill>
                  <a:srgbClr val="585858"/>
                </a:solidFill>
                <a:latin typeface="+mn-lt"/>
                <a:cs typeface="Calibri"/>
              </a:rPr>
              <a:t>  </a:t>
            </a:r>
            <a:r>
              <a:rPr lang="fr-FR" sz="1200" dirty="0" smtClean="0">
                <a:solidFill>
                  <a:srgbClr val="585858"/>
                </a:solidFill>
                <a:latin typeface="+mn-lt"/>
                <a:cs typeface="Calibri"/>
              </a:rPr>
              <a:t>présente</a:t>
            </a:r>
            <a:r>
              <a:rPr lang="fr-FR" sz="1200" spc="85" dirty="0" smtClean="0">
                <a:solidFill>
                  <a:srgbClr val="585858"/>
                </a:solidFill>
                <a:latin typeface="+mn-lt"/>
                <a:cs typeface="Calibri"/>
              </a:rPr>
              <a:t> </a:t>
            </a:r>
            <a:r>
              <a:rPr lang="fr-FR" sz="1200" dirty="0" smtClean="0">
                <a:solidFill>
                  <a:srgbClr val="585858"/>
                </a:solidFill>
                <a:latin typeface="+mn-lt"/>
                <a:cs typeface="Calibri"/>
              </a:rPr>
              <a:t>un</a:t>
            </a:r>
            <a:r>
              <a:rPr lang="fr-FR" sz="1200" spc="90" dirty="0" smtClean="0">
                <a:solidFill>
                  <a:srgbClr val="585858"/>
                </a:solidFill>
                <a:latin typeface="+mn-lt"/>
                <a:cs typeface="Calibri"/>
              </a:rPr>
              <a:t> </a:t>
            </a:r>
            <a:r>
              <a:rPr lang="fr-FR" sz="1200" dirty="0" smtClean="0">
                <a:solidFill>
                  <a:srgbClr val="585858"/>
                </a:solidFill>
                <a:latin typeface="+mn-lt"/>
                <a:cs typeface="Calibri"/>
              </a:rPr>
              <a:t>scénario</a:t>
            </a:r>
            <a:r>
              <a:rPr lang="fr-FR" sz="1200" spc="95" dirty="0" smtClean="0">
                <a:solidFill>
                  <a:srgbClr val="585858"/>
                </a:solidFill>
                <a:latin typeface="+mn-lt"/>
                <a:cs typeface="Calibri"/>
              </a:rPr>
              <a:t> </a:t>
            </a:r>
            <a:r>
              <a:rPr lang="fr-FR" sz="1200" dirty="0" smtClean="0">
                <a:solidFill>
                  <a:srgbClr val="585858"/>
                </a:solidFill>
                <a:latin typeface="+mn-lt"/>
                <a:cs typeface="Calibri"/>
              </a:rPr>
              <a:t>d’exécution</a:t>
            </a:r>
            <a:r>
              <a:rPr lang="fr-FR" sz="1200" spc="75" dirty="0" smtClean="0">
                <a:solidFill>
                  <a:srgbClr val="585858"/>
                </a:solidFill>
                <a:latin typeface="+mn-lt"/>
                <a:cs typeface="Calibri"/>
              </a:rPr>
              <a:t> </a:t>
            </a:r>
            <a:r>
              <a:rPr lang="fr-FR" sz="1200" dirty="0" smtClean="0">
                <a:solidFill>
                  <a:srgbClr val="585858"/>
                </a:solidFill>
                <a:latin typeface="+mn-lt"/>
                <a:cs typeface="Calibri"/>
              </a:rPr>
              <a:t>de</a:t>
            </a:r>
            <a:r>
              <a:rPr lang="fr-FR" sz="1200" spc="125" dirty="0" smtClean="0">
                <a:solidFill>
                  <a:srgbClr val="585858"/>
                </a:solidFill>
                <a:latin typeface="+mn-lt"/>
                <a:cs typeface="Calibri"/>
              </a:rPr>
              <a:t> </a:t>
            </a:r>
            <a:r>
              <a:rPr lang="fr-FR" sz="1200" dirty="0" smtClean="0">
                <a:solidFill>
                  <a:srgbClr val="585858"/>
                </a:solidFill>
                <a:latin typeface="+mn-lt"/>
                <a:cs typeface="Calibri"/>
              </a:rPr>
              <a:t>deux</a:t>
            </a:r>
            <a:r>
              <a:rPr lang="fr-FR" sz="1200" spc="85" dirty="0" smtClean="0">
                <a:solidFill>
                  <a:srgbClr val="585858"/>
                </a:solidFill>
                <a:latin typeface="+mn-lt"/>
                <a:cs typeface="Calibri"/>
              </a:rPr>
              <a:t> </a:t>
            </a:r>
            <a:r>
              <a:rPr lang="fr-FR" sz="1200" dirty="0" smtClean="0">
                <a:solidFill>
                  <a:srgbClr val="585858"/>
                </a:solidFill>
                <a:latin typeface="+mn-lt"/>
                <a:cs typeface="Calibri"/>
              </a:rPr>
              <a:t>processus</a:t>
            </a:r>
            <a:r>
              <a:rPr lang="fr-FR" sz="1200" spc="95" dirty="0" smtClean="0">
                <a:solidFill>
                  <a:srgbClr val="585858"/>
                </a:solidFill>
                <a:latin typeface="+mn-lt"/>
                <a:cs typeface="Calibri"/>
              </a:rPr>
              <a:t> </a:t>
            </a:r>
            <a:r>
              <a:rPr lang="fr-FR" sz="1200" dirty="0" smtClean="0">
                <a:solidFill>
                  <a:srgbClr val="585858"/>
                </a:solidFill>
                <a:latin typeface="+mn-lt"/>
                <a:cs typeface="Calibri"/>
              </a:rPr>
              <a:t>P0</a:t>
            </a:r>
            <a:r>
              <a:rPr lang="fr-FR" sz="1200" spc="70" dirty="0" smtClean="0">
                <a:solidFill>
                  <a:srgbClr val="585858"/>
                </a:solidFill>
                <a:latin typeface="+mn-lt"/>
                <a:cs typeface="Calibri"/>
              </a:rPr>
              <a:t> </a:t>
            </a:r>
            <a:r>
              <a:rPr lang="fr-FR" sz="1200" dirty="0" smtClean="0">
                <a:solidFill>
                  <a:srgbClr val="585858"/>
                </a:solidFill>
                <a:latin typeface="+mn-lt"/>
                <a:cs typeface="Calibri"/>
              </a:rPr>
              <a:t>et</a:t>
            </a:r>
            <a:r>
              <a:rPr lang="fr-FR" sz="1200" spc="110" dirty="0" smtClean="0">
                <a:solidFill>
                  <a:srgbClr val="585858"/>
                </a:solidFill>
                <a:latin typeface="+mn-lt"/>
                <a:cs typeface="Calibri"/>
              </a:rPr>
              <a:t> </a:t>
            </a:r>
            <a:r>
              <a:rPr lang="fr-FR" sz="1200" dirty="0" smtClean="0">
                <a:solidFill>
                  <a:srgbClr val="585858"/>
                </a:solidFill>
                <a:latin typeface="+mn-lt"/>
                <a:cs typeface="Calibri"/>
              </a:rPr>
              <a:t>P1.</a:t>
            </a:r>
            <a:r>
              <a:rPr lang="fr-FR" sz="1200" spc="110" dirty="0" smtClean="0">
                <a:solidFill>
                  <a:srgbClr val="585858"/>
                </a:solidFill>
                <a:latin typeface="+mn-lt"/>
                <a:cs typeface="Calibri"/>
              </a:rPr>
              <a:t> </a:t>
            </a:r>
            <a:r>
              <a:rPr lang="fr-FR" sz="1200" spc="-25" dirty="0" smtClean="0">
                <a:solidFill>
                  <a:srgbClr val="585858"/>
                </a:solidFill>
                <a:latin typeface="+mn-lt"/>
                <a:cs typeface="Calibri"/>
              </a:rPr>
              <a:t>En </a:t>
            </a:r>
            <a:r>
              <a:rPr lang="fr-FR" sz="1200" dirty="0" smtClean="0">
                <a:solidFill>
                  <a:srgbClr val="585858"/>
                </a:solidFill>
                <a:latin typeface="+mn-lt"/>
                <a:cs typeface="Calibri"/>
              </a:rPr>
              <a:t>effet,</a:t>
            </a:r>
            <a:r>
              <a:rPr lang="fr-FR" sz="1200" spc="135" dirty="0" smtClean="0">
                <a:solidFill>
                  <a:srgbClr val="585858"/>
                </a:solidFill>
                <a:latin typeface="+mn-lt"/>
                <a:cs typeface="Calibri"/>
              </a:rPr>
              <a:t> </a:t>
            </a:r>
            <a:r>
              <a:rPr lang="fr-FR" sz="1200" dirty="0" smtClean="0">
                <a:solidFill>
                  <a:srgbClr val="585858"/>
                </a:solidFill>
                <a:latin typeface="+mn-lt"/>
                <a:cs typeface="Calibri"/>
              </a:rPr>
              <a:t>une</a:t>
            </a:r>
            <a:r>
              <a:rPr lang="fr-FR" sz="1200" spc="145" dirty="0" smtClean="0">
                <a:solidFill>
                  <a:srgbClr val="585858"/>
                </a:solidFill>
                <a:latin typeface="+mn-lt"/>
                <a:cs typeface="Calibri"/>
              </a:rPr>
              <a:t> </a:t>
            </a:r>
            <a:r>
              <a:rPr lang="fr-FR" sz="1200" dirty="0" smtClean="0">
                <a:solidFill>
                  <a:srgbClr val="585858"/>
                </a:solidFill>
                <a:latin typeface="+mn-lt"/>
                <a:cs typeface="Calibri"/>
              </a:rPr>
              <a:t>fois</a:t>
            </a:r>
            <a:r>
              <a:rPr lang="fr-FR" sz="1200" spc="180" dirty="0" smtClean="0">
                <a:solidFill>
                  <a:srgbClr val="585858"/>
                </a:solidFill>
                <a:latin typeface="+mn-lt"/>
                <a:cs typeface="Calibri"/>
              </a:rPr>
              <a:t> </a:t>
            </a:r>
            <a:r>
              <a:rPr lang="fr-FR" sz="1200" dirty="0" smtClean="0">
                <a:solidFill>
                  <a:srgbClr val="585858"/>
                </a:solidFill>
                <a:latin typeface="+mn-lt"/>
                <a:cs typeface="Calibri"/>
              </a:rPr>
              <a:t>le</a:t>
            </a:r>
            <a:r>
              <a:rPr lang="fr-FR" sz="1200" spc="175" dirty="0" smtClean="0">
                <a:solidFill>
                  <a:srgbClr val="585858"/>
                </a:solidFill>
                <a:latin typeface="+mn-lt"/>
                <a:cs typeface="Calibri"/>
              </a:rPr>
              <a:t> </a:t>
            </a:r>
            <a:r>
              <a:rPr lang="fr-FR" sz="1200" dirty="0" smtClean="0">
                <a:solidFill>
                  <a:srgbClr val="585858"/>
                </a:solidFill>
                <a:latin typeface="+mn-lt"/>
                <a:cs typeface="Calibri"/>
              </a:rPr>
              <a:t>processus</a:t>
            </a:r>
            <a:r>
              <a:rPr lang="fr-FR" sz="1200" spc="160" dirty="0" smtClean="0">
                <a:solidFill>
                  <a:srgbClr val="585858"/>
                </a:solidFill>
                <a:latin typeface="+mn-lt"/>
                <a:cs typeface="Calibri"/>
              </a:rPr>
              <a:t> </a:t>
            </a:r>
            <a:r>
              <a:rPr lang="fr-FR" sz="1200" dirty="0" smtClean="0">
                <a:solidFill>
                  <a:srgbClr val="585858"/>
                </a:solidFill>
                <a:latin typeface="+mn-lt"/>
                <a:cs typeface="Calibri"/>
              </a:rPr>
              <a:t>P0</a:t>
            </a:r>
            <a:r>
              <a:rPr lang="fr-FR" sz="1200" spc="165" dirty="0" smtClean="0">
                <a:solidFill>
                  <a:srgbClr val="585858"/>
                </a:solidFill>
                <a:latin typeface="+mn-lt"/>
                <a:cs typeface="Calibri"/>
              </a:rPr>
              <a:t> </a:t>
            </a:r>
            <a:r>
              <a:rPr lang="fr-FR" sz="1200" dirty="0" smtClean="0">
                <a:solidFill>
                  <a:srgbClr val="585858"/>
                </a:solidFill>
                <a:latin typeface="+mn-lt"/>
                <a:cs typeface="Calibri"/>
              </a:rPr>
              <a:t>en</a:t>
            </a:r>
            <a:r>
              <a:rPr lang="fr-FR" sz="1200" spc="165" dirty="0" smtClean="0">
                <a:solidFill>
                  <a:srgbClr val="585858"/>
                </a:solidFill>
                <a:latin typeface="+mn-lt"/>
                <a:cs typeface="Calibri"/>
              </a:rPr>
              <a:t> </a:t>
            </a:r>
            <a:r>
              <a:rPr lang="fr-FR" sz="1200" dirty="0" smtClean="0">
                <a:solidFill>
                  <a:srgbClr val="585858"/>
                </a:solidFill>
                <a:latin typeface="+mn-lt"/>
                <a:cs typeface="Calibri"/>
              </a:rPr>
              <a:t>exécution,</a:t>
            </a:r>
            <a:r>
              <a:rPr lang="fr-FR" sz="1200" spc="165" dirty="0" smtClean="0">
                <a:solidFill>
                  <a:srgbClr val="585858"/>
                </a:solidFill>
                <a:latin typeface="+mn-lt"/>
                <a:cs typeface="Calibri"/>
              </a:rPr>
              <a:t> </a:t>
            </a:r>
            <a:r>
              <a:rPr lang="fr-FR" sz="1200" dirty="0" smtClean="0">
                <a:solidFill>
                  <a:srgbClr val="585858"/>
                </a:solidFill>
                <a:latin typeface="+mn-lt"/>
                <a:cs typeface="Calibri"/>
              </a:rPr>
              <a:t>il</a:t>
            </a:r>
            <a:r>
              <a:rPr lang="fr-FR" sz="1200" spc="160" dirty="0" smtClean="0">
                <a:solidFill>
                  <a:srgbClr val="585858"/>
                </a:solidFill>
                <a:latin typeface="+mn-lt"/>
                <a:cs typeface="Calibri"/>
              </a:rPr>
              <a:t> </a:t>
            </a:r>
            <a:r>
              <a:rPr lang="fr-FR" sz="1200" dirty="0" smtClean="0">
                <a:solidFill>
                  <a:srgbClr val="585858"/>
                </a:solidFill>
                <a:latin typeface="+mn-lt"/>
                <a:cs typeface="Calibri"/>
              </a:rPr>
              <a:t>peut</a:t>
            </a:r>
            <a:r>
              <a:rPr lang="fr-FR" sz="1200" spc="150" dirty="0" smtClean="0">
                <a:solidFill>
                  <a:srgbClr val="585858"/>
                </a:solidFill>
                <a:latin typeface="+mn-lt"/>
                <a:cs typeface="Calibri"/>
              </a:rPr>
              <a:t> </a:t>
            </a:r>
            <a:r>
              <a:rPr lang="fr-FR" sz="1200" dirty="0" smtClean="0">
                <a:solidFill>
                  <a:srgbClr val="585858"/>
                </a:solidFill>
                <a:latin typeface="+mn-lt"/>
                <a:cs typeface="Calibri"/>
              </a:rPr>
              <a:t>être</a:t>
            </a:r>
            <a:r>
              <a:rPr lang="fr-FR" sz="1200" spc="150" dirty="0" smtClean="0">
                <a:solidFill>
                  <a:srgbClr val="585858"/>
                </a:solidFill>
                <a:latin typeface="+mn-lt"/>
                <a:cs typeface="Calibri"/>
              </a:rPr>
              <a:t> </a:t>
            </a:r>
            <a:r>
              <a:rPr lang="fr-FR" sz="1200" dirty="0" smtClean="0">
                <a:solidFill>
                  <a:srgbClr val="585858"/>
                </a:solidFill>
                <a:latin typeface="+mn-lt"/>
                <a:cs typeface="Calibri"/>
              </a:rPr>
              <a:t>interrompu</a:t>
            </a:r>
            <a:r>
              <a:rPr lang="fr-FR" sz="1200" spc="170" dirty="0" smtClean="0">
                <a:solidFill>
                  <a:srgbClr val="585858"/>
                </a:solidFill>
                <a:latin typeface="+mn-lt"/>
                <a:cs typeface="Calibri"/>
              </a:rPr>
              <a:t> </a:t>
            </a:r>
            <a:r>
              <a:rPr lang="fr-FR" sz="1200" dirty="0" smtClean="0">
                <a:solidFill>
                  <a:srgbClr val="585858"/>
                </a:solidFill>
                <a:latin typeface="+mn-lt"/>
                <a:cs typeface="Calibri"/>
              </a:rPr>
              <a:t>par</a:t>
            </a:r>
            <a:r>
              <a:rPr lang="fr-FR" sz="1200" spc="160" dirty="0" smtClean="0">
                <a:solidFill>
                  <a:srgbClr val="585858"/>
                </a:solidFill>
                <a:latin typeface="+mn-lt"/>
                <a:cs typeface="Calibri"/>
              </a:rPr>
              <a:t> </a:t>
            </a:r>
            <a:r>
              <a:rPr lang="fr-FR" sz="1200" spc="-25" dirty="0" smtClean="0">
                <a:solidFill>
                  <a:srgbClr val="585858"/>
                </a:solidFill>
                <a:latin typeface="+mn-lt"/>
                <a:cs typeface="Calibri"/>
              </a:rPr>
              <a:t>un </a:t>
            </a:r>
            <a:r>
              <a:rPr lang="fr-FR" sz="1200" dirty="0" smtClean="0">
                <a:solidFill>
                  <a:srgbClr val="585858"/>
                </a:solidFill>
                <a:latin typeface="+mn-lt"/>
                <a:cs typeface="Calibri"/>
              </a:rPr>
              <a:t>autre</a:t>
            </a:r>
            <a:r>
              <a:rPr lang="fr-FR" sz="1200" spc="-15" dirty="0" smtClean="0">
                <a:solidFill>
                  <a:srgbClr val="585858"/>
                </a:solidFill>
                <a:latin typeface="+mn-lt"/>
                <a:cs typeface="Calibri"/>
              </a:rPr>
              <a:t> </a:t>
            </a:r>
            <a:r>
              <a:rPr lang="fr-FR" sz="1200" dirty="0" smtClean="0">
                <a:solidFill>
                  <a:srgbClr val="585858"/>
                </a:solidFill>
                <a:latin typeface="+mn-lt"/>
                <a:cs typeface="Calibri"/>
              </a:rPr>
              <a:t>processus</a:t>
            </a:r>
            <a:r>
              <a:rPr lang="fr-FR" sz="1200" spc="-5" dirty="0" smtClean="0">
                <a:solidFill>
                  <a:srgbClr val="585858"/>
                </a:solidFill>
                <a:latin typeface="+mn-lt"/>
                <a:cs typeface="Calibri"/>
              </a:rPr>
              <a:t> </a:t>
            </a:r>
            <a:r>
              <a:rPr lang="fr-FR" sz="1200" dirty="0" smtClean="0">
                <a:solidFill>
                  <a:srgbClr val="585858"/>
                </a:solidFill>
                <a:latin typeface="+mn-lt"/>
                <a:cs typeface="Calibri"/>
              </a:rPr>
              <a:t>ou</a:t>
            </a:r>
            <a:r>
              <a:rPr lang="fr-FR" sz="1200" spc="-25" dirty="0" smtClean="0">
                <a:solidFill>
                  <a:srgbClr val="585858"/>
                </a:solidFill>
                <a:latin typeface="+mn-lt"/>
                <a:cs typeface="Calibri"/>
              </a:rPr>
              <a:t> </a:t>
            </a:r>
            <a:r>
              <a:rPr lang="fr-FR" sz="1200" dirty="0" smtClean="0">
                <a:solidFill>
                  <a:srgbClr val="585858"/>
                </a:solidFill>
                <a:latin typeface="+mn-lt"/>
                <a:cs typeface="Calibri"/>
              </a:rPr>
              <a:t>bloqué</a:t>
            </a:r>
            <a:r>
              <a:rPr lang="fr-FR" sz="1200" spc="-10" dirty="0" smtClean="0">
                <a:solidFill>
                  <a:srgbClr val="585858"/>
                </a:solidFill>
                <a:latin typeface="+mn-lt"/>
                <a:cs typeface="Calibri"/>
              </a:rPr>
              <a:t> </a:t>
            </a:r>
            <a:r>
              <a:rPr lang="fr-FR" sz="1200" dirty="0" smtClean="0">
                <a:solidFill>
                  <a:srgbClr val="585858"/>
                </a:solidFill>
                <a:latin typeface="+mn-lt"/>
                <a:cs typeface="Calibri"/>
              </a:rPr>
              <a:t>à </a:t>
            </a:r>
            <a:r>
              <a:rPr lang="fr-FR" sz="1200" spc="-20" dirty="0" smtClean="0">
                <a:solidFill>
                  <a:srgbClr val="585858"/>
                </a:solidFill>
                <a:latin typeface="+mn-lt"/>
                <a:cs typeface="Calibri"/>
              </a:rPr>
              <a:t>l’attente</a:t>
            </a:r>
            <a:r>
              <a:rPr lang="fr-FR" sz="1200" spc="-10" dirty="0" smtClean="0">
                <a:solidFill>
                  <a:srgbClr val="585858"/>
                </a:solidFill>
                <a:latin typeface="+mn-lt"/>
                <a:cs typeface="Calibri"/>
              </a:rPr>
              <a:t> </a:t>
            </a:r>
            <a:r>
              <a:rPr lang="fr-FR" sz="1200" dirty="0" smtClean="0">
                <a:solidFill>
                  <a:srgbClr val="585858"/>
                </a:solidFill>
                <a:latin typeface="+mn-lt"/>
                <a:cs typeface="Calibri"/>
              </a:rPr>
              <a:t>d’un</a:t>
            </a:r>
            <a:r>
              <a:rPr lang="fr-FR" sz="1200" spc="-5" dirty="0" smtClean="0">
                <a:solidFill>
                  <a:srgbClr val="585858"/>
                </a:solidFill>
                <a:latin typeface="+mn-lt"/>
                <a:cs typeface="Calibri"/>
              </a:rPr>
              <a:t> </a:t>
            </a:r>
            <a:r>
              <a:rPr lang="fr-FR" sz="1200" dirty="0" smtClean="0">
                <a:solidFill>
                  <a:srgbClr val="585858"/>
                </a:solidFill>
                <a:latin typeface="+mn-lt"/>
                <a:cs typeface="Calibri"/>
              </a:rPr>
              <a:t>appel</a:t>
            </a:r>
            <a:r>
              <a:rPr lang="fr-FR" sz="1200" spc="-30" dirty="0" smtClean="0">
                <a:solidFill>
                  <a:srgbClr val="585858"/>
                </a:solidFill>
                <a:latin typeface="+mn-lt"/>
                <a:cs typeface="Calibri"/>
              </a:rPr>
              <a:t> </a:t>
            </a:r>
            <a:r>
              <a:rPr lang="fr-FR" sz="1200" dirty="0" smtClean="0">
                <a:solidFill>
                  <a:srgbClr val="585858"/>
                </a:solidFill>
                <a:latin typeface="+mn-lt"/>
                <a:cs typeface="Calibri"/>
              </a:rPr>
              <a:t>système.</a:t>
            </a:r>
            <a:r>
              <a:rPr lang="fr-FR" sz="1200" spc="-10" dirty="0" smtClean="0">
                <a:solidFill>
                  <a:srgbClr val="585858"/>
                </a:solidFill>
                <a:latin typeface="+mn-lt"/>
                <a:cs typeface="Calibri"/>
              </a:rPr>
              <a:t> </a:t>
            </a:r>
            <a:r>
              <a:rPr lang="fr-FR" sz="1200" dirty="0" smtClean="0">
                <a:solidFill>
                  <a:srgbClr val="585858"/>
                </a:solidFill>
                <a:latin typeface="+mn-lt"/>
                <a:cs typeface="Calibri"/>
              </a:rPr>
              <a:t>Dans</a:t>
            </a:r>
            <a:r>
              <a:rPr lang="fr-FR" sz="1200" spc="-10" dirty="0" smtClean="0">
                <a:solidFill>
                  <a:srgbClr val="585858"/>
                </a:solidFill>
                <a:latin typeface="+mn-lt"/>
                <a:cs typeface="Calibri"/>
              </a:rPr>
              <a:t> </a:t>
            </a:r>
            <a:r>
              <a:rPr lang="fr-FR" sz="1200" dirty="0" smtClean="0">
                <a:solidFill>
                  <a:srgbClr val="585858"/>
                </a:solidFill>
                <a:latin typeface="+mn-lt"/>
                <a:cs typeface="Calibri"/>
              </a:rPr>
              <a:t>ce</a:t>
            </a:r>
            <a:r>
              <a:rPr lang="fr-FR" sz="1200" spc="-15" dirty="0" smtClean="0">
                <a:solidFill>
                  <a:srgbClr val="585858"/>
                </a:solidFill>
                <a:latin typeface="+mn-lt"/>
                <a:cs typeface="Calibri"/>
              </a:rPr>
              <a:t> </a:t>
            </a:r>
            <a:r>
              <a:rPr lang="fr-FR" sz="1200" dirty="0" smtClean="0">
                <a:solidFill>
                  <a:srgbClr val="585858"/>
                </a:solidFill>
                <a:latin typeface="+mn-lt"/>
                <a:cs typeface="Calibri"/>
              </a:rPr>
              <a:t>cas,</a:t>
            </a:r>
            <a:r>
              <a:rPr lang="fr-FR" sz="1200" spc="-30" dirty="0" smtClean="0">
                <a:solidFill>
                  <a:srgbClr val="585858"/>
                </a:solidFill>
                <a:latin typeface="+mn-lt"/>
                <a:cs typeface="Calibri"/>
              </a:rPr>
              <a:t> </a:t>
            </a:r>
            <a:r>
              <a:rPr lang="fr-FR" sz="1200" dirty="0" smtClean="0">
                <a:solidFill>
                  <a:srgbClr val="585858"/>
                </a:solidFill>
                <a:latin typeface="+mn-lt"/>
                <a:cs typeface="Calibri"/>
              </a:rPr>
              <a:t>son</a:t>
            </a:r>
            <a:r>
              <a:rPr lang="fr-FR" sz="1200" spc="-20" dirty="0" smtClean="0">
                <a:solidFill>
                  <a:srgbClr val="585858"/>
                </a:solidFill>
                <a:latin typeface="+mn-lt"/>
                <a:cs typeface="Calibri"/>
              </a:rPr>
              <a:t> état </a:t>
            </a:r>
            <a:r>
              <a:rPr lang="fr-FR" sz="1200" dirty="0" smtClean="0">
                <a:solidFill>
                  <a:srgbClr val="585858"/>
                </a:solidFill>
                <a:latin typeface="+mn-lt"/>
                <a:cs typeface="Calibri"/>
              </a:rPr>
              <a:t>sera</a:t>
            </a:r>
            <a:r>
              <a:rPr lang="fr-FR" sz="1200" spc="75" dirty="0" smtClean="0">
                <a:solidFill>
                  <a:srgbClr val="585858"/>
                </a:solidFill>
                <a:latin typeface="+mn-lt"/>
                <a:cs typeface="Calibri"/>
              </a:rPr>
              <a:t> </a:t>
            </a:r>
            <a:r>
              <a:rPr lang="fr-FR" sz="1200" dirty="0" smtClean="0">
                <a:solidFill>
                  <a:srgbClr val="585858"/>
                </a:solidFill>
                <a:latin typeface="+mn-lt"/>
                <a:cs typeface="Calibri"/>
              </a:rPr>
              <a:t>sauvegardé</a:t>
            </a:r>
            <a:r>
              <a:rPr lang="fr-FR" sz="1200" spc="75" dirty="0" smtClean="0">
                <a:solidFill>
                  <a:srgbClr val="585858"/>
                </a:solidFill>
                <a:latin typeface="+mn-lt"/>
                <a:cs typeface="Calibri"/>
              </a:rPr>
              <a:t> </a:t>
            </a:r>
            <a:r>
              <a:rPr lang="fr-FR" sz="1200" dirty="0" smtClean="0">
                <a:solidFill>
                  <a:srgbClr val="585858"/>
                </a:solidFill>
                <a:latin typeface="+mn-lt"/>
                <a:cs typeface="Calibri"/>
              </a:rPr>
              <a:t>dans</a:t>
            </a:r>
            <a:r>
              <a:rPr lang="fr-FR" sz="1200" spc="80" dirty="0" smtClean="0">
                <a:solidFill>
                  <a:srgbClr val="585858"/>
                </a:solidFill>
                <a:latin typeface="+mn-lt"/>
                <a:cs typeface="Calibri"/>
              </a:rPr>
              <a:t> </a:t>
            </a:r>
            <a:r>
              <a:rPr lang="fr-FR" sz="1200" dirty="0" smtClean="0">
                <a:solidFill>
                  <a:srgbClr val="585858"/>
                </a:solidFill>
                <a:latin typeface="+mn-lt"/>
                <a:cs typeface="Calibri"/>
              </a:rPr>
              <a:t>son</a:t>
            </a:r>
            <a:r>
              <a:rPr lang="fr-FR" sz="1200" spc="70" dirty="0" smtClean="0">
                <a:solidFill>
                  <a:srgbClr val="585858"/>
                </a:solidFill>
                <a:latin typeface="+mn-lt"/>
                <a:cs typeface="Calibri"/>
              </a:rPr>
              <a:t> </a:t>
            </a:r>
            <a:r>
              <a:rPr lang="fr-FR" sz="1200" dirty="0" smtClean="0">
                <a:solidFill>
                  <a:srgbClr val="585858"/>
                </a:solidFill>
                <a:latin typeface="+mn-lt"/>
                <a:cs typeface="Calibri"/>
              </a:rPr>
              <a:t>bloc</a:t>
            </a:r>
            <a:r>
              <a:rPr lang="fr-FR" sz="1200" spc="70" dirty="0" smtClean="0">
                <a:solidFill>
                  <a:srgbClr val="585858"/>
                </a:solidFill>
                <a:latin typeface="+mn-lt"/>
                <a:cs typeface="Calibri"/>
              </a:rPr>
              <a:t> </a:t>
            </a:r>
            <a:r>
              <a:rPr lang="fr-FR" sz="1200" dirty="0" smtClean="0">
                <a:solidFill>
                  <a:srgbClr val="585858"/>
                </a:solidFill>
                <a:latin typeface="+mn-lt"/>
                <a:cs typeface="Calibri"/>
              </a:rPr>
              <a:t>de</a:t>
            </a:r>
            <a:r>
              <a:rPr lang="fr-FR" sz="1200" spc="95" dirty="0" smtClean="0">
                <a:solidFill>
                  <a:srgbClr val="585858"/>
                </a:solidFill>
                <a:latin typeface="+mn-lt"/>
                <a:cs typeface="Calibri"/>
              </a:rPr>
              <a:t> </a:t>
            </a:r>
            <a:r>
              <a:rPr lang="fr-FR" sz="1200" dirty="0" smtClean="0">
                <a:solidFill>
                  <a:srgbClr val="585858"/>
                </a:solidFill>
                <a:latin typeface="+mn-lt"/>
                <a:cs typeface="Calibri"/>
              </a:rPr>
              <a:t>contrôle</a:t>
            </a:r>
            <a:r>
              <a:rPr lang="fr-FR" sz="1200" spc="105" dirty="0" smtClean="0">
                <a:solidFill>
                  <a:srgbClr val="585858"/>
                </a:solidFill>
                <a:latin typeface="+mn-lt"/>
                <a:cs typeface="Calibri"/>
              </a:rPr>
              <a:t> </a:t>
            </a:r>
            <a:r>
              <a:rPr lang="fr-FR" sz="1200" dirty="0" smtClean="0">
                <a:solidFill>
                  <a:srgbClr val="585858"/>
                </a:solidFill>
                <a:latin typeface="+mn-lt"/>
                <a:cs typeface="Calibri"/>
              </a:rPr>
              <a:t>PCB0</a:t>
            </a:r>
            <a:r>
              <a:rPr lang="fr-FR" sz="1200" spc="85" dirty="0" smtClean="0">
                <a:solidFill>
                  <a:srgbClr val="585858"/>
                </a:solidFill>
                <a:latin typeface="+mn-lt"/>
                <a:cs typeface="Calibri"/>
              </a:rPr>
              <a:t> </a:t>
            </a:r>
            <a:r>
              <a:rPr lang="fr-FR" sz="1200" dirty="0" smtClean="0">
                <a:solidFill>
                  <a:srgbClr val="585858"/>
                </a:solidFill>
                <a:latin typeface="+mn-lt"/>
                <a:cs typeface="Calibri"/>
              </a:rPr>
              <a:t>et</a:t>
            </a:r>
            <a:r>
              <a:rPr lang="fr-FR" sz="1200" spc="75" dirty="0" smtClean="0">
                <a:solidFill>
                  <a:srgbClr val="585858"/>
                </a:solidFill>
                <a:latin typeface="+mn-lt"/>
                <a:cs typeface="Calibri"/>
              </a:rPr>
              <a:t> </a:t>
            </a:r>
            <a:r>
              <a:rPr lang="fr-FR" sz="1200" dirty="0" smtClean="0">
                <a:solidFill>
                  <a:srgbClr val="585858"/>
                </a:solidFill>
                <a:latin typeface="+mn-lt"/>
                <a:cs typeface="Calibri"/>
              </a:rPr>
              <a:t>il</a:t>
            </a:r>
            <a:r>
              <a:rPr lang="fr-FR" sz="1200" spc="65" dirty="0" smtClean="0">
                <a:solidFill>
                  <a:srgbClr val="585858"/>
                </a:solidFill>
                <a:latin typeface="+mn-lt"/>
                <a:cs typeface="Calibri"/>
              </a:rPr>
              <a:t> </a:t>
            </a:r>
            <a:r>
              <a:rPr lang="fr-FR" sz="1200" dirty="0" smtClean="0">
                <a:solidFill>
                  <a:srgbClr val="585858"/>
                </a:solidFill>
                <a:latin typeface="+mn-lt"/>
                <a:cs typeface="Calibri"/>
              </a:rPr>
              <a:t>sera</a:t>
            </a:r>
            <a:r>
              <a:rPr lang="fr-FR" sz="1200" spc="95" dirty="0" smtClean="0">
                <a:solidFill>
                  <a:srgbClr val="585858"/>
                </a:solidFill>
                <a:latin typeface="+mn-lt"/>
                <a:cs typeface="Calibri"/>
              </a:rPr>
              <a:t> </a:t>
            </a:r>
            <a:r>
              <a:rPr lang="fr-FR" sz="1200" dirty="0" smtClean="0">
                <a:solidFill>
                  <a:srgbClr val="585858"/>
                </a:solidFill>
                <a:latin typeface="+mn-lt"/>
                <a:cs typeface="Calibri"/>
              </a:rPr>
              <a:t>inactif.</a:t>
            </a:r>
            <a:r>
              <a:rPr lang="fr-FR" sz="1200" spc="80" dirty="0" smtClean="0">
                <a:solidFill>
                  <a:srgbClr val="585858"/>
                </a:solidFill>
                <a:latin typeface="+mn-lt"/>
                <a:cs typeface="Calibri"/>
              </a:rPr>
              <a:t> </a:t>
            </a:r>
            <a:r>
              <a:rPr lang="fr-FR" sz="1200" dirty="0" smtClean="0">
                <a:solidFill>
                  <a:srgbClr val="585858"/>
                </a:solidFill>
                <a:latin typeface="+mn-lt"/>
                <a:cs typeface="Calibri"/>
              </a:rPr>
              <a:t>Pendant</a:t>
            </a:r>
            <a:r>
              <a:rPr lang="fr-FR" sz="1200" spc="80" dirty="0" smtClean="0">
                <a:solidFill>
                  <a:srgbClr val="585858"/>
                </a:solidFill>
                <a:latin typeface="+mn-lt"/>
                <a:cs typeface="Calibri"/>
              </a:rPr>
              <a:t> </a:t>
            </a:r>
            <a:r>
              <a:rPr lang="fr-FR" sz="1200" spc="-25" dirty="0" smtClean="0">
                <a:solidFill>
                  <a:srgbClr val="585858"/>
                </a:solidFill>
                <a:latin typeface="+mn-lt"/>
                <a:cs typeface="Calibri"/>
              </a:rPr>
              <a:t>ce </a:t>
            </a:r>
            <a:r>
              <a:rPr lang="fr-FR" sz="1200" dirty="0" smtClean="0">
                <a:solidFill>
                  <a:srgbClr val="585858"/>
                </a:solidFill>
                <a:latin typeface="+mn-lt"/>
                <a:cs typeface="Calibri"/>
              </a:rPr>
              <a:t>temps,</a:t>
            </a:r>
            <a:r>
              <a:rPr lang="fr-FR" sz="1200" spc="254" dirty="0" smtClean="0">
                <a:solidFill>
                  <a:srgbClr val="585858"/>
                </a:solidFill>
                <a:latin typeface="+mn-lt"/>
                <a:cs typeface="Calibri"/>
              </a:rPr>
              <a:t> </a:t>
            </a:r>
            <a:r>
              <a:rPr lang="fr-FR" sz="1200" dirty="0" smtClean="0">
                <a:solidFill>
                  <a:srgbClr val="585858"/>
                </a:solidFill>
                <a:latin typeface="+mn-lt"/>
                <a:cs typeface="Calibri"/>
              </a:rPr>
              <a:t>un</a:t>
            </a:r>
            <a:r>
              <a:rPr lang="fr-FR" sz="1200" spc="290" dirty="0" smtClean="0">
                <a:solidFill>
                  <a:srgbClr val="585858"/>
                </a:solidFill>
                <a:latin typeface="+mn-lt"/>
                <a:cs typeface="Calibri"/>
              </a:rPr>
              <a:t> </a:t>
            </a:r>
            <a:r>
              <a:rPr lang="fr-FR" sz="1200" dirty="0" smtClean="0">
                <a:solidFill>
                  <a:srgbClr val="585858"/>
                </a:solidFill>
                <a:latin typeface="+mn-lt"/>
                <a:cs typeface="Calibri"/>
              </a:rPr>
              <a:t>autre</a:t>
            </a:r>
            <a:r>
              <a:rPr lang="fr-FR" sz="1200" spc="270" dirty="0" smtClean="0">
                <a:solidFill>
                  <a:srgbClr val="585858"/>
                </a:solidFill>
                <a:latin typeface="+mn-lt"/>
                <a:cs typeface="Calibri"/>
              </a:rPr>
              <a:t> </a:t>
            </a:r>
            <a:r>
              <a:rPr lang="fr-FR" sz="1200" dirty="0" smtClean="0">
                <a:solidFill>
                  <a:srgbClr val="585858"/>
                </a:solidFill>
                <a:latin typeface="+mn-lt"/>
                <a:cs typeface="Calibri"/>
              </a:rPr>
              <a:t>processus</a:t>
            </a:r>
            <a:r>
              <a:rPr lang="fr-FR" sz="1200" spc="285" dirty="0" smtClean="0">
                <a:solidFill>
                  <a:srgbClr val="585858"/>
                </a:solidFill>
                <a:latin typeface="+mn-lt"/>
                <a:cs typeface="Calibri"/>
              </a:rPr>
              <a:t> </a:t>
            </a:r>
            <a:r>
              <a:rPr lang="fr-FR" sz="1200" dirty="0" smtClean="0">
                <a:solidFill>
                  <a:srgbClr val="585858"/>
                </a:solidFill>
                <a:latin typeface="+mn-lt"/>
                <a:cs typeface="Calibri"/>
              </a:rPr>
              <a:t>P1</a:t>
            </a:r>
            <a:r>
              <a:rPr lang="fr-FR" sz="1200" spc="285" dirty="0" smtClean="0">
                <a:solidFill>
                  <a:srgbClr val="585858"/>
                </a:solidFill>
                <a:latin typeface="+mn-lt"/>
                <a:cs typeface="Calibri"/>
              </a:rPr>
              <a:t> </a:t>
            </a:r>
            <a:r>
              <a:rPr lang="fr-FR" sz="1200" dirty="0" smtClean="0">
                <a:solidFill>
                  <a:srgbClr val="585858"/>
                </a:solidFill>
                <a:latin typeface="+mn-lt"/>
                <a:cs typeface="Calibri"/>
              </a:rPr>
              <a:t>peut</a:t>
            </a:r>
            <a:r>
              <a:rPr lang="fr-FR" sz="1200" spc="280" dirty="0" smtClean="0">
                <a:solidFill>
                  <a:srgbClr val="585858"/>
                </a:solidFill>
                <a:latin typeface="+mn-lt"/>
                <a:cs typeface="Calibri"/>
              </a:rPr>
              <a:t> </a:t>
            </a:r>
            <a:r>
              <a:rPr lang="fr-FR" sz="1200" dirty="0" smtClean="0">
                <a:solidFill>
                  <a:srgbClr val="585858"/>
                </a:solidFill>
                <a:latin typeface="+mn-lt"/>
                <a:cs typeface="Calibri"/>
              </a:rPr>
              <a:t>avoir</a:t>
            </a:r>
            <a:r>
              <a:rPr lang="fr-FR" sz="1200" spc="280" dirty="0" smtClean="0">
                <a:solidFill>
                  <a:srgbClr val="585858"/>
                </a:solidFill>
                <a:latin typeface="+mn-lt"/>
                <a:cs typeface="Calibri"/>
              </a:rPr>
              <a:t> </a:t>
            </a:r>
            <a:r>
              <a:rPr lang="fr-FR" sz="1200" dirty="0" smtClean="0">
                <a:solidFill>
                  <a:srgbClr val="585858"/>
                </a:solidFill>
                <a:latin typeface="+mn-lt"/>
                <a:cs typeface="Calibri"/>
              </a:rPr>
              <a:t>l’accès</a:t>
            </a:r>
            <a:r>
              <a:rPr lang="fr-FR" sz="1200" spc="290" dirty="0" smtClean="0">
                <a:solidFill>
                  <a:srgbClr val="585858"/>
                </a:solidFill>
                <a:latin typeface="+mn-lt"/>
                <a:cs typeface="Calibri"/>
              </a:rPr>
              <a:t> </a:t>
            </a:r>
            <a:r>
              <a:rPr lang="fr-FR" sz="1200" dirty="0" smtClean="0">
                <a:solidFill>
                  <a:srgbClr val="585858"/>
                </a:solidFill>
                <a:latin typeface="+mn-lt"/>
                <a:cs typeface="Calibri"/>
              </a:rPr>
              <a:t>au</a:t>
            </a:r>
            <a:r>
              <a:rPr lang="fr-FR" sz="1200" spc="260" dirty="0" smtClean="0">
                <a:solidFill>
                  <a:srgbClr val="585858"/>
                </a:solidFill>
                <a:latin typeface="+mn-lt"/>
                <a:cs typeface="Calibri"/>
              </a:rPr>
              <a:t> </a:t>
            </a:r>
            <a:r>
              <a:rPr lang="fr-FR" sz="1200" dirty="0" smtClean="0">
                <a:solidFill>
                  <a:srgbClr val="585858"/>
                </a:solidFill>
                <a:latin typeface="+mn-lt"/>
                <a:cs typeface="Calibri"/>
              </a:rPr>
              <a:t>processeur</a:t>
            </a:r>
            <a:r>
              <a:rPr lang="fr-FR" sz="1200" spc="290" dirty="0" smtClean="0">
                <a:solidFill>
                  <a:srgbClr val="585858"/>
                </a:solidFill>
                <a:latin typeface="+mn-lt"/>
                <a:cs typeface="Calibri"/>
              </a:rPr>
              <a:t> </a:t>
            </a:r>
            <a:r>
              <a:rPr lang="fr-FR" sz="1200" dirty="0" smtClean="0">
                <a:solidFill>
                  <a:srgbClr val="585858"/>
                </a:solidFill>
                <a:latin typeface="+mn-lt"/>
                <a:cs typeface="Calibri"/>
              </a:rPr>
              <a:t>et</a:t>
            </a:r>
            <a:r>
              <a:rPr lang="fr-FR" sz="1200" spc="275" dirty="0" smtClean="0">
                <a:solidFill>
                  <a:srgbClr val="585858"/>
                </a:solidFill>
                <a:latin typeface="+mn-lt"/>
                <a:cs typeface="Calibri"/>
              </a:rPr>
              <a:t> </a:t>
            </a:r>
            <a:r>
              <a:rPr lang="fr-FR" sz="1200" dirty="0" smtClean="0">
                <a:solidFill>
                  <a:srgbClr val="585858"/>
                </a:solidFill>
                <a:latin typeface="+mn-lt"/>
                <a:cs typeface="Calibri"/>
              </a:rPr>
              <a:t>donc</a:t>
            </a:r>
            <a:r>
              <a:rPr lang="fr-FR" sz="1200" spc="295" dirty="0" smtClean="0">
                <a:solidFill>
                  <a:srgbClr val="585858"/>
                </a:solidFill>
                <a:latin typeface="+mn-lt"/>
                <a:cs typeface="Calibri"/>
              </a:rPr>
              <a:t> </a:t>
            </a:r>
            <a:r>
              <a:rPr lang="fr-FR" sz="1200" spc="-25" dirty="0" smtClean="0">
                <a:solidFill>
                  <a:srgbClr val="585858"/>
                </a:solidFill>
                <a:latin typeface="+mn-lt"/>
                <a:cs typeface="Calibri"/>
              </a:rPr>
              <a:t>il </a:t>
            </a:r>
            <a:r>
              <a:rPr lang="fr-FR" sz="1200" dirty="0" smtClean="0">
                <a:solidFill>
                  <a:srgbClr val="585858"/>
                </a:solidFill>
                <a:latin typeface="+mn-lt"/>
                <a:cs typeface="Calibri"/>
              </a:rPr>
              <a:t>commence</a:t>
            </a:r>
            <a:r>
              <a:rPr lang="fr-FR" sz="1200" spc="110" dirty="0" smtClean="0">
                <a:solidFill>
                  <a:srgbClr val="585858"/>
                </a:solidFill>
                <a:latin typeface="+mn-lt"/>
                <a:cs typeface="Calibri"/>
              </a:rPr>
              <a:t> </a:t>
            </a:r>
            <a:r>
              <a:rPr lang="fr-FR" sz="1200" dirty="0" smtClean="0">
                <a:solidFill>
                  <a:srgbClr val="585858"/>
                </a:solidFill>
                <a:latin typeface="+mn-lt"/>
                <a:cs typeface="Calibri"/>
              </a:rPr>
              <a:t>son</a:t>
            </a:r>
            <a:r>
              <a:rPr lang="fr-FR" sz="1200" spc="120" dirty="0" smtClean="0">
                <a:solidFill>
                  <a:srgbClr val="585858"/>
                </a:solidFill>
                <a:latin typeface="+mn-lt"/>
                <a:cs typeface="Calibri"/>
              </a:rPr>
              <a:t> </a:t>
            </a:r>
            <a:r>
              <a:rPr lang="fr-FR" sz="1200" dirty="0" smtClean="0">
                <a:solidFill>
                  <a:srgbClr val="585858"/>
                </a:solidFill>
                <a:latin typeface="+mn-lt"/>
                <a:cs typeface="Calibri"/>
              </a:rPr>
              <a:t>exécution</a:t>
            </a:r>
            <a:r>
              <a:rPr lang="fr-FR" sz="1200" spc="120" dirty="0" smtClean="0">
                <a:solidFill>
                  <a:srgbClr val="585858"/>
                </a:solidFill>
                <a:latin typeface="+mn-lt"/>
                <a:cs typeface="Calibri"/>
              </a:rPr>
              <a:t> </a:t>
            </a:r>
            <a:r>
              <a:rPr lang="fr-FR" sz="1200" dirty="0" smtClean="0">
                <a:solidFill>
                  <a:srgbClr val="585858"/>
                </a:solidFill>
                <a:latin typeface="+mn-lt"/>
                <a:cs typeface="Calibri"/>
              </a:rPr>
              <a:t>ou</a:t>
            </a:r>
            <a:r>
              <a:rPr lang="fr-FR" sz="1200" spc="95" dirty="0" smtClean="0">
                <a:solidFill>
                  <a:srgbClr val="585858"/>
                </a:solidFill>
                <a:latin typeface="+mn-lt"/>
                <a:cs typeface="Calibri"/>
              </a:rPr>
              <a:t> </a:t>
            </a:r>
            <a:r>
              <a:rPr lang="fr-FR" sz="1200" dirty="0" smtClean="0">
                <a:solidFill>
                  <a:srgbClr val="585858"/>
                </a:solidFill>
                <a:latin typeface="+mn-lt"/>
                <a:cs typeface="Calibri"/>
              </a:rPr>
              <a:t>il</a:t>
            </a:r>
            <a:r>
              <a:rPr lang="fr-FR" sz="1200" spc="90" dirty="0" smtClean="0">
                <a:solidFill>
                  <a:srgbClr val="585858"/>
                </a:solidFill>
                <a:latin typeface="+mn-lt"/>
                <a:cs typeface="Calibri"/>
              </a:rPr>
              <a:t> </a:t>
            </a:r>
            <a:r>
              <a:rPr lang="fr-FR" sz="1200" dirty="0" smtClean="0">
                <a:solidFill>
                  <a:srgbClr val="585858"/>
                </a:solidFill>
                <a:latin typeface="+mn-lt"/>
                <a:cs typeface="Calibri"/>
              </a:rPr>
              <a:t>reprend</a:t>
            </a:r>
            <a:r>
              <a:rPr lang="fr-FR" sz="1200" spc="100" dirty="0" smtClean="0">
                <a:solidFill>
                  <a:srgbClr val="585858"/>
                </a:solidFill>
                <a:latin typeface="+mn-lt"/>
                <a:cs typeface="Calibri"/>
              </a:rPr>
              <a:t> </a:t>
            </a:r>
            <a:r>
              <a:rPr lang="fr-FR" sz="1200" dirty="0" smtClean="0">
                <a:solidFill>
                  <a:srgbClr val="585858"/>
                </a:solidFill>
                <a:latin typeface="+mn-lt"/>
                <a:cs typeface="Calibri"/>
              </a:rPr>
              <a:t>son</a:t>
            </a:r>
            <a:r>
              <a:rPr lang="fr-FR" sz="1200" spc="120" dirty="0" smtClean="0">
                <a:solidFill>
                  <a:srgbClr val="585858"/>
                </a:solidFill>
                <a:latin typeface="+mn-lt"/>
                <a:cs typeface="Calibri"/>
              </a:rPr>
              <a:t> </a:t>
            </a:r>
            <a:r>
              <a:rPr lang="fr-FR" sz="1200" dirty="0" smtClean="0">
                <a:solidFill>
                  <a:srgbClr val="585858"/>
                </a:solidFill>
                <a:latin typeface="+mn-lt"/>
                <a:cs typeface="Calibri"/>
              </a:rPr>
              <a:t>exécution</a:t>
            </a:r>
            <a:r>
              <a:rPr lang="fr-FR" sz="1200" spc="100" dirty="0" smtClean="0">
                <a:solidFill>
                  <a:srgbClr val="585858"/>
                </a:solidFill>
                <a:latin typeface="+mn-lt"/>
                <a:cs typeface="Calibri"/>
              </a:rPr>
              <a:t> </a:t>
            </a:r>
            <a:r>
              <a:rPr lang="fr-FR" sz="1200" dirty="0" smtClean="0">
                <a:solidFill>
                  <a:srgbClr val="585858"/>
                </a:solidFill>
                <a:latin typeface="+mn-lt"/>
                <a:cs typeface="Calibri"/>
              </a:rPr>
              <a:t>à</a:t>
            </a:r>
            <a:r>
              <a:rPr lang="fr-FR" sz="1200" spc="105" dirty="0" smtClean="0">
                <a:solidFill>
                  <a:srgbClr val="585858"/>
                </a:solidFill>
                <a:latin typeface="+mn-lt"/>
                <a:cs typeface="Calibri"/>
              </a:rPr>
              <a:t> </a:t>
            </a:r>
            <a:r>
              <a:rPr lang="fr-FR" sz="1200" dirty="0" smtClean="0">
                <a:solidFill>
                  <a:srgbClr val="585858"/>
                </a:solidFill>
                <a:latin typeface="+mn-lt"/>
                <a:cs typeface="Calibri"/>
              </a:rPr>
              <a:t>partir</a:t>
            </a:r>
            <a:r>
              <a:rPr lang="fr-FR" sz="1200" spc="95" dirty="0" smtClean="0">
                <a:solidFill>
                  <a:srgbClr val="585858"/>
                </a:solidFill>
                <a:latin typeface="+mn-lt"/>
                <a:cs typeface="Calibri"/>
              </a:rPr>
              <a:t> </a:t>
            </a:r>
            <a:r>
              <a:rPr lang="fr-FR" sz="1200" dirty="0" smtClean="0">
                <a:solidFill>
                  <a:srgbClr val="585858"/>
                </a:solidFill>
                <a:latin typeface="+mn-lt"/>
                <a:cs typeface="Calibri"/>
              </a:rPr>
              <a:t>de</a:t>
            </a:r>
            <a:r>
              <a:rPr lang="fr-FR" sz="1200" spc="105" dirty="0" smtClean="0">
                <a:solidFill>
                  <a:srgbClr val="585858"/>
                </a:solidFill>
                <a:latin typeface="+mn-lt"/>
                <a:cs typeface="Calibri"/>
              </a:rPr>
              <a:t> </a:t>
            </a:r>
            <a:r>
              <a:rPr lang="fr-FR" sz="1200" dirty="0" smtClean="0">
                <a:solidFill>
                  <a:srgbClr val="585858"/>
                </a:solidFill>
                <a:latin typeface="+mn-lt"/>
                <a:cs typeface="Calibri"/>
              </a:rPr>
              <a:t>sa</a:t>
            </a:r>
            <a:r>
              <a:rPr lang="fr-FR" sz="1200" spc="105" dirty="0" smtClean="0">
                <a:solidFill>
                  <a:srgbClr val="585858"/>
                </a:solidFill>
                <a:latin typeface="+mn-lt"/>
                <a:cs typeface="Calibri"/>
              </a:rPr>
              <a:t> </a:t>
            </a:r>
            <a:r>
              <a:rPr lang="fr-FR" sz="1200" spc="-10" dirty="0" smtClean="0">
                <a:solidFill>
                  <a:srgbClr val="585858"/>
                </a:solidFill>
                <a:latin typeface="+mn-lt"/>
                <a:cs typeface="Calibri"/>
              </a:rPr>
              <a:t>dernière </a:t>
            </a:r>
            <a:r>
              <a:rPr lang="fr-FR" sz="1200" dirty="0" smtClean="0">
                <a:solidFill>
                  <a:srgbClr val="585858"/>
                </a:solidFill>
                <a:latin typeface="+mn-lt"/>
                <a:cs typeface="Calibri"/>
              </a:rPr>
              <a:t>exécution</a:t>
            </a:r>
            <a:r>
              <a:rPr lang="fr-FR" sz="1200" spc="210" dirty="0" smtClean="0">
                <a:solidFill>
                  <a:srgbClr val="585858"/>
                </a:solidFill>
                <a:latin typeface="+mn-lt"/>
                <a:cs typeface="Calibri"/>
              </a:rPr>
              <a:t> </a:t>
            </a:r>
            <a:r>
              <a:rPr lang="fr-FR" sz="1200" dirty="0" smtClean="0">
                <a:solidFill>
                  <a:srgbClr val="585858"/>
                </a:solidFill>
                <a:latin typeface="+mn-lt"/>
                <a:cs typeface="Calibri"/>
              </a:rPr>
              <a:t>rechargée,</a:t>
            </a:r>
            <a:r>
              <a:rPr lang="fr-FR" sz="1200" spc="170" dirty="0" smtClean="0">
                <a:solidFill>
                  <a:srgbClr val="585858"/>
                </a:solidFill>
                <a:latin typeface="+mn-lt"/>
                <a:cs typeface="Calibri"/>
              </a:rPr>
              <a:t> </a:t>
            </a:r>
            <a:r>
              <a:rPr lang="fr-FR" sz="1200" dirty="0" smtClean="0">
                <a:solidFill>
                  <a:srgbClr val="585858"/>
                </a:solidFill>
                <a:latin typeface="+mn-lt"/>
                <a:cs typeface="Calibri"/>
              </a:rPr>
              <a:t>à</a:t>
            </a:r>
            <a:r>
              <a:rPr lang="fr-FR" sz="1200" spc="220" dirty="0" smtClean="0">
                <a:solidFill>
                  <a:srgbClr val="585858"/>
                </a:solidFill>
                <a:latin typeface="+mn-lt"/>
                <a:cs typeface="Calibri"/>
              </a:rPr>
              <a:t> </a:t>
            </a:r>
            <a:r>
              <a:rPr lang="fr-FR" sz="1200" dirty="0" smtClean="0">
                <a:solidFill>
                  <a:srgbClr val="585858"/>
                </a:solidFill>
                <a:latin typeface="+mn-lt"/>
                <a:cs typeface="Calibri"/>
              </a:rPr>
              <a:t>partir</a:t>
            </a:r>
            <a:r>
              <a:rPr lang="fr-FR" sz="1200" spc="204" dirty="0" smtClean="0">
                <a:solidFill>
                  <a:srgbClr val="585858"/>
                </a:solidFill>
                <a:latin typeface="+mn-lt"/>
                <a:cs typeface="Calibri"/>
              </a:rPr>
              <a:t> </a:t>
            </a:r>
            <a:r>
              <a:rPr lang="fr-FR" sz="1200" dirty="0" smtClean="0">
                <a:solidFill>
                  <a:srgbClr val="585858"/>
                </a:solidFill>
                <a:latin typeface="+mn-lt"/>
                <a:cs typeface="Calibri"/>
              </a:rPr>
              <a:t>son</a:t>
            </a:r>
            <a:r>
              <a:rPr lang="fr-FR" sz="1200" spc="215" dirty="0" smtClean="0">
                <a:solidFill>
                  <a:srgbClr val="585858"/>
                </a:solidFill>
                <a:latin typeface="+mn-lt"/>
                <a:cs typeface="Calibri"/>
              </a:rPr>
              <a:t> </a:t>
            </a:r>
            <a:r>
              <a:rPr lang="fr-FR" sz="1200" dirty="0" smtClean="0">
                <a:solidFill>
                  <a:srgbClr val="585858"/>
                </a:solidFill>
                <a:latin typeface="+mn-lt"/>
                <a:cs typeface="Calibri"/>
              </a:rPr>
              <a:t>état</a:t>
            </a:r>
            <a:r>
              <a:rPr lang="fr-FR" sz="1200" spc="195" dirty="0" smtClean="0">
                <a:solidFill>
                  <a:srgbClr val="585858"/>
                </a:solidFill>
                <a:latin typeface="+mn-lt"/>
                <a:cs typeface="Calibri"/>
              </a:rPr>
              <a:t> </a:t>
            </a:r>
            <a:r>
              <a:rPr lang="fr-FR" sz="1200" dirty="0" smtClean="0">
                <a:solidFill>
                  <a:srgbClr val="585858"/>
                </a:solidFill>
                <a:latin typeface="+mn-lt"/>
                <a:cs typeface="Calibri"/>
              </a:rPr>
              <a:t>sauvegardé</a:t>
            </a:r>
            <a:r>
              <a:rPr lang="fr-FR" sz="1200" spc="200" dirty="0" smtClean="0">
                <a:solidFill>
                  <a:srgbClr val="585858"/>
                </a:solidFill>
                <a:latin typeface="+mn-lt"/>
                <a:cs typeface="Calibri"/>
              </a:rPr>
              <a:t> </a:t>
            </a:r>
            <a:r>
              <a:rPr lang="fr-FR" sz="1200" dirty="0" smtClean="0">
                <a:solidFill>
                  <a:srgbClr val="585858"/>
                </a:solidFill>
                <a:latin typeface="+mn-lt"/>
                <a:cs typeface="Calibri"/>
              </a:rPr>
              <a:t>dans</a:t>
            </a:r>
            <a:r>
              <a:rPr lang="fr-FR" sz="1200" spc="225" dirty="0" smtClean="0">
                <a:solidFill>
                  <a:srgbClr val="585858"/>
                </a:solidFill>
                <a:latin typeface="+mn-lt"/>
                <a:cs typeface="Calibri"/>
              </a:rPr>
              <a:t> </a:t>
            </a:r>
            <a:r>
              <a:rPr lang="fr-FR" sz="1200" dirty="0" smtClean="0">
                <a:solidFill>
                  <a:srgbClr val="585858"/>
                </a:solidFill>
                <a:latin typeface="+mn-lt"/>
                <a:cs typeface="Calibri"/>
              </a:rPr>
              <a:t>le</a:t>
            </a:r>
            <a:r>
              <a:rPr lang="fr-FR" sz="1200" spc="195" dirty="0" smtClean="0">
                <a:solidFill>
                  <a:srgbClr val="585858"/>
                </a:solidFill>
                <a:latin typeface="+mn-lt"/>
                <a:cs typeface="Calibri"/>
              </a:rPr>
              <a:t> </a:t>
            </a:r>
            <a:r>
              <a:rPr lang="fr-FR" sz="1200" dirty="0" smtClean="0">
                <a:solidFill>
                  <a:srgbClr val="585858"/>
                </a:solidFill>
                <a:latin typeface="+mn-lt"/>
                <a:cs typeface="Calibri"/>
              </a:rPr>
              <a:t>bloc</a:t>
            </a:r>
            <a:r>
              <a:rPr lang="fr-FR" sz="1200" spc="210" dirty="0" smtClean="0">
                <a:solidFill>
                  <a:srgbClr val="585858"/>
                </a:solidFill>
                <a:latin typeface="+mn-lt"/>
                <a:cs typeface="Calibri"/>
              </a:rPr>
              <a:t> </a:t>
            </a:r>
            <a:r>
              <a:rPr lang="fr-FR" sz="1200" dirty="0" smtClean="0">
                <a:solidFill>
                  <a:srgbClr val="585858"/>
                </a:solidFill>
                <a:latin typeface="+mn-lt"/>
                <a:cs typeface="Calibri"/>
              </a:rPr>
              <a:t>de</a:t>
            </a:r>
            <a:r>
              <a:rPr lang="fr-FR" sz="1200" spc="200" dirty="0" smtClean="0">
                <a:solidFill>
                  <a:srgbClr val="585858"/>
                </a:solidFill>
                <a:latin typeface="+mn-lt"/>
                <a:cs typeface="Calibri"/>
              </a:rPr>
              <a:t> </a:t>
            </a:r>
            <a:r>
              <a:rPr lang="fr-FR" sz="1200" spc="-10" dirty="0" smtClean="0">
                <a:solidFill>
                  <a:srgbClr val="585858"/>
                </a:solidFill>
                <a:latin typeface="+mn-lt"/>
                <a:cs typeface="Calibri"/>
              </a:rPr>
              <a:t>contrôle </a:t>
            </a:r>
            <a:r>
              <a:rPr lang="fr-FR" sz="1200" dirty="0" smtClean="0">
                <a:solidFill>
                  <a:srgbClr val="585858"/>
                </a:solidFill>
                <a:latin typeface="+mn-lt"/>
                <a:cs typeface="Calibri"/>
              </a:rPr>
              <a:t>PCB1.</a:t>
            </a:r>
            <a:r>
              <a:rPr lang="fr-FR" sz="1200" spc="165" dirty="0" smtClean="0">
                <a:solidFill>
                  <a:srgbClr val="585858"/>
                </a:solidFill>
                <a:latin typeface="+mn-lt"/>
                <a:cs typeface="Calibri"/>
              </a:rPr>
              <a:t> </a:t>
            </a:r>
            <a:r>
              <a:rPr lang="fr-FR" sz="1200" dirty="0" smtClean="0">
                <a:solidFill>
                  <a:srgbClr val="585858"/>
                </a:solidFill>
                <a:latin typeface="+mn-lt"/>
                <a:cs typeface="Calibri"/>
              </a:rPr>
              <a:t>Le</a:t>
            </a:r>
            <a:r>
              <a:rPr lang="fr-FR" sz="1200" spc="160" dirty="0" smtClean="0">
                <a:solidFill>
                  <a:srgbClr val="585858"/>
                </a:solidFill>
                <a:latin typeface="+mn-lt"/>
                <a:cs typeface="Calibri"/>
              </a:rPr>
              <a:t> </a:t>
            </a:r>
            <a:r>
              <a:rPr lang="fr-FR" sz="1200" dirty="0" smtClean="0">
                <a:solidFill>
                  <a:srgbClr val="585858"/>
                </a:solidFill>
                <a:latin typeface="+mn-lt"/>
                <a:cs typeface="Calibri"/>
              </a:rPr>
              <a:t>processus</a:t>
            </a:r>
            <a:r>
              <a:rPr lang="fr-FR" sz="1200" spc="175" dirty="0" smtClean="0">
                <a:solidFill>
                  <a:srgbClr val="585858"/>
                </a:solidFill>
                <a:latin typeface="+mn-lt"/>
                <a:cs typeface="Calibri"/>
              </a:rPr>
              <a:t> </a:t>
            </a:r>
            <a:r>
              <a:rPr lang="fr-FR" sz="1200" dirty="0" smtClean="0">
                <a:solidFill>
                  <a:srgbClr val="585858"/>
                </a:solidFill>
                <a:latin typeface="+mn-lt"/>
                <a:cs typeface="Calibri"/>
              </a:rPr>
              <a:t>P1</a:t>
            </a:r>
            <a:r>
              <a:rPr lang="fr-FR" sz="1200" spc="175" dirty="0" smtClean="0">
                <a:solidFill>
                  <a:srgbClr val="585858"/>
                </a:solidFill>
                <a:latin typeface="+mn-lt"/>
                <a:cs typeface="Calibri"/>
              </a:rPr>
              <a:t> </a:t>
            </a:r>
            <a:r>
              <a:rPr lang="fr-FR" sz="1200" dirty="0" smtClean="0">
                <a:solidFill>
                  <a:srgbClr val="585858"/>
                </a:solidFill>
                <a:latin typeface="+mn-lt"/>
                <a:cs typeface="Calibri"/>
              </a:rPr>
              <a:t>peut</a:t>
            </a:r>
            <a:r>
              <a:rPr lang="fr-FR" sz="1200" spc="165" dirty="0" smtClean="0">
                <a:solidFill>
                  <a:srgbClr val="585858"/>
                </a:solidFill>
                <a:latin typeface="+mn-lt"/>
                <a:cs typeface="Calibri"/>
              </a:rPr>
              <a:t> </a:t>
            </a:r>
            <a:r>
              <a:rPr lang="fr-FR" sz="1200" dirty="0" smtClean="0">
                <a:solidFill>
                  <a:srgbClr val="585858"/>
                </a:solidFill>
                <a:latin typeface="+mn-lt"/>
                <a:cs typeface="Calibri"/>
              </a:rPr>
              <a:t>aussi</a:t>
            </a:r>
            <a:r>
              <a:rPr lang="fr-FR" sz="1200" spc="145" dirty="0" smtClean="0">
                <a:solidFill>
                  <a:srgbClr val="585858"/>
                </a:solidFill>
                <a:latin typeface="+mn-lt"/>
                <a:cs typeface="Calibri"/>
              </a:rPr>
              <a:t> </a:t>
            </a:r>
            <a:r>
              <a:rPr lang="fr-FR" sz="1200" dirty="0" smtClean="0">
                <a:solidFill>
                  <a:srgbClr val="585858"/>
                </a:solidFill>
                <a:latin typeface="+mn-lt"/>
                <a:cs typeface="Calibri"/>
              </a:rPr>
              <a:t>être</a:t>
            </a:r>
            <a:r>
              <a:rPr lang="fr-FR" sz="1200" spc="160" dirty="0" smtClean="0">
                <a:solidFill>
                  <a:srgbClr val="585858"/>
                </a:solidFill>
                <a:latin typeface="+mn-lt"/>
                <a:cs typeface="Calibri"/>
              </a:rPr>
              <a:t> </a:t>
            </a:r>
            <a:r>
              <a:rPr lang="fr-FR" sz="1200" dirty="0" smtClean="0">
                <a:solidFill>
                  <a:srgbClr val="585858"/>
                </a:solidFill>
                <a:latin typeface="+mn-lt"/>
                <a:cs typeface="Calibri"/>
              </a:rPr>
              <a:t>interrompu</a:t>
            </a:r>
            <a:r>
              <a:rPr lang="fr-FR" sz="1200" spc="160" dirty="0" smtClean="0">
                <a:solidFill>
                  <a:srgbClr val="585858"/>
                </a:solidFill>
                <a:latin typeface="+mn-lt"/>
                <a:cs typeface="Calibri"/>
              </a:rPr>
              <a:t> </a:t>
            </a:r>
            <a:r>
              <a:rPr lang="fr-FR" sz="1200" dirty="0" smtClean="0">
                <a:solidFill>
                  <a:srgbClr val="585858"/>
                </a:solidFill>
                <a:latin typeface="+mn-lt"/>
                <a:cs typeface="Calibri"/>
              </a:rPr>
              <a:t>ou</a:t>
            </a:r>
            <a:r>
              <a:rPr lang="fr-FR" sz="1200" spc="155" dirty="0" smtClean="0">
                <a:solidFill>
                  <a:srgbClr val="585858"/>
                </a:solidFill>
                <a:latin typeface="+mn-lt"/>
                <a:cs typeface="Calibri"/>
              </a:rPr>
              <a:t> </a:t>
            </a:r>
            <a:r>
              <a:rPr lang="fr-FR" sz="1200" dirty="0" smtClean="0">
                <a:solidFill>
                  <a:srgbClr val="585858"/>
                </a:solidFill>
                <a:latin typeface="+mn-lt"/>
                <a:cs typeface="Calibri"/>
              </a:rPr>
              <a:t>bloqué,</a:t>
            </a:r>
            <a:r>
              <a:rPr lang="fr-FR" sz="1200" spc="150" dirty="0" smtClean="0">
                <a:solidFill>
                  <a:srgbClr val="585858"/>
                </a:solidFill>
                <a:latin typeface="+mn-lt"/>
                <a:cs typeface="Calibri"/>
              </a:rPr>
              <a:t> </a:t>
            </a:r>
            <a:r>
              <a:rPr lang="fr-FR" sz="1200" dirty="0" smtClean="0">
                <a:solidFill>
                  <a:srgbClr val="585858"/>
                </a:solidFill>
                <a:latin typeface="+mn-lt"/>
                <a:cs typeface="Calibri"/>
              </a:rPr>
              <a:t>dans</a:t>
            </a:r>
            <a:r>
              <a:rPr lang="fr-FR" sz="1200" spc="170" dirty="0" smtClean="0">
                <a:solidFill>
                  <a:srgbClr val="585858"/>
                </a:solidFill>
                <a:latin typeface="+mn-lt"/>
                <a:cs typeface="Calibri"/>
              </a:rPr>
              <a:t> </a:t>
            </a:r>
            <a:r>
              <a:rPr lang="fr-FR" sz="1200" dirty="0" smtClean="0">
                <a:solidFill>
                  <a:srgbClr val="585858"/>
                </a:solidFill>
                <a:latin typeface="+mn-lt"/>
                <a:cs typeface="Calibri"/>
              </a:rPr>
              <a:t>ce</a:t>
            </a:r>
            <a:r>
              <a:rPr lang="fr-FR" sz="1200" spc="185" dirty="0" smtClean="0">
                <a:solidFill>
                  <a:srgbClr val="585858"/>
                </a:solidFill>
                <a:latin typeface="+mn-lt"/>
                <a:cs typeface="Calibri"/>
              </a:rPr>
              <a:t> </a:t>
            </a:r>
            <a:r>
              <a:rPr lang="fr-FR" sz="1200" dirty="0" smtClean="0">
                <a:solidFill>
                  <a:srgbClr val="585858"/>
                </a:solidFill>
                <a:latin typeface="+mn-lt"/>
                <a:cs typeface="Calibri"/>
              </a:rPr>
              <a:t>cas</a:t>
            </a:r>
            <a:r>
              <a:rPr lang="fr-FR" sz="1200" spc="165" dirty="0" smtClean="0">
                <a:solidFill>
                  <a:srgbClr val="585858"/>
                </a:solidFill>
                <a:latin typeface="+mn-lt"/>
                <a:cs typeface="Calibri"/>
              </a:rPr>
              <a:t> </a:t>
            </a:r>
            <a:r>
              <a:rPr lang="fr-FR" sz="1200" spc="-25" dirty="0" smtClean="0">
                <a:solidFill>
                  <a:srgbClr val="585858"/>
                </a:solidFill>
                <a:latin typeface="+mn-lt"/>
                <a:cs typeface="Calibri"/>
              </a:rPr>
              <a:t>il </a:t>
            </a:r>
            <a:r>
              <a:rPr lang="fr-FR" sz="1200" dirty="0" smtClean="0">
                <a:solidFill>
                  <a:srgbClr val="585858"/>
                </a:solidFill>
                <a:latin typeface="+mn-lt"/>
                <a:cs typeface="Calibri"/>
              </a:rPr>
              <a:t>sauvegarde</a:t>
            </a:r>
            <a:r>
              <a:rPr lang="fr-FR" sz="1200" spc="25" dirty="0" smtClean="0">
                <a:solidFill>
                  <a:srgbClr val="585858"/>
                </a:solidFill>
                <a:latin typeface="+mn-lt"/>
                <a:cs typeface="Calibri"/>
              </a:rPr>
              <a:t> </a:t>
            </a:r>
            <a:r>
              <a:rPr lang="fr-FR" sz="1200" dirty="0" smtClean="0">
                <a:solidFill>
                  <a:srgbClr val="585858"/>
                </a:solidFill>
                <a:latin typeface="+mn-lt"/>
                <a:cs typeface="Calibri"/>
              </a:rPr>
              <a:t>son</a:t>
            </a:r>
            <a:r>
              <a:rPr lang="fr-FR" sz="1200" spc="35" dirty="0" smtClean="0">
                <a:solidFill>
                  <a:srgbClr val="585858"/>
                </a:solidFill>
                <a:latin typeface="+mn-lt"/>
                <a:cs typeface="Calibri"/>
              </a:rPr>
              <a:t> </a:t>
            </a:r>
            <a:r>
              <a:rPr lang="fr-FR" sz="1200" dirty="0" smtClean="0">
                <a:solidFill>
                  <a:srgbClr val="585858"/>
                </a:solidFill>
                <a:latin typeface="+mn-lt"/>
                <a:cs typeface="Calibri"/>
              </a:rPr>
              <a:t>état</a:t>
            </a:r>
            <a:r>
              <a:rPr lang="fr-FR" sz="1200" spc="30" dirty="0" smtClean="0">
                <a:solidFill>
                  <a:srgbClr val="585858"/>
                </a:solidFill>
                <a:latin typeface="+mn-lt"/>
                <a:cs typeface="Calibri"/>
              </a:rPr>
              <a:t> </a:t>
            </a:r>
            <a:r>
              <a:rPr lang="fr-FR" sz="1200" spc="-10" dirty="0" smtClean="0">
                <a:solidFill>
                  <a:srgbClr val="585858"/>
                </a:solidFill>
                <a:latin typeface="+mn-lt"/>
                <a:cs typeface="Calibri"/>
              </a:rPr>
              <a:t>d’exécution</a:t>
            </a:r>
            <a:r>
              <a:rPr lang="fr-FR" sz="1200" spc="40" dirty="0" smtClean="0">
                <a:solidFill>
                  <a:srgbClr val="585858"/>
                </a:solidFill>
                <a:latin typeface="+mn-lt"/>
                <a:cs typeface="Calibri"/>
              </a:rPr>
              <a:t> </a:t>
            </a:r>
            <a:r>
              <a:rPr lang="fr-FR" sz="1200" dirty="0" smtClean="0">
                <a:solidFill>
                  <a:srgbClr val="585858"/>
                </a:solidFill>
                <a:latin typeface="+mn-lt"/>
                <a:cs typeface="Calibri"/>
              </a:rPr>
              <a:t>dans</a:t>
            </a:r>
            <a:r>
              <a:rPr lang="fr-FR" sz="1200" spc="50" dirty="0" smtClean="0">
                <a:solidFill>
                  <a:srgbClr val="585858"/>
                </a:solidFill>
                <a:latin typeface="+mn-lt"/>
                <a:cs typeface="Calibri"/>
              </a:rPr>
              <a:t> </a:t>
            </a:r>
            <a:r>
              <a:rPr lang="fr-FR" sz="1200" dirty="0" smtClean="0">
                <a:solidFill>
                  <a:srgbClr val="585858"/>
                </a:solidFill>
                <a:latin typeface="+mn-lt"/>
                <a:cs typeface="Calibri"/>
              </a:rPr>
              <a:t>PCB1</a:t>
            </a:r>
            <a:r>
              <a:rPr lang="fr-FR" sz="1200" spc="35" dirty="0" smtClean="0">
                <a:solidFill>
                  <a:srgbClr val="585858"/>
                </a:solidFill>
                <a:latin typeface="+mn-lt"/>
                <a:cs typeface="Calibri"/>
              </a:rPr>
              <a:t> </a:t>
            </a:r>
            <a:r>
              <a:rPr lang="fr-FR" sz="1200" dirty="0" smtClean="0">
                <a:solidFill>
                  <a:srgbClr val="585858"/>
                </a:solidFill>
                <a:latin typeface="+mn-lt"/>
                <a:cs typeface="Calibri"/>
              </a:rPr>
              <a:t>et</a:t>
            </a:r>
            <a:r>
              <a:rPr lang="fr-FR" sz="1200" spc="30" dirty="0" smtClean="0">
                <a:solidFill>
                  <a:srgbClr val="585858"/>
                </a:solidFill>
                <a:latin typeface="+mn-lt"/>
                <a:cs typeface="Calibri"/>
              </a:rPr>
              <a:t> </a:t>
            </a:r>
            <a:r>
              <a:rPr lang="fr-FR" sz="1200" dirty="0" smtClean="0">
                <a:solidFill>
                  <a:srgbClr val="585858"/>
                </a:solidFill>
                <a:latin typeface="+mn-lt"/>
                <a:cs typeface="Calibri"/>
              </a:rPr>
              <a:t>libère</a:t>
            </a:r>
            <a:r>
              <a:rPr lang="fr-FR" sz="1200" spc="50" dirty="0" smtClean="0">
                <a:solidFill>
                  <a:srgbClr val="585858"/>
                </a:solidFill>
                <a:latin typeface="+mn-lt"/>
                <a:cs typeface="Calibri"/>
              </a:rPr>
              <a:t> </a:t>
            </a:r>
            <a:r>
              <a:rPr lang="fr-FR" sz="1200" dirty="0" smtClean="0">
                <a:solidFill>
                  <a:srgbClr val="585858"/>
                </a:solidFill>
                <a:latin typeface="+mn-lt"/>
                <a:cs typeface="Calibri"/>
              </a:rPr>
              <a:t>le</a:t>
            </a:r>
            <a:r>
              <a:rPr lang="fr-FR" sz="1200" spc="45" dirty="0" smtClean="0">
                <a:solidFill>
                  <a:srgbClr val="585858"/>
                </a:solidFill>
                <a:latin typeface="+mn-lt"/>
                <a:cs typeface="Calibri"/>
              </a:rPr>
              <a:t> </a:t>
            </a:r>
            <a:r>
              <a:rPr lang="fr-FR" sz="1200" dirty="0" smtClean="0">
                <a:solidFill>
                  <a:srgbClr val="585858"/>
                </a:solidFill>
                <a:latin typeface="+mn-lt"/>
                <a:cs typeface="Calibri"/>
              </a:rPr>
              <a:t>processeur</a:t>
            </a:r>
            <a:r>
              <a:rPr lang="fr-FR" sz="1200" spc="10" dirty="0" smtClean="0">
                <a:solidFill>
                  <a:srgbClr val="585858"/>
                </a:solidFill>
                <a:latin typeface="+mn-lt"/>
                <a:cs typeface="Calibri"/>
              </a:rPr>
              <a:t> </a:t>
            </a:r>
            <a:r>
              <a:rPr lang="fr-FR" sz="1200" dirty="0" smtClean="0">
                <a:solidFill>
                  <a:srgbClr val="585858"/>
                </a:solidFill>
                <a:latin typeface="+mn-lt"/>
                <a:cs typeface="Calibri"/>
              </a:rPr>
              <a:t>puis</a:t>
            </a:r>
            <a:r>
              <a:rPr lang="fr-FR" sz="1200" spc="55" dirty="0" smtClean="0">
                <a:solidFill>
                  <a:srgbClr val="585858"/>
                </a:solidFill>
                <a:latin typeface="+mn-lt"/>
                <a:cs typeface="Calibri"/>
              </a:rPr>
              <a:t> </a:t>
            </a:r>
            <a:r>
              <a:rPr lang="fr-FR" sz="1200" spc="-10" dirty="0" smtClean="0">
                <a:solidFill>
                  <a:srgbClr val="585858"/>
                </a:solidFill>
                <a:latin typeface="+mn-lt"/>
                <a:cs typeface="Calibri"/>
              </a:rPr>
              <a:t>donne </a:t>
            </a:r>
            <a:r>
              <a:rPr lang="fr-FR" sz="1200" dirty="0" smtClean="0">
                <a:solidFill>
                  <a:srgbClr val="585858"/>
                </a:solidFill>
                <a:latin typeface="+mn-lt"/>
                <a:cs typeface="Calibri"/>
              </a:rPr>
              <a:t>la</a:t>
            </a:r>
            <a:r>
              <a:rPr lang="fr-FR" sz="1200" spc="390" dirty="0" smtClean="0">
                <a:solidFill>
                  <a:srgbClr val="585858"/>
                </a:solidFill>
                <a:latin typeface="+mn-lt"/>
                <a:cs typeface="Calibri"/>
              </a:rPr>
              <a:t> </a:t>
            </a:r>
            <a:r>
              <a:rPr lang="fr-FR" sz="1200" dirty="0" smtClean="0">
                <a:solidFill>
                  <a:srgbClr val="585858"/>
                </a:solidFill>
                <a:latin typeface="+mn-lt"/>
                <a:cs typeface="Calibri"/>
              </a:rPr>
              <a:t>main</a:t>
            </a:r>
            <a:r>
              <a:rPr lang="fr-FR" sz="1200" spc="385" dirty="0" smtClean="0">
                <a:solidFill>
                  <a:srgbClr val="585858"/>
                </a:solidFill>
                <a:latin typeface="+mn-lt"/>
                <a:cs typeface="Calibri"/>
              </a:rPr>
              <a:t> </a:t>
            </a:r>
            <a:r>
              <a:rPr lang="fr-FR" sz="1200" dirty="0" smtClean="0">
                <a:solidFill>
                  <a:srgbClr val="585858"/>
                </a:solidFill>
                <a:latin typeface="+mn-lt"/>
                <a:cs typeface="Calibri"/>
              </a:rPr>
              <a:t>au</a:t>
            </a:r>
            <a:r>
              <a:rPr lang="fr-FR" sz="1200" spc="409" dirty="0" smtClean="0">
                <a:solidFill>
                  <a:srgbClr val="585858"/>
                </a:solidFill>
                <a:latin typeface="+mn-lt"/>
                <a:cs typeface="Calibri"/>
              </a:rPr>
              <a:t> </a:t>
            </a:r>
            <a:r>
              <a:rPr lang="fr-FR" sz="1200" dirty="0" smtClean="0">
                <a:solidFill>
                  <a:srgbClr val="585858"/>
                </a:solidFill>
                <a:latin typeface="+mn-lt"/>
                <a:cs typeface="Calibri"/>
              </a:rPr>
              <a:t>processus</a:t>
            </a:r>
            <a:r>
              <a:rPr lang="fr-FR" sz="1200" spc="409" dirty="0" smtClean="0">
                <a:solidFill>
                  <a:srgbClr val="585858"/>
                </a:solidFill>
                <a:latin typeface="+mn-lt"/>
                <a:cs typeface="Calibri"/>
              </a:rPr>
              <a:t> </a:t>
            </a:r>
            <a:r>
              <a:rPr lang="fr-FR" sz="1200" dirty="0" smtClean="0">
                <a:solidFill>
                  <a:srgbClr val="585858"/>
                </a:solidFill>
                <a:latin typeface="+mn-lt"/>
                <a:cs typeface="Calibri"/>
              </a:rPr>
              <a:t>P0</a:t>
            </a:r>
            <a:r>
              <a:rPr lang="fr-FR" sz="1200" spc="385" dirty="0" smtClean="0">
                <a:solidFill>
                  <a:srgbClr val="585858"/>
                </a:solidFill>
                <a:latin typeface="+mn-lt"/>
                <a:cs typeface="Calibri"/>
              </a:rPr>
              <a:t> </a:t>
            </a:r>
            <a:r>
              <a:rPr lang="fr-FR" sz="1200" dirty="0" smtClean="0">
                <a:solidFill>
                  <a:srgbClr val="585858"/>
                </a:solidFill>
                <a:latin typeface="+mn-lt"/>
                <a:cs typeface="Calibri"/>
              </a:rPr>
              <a:t>pour</a:t>
            </a:r>
            <a:r>
              <a:rPr lang="fr-FR" sz="1200" spc="405" dirty="0" smtClean="0">
                <a:solidFill>
                  <a:srgbClr val="585858"/>
                </a:solidFill>
                <a:latin typeface="+mn-lt"/>
                <a:cs typeface="Calibri"/>
              </a:rPr>
              <a:t> </a:t>
            </a:r>
            <a:r>
              <a:rPr lang="fr-FR" sz="1200" dirty="0" smtClean="0">
                <a:solidFill>
                  <a:srgbClr val="585858"/>
                </a:solidFill>
                <a:latin typeface="+mn-lt"/>
                <a:cs typeface="Calibri"/>
              </a:rPr>
              <a:t>reprendre</a:t>
            </a:r>
            <a:r>
              <a:rPr lang="fr-FR" sz="1200" spc="400" dirty="0" smtClean="0">
                <a:solidFill>
                  <a:srgbClr val="585858"/>
                </a:solidFill>
                <a:latin typeface="+mn-lt"/>
                <a:cs typeface="Calibri"/>
              </a:rPr>
              <a:t> </a:t>
            </a:r>
            <a:r>
              <a:rPr lang="fr-FR" sz="1200" dirty="0" smtClean="0">
                <a:solidFill>
                  <a:srgbClr val="585858"/>
                </a:solidFill>
                <a:latin typeface="+mn-lt"/>
                <a:cs typeface="Calibri"/>
              </a:rPr>
              <a:t>son</a:t>
            </a:r>
            <a:r>
              <a:rPr lang="fr-FR" sz="1200" spc="415" dirty="0" smtClean="0">
                <a:solidFill>
                  <a:srgbClr val="585858"/>
                </a:solidFill>
                <a:latin typeface="+mn-lt"/>
                <a:cs typeface="Calibri"/>
              </a:rPr>
              <a:t> </a:t>
            </a:r>
            <a:r>
              <a:rPr lang="fr-FR" sz="1200" dirty="0" smtClean="0">
                <a:solidFill>
                  <a:srgbClr val="585858"/>
                </a:solidFill>
                <a:latin typeface="+mn-lt"/>
                <a:cs typeface="Calibri"/>
              </a:rPr>
              <a:t>travail</a:t>
            </a:r>
            <a:r>
              <a:rPr lang="fr-FR" sz="1200" spc="380" dirty="0" smtClean="0">
                <a:solidFill>
                  <a:srgbClr val="585858"/>
                </a:solidFill>
                <a:latin typeface="+mn-lt"/>
                <a:cs typeface="Calibri"/>
              </a:rPr>
              <a:t> </a:t>
            </a:r>
            <a:r>
              <a:rPr lang="fr-FR" sz="1200" dirty="0" smtClean="0">
                <a:solidFill>
                  <a:srgbClr val="585858"/>
                </a:solidFill>
                <a:latin typeface="+mn-lt"/>
                <a:cs typeface="Calibri"/>
              </a:rPr>
              <a:t>en</a:t>
            </a:r>
            <a:r>
              <a:rPr lang="fr-FR" sz="1200" spc="390" dirty="0" smtClean="0">
                <a:solidFill>
                  <a:srgbClr val="585858"/>
                </a:solidFill>
                <a:latin typeface="+mn-lt"/>
                <a:cs typeface="Calibri"/>
              </a:rPr>
              <a:t> </a:t>
            </a:r>
            <a:r>
              <a:rPr lang="fr-FR" sz="1200" dirty="0" smtClean="0">
                <a:solidFill>
                  <a:srgbClr val="585858"/>
                </a:solidFill>
                <a:latin typeface="+mn-lt"/>
                <a:cs typeface="Calibri"/>
              </a:rPr>
              <a:t>chargeant</a:t>
            </a:r>
            <a:r>
              <a:rPr lang="fr-FR" sz="1200" spc="409" dirty="0" smtClean="0">
                <a:solidFill>
                  <a:srgbClr val="585858"/>
                </a:solidFill>
                <a:latin typeface="+mn-lt"/>
                <a:cs typeface="Calibri"/>
              </a:rPr>
              <a:t> </a:t>
            </a:r>
            <a:r>
              <a:rPr lang="fr-FR" sz="1200" spc="-10" dirty="0" smtClean="0">
                <a:solidFill>
                  <a:srgbClr val="585858"/>
                </a:solidFill>
                <a:latin typeface="+mn-lt"/>
                <a:cs typeface="Calibri"/>
              </a:rPr>
              <a:t>l’état </a:t>
            </a:r>
            <a:r>
              <a:rPr lang="fr-FR" sz="1200" dirty="0" smtClean="0">
                <a:solidFill>
                  <a:srgbClr val="585858"/>
                </a:solidFill>
                <a:latin typeface="+mn-lt"/>
                <a:cs typeface="Calibri"/>
              </a:rPr>
              <a:t>sauvegardé</a:t>
            </a:r>
            <a:r>
              <a:rPr lang="fr-FR" sz="1200" spc="220" dirty="0" smtClean="0">
                <a:solidFill>
                  <a:srgbClr val="585858"/>
                </a:solidFill>
                <a:latin typeface="+mn-lt"/>
                <a:cs typeface="Calibri"/>
              </a:rPr>
              <a:t> </a:t>
            </a:r>
            <a:r>
              <a:rPr lang="fr-FR" sz="1200" dirty="0" smtClean="0">
                <a:solidFill>
                  <a:srgbClr val="585858"/>
                </a:solidFill>
                <a:latin typeface="+mn-lt"/>
                <a:cs typeface="Calibri"/>
              </a:rPr>
              <a:t>de</a:t>
            </a:r>
            <a:r>
              <a:rPr lang="fr-FR" sz="1200" spc="215" dirty="0" smtClean="0">
                <a:solidFill>
                  <a:srgbClr val="585858"/>
                </a:solidFill>
                <a:latin typeface="+mn-lt"/>
                <a:cs typeface="Calibri"/>
              </a:rPr>
              <a:t> </a:t>
            </a:r>
            <a:r>
              <a:rPr lang="fr-FR" sz="1200" dirty="0" smtClean="0">
                <a:solidFill>
                  <a:srgbClr val="585858"/>
                </a:solidFill>
                <a:latin typeface="+mn-lt"/>
                <a:cs typeface="Calibri"/>
              </a:rPr>
              <a:t>sa</a:t>
            </a:r>
            <a:r>
              <a:rPr lang="fr-FR" sz="1200" spc="215" dirty="0" smtClean="0">
                <a:solidFill>
                  <a:srgbClr val="585858"/>
                </a:solidFill>
                <a:latin typeface="+mn-lt"/>
                <a:cs typeface="Calibri"/>
              </a:rPr>
              <a:t> </a:t>
            </a:r>
            <a:r>
              <a:rPr lang="fr-FR" sz="1200" dirty="0" smtClean="0">
                <a:solidFill>
                  <a:srgbClr val="585858"/>
                </a:solidFill>
                <a:latin typeface="+mn-lt"/>
                <a:cs typeface="Calibri"/>
              </a:rPr>
              <a:t>dernière</a:t>
            </a:r>
            <a:r>
              <a:rPr lang="fr-FR" sz="1200" spc="215" dirty="0" smtClean="0">
                <a:solidFill>
                  <a:srgbClr val="585858"/>
                </a:solidFill>
                <a:latin typeface="+mn-lt"/>
                <a:cs typeface="Calibri"/>
              </a:rPr>
              <a:t> </a:t>
            </a:r>
            <a:r>
              <a:rPr lang="fr-FR" sz="1200" dirty="0" smtClean="0">
                <a:solidFill>
                  <a:srgbClr val="585858"/>
                </a:solidFill>
                <a:latin typeface="+mn-lt"/>
                <a:cs typeface="Calibri"/>
              </a:rPr>
              <a:t>exécution,</a:t>
            </a:r>
            <a:r>
              <a:rPr lang="fr-FR" sz="1200" spc="215" dirty="0" smtClean="0">
                <a:solidFill>
                  <a:srgbClr val="585858"/>
                </a:solidFill>
                <a:latin typeface="+mn-lt"/>
                <a:cs typeface="Calibri"/>
              </a:rPr>
              <a:t> </a:t>
            </a:r>
            <a:r>
              <a:rPr lang="fr-FR" sz="1200" dirty="0" smtClean="0">
                <a:solidFill>
                  <a:srgbClr val="585858"/>
                </a:solidFill>
                <a:latin typeface="+mn-lt"/>
                <a:cs typeface="Calibri"/>
              </a:rPr>
              <a:t>et</a:t>
            </a:r>
            <a:r>
              <a:rPr lang="fr-FR" sz="1200" spc="220" dirty="0" smtClean="0">
                <a:solidFill>
                  <a:srgbClr val="585858"/>
                </a:solidFill>
                <a:latin typeface="+mn-lt"/>
                <a:cs typeface="Calibri"/>
              </a:rPr>
              <a:t> </a:t>
            </a:r>
            <a:r>
              <a:rPr lang="fr-FR" sz="1200" dirty="0" smtClean="0">
                <a:solidFill>
                  <a:srgbClr val="585858"/>
                </a:solidFill>
                <a:latin typeface="+mn-lt"/>
                <a:cs typeface="Calibri"/>
              </a:rPr>
              <a:t>ainsi</a:t>
            </a:r>
            <a:r>
              <a:rPr lang="fr-FR" sz="1200" spc="200" dirty="0" smtClean="0">
                <a:solidFill>
                  <a:srgbClr val="585858"/>
                </a:solidFill>
                <a:latin typeface="+mn-lt"/>
                <a:cs typeface="Calibri"/>
              </a:rPr>
              <a:t> </a:t>
            </a:r>
            <a:r>
              <a:rPr lang="fr-FR" sz="1200" dirty="0" smtClean="0">
                <a:solidFill>
                  <a:srgbClr val="585858"/>
                </a:solidFill>
                <a:latin typeface="+mn-lt"/>
                <a:cs typeface="Calibri"/>
              </a:rPr>
              <a:t>de</a:t>
            </a:r>
            <a:r>
              <a:rPr lang="fr-FR" sz="1200" spc="220" dirty="0" smtClean="0">
                <a:solidFill>
                  <a:srgbClr val="585858"/>
                </a:solidFill>
                <a:latin typeface="+mn-lt"/>
                <a:cs typeface="Calibri"/>
              </a:rPr>
              <a:t> </a:t>
            </a:r>
            <a:r>
              <a:rPr lang="fr-FR" sz="1200" dirty="0" smtClean="0">
                <a:solidFill>
                  <a:srgbClr val="585858"/>
                </a:solidFill>
                <a:latin typeface="+mn-lt"/>
                <a:cs typeface="Calibri"/>
              </a:rPr>
              <a:t>suite.</a:t>
            </a:r>
            <a:r>
              <a:rPr lang="fr-FR" sz="1200" spc="220" dirty="0" smtClean="0">
                <a:solidFill>
                  <a:srgbClr val="585858"/>
                </a:solidFill>
                <a:latin typeface="+mn-lt"/>
                <a:cs typeface="Calibri"/>
              </a:rPr>
              <a:t> </a:t>
            </a:r>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9</a:t>
            </a:fld>
            <a:endParaRPr lang="fr-FR"/>
          </a:p>
        </p:txBody>
      </p:sp>
    </p:spTree>
    <p:extLst>
      <p:ext uri="{BB962C8B-B14F-4D97-AF65-F5344CB8AC3E}">
        <p14:creationId xmlns:p14="http://schemas.microsoft.com/office/powerpoint/2010/main" val="23355672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effectLst/>
                <a:latin typeface="+mn-lt"/>
                <a:ea typeface="+mn-ea"/>
                <a:cs typeface="+mn-cs"/>
              </a:rPr>
              <a:t>Un système d'exploitation (OS) gère les processus de plusieurs manières pour assurer un fonctionnement efficace et sécurisé du système informatique. Voici les principales techniques utilisées par un OS pour gérer les processus :</a:t>
            </a:r>
          </a:p>
          <a:p>
            <a:pPr lvl="0"/>
            <a:r>
              <a:rPr lang="fr-FR" sz="1200" b="1" kern="1200" dirty="0" smtClean="0">
                <a:solidFill>
                  <a:schemeClr val="tx1"/>
                </a:solidFill>
                <a:effectLst/>
                <a:latin typeface="+mn-lt"/>
                <a:ea typeface="+mn-ea"/>
                <a:cs typeface="+mn-cs"/>
              </a:rPr>
              <a:t>Ordonnancement des processus :</a:t>
            </a:r>
            <a:r>
              <a:rPr lang="fr-FR" sz="1200" kern="1200" dirty="0" smtClean="0">
                <a:solidFill>
                  <a:schemeClr val="tx1"/>
                </a:solidFill>
                <a:effectLst/>
                <a:latin typeface="+mn-lt"/>
                <a:ea typeface="+mn-ea"/>
                <a:cs typeface="+mn-cs"/>
              </a:rPr>
              <a:t> L'OS décide quel processus s'exécute à quel moment et pendant combien de temps. Cela implique de choisir parmi plusieurs algorithmes d'ordonnancement pour maximiser l'utilisation des ressources du système et optimiser les performances. Les algorithmes d'ordonnancement peuvent être basés sur des priorités, des files d'attente, des quotas de temps, etc.</a:t>
            </a:r>
          </a:p>
          <a:p>
            <a:pPr lvl="0"/>
            <a:r>
              <a:rPr lang="fr-FR" sz="1200" b="1" kern="1200" dirty="0" smtClean="0">
                <a:solidFill>
                  <a:schemeClr val="tx1"/>
                </a:solidFill>
                <a:effectLst/>
                <a:latin typeface="+mn-lt"/>
                <a:ea typeface="+mn-ea"/>
                <a:cs typeface="+mn-cs"/>
              </a:rPr>
              <a:t>Création et destruction des processus :</a:t>
            </a:r>
            <a:r>
              <a:rPr lang="fr-FR" sz="1200" kern="1200" dirty="0" smtClean="0">
                <a:solidFill>
                  <a:schemeClr val="tx1"/>
                </a:solidFill>
                <a:effectLst/>
                <a:latin typeface="+mn-lt"/>
                <a:ea typeface="+mn-ea"/>
                <a:cs typeface="+mn-cs"/>
              </a:rPr>
              <a:t> L'OS fournit des mécanismes pour créer de nouveaux processus et pour terminer ou détruire les processus existants. Les processus peuvent être créés dynamiquement par le système ou par d'autres processus. Lorsqu'un processus a terminé son exécution, l'OS récupère les ressources allouées et libère l'espace mémoire associé.</a:t>
            </a:r>
          </a:p>
          <a:p>
            <a:pPr lvl="0"/>
            <a:r>
              <a:rPr lang="fr-FR" sz="1200" b="1" kern="1200" dirty="0" smtClean="0">
                <a:solidFill>
                  <a:schemeClr val="tx1"/>
                </a:solidFill>
                <a:effectLst/>
                <a:latin typeface="+mn-lt"/>
                <a:ea typeface="+mn-ea"/>
                <a:cs typeface="+mn-cs"/>
              </a:rPr>
              <a:t>Communication entre les processus :</a:t>
            </a:r>
            <a:r>
              <a:rPr lang="fr-FR" sz="1200" kern="1200" dirty="0" smtClean="0">
                <a:solidFill>
                  <a:schemeClr val="tx1"/>
                </a:solidFill>
                <a:effectLst/>
                <a:latin typeface="+mn-lt"/>
                <a:ea typeface="+mn-ea"/>
                <a:cs typeface="+mn-cs"/>
              </a:rPr>
              <a:t> L'OS permet aux processus de communiquer entre eux, que ce soit en partageant des données, en envoyant des signaux ou en utilisant des mécanismes de synchronisation comme les sémaphores, les verrous, les files d'attente de messages, etc. Cela permet aux processus de coopérer et de coordonner leurs activités.</a:t>
            </a:r>
          </a:p>
          <a:p>
            <a:pPr lvl="0"/>
            <a:r>
              <a:rPr lang="fr-FR" sz="1200" b="1" kern="1200" dirty="0" smtClean="0">
                <a:solidFill>
                  <a:schemeClr val="tx1"/>
                </a:solidFill>
                <a:effectLst/>
                <a:latin typeface="+mn-lt"/>
                <a:ea typeface="+mn-ea"/>
                <a:cs typeface="+mn-cs"/>
              </a:rPr>
              <a:t>Gestion des ressources :</a:t>
            </a:r>
            <a:r>
              <a:rPr lang="fr-FR" sz="1200" kern="1200" dirty="0" smtClean="0">
                <a:solidFill>
                  <a:schemeClr val="tx1"/>
                </a:solidFill>
                <a:effectLst/>
                <a:latin typeface="+mn-lt"/>
                <a:ea typeface="+mn-ea"/>
                <a:cs typeface="+mn-cs"/>
              </a:rPr>
              <a:t> L'OS alloue et gère les ressources système telles que le temps CPU, la mémoire, les périphériques d'entrée/sortie, etc., pour garantir que chaque processus dispose des ressources nécessaires à son exécution. Cela peut impliquer l'utilisation de techniques telles que la pagination, la segmentation de la mémoire, la gestion de la file d'attente d'E/S, etc.</a:t>
            </a:r>
          </a:p>
          <a:p>
            <a:pPr lvl="0"/>
            <a:r>
              <a:rPr lang="fr-FR" sz="1200" b="1" kern="1200" dirty="0" smtClean="0">
                <a:solidFill>
                  <a:schemeClr val="tx1"/>
                </a:solidFill>
                <a:effectLst/>
                <a:latin typeface="+mn-lt"/>
                <a:ea typeface="+mn-ea"/>
                <a:cs typeface="+mn-cs"/>
              </a:rPr>
              <a:t>Protection et isolation des processus :</a:t>
            </a:r>
            <a:r>
              <a:rPr lang="fr-FR" sz="1200" kern="1200" dirty="0" smtClean="0">
                <a:solidFill>
                  <a:schemeClr val="tx1"/>
                </a:solidFill>
                <a:effectLst/>
                <a:latin typeface="+mn-lt"/>
                <a:ea typeface="+mn-ea"/>
                <a:cs typeface="+mn-cs"/>
              </a:rPr>
              <a:t> L'OS met en œuvre des mécanismes de protection pour garantir que les processus s'exécutent de manière isolée les uns des autres et pour empêcher qu'un processus n'accède ou ne modifie des ressources ou des données appartenant à un autre processus sans autorisation.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10</a:t>
            </a:fld>
            <a:endParaRPr lang="fr-FR"/>
          </a:p>
        </p:txBody>
      </p:sp>
    </p:spTree>
    <p:extLst>
      <p:ext uri="{BB962C8B-B14F-4D97-AF65-F5344CB8AC3E}">
        <p14:creationId xmlns:p14="http://schemas.microsoft.com/office/powerpoint/2010/main" val="42698284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effectLst/>
                <a:latin typeface="+mn-lt"/>
                <a:ea typeface="+mn-ea"/>
                <a:cs typeface="+mn-cs"/>
              </a:rPr>
              <a:t>Il existe plusieurs algorithmes d'ordonnancement utilisés par les systèmes d'exploitation pour déterminer l'ordre dans lequel les processus seront exécutés. Voici quelques-uns des algorithmes d'ordonnancement les plus couramment utilisés :</a:t>
            </a:r>
          </a:p>
          <a:p>
            <a:pPr lvl="0"/>
            <a:r>
              <a:rPr lang="fr-FR" sz="1200" b="1" kern="1200" dirty="0" smtClean="0">
                <a:solidFill>
                  <a:schemeClr val="tx1"/>
                </a:solidFill>
                <a:effectLst/>
                <a:latin typeface="+mn-lt"/>
                <a:ea typeface="+mn-ea"/>
                <a:cs typeface="+mn-cs"/>
              </a:rPr>
              <a:t>First Come, First </a:t>
            </a:r>
            <a:r>
              <a:rPr lang="fr-FR" sz="1200" b="1" kern="1200" dirty="0" err="1" smtClean="0">
                <a:solidFill>
                  <a:schemeClr val="tx1"/>
                </a:solidFill>
                <a:effectLst/>
                <a:latin typeface="+mn-lt"/>
                <a:ea typeface="+mn-ea"/>
                <a:cs typeface="+mn-cs"/>
              </a:rPr>
              <a:t>Served</a:t>
            </a:r>
            <a:r>
              <a:rPr lang="fr-FR" sz="1200" b="1" kern="1200" dirty="0" smtClean="0">
                <a:solidFill>
                  <a:schemeClr val="tx1"/>
                </a:solidFill>
                <a:effectLst/>
                <a:latin typeface="+mn-lt"/>
                <a:ea typeface="+mn-ea"/>
                <a:cs typeface="+mn-cs"/>
              </a:rPr>
              <a:t> (FCFS) :</a:t>
            </a:r>
            <a:r>
              <a:rPr lang="fr-FR" sz="1200" kern="1200" dirty="0" smtClean="0">
                <a:solidFill>
                  <a:schemeClr val="tx1"/>
                </a:solidFill>
                <a:effectLst/>
                <a:latin typeface="+mn-lt"/>
                <a:ea typeface="+mn-ea"/>
                <a:cs typeface="+mn-cs"/>
              </a:rPr>
              <a:t> Les processus sont exécutés dans l'ordre où ils ont été reçus par le système d'exploitation. C'est le plus simple des algorithmes d'ordonnancement, mais il peut entraîner un temps d'attente élevé pour les processus qui ont été soumis en premier.</a:t>
            </a:r>
          </a:p>
          <a:p>
            <a:pPr lvl="0"/>
            <a:r>
              <a:rPr lang="fr-FR" sz="1200" b="1" kern="1200" dirty="0" err="1" smtClean="0">
                <a:solidFill>
                  <a:schemeClr val="tx1"/>
                </a:solidFill>
                <a:effectLst/>
                <a:latin typeface="+mn-lt"/>
                <a:ea typeface="+mn-ea"/>
                <a:cs typeface="+mn-cs"/>
              </a:rPr>
              <a:t>Shortest</a:t>
            </a:r>
            <a:r>
              <a:rPr lang="fr-FR" sz="1200" b="1" kern="1200" dirty="0" smtClean="0">
                <a:solidFill>
                  <a:schemeClr val="tx1"/>
                </a:solidFill>
                <a:effectLst/>
                <a:latin typeface="+mn-lt"/>
                <a:ea typeface="+mn-ea"/>
                <a:cs typeface="+mn-cs"/>
              </a:rPr>
              <a:t> Job </a:t>
            </a:r>
            <a:r>
              <a:rPr lang="fr-FR" sz="1200" b="1" kern="1200" dirty="0" err="1" smtClean="0">
                <a:solidFill>
                  <a:schemeClr val="tx1"/>
                </a:solidFill>
                <a:effectLst/>
                <a:latin typeface="+mn-lt"/>
                <a:ea typeface="+mn-ea"/>
                <a:cs typeface="+mn-cs"/>
              </a:rPr>
              <a:t>Next</a:t>
            </a:r>
            <a:r>
              <a:rPr lang="fr-FR" sz="1200" b="1" kern="1200" dirty="0" smtClean="0">
                <a:solidFill>
                  <a:schemeClr val="tx1"/>
                </a:solidFill>
                <a:effectLst/>
                <a:latin typeface="+mn-lt"/>
                <a:ea typeface="+mn-ea"/>
                <a:cs typeface="+mn-cs"/>
              </a:rPr>
              <a:t> (SJN) ou </a:t>
            </a:r>
            <a:r>
              <a:rPr lang="fr-FR" sz="1200" b="1" kern="1200" dirty="0" err="1" smtClean="0">
                <a:solidFill>
                  <a:schemeClr val="tx1"/>
                </a:solidFill>
                <a:effectLst/>
                <a:latin typeface="+mn-lt"/>
                <a:ea typeface="+mn-ea"/>
                <a:cs typeface="+mn-cs"/>
              </a:rPr>
              <a:t>Shortest</a:t>
            </a:r>
            <a:r>
              <a:rPr lang="fr-FR" sz="1200" b="1" kern="1200" dirty="0" smtClean="0">
                <a:solidFill>
                  <a:schemeClr val="tx1"/>
                </a:solidFill>
                <a:effectLst/>
                <a:latin typeface="+mn-lt"/>
                <a:ea typeface="+mn-ea"/>
                <a:cs typeface="+mn-cs"/>
              </a:rPr>
              <a:t> Job First (SJF) :</a:t>
            </a:r>
            <a:r>
              <a:rPr lang="fr-FR" sz="1200" kern="1200" dirty="0" smtClean="0">
                <a:solidFill>
                  <a:schemeClr val="tx1"/>
                </a:solidFill>
                <a:effectLst/>
                <a:latin typeface="+mn-lt"/>
                <a:ea typeface="+mn-ea"/>
                <a:cs typeface="+mn-cs"/>
              </a:rPr>
              <a:t> Les processus sont exécutés en fonction de la durée de leur prochaine activité CPU prévue. Cela signifie que le processus le plus court est exécuté en premier. Cela peut réduire le temps d'attente moyen, mais nécessite une estimation précise de la durée de chaque processus.</a:t>
            </a:r>
          </a:p>
          <a:p>
            <a:pPr lvl="0"/>
            <a:r>
              <a:rPr lang="fr-FR" sz="1200" b="1" kern="1200" dirty="0" smtClean="0">
                <a:solidFill>
                  <a:schemeClr val="tx1"/>
                </a:solidFill>
                <a:effectLst/>
                <a:latin typeface="+mn-lt"/>
                <a:ea typeface="+mn-ea"/>
                <a:cs typeface="+mn-cs"/>
              </a:rPr>
              <a:t>Round Robin (RR) :</a:t>
            </a:r>
            <a:r>
              <a:rPr lang="fr-FR" sz="1200" kern="1200" dirty="0" smtClean="0">
                <a:solidFill>
                  <a:schemeClr val="tx1"/>
                </a:solidFill>
                <a:effectLst/>
                <a:latin typeface="+mn-lt"/>
                <a:ea typeface="+mn-ea"/>
                <a:cs typeface="+mn-cs"/>
              </a:rPr>
              <a:t> Chaque processus reçoit un quantum de temps d'exécution, après quoi il est mis en attente et le CPU passe au processus suivant dans la file d'attente. Cet algorithme assure un temps de réponse rapide, mais peut entraîner une inefficacité si les quantums sont trop petits.</a:t>
            </a:r>
          </a:p>
          <a:p>
            <a:pPr lvl="0"/>
            <a:r>
              <a:rPr lang="fr-FR" sz="1200" b="1" kern="1200" dirty="0" smtClean="0">
                <a:solidFill>
                  <a:schemeClr val="tx1"/>
                </a:solidFill>
                <a:effectLst/>
                <a:latin typeface="+mn-lt"/>
                <a:ea typeface="+mn-ea"/>
                <a:cs typeface="+mn-cs"/>
              </a:rPr>
              <a:t>Priorité (</a:t>
            </a:r>
            <a:r>
              <a:rPr lang="fr-FR" sz="1200" b="1" kern="1200" dirty="0" err="1" smtClean="0">
                <a:solidFill>
                  <a:schemeClr val="tx1"/>
                </a:solidFill>
                <a:effectLst/>
                <a:latin typeface="+mn-lt"/>
                <a:ea typeface="+mn-ea"/>
                <a:cs typeface="+mn-cs"/>
              </a:rPr>
              <a:t>Priority</a:t>
            </a:r>
            <a:r>
              <a:rPr lang="fr-FR" sz="1200" b="1" kern="1200" dirty="0" smtClean="0">
                <a:solidFill>
                  <a:schemeClr val="tx1"/>
                </a:solidFill>
                <a:effectLst/>
                <a:latin typeface="+mn-lt"/>
                <a:ea typeface="+mn-ea"/>
                <a:cs typeface="+mn-cs"/>
              </a:rPr>
              <a:t> </a:t>
            </a:r>
            <a:r>
              <a:rPr lang="fr-FR" sz="1200" b="1" kern="1200" dirty="0" err="1" smtClean="0">
                <a:solidFill>
                  <a:schemeClr val="tx1"/>
                </a:solidFill>
                <a:effectLst/>
                <a:latin typeface="+mn-lt"/>
                <a:ea typeface="+mn-ea"/>
                <a:cs typeface="+mn-cs"/>
              </a:rPr>
              <a:t>Scheduling</a:t>
            </a:r>
            <a:r>
              <a:rPr lang="fr-FR" sz="1200" b="1" kern="1200" dirty="0" smtClean="0">
                <a:solidFill>
                  <a:schemeClr val="tx1"/>
                </a:solidFill>
                <a:effectLst/>
                <a:latin typeface="+mn-lt"/>
                <a:ea typeface="+mn-ea"/>
                <a:cs typeface="+mn-cs"/>
              </a:rPr>
              <a:t>) :</a:t>
            </a:r>
            <a:r>
              <a:rPr lang="fr-FR" sz="1200" kern="1200" dirty="0" smtClean="0">
                <a:solidFill>
                  <a:schemeClr val="tx1"/>
                </a:solidFill>
                <a:effectLst/>
                <a:latin typeface="+mn-lt"/>
                <a:ea typeface="+mn-ea"/>
                <a:cs typeface="+mn-cs"/>
              </a:rPr>
              <a:t> Chaque processus se voit attribuer une priorité, et le processus avec la priorité la plus élevée est exécuté en premier. Cela peut être préemptif (le système d'exploitation peut interrompre un processus en cours d'exécution pour exécuter un processus de priorité plus élevée) ou non préemptif.</a:t>
            </a:r>
          </a:p>
          <a:p>
            <a:r>
              <a:rPr lang="fr-FR" sz="1200" kern="1200" dirty="0" smtClean="0">
                <a:solidFill>
                  <a:schemeClr val="tx1"/>
                </a:solidFill>
                <a:effectLst/>
                <a:latin typeface="+mn-lt"/>
                <a:ea typeface="+mn-ea"/>
                <a:cs typeface="+mn-cs"/>
              </a:rPr>
              <a:t>Ces algorithmes peuvent être adaptés en fonction des besoins spécifiques du système et des applications qu'il exécute. Certains systèmes d'exploitation utilisent également des variantes ou des combinaisons de ces algorithmes pour optimiser les performances.</a:t>
            </a:r>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11</a:t>
            </a:fld>
            <a:endParaRPr lang="fr-FR"/>
          </a:p>
        </p:txBody>
      </p:sp>
    </p:spTree>
    <p:extLst>
      <p:ext uri="{BB962C8B-B14F-4D97-AF65-F5344CB8AC3E}">
        <p14:creationId xmlns:p14="http://schemas.microsoft.com/office/powerpoint/2010/main" val="35788683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effectLst/>
                <a:latin typeface="+mn-lt"/>
                <a:ea typeface="+mn-ea"/>
                <a:cs typeface="+mn-cs"/>
              </a:rPr>
              <a:t>Les termes "processus interactif" et "processus en arrière-plan" font référence à deux types différents de processus en cours d'exécution sur un système informatique, chacun ayant ses propres caractéristiques et objectifs :</a:t>
            </a:r>
            <a:endParaRPr lang="fr-FR" sz="1100" kern="1200" dirty="0" smtClean="0">
              <a:solidFill>
                <a:schemeClr val="tx1"/>
              </a:solidFill>
              <a:effectLst/>
              <a:latin typeface="+mn-lt"/>
              <a:ea typeface="+mn-ea"/>
              <a:cs typeface="+mn-cs"/>
            </a:endParaRPr>
          </a:p>
          <a:p>
            <a:pPr lvl="0"/>
            <a:r>
              <a:rPr lang="fr-FR" sz="1200" b="1" kern="1200" dirty="0" smtClean="0">
                <a:solidFill>
                  <a:schemeClr val="tx1"/>
                </a:solidFill>
                <a:effectLst/>
                <a:latin typeface="+mn-lt"/>
                <a:ea typeface="+mn-ea"/>
                <a:cs typeface="+mn-cs"/>
              </a:rPr>
              <a:t>Processus interactif :</a:t>
            </a:r>
            <a:endParaRPr lang="fr-FR" sz="1100" kern="1200" dirty="0" smtClean="0">
              <a:solidFill>
                <a:schemeClr val="tx1"/>
              </a:solidFill>
              <a:effectLst/>
              <a:latin typeface="+mn-lt"/>
              <a:ea typeface="+mn-ea"/>
              <a:cs typeface="+mn-cs"/>
            </a:endParaRPr>
          </a:p>
          <a:p>
            <a:pPr lvl="1"/>
            <a:r>
              <a:rPr lang="fr-FR" sz="1200" kern="1200" dirty="0" smtClean="0">
                <a:solidFill>
                  <a:schemeClr val="tx1"/>
                </a:solidFill>
                <a:effectLst/>
                <a:latin typeface="+mn-lt"/>
                <a:ea typeface="+mn-ea"/>
                <a:cs typeface="+mn-cs"/>
              </a:rPr>
              <a:t>Un processus interactif est généralement lancé par un utilisateur et interagit directement avec lui à travers une interface utilisateur, telle qu'un terminal en ligne de commande ou une interface graphique.</a:t>
            </a:r>
            <a:endParaRPr lang="fr-FR" sz="1100" kern="1200" dirty="0" smtClean="0">
              <a:solidFill>
                <a:schemeClr val="tx1"/>
              </a:solidFill>
              <a:effectLst/>
              <a:latin typeface="+mn-lt"/>
              <a:ea typeface="+mn-ea"/>
              <a:cs typeface="+mn-cs"/>
            </a:endParaRPr>
          </a:p>
          <a:p>
            <a:pPr lvl="1"/>
            <a:r>
              <a:rPr lang="fr-FR" sz="1200" kern="1200" dirty="0" smtClean="0">
                <a:solidFill>
                  <a:schemeClr val="tx1"/>
                </a:solidFill>
                <a:effectLst/>
                <a:latin typeface="+mn-lt"/>
                <a:ea typeface="+mn-ea"/>
                <a:cs typeface="+mn-cs"/>
              </a:rPr>
              <a:t>Ces processus nécessitent souvent une réponse rapide aux entrées de l'utilisateur. </a:t>
            </a:r>
            <a:r>
              <a:rPr lang="fr-FR" sz="1200" b="1" kern="1200" dirty="0" smtClean="0">
                <a:solidFill>
                  <a:schemeClr val="tx1"/>
                </a:solidFill>
                <a:effectLst/>
                <a:latin typeface="+mn-lt"/>
                <a:ea typeface="+mn-ea"/>
                <a:cs typeface="+mn-cs"/>
              </a:rPr>
              <a:t>Par exemple, un éditeur de texte, un navigateur web ou un lecteur multimédia sont des processus interactifs typiques</a:t>
            </a:r>
            <a:r>
              <a:rPr lang="fr-FR" sz="1200" kern="1200" dirty="0" smtClean="0">
                <a:solidFill>
                  <a:schemeClr val="tx1"/>
                </a:solidFill>
                <a:effectLst/>
                <a:latin typeface="+mn-lt"/>
                <a:ea typeface="+mn-ea"/>
                <a:cs typeface="+mn-cs"/>
              </a:rPr>
              <a:t>.</a:t>
            </a:r>
            <a:endParaRPr lang="fr-FR" sz="1100" kern="1200" dirty="0" smtClean="0">
              <a:solidFill>
                <a:schemeClr val="tx1"/>
              </a:solidFill>
              <a:effectLst/>
              <a:latin typeface="+mn-lt"/>
              <a:ea typeface="+mn-ea"/>
              <a:cs typeface="+mn-cs"/>
            </a:endParaRPr>
          </a:p>
          <a:p>
            <a:pPr lvl="1"/>
            <a:r>
              <a:rPr lang="fr-FR" sz="1200" kern="1200" dirty="0" smtClean="0">
                <a:solidFill>
                  <a:schemeClr val="tx1"/>
                </a:solidFill>
                <a:effectLst/>
                <a:latin typeface="+mn-lt"/>
                <a:ea typeface="+mn-ea"/>
                <a:cs typeface="+mn-cs"/>
              </a:rPr>
              <a:t>Les processus interactifs sont généralement exécutés en mode avant-plan, ce qui signifie qu'ils sont actifs et visibles à l'utilisateur qui les a lancés. L'utilisateur peut suivre leur progression et fournir des entrées en temps réel.</a:t>
            </a:r>
            <a:endParaRPr lang="fr-FR" sz="1100" kern="1200" dirty="0" smtClean="0">
              <a:solidFill>
                <a:schemeClr val="tx1"/>
              </a:solidFill>
              <a:effectLst/>
              <a:latin typeface="+mn-lt"/>
              <a:ea typeface="+mn-ea"/>
              <a:cs typeface="+mn-cs"/>
            </a:endParaRPr>
          </a:p>
          <a:p>
            <a:pPr lvl="0"/>
            <a:r>
              <a:rPr lang="fr-FR" sz="1200" b="1" kern="1200" dirty="0" smtClean="0">
                <a:solidFill>
                  <a:schemeClr val="tx1"/>
                </a:solidFill>
                <a:effectLst/>
                <a:latin typeface="+mn-lt"/>
                <a:ea typeface="+mn-ea"/>
                <a:cs typeface="+mn-cs"/>
              </a:rPr>
              <a:t>Processus en arrière-plan :</a:t>
            </a:r>
            <a:endParaRPr lang="fr-FR" sz="1100" kern="1200" dirty="0" smtClean="0">
              <a:solidFill>
                <a:schemeClr val="tx1"/>
              </a:solidFill>
              <a:effectLst/>
              <a:latin typeface="+mn-lt"/>
              <a:ea typeface="+mn-ea"/>
              <a:cs typeface="+mn-cs"/>
            </a:endParaRPr>
          </a:p>
          <a:p>
            <a:pPr lvl="1"/>
            <a:r>
              <a:rPr lang="fr-FR" sz="1200" kern="1200" dirty="0" smtClean="0">
                <a:solidFill>
                  <a:schemeClr val="tx1"/>
                </a:solidFill>
                <a:effectLst/>
                <a:latin typeface="+mn-lt"/>
                <a:ea typeface="+mn-ea"/>
                <a:cs typeface="+mn-cs"/>
              </a:rPr>
              <a:t>Un processus en arrière-plan est un processus qui s'exécute en arrière-plan sans interaction directe avec l'utilisateur. Il est généralement lancé pour effectuer des tâches qui n'ont pas besoin d'une attention immédiate de l'utilisateur.</a:t>
            </a:r>
            <a:endParaRPr lang="fr-FR" sz="1100" kern="1200" dirty="0" smtClean="0">
              <a:solidFill>
                <a:schemeClr val="tx1"/>
              </a:solidFill>
              <a:effectLst/>
              <a:latin typeface="+mn-lt"/>
              <a:ea typeface="+mn-ea"/>
              <a:cs typeface="+mn-cs"/>
            </a:endParaRPr>
          </a:p>
          <a:p>
            <a:pPr lvl="1"/>
            <a:r>
              <a:rPr lang="fr-FR" sz="1200" kern="1200" dirty="0" smtClean="0">
                <a:solidFill>
                  <a:schemeClr val="tx1"/>
                </a:solidFill>
                <a:effectLst/>
                <a:latin typeface="+mn-lt"/>
                <a:ea typeface="+mn-ea"/>
                <a:cs typeface="+mn-cs"/>
              </a:rPr>
              <a:t>Ces processus peuvent être </a:t>
            </a:r>
            <a:r>
              <a:rPr lang="fr-FR" sz="1200" b="1" kern="1200" dirty="0" smtClean="0">
                <a:solidFill>
                  <a:schemeClr val="tx1"/>
                </a:solidFill>
                <a:effectLst/>
                <a:latin typeface="+mn-lt"/>
                <a:ea typeface="+mn-ea"/>
                <a:cs typeface="+mn-cs"/>
              </a:rPr>
              <a:t>des services système, des tâches de maintenance, des scripts automatisés, des opérations de traitement par lots</a:t>
            </a:r>
            <a:r>
              <a:rPr lang="fr-FR" sz="1200" kern="1200" dirty="0" smtClean="0">
                <a:solidFill>
                  <a:schemeClr val="tx1"/>
                </a:solidFill>
                <a:effectLst/>
                <a:latin typeface="+mn-lt"/>
                <a:ea typeface="+mn-ea"/>
                <a:cs typeface="+mn-cs"/>
              </a:rPr>
              <a:t>, etc.</a:t>
            </a:r>
            <a:endParaRPr lang="fr-FR" sz="1100" kern="1200" dirty="0" smtClean="0">
              <a:solidFill>
                <a:schemeClr val="tx1"/>
              </a:solidFill>
              <a:effectLst/>
              <a:latin typeface="+mn-lt"/>
              <a:ea typeface="+mn-ea"/>
              <a:cs typeface="+mn-cs"/>
            </a:endParaRPr>
          </a:p>
          <a:p>
            <a:pPr lvl="1"/>
            <a:r>
              <a:rPr lang="fr-FR" sz="1200" kern="1200" dirty="0" smtClean="0">
                <a:solidFill>
                  <a:schemeClr val="tx1"/>
                </a:solidFill>
                <a:effectLst/>
                <a:latin typeface="+mn-lt"/>
                <a:ea typeface="+mn-ea"/>
                <a:cs typeface="+mn-cs"/>
              </a:rPr>
              <a:t>Les processus en arrière-plan ne nécessitent pas d'interaction directe avec l'utilisateur et peuvent </a:t>
            </a:r>
            <a:r>
              <a:rPr lang="fr-FR" sz="1200" b="1" kern="1200" dirty="0" smtClean="0">
                <a:solidFill>
                  <a:schemeClr val="tx1"/>
                </a:solidFill>
                <a:effectLst/>
                <a:latin typeface="+mn-lt"/>
                <a:ea typeface="+mn-ea"/>
                <a:cs typeface="+mn-cs"/>
              </a:rPr>
              <a:t>fonctionner de manière autonome pendant de longues périodes sans intervention humaine.</a:t>
            </a:r>
            <a:endParaRPr lang="fr-FR" sz="1100" b="1" kern="1200" dirty="0" smtClean="0">
              <a:solidFill>
                <a:schemeClr val="tx1"/>
              </a:solidFill>
              <a:effectLst/>
              <a:latin typeface="+mn-lt"/>
              <a:ea typeface="+mn-ea"/>
              <a:cs typeface="+mn-cs"/>
            </a:endParaRPr>
          </a:p>
          <a:p>
            <a:pPr lvl="1"/>
            <a:r>
              <a:rPr lang="fr-FR" sz="1200" kern="1200" dirty="0" smtClean="0">
                <a:solidFill>
                  <a:schemeClr val="tx1"/>
                </a:solidFill>
                <a:effectLst/>
                <a:latin typeface="+mn-lt"/>
                <a:ea typeface="+mn-ea"/>
                <a:cs typeface="+mn-cs"/>
              </a:rPr>
              <a:t>Ils peuvent être exécutés de manière concurrente avec d'autres processus interactifs ou en arrière-plan, mais ils n'occupent pas activement l'attention de l'utilisateur.</a:t>
            </a:r>
            <a:endParaRPr lang="fr-FR" sz="1100" kern="1200" dirty="0" smtClean="0">
              <a:solidFill>
                <a:schemeClr val="tx1"/>
              </a:solidFill>
              <a:effectLst/>
              <a:latin typeface="+mn-lt"/>
              <a:ea typeface="+mn-ea"/>
              <a:cs typeface="+mn-cs"/>
            </a:endParaRPr>
          </a:p>
          <a:p>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12</a:t>
            </a:fld>
            <a:endParaRPr lang="fr-FR"/>
          </a:p>
        </p:txBody>
      </p:sp>
    </p:spTree>
    <p:extLst>
      <p:ext uri="{BB962C8B-B14F-4D97-AF65-F5344CB8AC3E}">
        <p14:creationId xmlns:p14="http://schemas.microsoft.com/office/powerpoint/2010/main" val="28082060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smtClean="0">
                <a:solidFill>
                  <a:schemeClr val="tx1"/>
                </a:solidFill>
                <a:effectLst/>
                <a:latin typeface="+mn-lt"/>
                <a:ea typeface="+mn-ea"/>
                <a:cs typeface="+mn-cs"/>
              </a:rPr>
              <a:t>Si les processus arrivent dans l'ordre P1, P2, P3, nous obtenons le résultat illustré dans le diagramme de Gantt suivant :</a:t>
            </a:r>
          </a:p>
          <a:p>
            <a:r>
              <a:rPr lang="fr-FR" sz="1200" kern="1200" dirty="0" smtClean="0">
                <a:solidFill>
                  <a:schemeClr val="tx1"/>
                </a:solidFill>
                <a:effectLst/>
                <a:latin typeface="+mn-lt"/>
                <a:ea typeface="+mn-ea"/>
                <a:cs typeface="+mn-cs"/>
              </a:rPr>
              <a:t>Temps d’attente:</a:t>
            </a:r>
          </a:p>
          <a:p>
            <a:r>
              <a:rPr lang="fr-FR" sz="1200" kern="1200" dirty="0" smtClean="0">
                <a:solidFill>
                  <a:schemeClr val="tx1"/>
                </a:solidFill>
                <a:effectLst/>
                <a:latin typeface="+mn-lt"/>
                <a:ea typeface="+mn-ea"/>
                <a:cs typeface="+mn-cs"/>
              </a:rPr>
              <a:t>P1 </a:t>
            </a:r>
            <a:r>
              <a:rPr lang="fr-FR" sz="1200" kern="1200" dirty="0" smtClean="0">
                <a:solidFill>
                  <a:schemeClr val="tx1"/>
                </a:solidFill>
                <a:effectLst/>
                <a:latin typeface="+mn-lt"/>
                <a:ea typeface="+mn-ea"/>
                <a:cs typeface="+mn-cs"/>
                <a:sym typeface="Wingdings" panose="05000000000000000000" pitchFamily="2" charset="2"/>
              </a:rPr>
              <a:t></a:t>
            </a:r>
            <a:r>
              <a:rPr lang="fr-FR" sz="1200" kern="1200" dirty="0" smtClean="0">
                <a:solidFill>
                  <a:schemeClr val="tx1"/>
                </a:solidFill>
                <a:effectLst/>
                <a:latin typeface="+mn-lt"/>
                <a:ea typeface="+mn-ea"/>
                <a:cs typeface="+mn-cs"/>
              </a:rPr>
              <a:t> 0 ms</a:t>
            </a:r>
          </a:p>
          <a:p>
            <a:r>
              <a:rPr lang="fr-FR" sz="1200" kern="1200" dirty="0" smtClean="0">
                <a:solidFill>
                  <a:schemeClr val="tx1"/>
                </a:solidFill>
                <a:effectLst/>
                <a:latin typeface="+mn-lt"/>
                <a:ea typeface="+mn-ea"/>
                <a:cs typeface="+mn-cs"/>
              </a:rPr>
              <a:t>P2 </a:t>
            </a:r>
            <a:r>
              <a:rPr lang="fr-FR" sz="1200" kern="1200" dirty="0" smtClean="0">
                <a:solidFill>
                  <a:schemeClr val="tx1"/>
                </a:solidFill>
                <a:effectLst/>
                <a:latin typeface="+mn-lt"/>
                <a:ea typeface="+mn-ea"/>
                <a:cs typeface="+mn-cs"/>
                <a:sym typeface="Wingdings" panose="05000000000000000000" pitchFamily="2" charset="2"/>
              </a:rPr>
              <a:t></a:t>
            </a:r>
            <a:r>
              <a:rPr lang="fr-FR" sz="1200" kern="1200" dirty="0" smtClean="0">
                <a:solidFill>
                  <a:schemeClr val="tx1"/>
                </a:solidFill>
                <a:effectLst/>
                <a:latin typeface="+mn-lt"/>
                <a:ea typeface="+mn-ea"/>
                <a:cs typeface="+mn-cs"/>
              </a:rPr>
              <a:t> 24 ms</a:t>
            </a:r>
          </a:p>
          <a:p>
            <a:r>
              <a:rPr lang="fr-FR" sz="1200" kern="1200" dirty="0" smtClean="0">
                <a:solidFill>
                  <a:schemeClr val="tx1"/>
                </a:solidFill>
                <a:effectLst/>
                <a:latin typeface="+mn-lt"/>
                <a:ea typeface="+mn-ea"/>
                <a:cs typeface="+mn-cs"/>
              </a:rPr>
              <a:t>P3 </a:t>
            </a:r>
            <a:r>
              <a:rPr lang="fr-FR" sz="1200" kern="1200" dirty="0" smtClean="0">
                <a:solidFill>
                  <a:schemeClr val="tx1"/>
                </a:solidFill>
                <a:effectLst/>
                <a:latin typeface="+mn-lt"/>
                <a:ea typeface="+mn-ea"/>
                <a:cs typeface="+mn-cs"/>
                <a:sym typeface="Wingdings" panose="05000000000000000000" pitchFamily="2" charset="2"/>
              </a:rPr>
              <a:t></a:t>
            </a:r>
            <a:r>
              <a:rPr lang="fr-FR" sz="1200" kern="1200" dirty="0" smtClean="0">
                <a:solidFill>
                  <a:schemeClr val="tx1"/>
                </a:solidFill>
                <a:effectLst/>
                <a:latin typeface="+mn-lt"/>
                <a:ea typeface="+mn-ea"/>
                <a:cs typeface="+mn-cs"/>
              </a:rPr>
              <a:t>27 ms</a:t>
            </a:r>
          </a:p>
          <a:p>
            <a:r>
              <a:rPr lang="fr-FR" sz="1200" kern="1200" dirty="0" smtClean="0">
                <a:solidFill>
                  <a:schemeClr val="tx1"/>
                </a:solidFill>
                <a:effectLst/>
                <a:latin typeface="+mn-lt"/>
                <a:ea typeface="+mn-ea"/>
                <a:cs typeface="+mn-cs"/>
              </a:rPr>
              <a:t>Ainsi, le temps moyen d'attente = (0+24+27)/3 = 17 ms.</a:t>
            </a:r>
            <a:r>
              <a:rPr lang="fr-FR" dirty="0" smtClean="0">
                <a:effectLst/>
              </a:rPr>
              <a:t> </a:t>
            </a:r>
            <a:r>
              <a:rPr lang="fr-FR" sz="1200" kern="1200" dirty="0" smtClean="0">
                <a:solidFill>
                  <a:schemeClr val="tx1"/>
                </a:solidFill>
                <a:effectLst/>
                <a:latin typeface="+mn-lt"/>
                <a:ea typeface="+mn-ea"/>
                <a:cs typeface="+mn-cs"/>
              </a:rPr>
              <a:t> </a:t>
            </a:r>
          </a:p>
          <a:p>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13</a:t>
            </a:fld>
            <a:endParaRPr lang="fr-FR"/>
          </a:p>
        </p:txBody>
      </p:sp>
    </p:spTree>
    <p:extLst>
      <p:ext uri="{BB962C8B-B14F-4D97-AF65-F5344CB8AC3E}">
        <p14:creationId xmlns:p14="http://schemas.microsoft.com/office/powerpoint/2010/main" val="315745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smtClean="0">
                <a:solidFill>
                  <a:schemeClr val="tx1"/>
                </a:solidFill>
                <a:effectLst/>
                <a:latin typeface="+mn-lt"/>
                <a:ea typeface="+mn-ea"/>
                <a:cs typeface="+mn-cs"/>
              </a:rPr>
              <a:t>Si les processus arrivent dans l'ordre P2, P3, P1 alors, nous obtenons le résultat illustré dans le diagramme de Gantt suivant :</a:t>
            </a:r>
          </a:p>
          <a:p>
            <a:r>
              <a:rPr lang="fr-FR" sz="1200" kern="1200" dirty="0" smtClean="0">
                <a:solidFill>
                  <a:schemeClr val="tx1"/>
                </a:solidFill>
                <a:effectLst/>
                <a:latin typeface="+mn-lt"/>
                <a:ea typeface="+mn-ea"/>
                <a:cs typeface="+mn-cs"/>
              </a:rPr>
              <a:t>Temps d’attente:</a:t>
            </a:r>
          </a:p>
          <a:p>
            <a:r>
              <a:rPr lang="fr-FR" sz="1200" kern="1200" dirty="0" smtClean="0">
                <a:solidFill>
                  <a:schemeClr val="tx1"/>
                </a:solidFill>
                <a:effectLst/>
                <a:latin typeface="+mn-lt"/>
                <a:ea typeface="+mn-ea"/>
                <a:cs typeface="+mn-cs"/>
              </a:rPr>
              <a:t>Temps d’attente:</a:t>
            </a:r>
          </a:p>
          <a:p>
            <a:r>
              <a:rPr lang="fr-FR" sz="1200" kern="1200" dirty="0" smtClean="0">
                <a:solidFill>
                  <a:schemeClr val="tx1"/>
                </a:solidFill>
                <a:effectLst/>
                <a:latin typeface="+mn-lt"/>
                <a:ea typeface="+mn-ea"/>
                <a:cs typeface="+mn-cs"/>
              </a:rPr>
              <a:t>P1 </a:t>
            </a:r>
            <a:r>
              <a:rPr lang="fr-FR" sz="1200" kern="1200" dirty="0" smtClean="0">
                <a:solidFill>
                  <a:schemeClr val="tx1"/>
                </a:solidFill>
                <a:effectLst/>
                <a:latin typeface="+mn-lt"/>
                <a:ea typeface="+mn-ea"/>
                <a:cs typeface="+mn-cs"/>
                <a:sym typeface="Wingdings" panose="05000000000000000000" pitchFamily="2" charset="2"/>
              </a:rPr>
              <a:t></a:t>
            </a:r>
            <a:r>
              <a:rPr lang="fr-FR" sz="1200" kern="1200" dirty="0" smtClean="0">
                <a:solidFill>
                  <a:schemeClr val="tx1"/>
                </a:solidFill>
                <a:effectLst/>
                <a:latin typeface="+mn-lt"/>
                <a:ea typeface="+mn-ea"/>
                <a:cs typeface="+mn-cs"/>
              </a:rPr>
              <a:t> 6 ms</a:t>
            </a:r>
          </a:p>
          <a:p>
            <a:r>
              <a:rPr lang="fr-FR" sz="1200" kern="1200" dirty="0" smtClean="0">
                <a:solidFill>
                  <a:schemeClr val="tx1"/>
                </a:solidFill>
                <a:effectLst/>
                <a:latin typeface="+mn-lt"/>
                <a:ea typeface="+mn-ea"/>
                <a:cs typeface="+mn-cs"/>
              </a:rPr>
              <a:t>P2 </a:t>
            </a:r>
            <a:r>
              <a:rPr lang="fr-FR" sz="1200" kern="1200" dirty="0" smtClean="0">
                <a:solidFill>
                  <a:schemeClr val="tx1"/>
                </a:solidFill>
                <a:effectLst/>
                <a:latin typeface="+mn-lt"/>
                <a:ea typeface="+mn-ea"/>
                <a:cs typeface="+mn-cs"/>
                <a:sym typeface="Wingdings" panose="05000000000000000000" pitchFamily="2" charset="2"/>
              </a:rPr>
              <a:t></a:t>
            </a:r>
            <a:r>
              <a:rPr lang="fr-FR" sz="1200" kern="1200" dirty="0" smtClean="0">
                <a:solidFill>
                  <a:schemeClr val="tx1"/>
                </a:solidFill>
                <a:effectLst/>
                <a:latin typeface="+mn-lt"/>
                <a:ea typeface="+mn-ea"/>
                <a:cs typeface="+mn-cs"/>
              </a:rPr>
              <a:t>0 ms</a:t>
            </a:r>
          </a:p>
          <a:p>
            <a:r>
              <a:rPr lang="fr-FR" sz="1200" kern="1200" dirty="0" smtClean="0">
                <a:solidFill>
                  <a:schemeClr val="tx1"/>
                </a:solidFill>
                <a:effectLst/>
                <a:latin typeface="+mn-lt"/>
                <a:ea typeface="+mn-ea"/>
                <a:cs typeface="+mn-cs"/>
              </a:rPr>
              <a:t>P3 </a:t>
            </a:r>
            <a:r>
              <a:rPr lang="fr-FR" sz="1200" kern="1200" dirty="0" smtClean="0">
                <a:solidFill>
                  <a:schemeClr val="tx1"/>
                </a:solidFill>
                <a:effectLst/>
                <a:latin typeface="+mn-lt"/>
                <a:ea typeface="+mn-ea"/>
                <a:cs typeface="+mn-cs"/>
                <a:sym typeface="Wingdings" panose="05000000000000000000" pitchFamily="2" charset="2"/>
              </a:rPr>
              <a:t></a:t>
            </a:r>
            <a:r>
              <a:rPr lang="fr-FR" sz="1200" kern="1200" dirty="0" smtClean="0">
                <a:solidFill>
                  <a:schemeClr val="tx1"/>
                </a:solidFill>
                <a:effectLst/>
                <a:latin typeface="+mn-lt"/>
                <a:ea typeface="+mn-ea"/>
                <a:cs typeface="+mn-cs"/>
              </a:rPr>
              <a:t>3 ms</a:t>
            </a:r>
          </a:p>
          <a:p>
            <a:r>
              <a:rPr lang="fr-FR" sz="1200" kern="1200" dirty="0" smtClean="0">
                <a:solidFill>
                  <a:schemeClr val="tx1"/>
                </a:solidFill>
                <a:effectLst/>
                <a:latin typeface="+mn-lt"/>
                <a:ea typeface="+mn-ea"/>
                <a:cs typeface="+mn-cs"/>
              </a:rPr>
              <a:t>Ainsi, le temps moyen d'attente = (6+0+3)/3 = 3 ms.</a:t>
            </a:r>
          </a:p>
          <a:p>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14</a:t>
            </a:fld>
            <a:endParaRPr lang="fr-FR"/>
          </a:p>
        </p:txBody>
      </p:sp>
    </p:spTree>
    <p:extLst>
      <p:ext uri="{BB962C8B-B14F-4D97-AF65-F5344CB8AC3E}">
        <p14:creationId xmlns:p14="http://schemas.microsoft.com/office/powerpoint/2010/main" val="17145262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smtClean="0">
                <a:solidFill>
                  <a:schemeClr val="tx1"/>
                </a:solidFill>
                <a:effectLst/>
                <a:latin typeface="+mn-lt"/>
                <a:ea typeface="+mn-ea"/>
                <a:cs typeface="+mn-cs"/>
              </a:rPr>
              <a:t>TR  ou </a:t>
            </a:r>
            <a:r>
              <a:rPr lang="fr-FR" sz="1200" kern="1200" dirty="0" err="1" smtClean="0">
                <a:solidFill>
                  <a:schemeClr val="tx1"/>
                </a:solidFill>
                <a:effectLst/>
                <a:latin typeface="+mn-lt"/>
                <a:ea typeface="+mn-ea"/>
                <a:cs typeface="+mn-cs"/>
              </a:rPr>
              <a:t>Turnaround</a:t>
            </a:r>
            <a:r>
              <a:rPr lang="fr-FR" sz="1200" kern="1200" dirty="0" smtClean="0">
                <a:solidFill>
                  <a:schemeClr val="tx1"/>
                </a:solidFill>
                <a:effectLst/>
                <a:latin typeface="+mn-lt"/>
                <a:ea typeface="+mn-ea"/>
                <a:cs typeface="+mn-cs"/>
              </a:rPr>
              <a:t> time: temps de rotation". C'est la durée totale écoulée entre le moment où un processus est soumis à un système jusqu'à ce qu'il se termine, y compris le temps d'attente dans la file d'attente et le temps d'exécution sur le processeur.</a:t>
            </a:r>
          </a:p>
          <a:p>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15</a:t>
            </a:fld>
            <a:endParaRPr lang="fr-FR"/>
          </a:p>
        </p:txBody>
      </p:sp>
    </p:spTree>
    <p:extLst>
      <p:ext uri="{BB962C8B-B14F-4D97-AF65-F5344CB8AC3E}">
        <p14:creationId xmlns:p14="http://schemas.microsoft.com/office/powerpoint/2010/main" val="8288711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effectLst/>
                <a:latin typeface="+mn-lt"/>
                <a:ea typeface="+mn-ea"/>
                <a:cs typeface="+mn-cs"/>
              </a:rPr>
              <a:t>Initialement, seul le processus P0 est présent et il est autorisé à s'exécuter. Mais, lorsque P0 termine, tous les autres processus se présentent. Ainsi, le processus suivant P1 est sélectionné et autorisé à s'exécuter jusqu'à ce qu'il termine. Cette procédure est répétée jusqu'à ce que tous les processus aient terminé leur exécution</a:t>
            </a:r>
          </a:p>
          <a:p>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16</a:t>
            </a:fld>
            <a:endParaRPr lang="fr-FR"/>
          </a:p>
        </p:txBody>
      </p:sp>
    </p:spTree>
    <p:extLst>
      <p:ext uri="{BB962C8B-B14F-4D97-AF65-F5344CB8AC3E}">
        <p14:creationId xmlns:p14="http://schemas.microsoft.com/office/powerpoint/2010/main" val="41295234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17</a:t>
            </a:fld>
            <a:endParaRPr lang="fr-FR"/>
          </a:p>
        </p:txBody>
      </p:sp>
    </p:spTree>
    <p:extLst>
      <p:ext uri="{BB962C8B-B14F-4D97-AF65-F5344CB8AC3E}">
        <p14:creationId xmlns:p14="http://schemas.microsoft.com/office/powerpoint/2010/main" val="30380041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effectLst/>
                <a:latin typeface="+mn-lt"/>
                <a:ea typeface="+mn-ea"/>
                <a:cs typeface="+mn-cs"/>
              </a:rPr>
              <a:t>En comparaison, si nous utilisions le planificateur FCFS (premier arrivé, premier servi), le temps d'attente moyen serait de 10,25 millisecondes. L'algorithme de planification SJF (plus court temps d'exécution suivant) est prouvé optimal, car il donne le temps moyen d'attente minimum pour un ensemble donné de processus</a:t>
            </a:r>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18</a:t>
            </a:fld>
            <a:endParaRPr lang="fr-FR"/>
          </a:p>
        </p:txBody>
      </p:sp>
    </p:spTree>
    <p:extLst>
      <p:ext uri="{BB962C8B-B14F-4D97-AF65-F5344CB8AC3E}">
        <p14:creationId xmlns:p14="http://schemas.microsoft.com/office/powerpoint/2010/main" val="7647466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smtClean="0">
                <a:solidFill>
                  <a:schemeClr val="tx1"/>
                </a:solidFill>
                <a:effectLst/>
                <a:latin typeface="+mn-lt"/>
                <a:ea typeface="+mn-ea"/>
                <a:cs typeface="+mn-cs"/>
              </a:rPr>
              <a:t>TR  ou </a:t>
            </a:r>
            <a:r>
              <a:rPr lang="fr-FR" sz="1200" kern="1200" dirty="0" err="1" smtClean="0">
                <a:solidFill>
                  <a:schemeClr val="tx1"/>
                </a:solidFill>
                <a:effectLst/>
                <a:latin typeface="+mn-lt"/>
                <a:ea typeface="+mn-ea"/>
                <a:cs typeface="+mn-cs"/>
              </a:rPr>
              <a:t>Turnaround</a:t>
            </a:r>
            <a:r>
              <a:rPr lang="fr-FR" sz="1200" kern="1200" dirty="0" smtClean="0">
                <a:solidFill>
                  <a:schemeClr val="tx1"/>
                </a:solidFill>
                <a:effectLst/>
                <a:latin typeface="+mn-lt"/>
                <a:ea typeface="+mn-ea"/>
                <a:cs typeface="+mn-cs"/>
              </a:rPr>
              <a:t> time: temps de rotation". C'est la durée totale écoulée entre le moment où un processus est soumis à un système jusqu'à ce qu'il se termine, y compris le temps d'attente dans la file d'attente et le temps d'exécution sur le processeur.</a:t>
            </a:r>
          </a:p>
          <a:p>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19</a:t>
            </a:fld>
            <a:endParaRPr lang="fr-FR"/>
          </a:p>
        </p:txBody>
      </p:sp>
    </p:spTree>
    <p:extLst>
      <p:ext uri="{BB962C8B-B14F-4D97-AF65-F5344CB8AC3E}">
        <p14:creationId xmlns:p14="http://schemas.microsoft.com/office/powerpoint/2010/main" val="41981021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effectLst/>
                <a:latin typeface="+mn-lt"/>
                <a:ea typeface="+mn-ea"/>
                <a:cs typeface="+mn-cs"/>
              </a:rPr>
              <a:t>Initialement, seul le processus P0 est présent et il est autorisé à s'exécuter. Cependant, lorsque P0 est terminé, tous les autres processus se présentent. Ainsi, le processus avec le plus court temps d'exécution , P2, est sélectionné et autorisé à s'exécuter. Cette procédure est répétée jusqu'à ce que tous les processus aient terminé leur exécution</a:t>
            </a:r>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20</a:t>
            </a:fld>
            <a:endParaRPr lang="fr-FR"/>
          </a:p>
        </p:txBody>
      </p:sp>
    </p:spTree>
    <p:extLst>
      <p:ext uri="{BB962C8B-B14F-4D97-AF65-F5344CB8AC3E}">
        <p14:creationId xmlns:p14="http://schemas.microsoft.com/office/powerpoint/2010/main" val="3937391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smtClean="0">
                <a:solidFill>
                  <a:schemeClr val="tx1"/>
                </a:solidFill>
                <a:effectLst/>
                <a:latin typeface="+mn-lt"/>
                <a:ea typeface="+mn-ea"/>
                <a:cs typeface="+mn-cs"/>
              </a:rPr>
              <a:t>Le processus P1 démarre à l'heure 0, étant donné qu'il est le seul processus dans la file d'attente. Le processus P2 arrive à l'heure 1. Le temps restant pour le processus P1 (7 millisecondes) est plus grand que le temps requis par le processus P2 (4 millisecondes), donc le processus P1 est préempté, et le processus P2 est planifié.</a:t>
            </a:r>
          </a:p>
          <a:p>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21</a:t>
            </a:fld>
            <a:endParaRPr lang="fr-FR"/>
          </a:p>
        </p:txBody>
      </p:sp>
    </p:spTree>
    <p:extLst>
      <p:ext uri="{BB962C8B-B14F-4D97-AF65-F5344CB8AC3E}">
        <p14:creationId xmlns:p14="http://schemas.microsoft.com/office/powerpoint/2010/main" val="26502296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effectLst/>
                <a:latin typeface="+mn-lt"/>
                <a:ea typeface="+mn-ea"/>
                <a:cs typeface="+mn-cs"/>
              </a:rPr>
              <a:t>Le processus P1 démarre à l'heure 0, étant donné qu'il est le seul processus dans la file d'attente. Le processus P2 arrive à l'heure 1. Le temps restant pour le processus P1 (7 millisecondes) est plus grand que le temps requis par le processus P2 (4 millisecondes), donc le processus P1 est préempté, et le processus P2 est planifié.</a:t>
            </a:r>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22</a:t>
            </a:fld>
            <a:endParaRPr lang="fr-FR"/>
          </a:p>
        </p:txBody>
      </p:sp>
    </p:spTree>
    <p:extLst>
      <p:ext uri="{BB962C8B-B14F-4D97-AF65-F5344CB8AC3E}">
        <p14:creationId xmlns:p14="http://schemas.microsoft.com/office/powerpoint/2010/main" val="24979718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smtClean="0">
                <a:solidFill>
                  <a:schemeClr val="tx1"/>
                </a:solidFill>
                <a:effectLst/>
                <a:latin typeface="+mn-lt"/>
                <a:ea typeface="+mn-ea"/>
                <a:cs typeface="+mn-cs"/>
              </a:rPr>
              <a:t>TR  ou </a:t>
            </a:r>
            <a:r>
              <a:rPr lang="fr-FR" sz="1200" kern="1200" dirty="0" err="1" smtClean="0">
                <a:solidFill>
                  <a:schemeClr val="tx1"/>
                </a:solidFill>
                <a:effectLst/>
                <a:latin typeface="+mn-lt"/>
                <a:ea typeface="+mn-ea"/>
                <a:cs typeface="+mn-cs"/>
              </a:rPr>
              <a:t>Turnaround</a:t>
            </a:r>
            <a:r>
              <a:rPr lang="fr-FR" sz="1200" kern="1200" dirty="0" smtClean="0">
                <a:solidFill>
                  <a:schemeClr val="tx1"/>
                </a:solidFill>
                <a:effectLst/>
                <a:latin typeface="+mn-lt"/>
                <a:ea typeface="+mn-ea"/>
                <a:cs typeface="+mn-cs"/>
              </a:rPr>
              <a:t> time: temps de rotation". C'est la durée totale écoulée entre le moment où un processus est soumis à un système jusqu'à ce qu'il se termine, y compris le temps d'attente dans la file d'attente et le temps d'exécution sur le processeur.</a:t>
            </a:r>
          </a:p>
          <a:p>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23</a:t>
            </a:fld>
            <a:endParaRPr lang="fr-FR"/>
          </a:p>
        </p:txBody>
      </p:sp>
    </p:spTree>
    <p:extLst>
      <p:ext uri="{BB962C8B-B14F-4D97-AF65-F5344CB8AC3E}">
        <p14:creationId xmlns:p14="http://schemas.microsoft.com/office/powerpoint/2010/main" val="12418444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effectLst/>
                <a:latin typeface="+mn-lt"/>
                <a:ea typeface="+mn-ea"/>
                <a:cs typeface="+mn-cs"/>
              </a:rPr>
              <a:t>Initialement, seul le processus P0 est présent et il est autorisé à s'exécuter. Mais, lorsque P1 arrive, il a le temps d'exécution restant le plus court. Ainsi, P0 est préempté et P1 est autorisé à s'exécuter. Cette procédure est répétée jusqu'à ce que tous les processus aient terminé leur exécution</a:t>
            </a:r>
          </a:p>
          <a:p>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24</a:t>
            </a:fld>
            <a:endParaRPr lang="fr-FR"/>
          </a:p>
        </p:txBody>
      </p:sp>
    </p:spTree>
    <p:extLst>
      <p:ext uri="{BB962C8B-B14F-4D97-AF65-F5344CB8AC3E}">
        <p14:creationId xmlns:p14="http://schemas.microsoft.com/office/powerpoint/2010/main" val="4612927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smtClean="0">
                <a:solidFill>
                  <a:schemeClr val="tx1"/>
                </a:solidFill>
                <a:effectLst/>
                <a:latin typeface="+mn-lt"/>
                <a:ea typeface="+mn-ea"/>
                <a:cs typeface="+mn-cs"/>
              </a:rPr>
              <a:t>Round Robin (RR) : Il est similaire à la planification par FCFS, mais la préemption est ajoutée pour permettre au système de basculer entre les processus.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smtClean="0">
                <a:solidFill>
                  <a:schemeClr val="tx1"/>
                </a:solidFill>
                <a:effectLst/>
                <a:latin typeface="+mn-lt"/>
                <a:ea typeface="+mn-ea"/>
                <a:cs typeface="+mn-cs"/>
              </a:rPr>
              <a:t>Si nous utilisons un quantum de temps de 4 millisecondes, alors le processus P1 obtient les premiers 4 millisecondes. Puisqu'il nécessite encore 20 millisecondes, il est préempté après le premier quantum de temps, et le CPU est donné au processus suivant dans la file d'attente, le processus P2. Le processus P2 n'a pas besoin de 4 millisecondes, il se termine donc avant l'expiration de son quantum de temps. Le CPU est ensuite donné au processus suivant, le processus P3. Une fois que chaque processus a reçu 1 quantum de temps, le CPU est retourné au processus P1 pour un quantum de temps supplémentaire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kern="1200" dirty="0" smtClean="0">
              <a:solidFill>
                <a:schemeClr val="tx1"/>
              </a:solidFill>
              <a:effectLst/>
              <a:latin typeface="+mn-lt"/>
              <a:ea typeface="+mn-ea"/>
              <a:cs typeface="+mn-cs"/>
            </a:endParaRPr>
          </a:p>
          <a:p>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25</a:t>
            </a:fld>
            <a:endParaRPr lang="fr-FR"/>
          </a:p>
        </p:txBody>
      </p:sp>
    </p:spTree>
    <p:extLst>
      <p:ext uri="{BB962C8B-B14F-4D97-AF65-F5344CB8AC3E}">
        <p14:creationId xmlns:p14="http://schemas.microsoft.com/office/powerpoint/2010/main" val="16574669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effectLst/>
                <a:latin typeface="+mn-lt"/>
                <a:ea typeface="+mn-ea"/>
                <a:cs typeface="+mn-cs"/>
              </a:rPr>
              <a:t>Temps de rotation:</a:t>
            </a:r>
          </a:p>
          <a:p>
            <a:r>
              <a:rPr lang="fr-FR" sz="1200" kern="1200" dirty="0" smtClean="0">
                <a:solidFill>
                  <a:schemeClr val="tx1"/>
                </a:solidFill>
                <a:effectLst/>
                <a:latin typeface="+mn-lt"/>
                <a:ea typeface="+mn-ea"/>
                <a:cs typeface="+mn-cs"/>
              </a:rPr>
              <a:t>P1 </a:t>
            </a:r>
            <a:r>
              <a:rPr lang="fr-FR" sz="1200" kern="1200" dirty="0" smtClean="0">
                <a:solidFill>
                  <a:schemeClr val="tx1"/>
                </a:solidFill>
                <a:effectLst/>
                <a:latin typeface="+mn-lt"/>
                <a:ea typeface="+mn-ea"/>
                <a:cs typeface="+mn-cs"/>
                <a:sym typeface="Wingdings" panose="05000000000000000000" pitchFamily="2" charset="2"/>
              </a:rPr>
              <a:t></a:t>
            </a:r>
            <a:r>
              <a:rPr lang="fr-FR" sz="1200" kern="1200" dirty="0" smtClean="0">
                <a:solidFill>
                  <a:schemeClr val="tx1"/>
                </a:solidFill>
                <a:effectLst/>
                <a:latin typeface="+mn-lt"/>
                <a:ea typeface="+mn-ea"/>
                <a:cs typeface="+mn-cs"/>
              </a:rPr>
              <a:t> 30-0=30 ms</a:t>
            </a:r>
          </a:p>
          <a:p>
            <a:r>
              <a:rPr lang="fr-FR" sz="1200" kern="1200" dirty="0" smtClean="0">
                <a:solidFill>
                  <a:schemeClr val="tx1"/>
                </a:solidFill>
                <a:effectLst/>
                <a:latin typeface="+mn-lt"/>
                <a:ea typeface="+mn-ea"/>
                <a:cs typeface="+mn-cs"/>
              </a:rPr>
              <a:t>P2 </a:t>
            </a:r>
            <a:r>
              <a:rPr lang="fr-FR" sz="1200" kern="1200" dirty="0" smtClean="0">
                <a:solidFill>
                  <a:schemeClr val="tx1"/>
                </a:solidFill>
                <a:effectLst/>
                <a:latin typeface="+mn-lt"/>
                <a:ea typeface="+mn-ea"/>
                <a:cs typeface="+mn-cs"/>
                <a:sym typeface="Wingdings" panose="05000000000000000000" pitchFamily="2" charset="2"/>
              </a:rPr>
              <a:t></a:t>
            </a:r>
            <a:r>
              <a:rPr lang="fr-FR" sz="1200" kern="1200" dirty="0" smtClean="0">
                <a:solidFill>
                  <a:schemeClr val="tx1"/>
                </a:solidFill>
                <a:effectLst/>
                <a:latin typeface="+mn-lt"/>
                <a:ea typeface="+mn-ea"/>
                <a:cs typeface="+mn-cs"/>
              </a:rPr>
              <a:t> 7-0=7 ms</a:t>
            </a:r>
          </a:p>
          <a:p>
            <a:r>
              <a:rPr lang="fr-FR" sz="1200" kern="1200" dirty="0" smtClean="0">
                <a:solidFill>
                  <a:schemeClr val="tx1"/>
                </a:solidFill>
                <a:effectLst/>
                <a:latin typeface="+mn-lt"/>
                <a:ea typeface="+mn-ea"/>
                <a:cs typeface="+mn-cs"/>
              </a:rPr>
              <a:t>P3 </a:t>
            </a:r>
            <a:r>
              <a:rPr lang="fr-FR" sz="1200" kern="1200" dirty="0" smtClean="0">
                <a:solidFill>
                  <a:schemeClr val="tx1"/>
                </a:solidFill>
                <a:effectLst/>
                <a:latin typeface="+mn-lt"/>
                <a:ea typeface="+mn-ea"/>
                <a:cs typeface="+mn-cs"/>
                <a:sym typeface="Wingdings" panose="05000000000000000000" pitchFamily="2" charset="2"/>
              </a:rPr>
              <a:t></a:t>
            </a:r>
            <a:r>
              <a:rPr lang="fr-FR" sz="1200" kern="1200" dirty="0" smtClean="0">
                <a:solidFill>
                  <a:schemeClr val="tx1"/>
                </a:solidFill>
                <a:effectLst/>
                <a:latin typeface="+mn-lt"/>
                <a:ea typeface="+mn-ea"/>
                <a:cs typeface="+mn-cs"/>
              </a:rPr>
              <a:t>10-0=10 ms</a:t>
            </a:r>
          </a:p>
          <a:p>
            <a:r>
              <a:rPr lang="fr-FR" sz="1200" kern="1200" dirty="0" smtClean="0">
                <a:solidFill>
                  <a:schemeClr val="tx1"/>
                </a:solidFill>
                <a:effectLst/>
                <a:latin typeface="+mn-lt"/>
                <a:ea typeface="+mn-ea"/>
                <a:cs typeface="+mn-cs"/>
              </a:rPr>
              <a:t>Ainsi le temps moyen de rotation est : </a:t>
            </a:r>
          </a:p>
          <a:p>
            <a:r>
              <a:rPr lang="fr-FR" sz="1200" kern="1200" dirty="0" smtClean="0">
                <a:solidFill>
                  <a:schemeClr val="tx1"/>
                </a:solidFill>
                <a:effectLst/>
                <a:latin typeface="+mn-lt"/>
                <a:ea typeface="+mn-ea"/>
                <a:cs typeface="+mn-cs"/>
              </a:rPr>
              <a:t>(30+7+10)/3 = 15.66 ms.</a:t>
            </a:r>
          </a:p>
          <a:p>
            <a:r>
              <a:rPr lang="fr-FR" sz="1200" kern="1200" dirty="0" smtClean="0">
                <a:solidFill>
                  <a:schemeClr val="tx1"/>
                </a:solidFill>
                <a:effectLst/>
                <a:latin typeface="+mn-lt"/>
                <a:ea typeface="+mn-ea"/>
                <a:cs typeface="+mn-cs"/>
              </a:rPr>
              <a:t>Temps d’attente:</a:t>
            </a:r>
          </a:p>
          <a:p>
            <a:r>
              <a:rPr lang="fr-FR" sz="1200" kern="1200" dirty="0" smtClean="0">
                <a:solidFill>
                  <a:schemeClr val="tx1"/>
                </a:solidFill>
                <a:effectLst/>
                <a:latin typeface="+mn-lt"/>
                <a:ea typeface="+mn-ea"/>
                <a:cs typeface="+mn-cs"/>
              </a:rPr>
              <a:t>P1 </a:t>
            </a:r>
            <a:r>
              <a:rPr lang="fr-FR" sz="1200" kern="1200" dirty="0" smtClean="0">
                <a:solidFill>
                  <a:schemeClr val="tx1"/>
                </a:solidFill>
                <a:effectLst/>
                <a:latin typeface="+mn-lt"/>
                <a:ea typeface="+mn-ea"/>
                <a:cs typeface="+mn-cs"/>
                <a:sym typeface="Wingdings" panose="05000000000000000000" pitchFamily="2" charset="2"/>
              </a:rPr>
              <a:t></a:t>
            </a:r>
            <a:r>
              <a:rPr lang="fr-FR" sz="1200" kern="1200" dirty="0" smtClean="0">
                <a:solidFill>
                  <a:schemeClr val="tx1"/>
                </a:solidFill>
                <a:effectLst/>
                <a:latin typeface="+mn-lt"/>
                <a:ea typeface="+mn-ea"/>
                <a:cs typeface="+mn-cs"/>
              </a:rPr>
              <a:t> 30-24=6 ms</a:t>
            </a:r>
          </a:p>
          <a:p>
            <a:r>
              <a:rPr lang="fr-FR" sz="1200" kern="1200" dirty="0" smtClean="0">
                <a:solidFill>
                  <a:schemeClr val="tx1"/>
                </a:solidFill>
                <a:effectLst/>
                <a:latin typeface="+mn-lt"/>
                <a:ea typeface="+mn-ea"/>
                <a:cs typeface="+mn-cs"/>
              </a:rPr>
              <a:t>P2 </a:t>
            </a:r>
            <a:r>
              <a:rPr lang="fr-FR" sz="1200" kern="1200" dirty="0" smtClean="0">
                <a:solidFill>
                  <a:schemeClr val="tx1"/>
                </a:solidFill>
                <a:effectLst/>
                <a:latin typeface="+mn-lt"/>
                <a:ea typeface="+mn-ea"/>
                <a:cs typeface="+mn-cs"/>
                <a:sym typeface="Wingdings" panose="05000000000000000000" pitchFamily="2" charset="2"/>
              </a:rPr>
              <a:t></a:t>
            </a:r>
            <a:r>
              <a:rPr lang="fr-FR" sz="1200" kern="1200" dirty="0" smtClean="0">
                <a:solidFill>
                  <a:schemeClr val="tx1"/>
                </a:solidFill>
                <a:effectLst/>
                <a:latin typeface="+mn-lt"/>
                <a:ea typeface="+mn-ea"/>
                <a:cs typeface="+mn-cs"/>
              </a:rPr>
              <a:t> 7-3=4 ms</a:t>
            </a:r>
          </a:p>
          <a:p>
            <a:r>
              <a:rPr lang="fr-FR" sz="1200" kern="1200" dirty="0" smtClean="0">
                <a:solidFill>
                  <a:schemeClr val="tx1"/>
                </a:solidFill>
                <a:effectLst/>
                <a:latin typeface="+mn-lt"/>
                <a:ea typeface="+mn-ea"/>
                <a:cs typeface="+mn-cs"/>
              </a:rPr>
              <a:t>P3 </a:t>
            </a:r>
            <a:r>
              <a:rPr lang="fr-FR" sz="1200" kern="1200" dirty="0" smtClean="0">
                <a:solidFill>
                  <a:schemeClr val="tx1"/>
                </a:solidFill>
                <a:effectLst/>
                <a:latin typeface="+mn-lt"/>
                <a:ea typeface="+mn-ea"/>
                <a:cs typeface="+mn-cs"/>
                <a:sym typeface="Wingdings" panose="05000000000000000000" pitchFamily="2" charset="2"/>
              </a:rPr>
              <a:t></a:t>
            </a:r>
            <a:r>
              <a:rPr lang="fr-FR" sz="1200" kern="1200" dirty="0" smtClean="0">
                <a:solidFill>
                  <a:schemeClr val="tx1"/>
                </a:solidFill>
                <a:effectLst/>
                <a:latin typeface="+mn-lt"/>
                <a:ea typeface="+mn-ea"/>
                <a:cs typeface="+mn-cs"/>
              </a:rPr>
              <a:t>10-3=7 ms</a:t>
            </a:r>
          </a:p>
          <a:p>
            <a:r>
              <a:rPr lang="fr-FR" sz="1200" kern="1200" dirty="0" smtClean="0">
                <a:solidFill>
                  <a:schemeClr val="tx1"/>
                </a:solidFill>
                <a:effectLst/>
                <a:latin typeface="+mn-lt"/>
                <a:ea typeface="+mn-ea"/>
                <a:cs typeface="+mn-cs"/>
              </a:rPr>
              <a:t>Ainsi le temps moyen d’attente est :</a:t>
            </a:r>
          </a:p>
          <a:p>
            <a:r>
              <a:rPr lang="fr-FR" sz="1200" kern="1200" dirty="0" smtClean="0">
                <a:solidFill>
                  <a:schemeClr val="tx1"/>
                </a:solidFill>
                <a:effectLst/>
                <a:latin typeface="+mn-lt"/>
                <a:ea typeface="+mn-ea"/>
                <a:cs typeface="+mn-cs"/>
              </a:rPr>
              <a:t>(6+4+7)/3 = 5.66 ms.</a:t>
            </a:r>
          </a:p>
          <a:p>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26</a:t>
            </a:fld>
            <a:endParaRPr lang="fr-FR"/>
          </a:p>
        </p:txBody>
      </p:sp>
    </p:spTree>
    <p:extLst>
      <p:ext uri="{BB962C8B-B14F-4D97-AF65-F5344CB8AC3E}">
        <p14:creationId xmlns:p14="http://schemas.microsoft.com/office/powerpoint/2010/main" val="6011512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smtClean="0">
                <a:solidFill>
                  <a:schemeClr val="tx1"/>
                </a:solidFill>
                <a:effectLst/>
                <a:latin typeface="+mn-lt"/>
                <a:ea typeface="+mn-ea"/>
                <a:cs typeface="+mn-cs"/>
              </a:rPr>
              <a:t>TR  ou </a:t>
            </a:r>
            <a:r>
              <a:rPr lang="fr-FR" sz="1200" kern="1200" dirty="0" err="1" smtClean="0">
                <a:solidFill>
                  <a:schemeClr val="tx1"/>
                </a:solidFill>
                <a:effectLst/>
                <a:latin typeface="+mn-lt"/>
                <a:ea typeface="+mn-ea"/>
                <a:cs typeface="+mn-cs"/>
              </a:rPr>
              <a:t>Turnaround</a:t>
            </a:r>
            <a:r>
              <a:rPr lang="fr-FR" sz="1200" kern="1200" dirty="0" smtClean="0">
                <a:solidFill>
                  <a:schemeClr val="tx1"/>
                </a:solidFill>
                <a:effectLst/>
                <a:latin typeface="+mn-lt"/>
                <a:ea typeface="+mn-ea"/>
                <a:cs typeface="+mn-cs"/>
              </a:rPr>
              <a:t> time: temps de rotation". C'est la durée totale écoulée entre le moment où un processus est soumis à un système jusqu'à ce qu'il se termine, y compris le temps d'attente dans la file d'attente et le temps d'exécution sur le processeur.</a:t>
            </a:r>
          </a:p>
          <a:p>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27</a:t>
            </a:fld>
            <a:endParaRPr lang="fr-FR"/>
          </a:p>
        </p:txBody>
      </p:sp>
    </p:spTree>
    <p:extLst>
      <p:ext uri="{BB962C8B-B14F-4D97-AF65-F5344CB8AC3E}">
        <p14:creationId xmlns:p14="http://schemas.microsoft.com/office/powerpoint/2010/main" val="41835303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effectLst/>
                <a:latin typeface="+mn-lt"/>
                <a:ea typeface="+mn-ea"/>
                <a:cs typeface="+mn-cs"/>
              </a:rPr>
              <a:t>À 4 ms, le processus P0 termine son quantum de temps. Il est donc préempté et un autre processus, P1, est autorisé à s'exécuter. À 12 ms, le processus P2 libère volontairement le CPU, et un autre processus est sélectionné pour s'exécuter. 1 ms est perdu à chaque changement de contexte en tant que surcharge. Cette procédure est répétée jusqu'à ce que tous les processus aient terminé leur exécution. </a:t>
            </a:r>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28</a:t>
            </a:fld>
            <a:endParaRPr lang="fr-FR"/>
          </a:p>
        </p:txBody>
      </p:sp>
    </p:spTree>
    <p:extLst>
      <p:ext uri="{BB962C8B-B14F-4D97-AF65-F5344CB8AC3E}">
        <p14:creationId xmlns:p14="http://schemas.microsoft.com/office/powerpoint/2010/main" val="29452796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smtClean="0">
                <a:solidFill>
                  <a:schemeClr val="tx1"/>
                </a:solidFill>
                <a:effectLst/>
                <a:latin typeface="+mn-lt"/>
                <a:ea typeface="+mn-ea"/>
                <a:cs typeface="+mn-cs"/>
              </a:rPr>
              <a:t>L'algorithme SJF est un cas particulier de l'algorithme d'ordonnancement par priorité général. Un algorithme SJF est simplement un algorithme de priorité. En effet, plus le temps d’</a:t>
            </a:r>
            <a:r>
              <a:rPr lang="fr-FR" sz="1200" kern="1200" dirty="0" err="1" smtClean="0">
                <a:solidFill>
                  <a:schemeClr val="tx1"/>
                </a:solidFill>
                <a:effectLst/>
                <a:latin typeface="+mn-lt"/>
                <a:ea typeface="+mn-ea"/>
                <a:cs typeface="+mn-cs"/>
              </a:rPr>
              <a:t>execution</a:t>
            </a:r>
            <a:r>
              <a:rPr lang="fr-FR" sz="1200" kern="1200" dirty="0" smtClean="0">
                <a:solidFill>
                  <a:schemeClr val="tx1"/>
                </a:solidFill>
                <a:effectLst/>
                <a:latin typeface="+mn-lt"/>
                <a:ea typeface="+mn-ea"/>
                <a:cs typeface="+mn-cs"/>
              </a:rPr>
              <a:t> est grande, plus la priorité est faible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kern="1200" dirty="0" smtClean="0">
              <a:solidFill>
                <a:schemeClr val="tx1"/>
              </a:solidFill>
              <a:effectLst/>
              <a:latin typeface="+mn-lt"/>
              <a:ea typeface="+mn-ea"/>
              <a:cs typeface="+mn-cs"/>
            </a:endParaRPr>
          </a:p>
          <a:p>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29</a:t>
            </a:fld>
            <a:endParaRPr lang="fr-FR"/>
          </a:p>
        </p:txBody>
      </p:sp>
    </p:spTree>
    <p:extLst>
      <p:ext uri="{BB962C8B-B14F-4D97-AF65-F5344CB8AC3E}">
        <p14:creationId xmlns:p14="http://schemas.microsoft.com/office/powerpoint/2010/main" val="35459165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effectLst/>
                <a:latin typeface="+mn-lt"/>
                <a:ea typeface="+mn-ea"/>
                <a:cs typeface="+mn-cs"/>
              </a:rPr>
              <a:t>Temps de rotation:</a:t>
            </a:r>
          </a:p>
          <a:p>
            <a:r>
              <a:rPr lang="fr-FR" sz="1200" kern="1200" dirty="0" smtClean="0">
                <a:solidFill>
                  <a:schemeClr val="tx1"/>
                </a:solidFill>
                <a:effectLst/>
                <a:latin typeface="+mn-lt"/>
                <a:ea typeface="+mn-ea"/>
                <a:cs typeface="+mn-cs"/>
              </a:rPr>
              <a:t>P1 --&gt; 16 – 0 = 16 ms</a:t>
            </a:r>
          </a:p>
          <a:p>
            <a:r>
              <a:rPr lang="fr-FR" sz="1200" kern="1200" dirty="0" smtClean="0">
                <a:solidFill>
                  <a:schemeClr val="tx1"/>
                </a:solidFill>
                <a:effectLst/>
                <a:latin typeface="+mn-lt"/>
                <a:ea typeface="+mn-ea"/>
                <a:cs typeface="+mn-cs"/>
              </a:rPr>
              <a:t>P2 </a:t>
            </a:r>
            <a:r>
              <a:rPr lang="fr-FR" sz="1200" kern="1200" dirty="0" smtClean="0">
                <a:solidFill>
                  <a:schemeClr val="tx1"/>
                </a:solidFill>
                <a:effectLst/>
                <a:latin typeface="+mn-lt"/>
                <a:ea typeface="+mn-ea"/>
                <a:cs typeface="+mn-cs"/>
                <a:sym typeface="Wingdings" panose="05000000000000000000" pitchFamily="2" charset="2"/>
              </a:rPr>
              <a:t></a:t>
            </a:r>
            <a:r>
              <a:rPr lang="fr-FR" sz="1200" kern="1200" dirty="0" smtClean="0">
                <a:solidFill>
                  <a:schemeClr val="tx1"/>
                </a:solidFill>
                <a:effectLst/>
                <a:latin typeface="+mn-lt"/>
                <a:ea typeface="+mn-ea"/>
                <a:cs typeface="+mn-cs"/>
              </a:rPr>
              <a:t>1 - 0 = 1 ms</a:t>
            </a:r>
          </a:p>
          <a:p>
            <a:r>
              <a:rPr lang="fr-FR" sz="1200" kern="1200" dirty="0" smtClean="0">
                <a:solidFill>
                  <a:schemeClr val="tx1"/>
                </a:solidFill>
                <a:effectLst/>
                <a:latin typeface="+mn-lt"/>
                <a:ea typeface="+mn-ea"/>
                <a:cs typeface="+mn-cs"/>
              </a:rPr>
              <a:t>P3 </a:t>
            </a:r>
            <a:r>
              <a:rPr lang="fr-FR" sz="1200" kern="1200" dirty="0" smtClean="0">
                <a:solidFill>
                  <a:schemeClr val="tx1"/>
                </a:solidFill>
                <a:effectLst/>
                <a:latin typeface="+mn-lt"/>
                <a:ea typeface="+mn-ea"/>
                <a:cs typeface="+mn-cs"/>
                <a:sym typeface="Wingdings" panose="05000000000000000000" pitchFamily="2" charset="2"/>
              </a:rPr>
              <a:t></a:t>
            </a:r>
            <a:r>
              <a:rPr lang="fr-FR" sz="1200" kern="1200" dirty="0" smtClean="0">
                <a:solidFill>
                  <a:schemeClr val="tx1"/>
                </a:solidFill>
                <a:effectLst/>
                <a:latin typeface="+mn-lt"/>
                <a:ea typeface="+mn-ea"/>
                <a:cs typeface="+mn-cs"/>
              </a:rPr>
              <a:t> 18 – 0 = 18 ms</a:t>
            </a:r>
          </a:p>
          <a:p>
            <a:r>
              <a:rPr lang="fr-FR" sz="1200" kern="1200" dirty="0" smtClean="0">
                <a:solidFill>
                  <a:schemeClr val="tx1"/>
                </a:solidFill>
                <a:effectLst/>
                <a:latin typeface="+mn-lt"/>
                <a:ea typeface="+mn-ea"/>
                <a:cs typeface="+mn-cs"/>
              </a:rPr>
              <a:t>P4 </a:t>
            </a:r>
            <a:r>
              <a:rPr lang="fr-FR" sz="1200" kern="1200" dirty="0" smtClean="0">
                <a:solidFill>
                  <a:schemeClr val="tx1"/>
                </a:solidFill>
                <a:effectLst/>
                <a:latin typeface="+mn-lt"/>
                <a:ea typeface="+mn-ea"/>
                <a:cs typeface="+mn-cs"/>
                <a:sym typeface="Wingdings" panose="05000000000000000000" pitchFamily="2" charset="2"/>
              </a:rPr>
              <a:t></a:t>
            </a:r>
            <a:r>
              <a:rPr lang="fr-FR" sz="1200" kern="1200" dirty="0" smtClean="0">
                <a:solidFill>
                  <a:schemeClr val="tx1"/>
                </a:solidFill>
                <a:effectLst/>
                <a:latin typeface="+mn-lt"/>
                <a:ea typeface="+mn-ea"/>
                <a:cs typeface="+mn-cs"/>
              </a:rPr>
              <a:t>19 – 0 = 19 ms</a:t>
            </a:r>
          </a:p>
          <a:p>
            <a:r>
              <a:rPr lang="fr-FR" sz="1200" kern="1200" dirty="0" smtClean="0">
                <a:solidFill>
                  <a:schemeClr val="tx1"/>
                </a:solidFill>
                <a:effectLst/>
                <a:latin typeface="+mn-lt"/>
                <a:ea typeface="+mn-ea"/>
                <a:cs typeface="+mn-cs"/>
              </a:rPr>
              <a:t>P5 </a:t>
            </a:r>
            <a:r>
              <a:rPr lang="fr-FR" sz="1200" kern="1200" dirty="0" smtClean="0">
                <a:solidFill>
                  <a:schemeClr val="tx1"/>
                </a:solidFill>
                <a:effectLst/>
                <a:latin typeface="+mn-lt"/>
                <a:ea typeface="+mn-ea"/>
                <a:cs typeface="+mn-cs"/>
                <a:sym typeface="Wingdings" panose="05000000000000000000" pitchFamily="2" charset="2"/>
              </a:rPr>
              <a:t></a:t>
            </a:r>
            <a:r>
              <a:rPr lang="fr-FR" sz="1200" kern="1200" dirty="0" smtClean="0">
                <a:solidFill>
                  <a:schemeClr val="tx1"/>
                </a:solidFill>
                <a:effectLst/>
                <a:latin typeface="+mn-lt"/>
                <a:ea typeface="+mn-ea"/>
                <a:cs typeface="+mn-cs"/>
              </a:rPr>
              <a:t>6 – 0 = 6 ms</a:t>
            </a:r>
          </a:p>
          <a:p>
            <a:r>
              <a:rPr lang="fr-FR" sz="1200" kern="1200" dirty="0" smtClean="0">
                <a:solidFill>
                  <a:schemeClr val="tx1"/>
                </a:solidFill>
                <a:effectLst/>
                <a:latin typeface="+mn-lt"/>
                <a:ea typeface="+mn-ea"/>
                <a:cs typeface="+mn-cs"/>
              </a:rPr>
              <a:t>Ainsi , le temps de rotation moyen est</a:t>
            </a:r>
          </a:p>
          <a:p>
            <a:r>
              <a:rPr lang="fr-FR" sz="1200" kern="1200" dirty="0" smtClean="0">
                <a:solidFill>
                  <a:schemeClr val="tx1"/>
                </a:solidFill>
                <a:effectLst/>
                <a:latin typeface="+mn-lt"/>
                <a:ea typeface="+mn-ea"/>
                <a:cs typeface="+mn-cs"/>
              </a:rPr>
              <a:t>(16+1+18+19+6)/5 = 12 ms.</a:t>
            </a:r>
          </a:p>
          <a:p>
            <a:r>
              <a:rPr lang="fr-FR" sz="1200" kern="1200" dirty="0" smtClean="0">
                <a:solidFill>
                  <a:schemeClr val="tx1"/>
                </a:solidFill>
                <a:effectLst/>
                <a:latin typeface="+mn-lt"/>
                <a:ea typeface="+mn-ea"/>
                <a:cs typeface="+mn-cs"/>
              </a:rPr>
              <a:t>Temps d’attente:</a:t>
            </a:r>
          </a:p>
          <a:p>
            <a:r>
              <a:rPr lang="fr-FR" sz="1200" kern="1200" dirty="0" smtClean="0">
                <a:solidFill>
                  <a:schemeClr val="tx1"/>
                </a:solidFill>
                <a:effectLst/>
                <a:latin typeface="+mn-lt"/>
                <a:ea typeface="+mn-ea"/>
                <a:cs typeface="+mn-cs"/>
              </a:rPr>
              <a:t>P1 </a:t>
            </a:r>
            <a:r>
              <a:rPr lang="fr-FR" sz="1200" kern="1200" dirty="0" smtClean="0">
                <a:solidFill>
                  <a:schemeClr val="tx1"/>
                </a:solidFill>
                <a:effectLst/>
                <a:latin typeface="+mn-lt"/>
                <a:ea typeface="+mn-ea"/>
                <a:cs typeface="+mn-cs"/>
                <a:sym typeface="Wingdings" panose="05000000000000000000" pitchFamily="2" charset="2"/>
              </a:rPr>
              <a:t></a:t>
            </a:r>
            <a:r>
              <a:rPr lang="fr-FR" sz="1200" kern="1200" dirty="0" smtClean="0">
                <a:solidFill>
                  <a:schemeClr val="tx1"/>
                </a:solidFill>
                <a:effectLst/>
                <a:latin typeface="+mn-lt"/>
                <a:ea typeface="+mn-ea"/>
                <a:cs typeface="+mn-cs"/>
              </a:rPr>
              <a:t>16 – 10 = 6 ms</a:t>
            </a:r>
          </a:p>
          <a:p>
            <a:r>
              <a:rPr lang="fr-FR" sz="1200" kern="1200" dirty="0" smtClean="0">
                <a:solidFill>
                  <a:schemeClr val="tx1"/>
                </a:solidFill>
                <a:effectLst/>
                <a:latin typeface="+mn-lt"/>
                <a:ea typeface="+mn-ea"/>
                <a:cs typeface="+mn-cs"/>
              </a:rPr>
              <a:t>P2 </a:t>
            </a:r>
            <a:r>
              <a:rPr lang="fr-FR" sz="1200" kern="1200" dirty="0" smtClean="0">
                <a:solidFill>
                  <a:schemeClr val="tx1"/>
                </a:solidFill>
                <a:effectLst/>
                <a:latin typeface="+mn-lt"/>
                <a:ea typeface="+mn-ea"/>
                <a:cs typeface="+mn-cs"/>
                <a:sym typeface="Wingdings" panose="05000000000000000000" pitchFamily="2" charset="2"/>
              </a:rPr>
              <a:t></a:t>
            </a:r>
            <a:r>
              <a:rPr lang="fr-FR" sz="1200" kern="1200" dirty="0" smtClean="0">
                <a:solidFill>
                  <a:schemeClr val="tx1"/>
                </a:solidFill>
                <a:effectLst/>
                <a:latin typeface="+mn-lt"/>
                <a:ea typeface="+mn-ea"/>
                <a:cs typeface="+mn-cs"/>
              </a:rPr>
              <a:t>1 – 1 = 0 ms</a:t>
            </a:r>
          </a:p>
          <a:p>
            <a:r>
              <a:rPr lang="fr-FR" sz="1200" kern="1200" dirty="0" smtClean="0">
                <a:solidFill>
                  <a:schemeClr val="tx1"/>
                </a:solidFill>
                <a:effectLst/>
                <a:latin typeface="+mn-lt"/>
                <a:ea typeface="+mn-ea"/>
                <a:cs typeface="+mn-cs"/>
              </a:rPr>
              <a:t>P3 </a:t>
            </a:r>
            <a:r>
              <a:rPr lang="fr-FR" sz="1200" kern="1200" dirty="0" smtClean="0">
                <a:solidFill>
                  <a:schemeClr val="tx1"/>
                </a:solidFill>
                <a:effectLst/>
                <a:latin typeface="+mn-lt"/>
                <a:ea typeface="+mn-ea"/>
                <a:cs typeface="+mn-cs"/>
                <a:sym typeface="Wingdings" panose="05000000000000000000" pitchFamily="2" charset="2"/>
              </a:rPr>
              <a:t></a:t>
            </a:r>
            <a:r>
              <a:rPr lang="fr-FR" sz="1200" kern="1200" dirty="0" smtClean="0">
                <a:solidFill>
                  <a:schemeClr val="tx1"/>
                </a:solidFill>
                <a:effectLst/>
                <a:latin typeface="+mn-lt"/>
                <a:ea typeface="+mn-ea"/>
                <a:cs typeface="+mn-cs"/>
              </a:rPr>
              <a:t>18 – 2 = 16 ms</a:t>
            </a:r>
          </a:p>
          <a:p>
            <a:r>
              <a:rPr lang="fr-FR" sz="1200" kern="1200" dirty="0" smtClean="0">
                <a:solidFill>
                  <a:schemeClr val="tx1"/>
                </a:solidFill>
                <a:effectLst/>
                <a:latin typeface="+mn-lt"/>
                <a:ea typeface="+mn-ea"/>
                <a:cs typeface="+mn-cs"/>
              </a:rPr>
              <a:t>P4 </a:t>
            </a:r>
            <a:r>
              <a:rPr lang="fr-FR" sz="1200" kern="1200" dirty="0" smtClean="0">
                <a:solidFill>
                  <a:schemeClr val="tx1"/>
                </a:solidFill>
                <a:effectLst/>
                <a:latin typeface="+mn-lt"/>
                <a:ea typeface="+mn-ea"/>
                <a:cs typeface="+mn-cs"/>
                <a:sym typeface="Wingdings" panose="05000000000000000000" pitchFamily="2" charset="2"/>
              </a:rPr>
              <a:t></a:t>
            </a:r>
            <a:r>
              <a:rPr lang="fr-FR" sz="1200" kern="1200" dirty="0" smtClean="0">
                <a:solidFill>
                  <a:schemeClr val="tx1"/>
                </a:solidFill>
                <a:effectLst/>
                <a:latin typeface="+mn-lt"/>
                <a:ea typeface="+mn-ea"/>
                <a:cs typeface="+mn-cs"/>
              </a:rPr>
              <a:t> 19 – 1 = 18 ms</a:t>
            </a:r>
          </a:p>
          <a:p>
            <a:r>
              <a:rPr lang="fr-FR" sz="1200" kern="1200" dirty="0" smtClean="0">
                <a:solidFill>
                  <a:schemeClr val="tx1"/>
                </a:solidFill>
                <a:effectLst/>
                <a:latin typeface="+mn-lt"/>
                <a:ea typeface="+mn-ea"/>
                <a:cs typeface="+mn-cs"/>
              </a:rPr>
              <a:t>P5 </a:t>
            </a:r>
            <a:r>
              <a:rPr lang="fr-FR" sz="1200" kern="1200" dirty="0" smtClean="0">
                <a:solidFill>
                  <a:schemeClr val="tx1"/>
                </a:solidFill>
                <a:effectLst/>
                <a:latin typeface="+mn-lt"/>
                <a:ea typeface="+mn-ea"/>
                <a:cs typeface="+mn-cs"/>
                <a:sym typeface="Wingdings" panose="05000000000000000000" pitchFamily="2" charset="2"/>
              </a:rPr>
              <a:t></a:t>
            </a:r>
            <a:r>
              <a:rPr lang="fr-FR" sz="1200" kern="1200" dirty="0" smtClean="0">
                <a:solidFill>
                  <a:schemeClr val="tx1"/>
                </a:solidFill>
                <a:effectLst/>
                <a:latin typeface="+mn-lt"/>
                <a:ea typeface="+mn-ea"/>
                <a:cs typeface="+mn-cs"/>
              </a:rPr>
              <a:t> 6 – 5 = 1 ms</a:t>
            </a:r>
          </a:p>
          <a:p>
            <a:r>
              <a:rPr lang="fr-FR" sz="1200" kern="1200" dirty="0" smtClean="0">
                <a:solidFill>
                  <a:schemeClr val="tx1"/>
                </a:solidFill>
                <a:effectLst/>
                <a:latin typeface="+mn-lt"/>
                <a:ea typeface="+mn-ea"/>
                <a:cs typeface="+mn-cs"/>
              </a:rPr>
              <a:t>Ainsi , le temps d’attente moyen est</a:t>
            </a:r>
          </a:p>
          <a:p>
            <a:r>
              <a:rPr lang="fr-FR" sz="1200" kern="1200" dirty="0" smtClean="0">
                <a:solidFill>
                  <a:schemeClr val="tx1"/>
                </a:solidFill>
                <a:effectLst/>
                <a:latin typeface="+mn-lt"/>
                <a:ea typeface="+mn-ea"/>
                <a:cs typeface="+mn-cs"/>
              </a:rPr>
              <a:t> (6+0+16+18+1)/5 = 8.2 ms.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kern="1200" dirty="0" smtClean="0">
              <a:solidFill>
                <a:schemeClr val="tx1"/>
              </a:solidFill>
              <a:effectLst/>
              <a:latin typeface="+mn-lt"/>
              <a:ea typeface="+mn-ea"/>
              <a:cs typeface="+mn-cs"/>
            </a:endParaRPr>
          </a:p>
          <a:p>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30</a:t>
            </a:fld>
            <a:endParaRPr lang="fr-FR"/>
          </a:p>
        </p:txBody>
      </p:sp>
    </p:spTree>
    <p:extLst>
      <p:ext uri="{BB962C8B-B14F-4D97-AF65-F5344CB8AC3E}">
        <p14:creationId xmlns:p14="http://schemas.microsoft.com/office/powerpoint/2010/main" val="24032094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31</a:t>
            </a:fld>
            <a:endParaRPr lang="fr-FR"/>
          </a:p>
        </p:txBody>
      </p:sp>
    </p:spTree>
    <p:extLst>
      <p:ext uri="{BB962C8B-B14F-4D97-AF65-F5344CB8AC3E}">
        <p14:creationId xmlns:p14="http://schemas.microsoft.com/office/powerpoint/2010/main" val="9248944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effectLst/>
                <a:latin typeface="+mn-lt"/>
                <a:ea typeface="+mn-ea"/>
                <a:cs typeface="+mn-cs"/>
              </a:rPr>
              <a:t>lorsque P0 termine, tous les autres processus se présentent. Ainsi, le processus avec la priorité la plus élevée, P3, est sélectionné et autorisé à s'exécuter. Cette procédure est répétée jusqu'à ce que tous les processus aient terminé leur exécution.</a:t>
            </a:r>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32</a:t>
            </a:fld>
            <a:endParaRPr lang="fr-FR"/>
          </a:p>
        </p:txBody>
      </p:sp>
    </p:spTree>
    <p:extLst>
      <p:ext uri="{BB962C8B-B14F-4D97-AF65-F5344CB8AC3E}">
        <p14:creationId xmlns:p14="http://schemas.microsoft.com/office/powerpoint/2010/main" val="36794693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33</a:t>
            </a:fld>
            <a:endParaRPr lang="fr-FR"/>
          </a:p>
        </p:txBody>
      </p:sp>
    </p:spTree>
    <p:extLst>
      <p:ext uri="{BB962C8B-B14F-4D97-AF65-F5344CB8AC3E}">
        <p14:creationId xmlns:p14="http://schemas.microsoft.com/office/powerpoint/2010/main" val="41009040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effectLst/>
                <a:latin typeface="+mn-lt"/>
                <a:ea typeface="+mn-ea"/>
                <a:cs typeface="+mn-cs"/>
              </a:rPr>
              <a:t>Initialement, seul le processus P0 est présent et il est autorisé à s'exécuter. Mais lorsque P1 arrive, il a une priorité plus élevée. Ainsi, P0 est préempté et P1 est autorisé à s'exécuter. Ce processus est répété jusqu'à ce que tous les processus aient terminé leur exécution. </a:t>
            </a:r>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34</a:t>
            </a:fld>
            <a:endParaRPr lang="fr-FR"/>
          </a:p>
        </p:txBody>
      </p:sp>
    </p:spTree>
    <p:extLst>
      <p:ext uri="{BB962C8B-B14F-4D97-AF65-F5344CB8AC3E}">
        <p14:creationId xmlns:p14="http://schemas.microsoft.com/office/powerpoint/2010/main" val="9534680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effectLst/>
                <a:latin typeface="+mn-lt"/>
                <a:ea typeface="+mn-ea"/>
                <a:cs typeface="+mn-cs"/>
              </a:rPr>
              <a:t>Un processus est généralement créé par le système d'exploitation pour exécuter une tâche spécifique. Voici les étapes typiques pour créer un processus et les différents états qu'il peut traverser :</a:t>
            </a:r>
          </a:p>
          <a:p>
            <a:r>
              <a:rPr lang="fr-FR" sz="1200" b="1" kern="1200" dirty="0" smtClean="0">
                <a:solidFill>
                  <a:schemeClr val="tx1"/>
                </a:solidFill>
                <a:effectLst/>
                <a:latin typeface="+mn-lt"/>
                <a:ea typeface="+mn-ea"/>
                <a:cs typeface="+mn-cs"/>
              </a:rPr>
              <a:t>Création d'un processus :</a:t>
            </a:r>
            <a:endParaRPr lang="fr-FR" sz="1200" kern="1200" dirty="0" smtClean="0">
              <a:solidFill>
                <a:schemeClr val="tx1"/>
              </a:solidFill>
              <a:effectLst/>
              <a:latin typeface="+mn-lt"/>
              <a:ea typeface="+mn-ea"/>
              <a:cs typeface="+mn-cs"/>
            </a:endParaRPr>
          </a:p>
          <a:p>
            <a:pPr lvl="0"/>
            <a:r>
              <a:rPr lang="fr-FR" sz="1200" b="1" kern="1200" dirty="0" smtClean="0">
                <a:solidFill>
                  <a:schemeClr val="tx1"/>
                </a:solidFill>
                <a:effectLst/>
                <a:latin typeface="+mn-lt"/>
                <a:ea typeface="+mn-ea"/>
                <a:cs typeface="+mn-cs"/>
              </a:rPr>
              <a:t>Allocation de ressources :</a:t>
            </a:r>
            <a:r>
              <a:rPr lang="fr-FR" sz="1200" kern="1200" dirty="0" smtClean="0">
                <a:solidFill>
                  <a:schemeClr val="tx1"/>
                </a:solidFill>
                <a:effectLst/>
                <a:latin typeface="+mn-lt"/>
                <a:ea typeface="+mn-ea"/>
                <a:cs typeface="+mn-cs"/>
              </a:rPr>
              <a:t> Lorsqu'un processus est créé, le système d'exploitation alloue les ressources nécessaires à son exécution, telles que l'espace mémoire, les descripteurs de fichiers, etc.</a:t>
            </a:r>
          </a:p>
          <a:p>
            <a:pPr lvl="0"/>
            <a:r>
              <a:rPr lang="fr-FR" sz="1200" b="1" kern="1200" dirty="0" smtClean="0">
                <a:solidFill>
                  <a:schemeClr val="tx1"/>
                </a:solidFill>
                <a:effectLst/>
                <a:latin typeface="+mn-lt"/>
                <a:ea typeface="+mn-ea"/>
                <a:cs typeface="+mn-cs"/>
              </a:rPr>
              <a:t>Initialisation :</a:t>
            </a:r>
            <a:r>
              <a:rPr lang="fr-FR" sz="1200" kern="1200" dirty="0" smtClean="0">
                <a:solidFill>
                  <a:schemeClr val="tx1"/>
                </a:solidFill>
                <a:effectLst/>
                <a:latin typeface="+mn-lt"/>
                <a:ea typeface="+mn-ea"/>
                <a:cs typeface="+mn-cs"/>
              </a:rPr>
              <a:t> Le système d'exploitation initialise les structures de données nécessaires pour suivre l'état du processus, telles que le PCB (</a:t>
            </a:r>
            <a:r>
              <a:rPr lang="fr-FR" sz="1200" kern="1200" dirty="0" err="1" smtClean="0">
                <a:solidFill>
                  <a:schemeClr val="tx1"/>
                </a:solidFill>
                <a:effectLst/>
                <a:latin typeface="+mn-lt"/>
                <a:ea typeface="+mn-ea"/>
                <a:cs typeface="+mn-cs"/>
              </a:rPr>
              <a:t>Process</a:t>
            </a:r>
            <a:r>
              <a:rPr lang="fr-FR" sz="1200" kern="1200" dirty="0" smtClean="0">
                <a:solidFill>
                  <a:schemeClr val="tx1"/>
                </a:solidFill>
                <a:effectLst/>
                <a:latin typeface="+mn-lt"/>
                <a:ea typeface="+mn-ea"/>
                <a:cs typeface="+mn-cs"/>
              </a:rPr>
              <a:t> Control Block), qui contient des informations sur le processus telles que son identifiant, son état, ses ressources allouées, etc.</a:t>
            </a:r>
          </a:p>
          <a:p>
            <a:pPr lvl="0"/>
            <a:r>
              <a:rPr lang="fr-FR" sz="1200" b="1" kern="1200" dirty="0" smtClean="0">
                <a:solidFill>
                  <a:schemeClr val="tx1"/>
                </a:solidFill>
                <a:effectLst/>
                <a:latin typeface="+mn-lt"/>
                <a:ea typeface="+mn-ea"/>
                <a:cs typeface="+mn-cs"/>
              </a:rPr>
              <a:t>Détermination du point de départ :</a:t>
            </a:r>
            <a:r>
              <a:rPr lang="fr-FR" sz="1200" kern="1200" dirty="0" smtClean="0">
                <a:solidFill>
                  <a:schemeClr val="tx1"/>
                </a:solidFill>
                <a:effectLst/>
                <a:latin typeface="+mn-lt"/>
                <a:ea typeface="+mn-ea"/>
                <a:cs typeface="+mn-cs"/>
              </a:rPr>
              <a:t> Le système d'exploitation identifie le point de départ du processus, c'est-à-dire l'instruction à partir de laquelle le processus doit commencer son exécution. Cela peut être spécifié dans le fichier exécutable du processus ou être fourni par le programme qui crée le processus.</a:t>
            </a:r>
          </a:p>
          <a:p>
            <a:pPr lvl="0"/>
            <a:r>
              <a:rPr lang="fr-FR" sz="1200" b="1" kern="1200" dirty="0" smtClean="0">
                <a:solidFill>
                  <a:schemeClr val="tx1"/>
                </a:solidFill>
                <a:effectLst/>
                <a:latin typeface="+mn-lt"/>
                <a:ea typeface="+mn-ea"/>
                <a:cs typeface="+mn-cs"/>
              </a:rPr>
              <a:t>Chargement en mémoire :</a:t>
            </a:r>
            <a:r>
              <a:rPr lang="fr-FR" sz="1200" kern="1200" dirty="0" smtClean="0">
                <a:solidFill>
                  <a:schemeClr val="tx1"/>
                </a:solidFill>
                <a:effectLst/>
                <a:latin typeface="+mn-lt"/>
                <a:ea typeface="+mn-ea"/>
                <a:cs typeface="+mn-cs"/>
              </a:rPr>
              <a:t> Si le code du processus n'est pas déjà en mémoire, le système d'exploitation charge le code exécutable du processus en mémoire principale afin qu'il puisse être exécuté.</a:t>
            </a:r>
          </a:p>
          <a:p>
            <a:pPr lvl="0"/>
            <a:r>
              <a:rPr lang="fr-FR" sz="1200" b="1" kern="1200" dirty="0" smtClean="0">
                <a:solidFill>
                  <a:schemeClr val="tx1"/>
                </a:solidFill>
                <a:effectLst/>
                <a:latin typeface="+mn-lt"/>
                <a:ea typeface="+mn-ea"/>
                <a:cs typeface="+mn-cs"/>
              </a:rPr>
              <a:t>Démarrage de l'exécution :</a:t>
            </a:r>
            <a:r>
              <a:rPr lang="fr-FR" sz="1200" kern="1200" dirty="0" smtClean="0">
                <a:solidFill>
                  <a:schemeClr val="tx1"/>
                </a:solidFill>
                <a:effectLst/>
                <a:latin typeface="+mn-lt"/>
                <a:ea typeface="+mn-ea"/>
                <a:cs typeface="+mn-cs"/>
              </a:rPr>
              <a:t> Une fois que toutes les étapes précédentes sont terminées, le système d'exploitation démarre l'exécution du processus en exécutant son code à partir du point de départ déterminé.</a:t>
            </a:r>
          </a:p>
          <a:p>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35</a:t>
            </a:fld>
            <a:endParaRPr lang="fr-FR"/>
          </a:p>
        </p:txBody>
      </p:sp>
    </p:spTree>
    <p:extLst>
      <p:ext uri="{BB962C8B-B14F-4D97-AF65-F5344CB8AC3E}">
        <p14:creationId xmlns:p14="http://schemas.microsoft.com/office/powerpoint/2010/main" val="26415191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lvl="1" rtl="0"/>
            <a:r>
              <a:rPr lang="fr-FR" sz="1200" kern="1200" dirty="0" smtClean="0">
                <a:solidFill>
                  <a:schemeClr val="tx1"/>
                </a:solidFill>
                <a:effectLst/>
                <a:latin typeface="+mn-lt"/>
                <a:ea typeface="+mn-ea"/>
                <a:cs typeface="+mn-cs"/>
              </a:rPr>
              <a:t>Les processus existants peuvent également créer de nouveaux processus. Ce mécanisme est souvent utilisé pour diviser une tâche complexe en plusieurs sous-tâches, chacune étant gérée par un processus distinct.</a:t>
            </a:r>
            <a:endParaRPr lang="fr-FR" sz="1100" kern="1200" dirty="0" smtClean="0">
              <a:solidFill>
                <a:schemeClr val="tx1"/>
              </a:solidFill>
              <a:effectLst/>
              <a:latin typeface="+mn-lt"/>
              <a:ea typeface="+mn-ea"/>
              <a:cs typeface="+mn-cs"/>
            </a:endParaRPr>
          </a:p>
          <a:p>
            <a:pPr lvl="1"/>
            <a:r>
              <a:rPr lang="fr-FR" sz="1200" kern="1200" dirty="0" smtClean="0">
                <a:solidFill>
                  <a:schemeClr val="tx1"/>
                </a:solidFill>
                <a:effectLst/>
                <a:latin typeface="+mn-lt"/>
                <a:ea typeface="+mn-ea"/>
                <a:cs typeface="+mn-cs"/>
              </a:rPr>
              <a:t>Lorsqu'un processus crée un nouveau processus, il peut utiliser des appels système spécifiques fournis par le système d'exploitation pour demander la création d'un processus fils. L'appel système transmet généralement des informations sur le nouveau processus, telles que le point de départ du code à exécuter et les paramètres à transmettre au processus fils.</a:t>
            </a:r>
            <a:endParaRPr lang="fr-FR" sz="1100" kern="1200" dirty="0" smtClean="0">
              <a:solidFill>
                <a:schemeClr val="tx1"/>
              </a:solidFill>
              <a:effectLst/>
              <a:latin typeface="+mn-lt"/>
              <a:ea typeface="+mn-ea"/>
              <a:cs typeface="+mn-cs"/>
            </a:endParaRPr>
          </a:p>
          <a:p>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36</a:t>
            </a:fld>
            <a:endParaRPr lang="fr-FR"/>
          </a:p>
        </p:txBody>
      </p:sp>
    </p:spTree>
    <p:extLst>
      <p:ext uri="{BB962C8B-B14F-4D97-AF65-F5344CB8AC3E}">
        <p14:creationId xmlns:p14="http://schemas.microsoft.com/office/powerpoint/2010/main" val="39846289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effectLst/>
                <a:latin typeface="+mn-lt"/>
                <a:ea typeface="+mn-ea"/>
                <a:cs typeface="+mn-cs"/>
              </a:rPr>
              <a:t>Un processus parent peut créer un nouveau processus fils en utilisant un mécanisme de création de processus fourni par le système d'exploitation. Voici comment cela peut se faire typiquement :</a:t>
            </a:r>
          </a:p>
          <a:p>
            <a:pPr lvl="0"/>
            <a:r>
              <a:rPr lang="fr-FR" sz="1200" b="1" kern="1200" dirty="0" smtClean="0">
                <a:solidFill>
                  <a:schemeClr val="tx1"/>
                </a:solidFill>
                <a:effectLst/>
                <a:latin typeface="+mn-lt"/>
                <a:ea typeface="+mn-ea"/>
                <a:cs typeface="+mn-cs"/>
              </a:rPr>
              <a:t>Appel système :</a:t>
            </a:r>
            <a:r>
              <a:rPr lang="fr-FR" sz="1200" kern="1200" dirty="0" smtClean="0">
                <a:solidFill>
                  <a:schemeClr val="tx1"/>
                </a:solidFill>
                <a:effectLst/>
                <a:latin typeface="+mn-lt"/>
                <a:ea typeface="+mn-ea"/>
                <a:cs typeface="+mn-cs"/>
              </a:rPr>
              <a:t> Le processus parent utilise un appel système spécifique fourni par le système d'exploitation pour créer un nouveau processus fils. Cet appel système diffère selon le système d'exploitation utilisé. Par exemple, sur les systèmes UNIX et Linux, l'appel système fork() est couramment utilisé pour créer un nouveau processus fils. Sur les systèmes Windows, la fonction </a:t>
            </a:r>
            <a:r>
              <a:rPr lang="fr-FR" sz="1200" kern="1200" dirty="0" err="1" smtClean="0">
                <a:solidFill>
                  <a:schemeClr val="tx1"/>
                </a:solidFill>
                <a:effectLst/>
                <a:latin typeface="+mn-lt"/>
                <a:ea typeface="+mn-ea"/>
                <a:cs typeface="+mn-cs"/>
              </a:rPr>
              <a:t>CreateProcess</a:t>
            </a:r>
            <a:r>
              <a:rPr lang="fr-FR" sz="1200" kern="1200" dirty="0" smtClean="0">
                <a:solidFill>
                  <a:schemeClr val="tx1"/>
                </a:solidFill>
                <a:effectLst/>
                <a:latin typeface="+mn-lt"/>
                <a:ea typeface="+mn-ea"/>
                <a:cs typeface="+mn-cs"/>
              </a:rPr>
              <a:t>() est utilisée à cette fin.</a:t>
            </a:r>
          </a:p>
          <a:p>
            <a:pPr lvl="0"/>
            <a:r>
              <a:rPr lang="fr-FR" sz="1200" b="1" kern="1200" dirty="0" smtClean="0">
                <a:solidFill>
                  <a:schemeClr val="tx1"/>
                </a:solidFill>
                <a:effectLst/>
                <a:latin typeface="+mn-lt"/>
                <a:ea typeface="+mn-ea"/>
                <a:cs typeface="+mn-cs"/>
              </a:rPr>
              <a:t>Duplication du contexte :</a:t>
            </a:r>
            <a:r>
              <a:rPr lang="fr-FR" sz="1200" kern="1200" dirty="0" smtClean="0">
                <a:solidFill>
                  <a:schemeClr val="tx1"/>
                </a:solidFill>
                <a:effectLst/>
                <a:latin typeface="+mn-lt"/>
                <a:ea typeface="+mn-ea"/>
                <a:cs typeface="+mn-cs"/>
              </a:rPr>
              <a:t> Lorsque l'appel système est effectué, le système d'exploitation duplique le contexte du processus parent, y compris les descripteurs de fichiers, les variables d'environnement, et d'autres ressources système importantes, dans le nouveau processus fils.</a:t>
            </a:r>
          </a:p>
          <a:p>
            <a:pPr lvl="0"/>
            <a:r>
              <a:rPr lang="fr-FR" sz="1200" b="1" kern="1200" dirty="0" smtClean="0">
                <a:solidFill>
                  <a:schemeClr val="tx1"/>
                </a:solidFill>
                <a:effectLst/>
                <a:latin typeface="+mn-lt"/>
                <a:ea typeface="+mn-ea"/>
                <a:cs typeface="+mn-cs"/>
              </a:rPr>
              <a:t>Modification du contexte du fils :</a:t>
            </a:r>
            <a:r>
              <a:rPr lang="fr-FR" sz="1200" kern="1200" dirty="0" smtClean="0">
                <a:solidFill>
                  <a:schemeClr val="tx1"/>
                </a:solidFill>
                <a:effectLst/>
                <a:latin typeface="+mn-lt"/>
                <a:ea typeface="+mn-ea"/>
                <a:cs typeface="+mn-cs"/>
              </a:rPr>
              <a:t> Après la duplication du contexte, le processus fils peut modifier ses propres ressources et exécuter son propre code indépendamment du processus parent. Par exemple, le processus fils peut utiliser la fonction </a:t>
            </a:r>
            <a:r>
              <a:rPr lang="fr-FR" sz="1200" kern="1200" dirty="0" err="1" smtClean="0">
                <a:solidFill>
                  <a:schemeClr val="tx1"/>
                </a:solidFill>
                <a:effectLst/>
                <a:latin typeface="+mn-lt"/>
                <a:ea typeface="+mn-ea"/>
                <a:cs typeface="+mn-cs"/>
              </a:rPr>
              <a:t>exec</a:t>
            </a:r>
            <a:r>
              <a:rPr lang="fr-FR" sz="1200" kern="1200" dirty="0" smtClean="0">
                <a:solidFill>
                  <a:schemeClr val="tx1"/>
                </a:solidFill>
                <a:effectLst/>
                <a:latin typeface="+mn-lt"/>
                <a:ea typeface="+mn-ea"/>
                <a:cs typeface="+mn-cs"/>
              </a:rPr>
              <a:t>() pour charger un nouveau programme à exécuter, remplaçant ainsi le code dupliqué du processus parent.</a:t>
            </a:r>
          </a:p>
          <a:p>
            <a:pPr lvl="0"/>
            <a:r>
              <a:rPr lang="fr-FR" sz="1200" b="1" kern="1200" dirty="0" smtClean="0">
                <a:solidFill>
                  <a:schemeClr val="tx1"/>
                </a:solidFill>
                <a:effectLst/>
                <a:latin typeface="+mn-lt"/>
                <a:ea typeface="+mn-ea"/>
                <a:cs typeface="+mn-cs"/>
              </a:rPr>
              <a:t>Exécution du fils :</a:t>
            </a:r>
            <a:r>
              <a:rPr lang="fr-FR" sz="1200" kern="1200" dirty="0" smtClean="0">
                <a:solidFill>
                  <a:schemeClr val="tx1"/>
                </a:solidFill>
                <a:effectLst/>
                <a:latin typeface="+mn-lt"/>
                <a:ea typeface="+mn-ea"/>
                <a:cs typeface="+mn-cs"/>
              </a:rPr>
              <a:t> Une fois que le processus fils a été créé et que son contexte a été configuré, il est prêt à être exécuté. Le système d'exploitation décide de l'ordonnancement des processus et peut choisir de donner la main au processus fils ou au processus parent en fonction de sa politique d'ordonnancement.</a:t>
            </a:r>
          </a:p>
          <a:p>
            <a:pPr lvl="0"/>
            <a:r>
              <a:rPr lang="fr-FR" sz="1200" b="1" kern="1200" dirty="0" smtClean="0">
                <a:solidFill>
                  <a:schemeClr val="tx1"/>
                </a:solidFill>
                <a:effectLst/>
                <a:latin typeface="+mn-lt"/>
                <a:ea typeface="+mn-ea"/>
                <a:cs typeface="+mn-cs"/>
              </a:rPr>
              <a:t>Communication entre le parent et le fils :</a:t>
            </a:r>
            <a:r>
              <a:rPr lang="fr-FR" sz="1200" kern="1200" dirty="0" smtClean="0">
                <a:solidFill>
                  <a:schemeClr val="tx1"/>
                </a:solidFill>
                <a:effectLst/>
                <a:latin typeface="+mn-lt"/>
                <a:ea typeface="+mn-ea"/>
                <a:cs typeface="+mn-cs"/>
              </a:rPr>
              <a:t> Après la création du processus fils, le processus parent et le processus fils peuvent interagir et communiquer entre eux à l'aide de mécanismes de communication interprocessus fournis par le système d'exploitation, tels que les tubes (pipes), les signaux, ou les mémoires partagées.</a:t>
            </a:r>
          </a:p>
          <a:p>
            <a:r>
              <a:rPr lang="fr-FR" sz="1200" kern="1200" dirty="0" smtClean="0">
                <a:solidFill>
                  <a:schemeClr val="tx1"/>
                </a:solidFill>
                <a:effectLst/>
                <a:latin typeface="+mn-lt"/>
                <a:ea typeface="+mn-ea"/>
                <a:cs typeface="+mn-cs"/>
              </a:rPr>
              <a:t>En résumé, un processus parent peut créer un processus fils en utilisant un appel système spécifique fourni par le système d'exploitation, ce qui entraîne la duplication du contexte du processus parent dans le processus fils. Cette fonctionnalité permet aux programmes de créer des processus supplémentaires pour exécuter des tâches spécifiques de manière concurrente.</a:t>
            </a:r>
          </a:p>
          <a:p>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37</a:t>
            </a:fld>
            <a:endParaRPr lang="fr-FR"/>
          </a:p>
        </p:txBody>
      </p:sp>
    </p:spTree>
    <p:extLst>
      <p:ext uri="{BB962C8B-B14F-4D97-AF65-F5344CB8AC3E}">
        <p14:creationId xmlns:p14="http://schemas.microsoft.com/office/powerpoint/2010/main" val="8212157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smtClean="0">
                <a:solidFill>
                  <a:schemeClr val="tx1"/>
                </a:solidFill>
                <a:effectLst/>
                <a:latin typeface="+mn-lt"/>
                <a:ea typeface="+mn-ea"/>
                <a:cs typeface="+mn-cs"/>
              </a:rPr>
              <a:t>Lors de l'utilisation d'un algorithme complexe, vous voudrez sûrement utiliser plus d'un processeur, mais vous devez écrire votre code en utilisant des modèles parallèles ; fork vous aide à implémenter ça.</a:t>
            </a:r>
          </a:p>
          <a:p>
            <a:pPr lvl="0" rtl="0"/>
            <a:endParaRPr lang="fr-FR" sz="1200" kern="1200" dirty="0" smtClean="0">
              <a:solidFill>
                <a:schemeClr val="tx1"/>
              </a:solidFill>
              <a:effectLst/>
              <a:latin typeface="+mn-lt"/>
              <a:ea typeface="+mn-ea"/>
              <a:cs typeface="+mn-cs"/>
            </a:endParaRPr>
          </a:p>
          <a:p>
            <a:pPr lvl="0" rtl="0"/>
            <a:r>
              <a:rPr lang="fr-FR" sz="1200" kern="1200" dirty="0" smtClean="0">
                <a:solidFill>
                  <a:schemeClr val="tx1"/>
                </a:solidFill>
                <a:effectLst/>
                <a:latin typeface="+mn-lt"/>
                <a:ea typeface="+mn-ea"/>
                <a:cs typeface="+mn-cs"/>
              </a:rPr>
              <a:t>Vous voyez au revoir deux fois car quand vous </a:t>
            </a:r>
            <a:r>
              <a:rPr lang="fr-FR" sz="1200" kern="1200" dirty="0" err="1" smtClean="0">
                <a:solidFill>
                  <a:schemeClr val="tx1"/>
                </a:solidFill>
                <a:effectLst/>
                <a:latin typeface="+mn-lt"/>
                <a:ea typeface="+mn-ea"/>
                <a:cs typeface="+mn-cs"/>
              </a:rPr>
              <a:t>applez</a:t>
            </a:r>
            <a:r>
              <a:rPr lang="fr-FR" sz="1200" kern="1200" dirty="0" smtClean="0">
                <a:solidFill>
                  <a:schemeClr val="tx1"/>
                </a:solidFill>
                <a:effectLst/>
                <a:latin typeface="+mn-lt"/>
                <a:ea typeface="+mn-ea"/>
                <a:cs typeface="+mn-cs"/>
              </a:rPr>
              <a:t> fork il </a:t>
            </a:r>
            <a:r>
              <a:rPr lang="fr-FR" sz="1200" kern="1200" dirty="0" err="1" smtClean="0">
                <a:solidFill>
                  <a:schemeClr val="tx1"/>
                </a:solidFill>
                <a:effectLst/>
                <a:latin typeface="+mn-lt"/>
                <a:ea typeface="+mn-ea"/>
                <a:cs typeface="+mn-cs"/>
              </a:rPr>
              <a:t>ya</a:t>
            </a:r>
            <a:r>
              <a:rPr lang="fr-FR" sz="1200" kern="1200" dirty="0" smtClean="0">
                <a:solidFill>
                  <a:schemeClr val="tx1"/>
                </a:solidFill>
                <a:effectLst/>
                <a:latin typeface="+mn-lt"/>
                <a:ea typeface="+mn-ea"/>
                <a:cs typeface="+mn-cs"/>
              </a:rPr>
              <a:t> </a:t>
            </a:r>
            <a:r>
              <a:rPr lang="fr-FR" sz="1200" kern="1200" dirty="0" err="1" smtClean="0">
                <a:solidFill>
                  <a:schemeClr val="tx1"/>
                </a:solidFill>
                <a:effectLst/>
                <a:latin typeface="+mn-lt"/>
                <a:ea typeface="+mn-ea"/>
                <a:cs typeface="+mn-cs"/>
              </a:rPr>
              <a:t>creation</a:t>
            </a:r>
            <a:r>
              <a:rPr lang="fr-FR" sz="1200" kern="1200" dirty="0" smtClean="0">
                <a:solidFill>
                  <a:schemeClr val="tx1"/>
                </a:solidFill>
                <a:effectLst/>
                <a:latin typeface="+mn-lt"/>
                <a:ea typeface="+mn-ea"/>
                <a:cs typeface="+mn-cs"/>
              </a:rPr>
              <a:t> d’un processus fils , il </a:t>
            </a:r>
            <a:r>
              <a:rPr lang="fr-FR" sz="1200" kern="1200" dirty="0" err="1" smtClean="0">
                <a:solidFill>
                  <a:schemeClr val="tx1"/>
                </a:solidFill>
                <a:effectLst/>
                <a:latin typeface="+mn-lt"/>
                <a:ea typeface="+mn-ea"/>
                <a:cs typeface="+mn-cs"/>
              </a:rPr>
              <a:t>ya</a:t>
            </a:r>
            <a:r>
              <a:rPr lang="fr-FR" sz="1200" kern="1200" dirty="0" smtClean="0">
                <a:solidFill>
                  <a:schemeClr val="tx1"/>
                </a:solidFill>
                <a:effectLst/>
                <a:latin typeface="+mn-lt"/>
                <a:ea typeface="+mn-ea"/>
                <a:cs typeface="+mn-cs"/>
              </a:rPr>
              <a:t> double retour un pour le processus père et un pour le fils </a:t>
            </a:r>
          </a:p>
          <a:p>
            <a:pPr lvl="0"/>
            <a:r>
              <a:rPr lang="fr-FR" sz="1200" kern="1200" dirty="0" smtClean="0">
                <a:solidFill>
                  <a:schemeClr val="tx1"/>
                </a:solidFill>
                <a:effectLst/>
                <a:latin typeface="+mn-lt"/>
                <a:ea typeface="+mn-ea"/>
                <a:cs typeface="+mn-cs"/>
              </a:rPr>
              <a:t>Dans le fils fork retourne 0</a:t>
            </a:r>
          </a:p>
          <a:p>
            <a:pPr lvl="0"/>
            <a:r>
              <a:rPr lang="fr-FR" sz="1200" kern="1200" dirty="0" smtClean="0">
                <a:solidFill>
                  <a:schemeClr val="tx1"/>
                </a:solidFill>
                <a:effectLst/>
                <a:latin typeface="+mn-lt"/>
                <a:ea typeface="+mn-ea"/>
                <a:cs typeface="+mn-cs"/>
              </a:rPr>
              <a:t>Dans le processus père fork retourne le </a:t>
            </a:r>
            <a:r>
              <a:rPr lang="fr-FR" sz="1200" kern="1200" dirty="0" err="1" smtClean="0">
                <a:solidFill>
                  <a:schemeClr val="tx1"/>
                </a:solidFill>
                <a:effectLst/>
                <a:latin typeface="+mn-lt"/>
                <a:ea typeface="+mn-ea"/>
                <a:cs typeface="+mn-cs"/>
              </a:rPr>
              <a:t>pid</a:t>
            </a:r>
            <a:r>
              <a:rPr lang="fr-FR" sz="1200" kern="1200" dirty="0" smtClean="0">
                <a:solidFill>
                  <a:schemeClr val="tx1"/>
                </a:solidFill>
                <a:effectLst/>
                <a:latin typeface="+mn-lt"/>
                <a:ea typeface="+mn-ea"/>
                <a:cs typeface="+mn-cs"/>
              </a:rPr>
              <a:t> de fils</a:t>
            </a:r>
          </a:p>
          <a:p>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38</a:t>
            </a:fld>
            <a:endParaRPr lang="fr-FR"/>
          </a:p>
        </p:txBody>
      </p:sp>
    </p:spTree>
    <p:extLst>
      <p:ext uri="{BB962C8B-B14F-4D97-AF65-F5344CB8AC3E}">
        <p14:creationId xmlns:p14="http://schemas.microsoft.com/office/powerpoint/2010/main" val="15401516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effectLst/>
                <a:latin typeface="+mn-lt"/>
                <a:ea typeface="+mn-ea"/>
                <a:cs typeface="+mn-cs"/>
              </a:rPr>
              <a:t>Nous avons par exemple un gros tableau (en mémoire partagée), et nous voulons calculer quelque chose dans chacun de ses éléments. Avec fork, c'est facile :</a:t>
            </a:r>
          </a:p>
          <a:p>
            <a:r>
              <a:rPr lang="fr-FR" sz="1200" kern="1200" dirty="0" smtClean="0">
                <a:solidFill>
                  <a:schemeClr val="tx1"/>
                </a:solidFill>
                <a:effectLst/>
                <a:latin typeface="+mn-lt"/>
                <a:ea typeface="+mn-ea"/>
                <a:cs typeface="+mn-cs"/>
              </a:rPr>
              <a:t>Comme nous pouvons le voir, avant le fork, nous n'avons qu'un seul processus. Nous créons un processus fils, le fils fait son travail et s'arrête (en retournant une valeur à son processus père), le processus père fait son travail et attend la fin du processus fils donc après l'instruction switch, le père reste le seul processus actif.</a:t>
            </a:r>
          </a:p>
          <a:p>
            <a:r>
              <a:rPr lang="fr-FR" sz="1200" kern="1200" dirty="0" smtClean="0">
                <a:solidFill>
                  <a:schemeClr val="tx1"/>
                </a:solidFill>
                <a:effectLst/>
                <a:latin typeface="+mn-lt"/>
                <a:ea typeface="+mn-ea"/>
                <a:cs typeface="+mn-cs"/>
              </a:rPr>
              <a:t>L'instruction return EXIT_SUCCESS termine le processus fils et envoie le résultat au processus père. Le père sait pourquoi son fils s'est terminé et connaît sa valeur de retour  </a:t>
            </a:r>
          </a:p>
          <a:p>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39</a:t>
            </a:fld>
            <a:endParaRPr lang="fr-FR"/>
          </a:p>
        </p:txBody>
      </p:sp>
    </p:spTree>
    <p:extLst>
      <p:ext uri="{BB962C8B-B14F-4D97-AF65-F5344CB8AC3E}">
        <p14:creationId xmlns:p14="http://schemas.microsoft.com/office/powerpoint/2010/main" val="24553160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solidFill>
                  <a:srgbClr val="585858"/>
                </a:solidFill>
                <a:latin typeface="+mn-lt"/>
                <a:cs typeface="Calibri"/>
              </a:rPr>
              <a:t>Généralement,</a:t>
            </a:r>
            <a:r>
              <a:rPr lang="fr-FR" sz="1200" spc="5" dirty="0" smtClean="0">
                <a:solidFill>
                  <a:srgbClr val="585858"/>
                </a:solidFill>
                <a:latin typeface="+mn-lt"/>
                <a:cs typeface="Calibri"/>
              </a:rPr>
              <a:t> </a:t>
            </a:r>
            <a:r>
              <a:rPr lang="fr-FR" sz="1200" dirty="0" smtClean="0">
                <a:solidFill>
                  <a:srgbClr val="585858"/>
                </a:solidFill>
                <a:latin typeface="+mn-lt"/>
                <a:cs typeface="Calibri"/>
              </a:rPr>
              <a:t>les utilisateurs</a:t>
            </a:r>
            <a:r>
              <a:rPr lang="fr-FR" sz="1200" spc="30" dirty="0" smtClean="0">
                <a:solidFill>
                  <a:srgbClr val="585858"/>
                </a:solidFill>
                <a:latin typeface="+mn-lt"/>
                <a:cs typeface="Calibri"/>
              </a:rPr>
              <a:t> </a:t>
            </a:r>
            <a:r>
              <a:rPr lang="fr-FR" sz="1200" dirty="0" smtClean="0">
                <a:solidFill>
                  <a:srgbClr val="585858"/>
                </a:solidFill>
                <a:latin typeface="+mn-lt"/>
                <a:cs typeface="Calibri"/>
              </a:rPr>
              <a:t>ne</a:t>
            </a:r>
            <a:r>
              <a:rPr lang="fr-FR" sz="1200" spc="15" dirty="0" smtClean="0">
                <a:solidFill>
                  <a:srgbClr val="585858"/>
                </a:solidFill>
                <a:latin typeface="+mn-lt"/>
                <a:cs typeface="Calibri"/>
              </a:rPr>
              <a:t> </a:t>
            </a:r>
            <a:r>
              <a:rPr lang="fr-FR" sz="1200" dirty="0" smtClean="0">
                <a:solidFill>
                  <a:srgbClr val="585858"/>
                </a:solidFill>
                <a:latin typeface="+mn-lt"/>
                <a:cs typeface="Calibri"/>
              </a:rPr>
              <a:t>font</a:t>
            </a:r>
            <a:r>
              <a:rPr lang="fr-FR" sz="1200" spc="-5" dirty="0" smtClean="0">
                <a:solidFill>
                  <a:srgbClr val="585858"/>
                </a:solidFill>
                <a:latin typeface="+mn-lt"/>
                <a:cs typeface="Calibri"/>
              </a:rPr>
              <a:t> </a:t>
            </a:r>
            <a:r>
              <a:rPr lang="fr-FR" sz="1200" dirty="0" smtClean="0">
                <a:solidFill>
                  <a:srgbClr val="585858"/>
                </a:solidFill>
                <a:latin typeface="+mn-lt"/>
                <a:cs typeface="Calibri"/>
              </a:rPr>
              <a:t>pas</a:t>
            </a:r>
            <a:r>
              <a:rPr lang="fr-FR" sz="1200" spc="25" dirty="0" smtClean="0">
                <a:solidFill>
                  <a:srgbClr val="585858"/>
                </a:solidFill>
                <a:latin typeface="+mn-lt"/>
                <a:cs typeface="Calibri"/>
              </a:rPr>
              <a:t> </a:t>
            </a:r>
            <a:r>
              <a:rPr lang="fr-FR" sz="1200" dirty="0" smtClean="0">
                <a:solidFill>
                  <a:srgbClr val="585858"/>
                </a:solidFill>
                <a:latin typeface="+mn-lt"/>
                <a:cs typeface="Calibri"/>
              </a:rPr>
              <a:t>attention</a:t>
            </a:r>
            <a:r>
              <a:rPr lang="fr-FR" sz="1200" spc="-10" dirty="0" smtClean="0">
                <a:solidFill>
                  <a:srgbClr val="585858"/>
                </a:solidFill>
                <a:latin typeface="+mn-lt"/>
                <a:cs typeface="Calibri"/>
              </a:rPr>
              <a:t> </a:t>
            </a:r>
            <a:r>
              <a:rPr lang="fr-FR" sz="1200" dirty="0" smtClean="0">
                <a:solidFill>
                  <a:srgbClr val="585858"/>
                </a:solidFill>
                <a:latin typeface="+mn-lt"/>
                <a:cs typeface="Calibri"/>
              </a:rPr>
              <a:t>aux</a:t>
            </a:r>
            <a:r>
              <a:rPr lang="fr-FR" sz="1200" spc="15" dirty="0" smtClean="0">
                <a:solidFill>
                  <a:srgbClr val="585858"/>
                </a:solidFill>
                <a:latin typeface="+mn-lt"/>
                <a:cs typeface="Calibri"/>
              </a:rPr>
              <a:t> </a:t>
            </a:r>
            <a:r>
              <a:rPr lang="fr-FR" sz="1200" dirty="0" smtClean="0">
                <a:solidFill>
                  <a:srgbClr val="585858"/>
                </a:solidFill>
                <a:latin typeface="+mn-lt"/>
                <a:cs typeface="Calibri"/>
              </a:rPr>
              <a:t>processus</a:t>
            </a:r>
            <a:r>
              <a:rPr lang="fr-FR" sz="1200" spc="25" dirty="0" smtClean="0">
                <a:solidFill>
                  <a:srgbClr val="585858"/>
                </a:solidFill>
                <a:latin typeface="+mn-lt"/>
                <a:cs typeface="Calibri"/>
              </a:rPr>
              <a:t> </a:t>
            </a:r>
            <a:r>
              <a:rPr lang="fr-FR" sz="1200" dirty="0" smtClean="0">
                <a:solidFill>
                  <a:srgbClr val="585858"/>
                </a:solidFill>
                <a:latin typeface="+mn-lt"/>
                <a:cs typeface="Calibri"/>
              </a:rPr>
              <a:t>qui</a:t>
            </a:r>
            <a:r>
              <a:rPr lang="fr-FR" sz="1200" spc="5" dirty="0" smtClean="0">
                <a:solidFill>
                  <a:srgbClr val="585858"/>
                </a:solidFill>
                <a:latin typeface="+mn-lt"/>
                <a:cs typeface="Calibri"/>
              </a:rPr>
              <a:t> </a:t>
            </a:r>
            <a:r>
              <a:rPr lang="fr-FR" sz="1200" dirty="0" smtClean="0">
                <a:solidFill>
                  <a:srgbClr val="585858"/>
                </a:solidFill>
                <a:latin typeface="+mn-lt"/>
                <a:cs typeface="Calibri"/>
              </a:rPr>
              <a:t>sont</a:t>
            </a:r>
            <a:r>
              <a:rPr lang="fr-FR" sz="1200" spc="-5" dirty="0" smtClean="0">
                <a:solidFill>
                  <a:srgbClr val="585858"/>
                </a:solidFill>
                <a:latin typeface="+mn-lt"/>
                <a:cs typeface="Calibri"/>
              </a:rPr>
              <a:t> </a:t>
            </a:r>
            <a:r>
              <a:rPr lang="fr-FR" sz="1200" dirty="0" smtClean="0">
                <a:solidFill>
                  <a:srgbClr val="585858"/>
                </a:solidFill>
                <a:latin typeface="+mn-lt"/>
                <a:cs typeface="Calibri"/>
              </a:rPr>
              <a:t>en</a:t>
            </a:r>
            <a:r>
              <a:rPr lang="fr-FR" sz="1200" spc="30" dirty="0" smtClean="0">
                <a:solidFill>
                  <a:srgbClr val="585858"/>
                </a:solidFill>
                <a:latin typeface="+mn-lt"/>
                <a:cs typeface="Calibri"/>
              </a:rPr>
              <a:t> </a:t>
            </a:r>
            <a:r>
              <a:rPr lang="fr-FR" sz="1200" spc="-10" dirty="0" smtClean="0">
                <a:solidFill>
                  <a:srgbClr val="585858"/>
                </a:solidFill>
                <a:latin typeface="+mn-lt"/>
                <a:cs typeface="Calibri"/>
              </a:rPr>
              <a:t>exécution.</a:t>
            </a:r>
            <a:r>
              <a:rPr lang="fr-FR" sz="1200" spc="15" dirty="0" smtClean="0">
                <a:solidFill>
                  <a:srgbClr val="585858"/>
                </a:solidFill>
                <a:latin typeface="+mn-lt"/>
                <a:cs typeface="Calibri"/>
              </a:rPr>
              <a:t> </a:t>
            </a:r>
            <a:r>
              <a:rPr lang="fr-FR" sz="1200" dirty="0" smtClean="0">
                <a:solidFill>
                  <a:srgbClr val="585858"/>
                </a:solidFill>
                <a:latin typeface="+mn-lt"/>
                <a:cs typeface="Calibri"/>
              </a:rPr>
              <a:t>En</a:t>
            </a:r>
            <a:r>
              <a:rPr lang="fr-FR" sz="1200" spc="10" dirty="0" smtClean="0">
                <a:solidFill>
                  <a:srgbClr val="585858"/>
                </a:solidFill>
                <a:latin typeface="+mn-lt"/>
                <a:cs typeface="Calibri"/>
              </a:rPr>
              <a:t> </a:t>
            </a:r>
            <a:r>
              <a:rPr lang="fr-FR" sz="1200" dirty="0" smtClean="0">
                <a:solidFill>
                  <a:srgbClr val="585858"/>
                </a:solidFill>
                <a:latin typeface="+mn-lt"/>
                <a:cs typeface="Calibri"/>
              </a:rPr>
              <a:t>revanche,</a:t>
            </a:r>
            <a:r>
              <a:rPr lang="fr-FR" sz="1200" spc="5" dirty="0" smtClean="0">
                <a:solidFill>
                  <a:srgbClr val="585858"/>
                </a:solidFill>
                <a:latin typeface="+mn-lt"/>
                <a:cs typeface="Calibri"/>
              </a:rPr>
              <a:t> </a:t>
            </a:r>
            <a:r>
              <a:rPr lang="fr-FR" sz="1200" dirty="0" smtClean="0">
                <a:solidFill>
                  <a:srgbClr val="585858"/>
                </a:solidFill>
                <a:latin typeface="+mn-lt"/>
                <a:cs typeface="Calibri"/>
              </a:rPr>
              <a:t>les</a:t>
            </a:r>
            <a:r>
              <a:rPr lang="fr-FR" sz="1200" spc="25" dirty="0" smtClean="0">
                <a:solidFill>
                  <a:srgbClr val="585858"/>
                </a:solidFill>
                <a:latin typeface="+mn-lt"/>
                <a:cs typeface="Calibri"/>
              </a:rPr>
              <a:t> </a:t>
            </a:r>
            <a:r>
              <a:rPr lang="fr-FR" sz="1200" dirty="0" smtClean="0">
                <a:solidFill>
                  <a:srgbClr val="585858"/>
                </a:solidFill>
                <a:latin typeface="+mn-lt"/>
                <a:cs typeface="Calibri"/>
              </a:rPr>
              <a:t>utilisateurs</a:t>
            </a:r>
            <a:r>
              <a:rPr lang="fr-FR" sz="1200" spc="-15" dirty="0" smtClean="0">
                <a:solidFill>
                  <a:srgbClr val="585858"/>
                </a:solidFill>
                <a:latin typeface="+mn-lt"/>
                <a:cs typeface="Calibri"/>
              </a:rPr>
              <a:t> </a:t>
            </a:r>
            <a:r>
              <a:rPr lang="fr-FR" sz="1200" dirty="0" smtClean="0">
                <a:solidFill>
                  <a:srgbClr val="585858"/>
                </a:solidFill>
                <a:latin typeface="+mn-lt"/>
                <a:cs typeface="Calibri"/>
              </a:rPr>
              <a:t>avancés</a:t>
            </a:r>
            <a:r>
              <a:rPr lang="fr-FR" sz="1200" spc="30" dirty="0" smtClean="0">
                <a:solidFill>
                  <a:srgbClr val="585858"/>
                </a:solidFill>
                <a:latin typeface="+mn-lt"/>
                <a:cs typeface="Calibri"/>
              </a:rPr>
              <a:t> </a:t>
            </a:r>
            <a:r>
              <a:rPr lang="fr-FR" sz="1200" dirty="0" smtClean="0">
                <a:solidFill>
                  <a:srgbClr val="585858"/>
                </a:solidFill>
                <a:latin typeface="+mn-lt"/>
                <a:cs typeface="Calibri"/>
              </a:rPr>
              <a:t>savent qu’une</a:t>
            </a:r>
            <a:r>
              <a:rPr lang="fr-FR" sz="1200" spc="-5" dirty="0" smtClean="0">
                <a:solidFill>
                  <a:srgbClr val="585858"/>
                </a:solidFill>
                <a:latin typeface="+mn-lt"/>
                <a:cs typeface="Calibri"/>
              </a:rPr>
              <a:t> </a:t>
            </a:r>
            <a:r>
              <a:rPr lang="fr-FR" sz="1200" dirty="0" smtClean="0">
                <a:solidFill>
                  <a:srgbClr val="585858"/>
                </a:solidFill>
                <a:latin typeface="+mn-lt"/>
                <a:cs typeface="Calibri"/>
              </a:rPr>
              <a:t>consultation</a:t>
            </a:r>
            <a:r>
              <a:rPr lang="fr-FR" sz="1200" spc="-5" dirty="0" smtClean="0">
                <a:solidFill>
                  <a:srgbClr val="585858"/>
                </a:solidFill>
                <a:latin typeface="+mn-lt"/>
                <a:cs typeface="Calibri"/>
              </a:rPr>
              <a:t> </a:t>
            </a:r>
            <a:r>
              <a:rPr lang="fr-FR" sz="1200" dirty="0" smtClean="0">
                <a:solidFill>
                  <a:srgbClr val="585858"/>
                </a:solidFill>
                <a:latin typeface="+mn-lt"/>
                <a:cs typeface="Calibri"/>
              </a:rPr>
              <a:t>des</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processus </a:t>
            </a:r>
            <a:r>
              <a:rPr lang="fr-FR" sz="1200" dirty="0" smtClean="0">
                <a:solidFill>
                  <a:srgbClr val="585858"/>
                </a:solidFill>
                <a:latin typeface="+mn-lt"/>
                <a:cs typeface="Calibri"/>
              </a:rPr>
              <a:t>permet</a:t>
            </a:r>
            <a:r>
              <a:rPr lang="fr-FR" sz="1200" spc="-25" dirty="0" smtClean="0">
                <a:solidFill>
                  <a:srgbClr val="585858"/>
                </a:solidFill>
                <a:latin typeface="+mn-lt"/>
                <a:cs typeface="Calibri"/>
              </a:rPr>
              <a:t> </a:t>
            </a:r>
            <a:r>
              <a:rPr lang="fr-FR" sz="1200" spc="-10" dirty="0" smtClean="0">
                <a:solidFill>
                  <a:srgbClr val="585858"/>
                </a:solidFill>
                <a:latin typeface="+mn-lt"/>
                <a:cs typeface="Calibri"/>
              </a:rPr>
              <a:t>l’amélioration</a:t>
            </a:r>
            <a:r>
              <a:rPr lang="fr-FR" sz="1200" spc="55" dirty="0" smtClean="0">
                <a:solidFill>
                  <a:srgbClr val="585858"/>
                </a:solidFill>
                <a:latin typeface="+mn-lt"/>
                <a:cs typeface="Calibri"/>
              </a:rPr>
              <a:t> </a:t>
            </a:r>
            <a:r>
              <a:rPr lang="fr-FR" sz="1200" dirty="0" smtClean="0">
                <a:solidFill>
                  <a:srgbClr val="585858"/>
                </a:solidFill>
                <a:latin typeface="+mn-lt"/>
                <a:cs typeface="Calibri"/>
              </a:rPr>
              <a:t>des</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performances</a:t>
            </a:r>
            <a:r>
              <a:rPr lang="fr-FR" sz="1200" spc="25" dirty="0" smtClean="0">
                <a:solidFill>
                  <a:srgbClr val="585858"/>
                </a:solidFill>
                <a:latin typeface="+mn-lt"/>
                <a:cs typeface="Calibri"/>
              </a:rPr>
              <a:t> </a:t>
            </a:r>
            <a:r>
              <a:rPr lang="fr-FR" sz="1200" dirty="0" smtClean="0">
                <a:solidFill>
                  <a:srgbClr val="585858"/>
                </a:solidFill>
                <a:latin typeface="+mn-lt"/>
                <a:cs typeface="Calibri"/>
              </a:rPr>
              <a:t>de</a:t>
            </a:r>
            <a:r>
              <a:rPr lang="fr-FR" sz="1200" spc="-30" dirty="0" smtClean="0">
                <a:solidFill>
                  <a:srgbClr val="585858"/>
                </a:solidFill>
                <a:latin typeface="+mn-lt"/>
                <a:cs typeface="Calibri"/>
              </a:rPr>
              <a:t> </a:t>
            </a:r>
            <a:r>
              <a:rPr lang="fr-FR" sz="1200" dirty="0" smtClean="0">
                <a:solidFill>
                  <a:srgbClr val="585858"/>
                </a:solidFill>
                <a:latin typeface="+mn-lt"/>
                <a:cs typeface="Calibri"/>
              </a:rPr>
              <a:t>leurs</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ordinateurs</a:t>
            </a:r>
            <a:r>
              <a:rPr lang="fr-FR" sz="1200" spc="-20" dirty="0" smtClean="0">
                <a:solidFill>
                  <a:srgbClr val="585858"/>
                </a:solidFill>
                <a:latin typeface="+mn-lt"/>
                <a:cs typeface="Calibri"/>
              </a:rPr>
              <a:t> </a:t>
            </a:r>
            <a:r>
              <a:rPr lang="fr-FR" sz="1200" dirty="0" smtClean="0">
                <a:solidFill>
                  <a:srgbClr val="585858"/>
                </a:solidFill>
                <a:latin typeface="+mn-lt"/>
                <a:cs typeface="Calibri"/>
              </a:rPr>
              <a:t>et</a:t>
            </a:r>
            <a:r>
              <a:rPr lang="fr-FR" sz="1200" spc="-25" dirty="0" smtClean="0">
                <a:solidFill>
                  <a:srgbClr val="585858"/>
                </a:solidFill>
                <a:latin typeface="+mn-lt"/>
                <a:cs typeface="Calibri"/>
              </a:rPr>
              <a:t> </a:t>
            </a:r>
            <a:r>
              <a:rPr lang="fr-FR" sz="1200" spc="-10" dirty="0" smtClean="0">
                <a:solidFill>
                  <a:srgbClr val="585858"/>
                </a:solidFill>
                <a:latin typeface="+mn-lt"/>
                <a:cs typeface="Calibri"/>
              </a:rPr>
              <a:t>éventuellement</a:t>
            </a:r>
            <a:r>
              <a:rPr lang="fr-FR" sz="1200" spc="-45" dirty="0" smtClean="0">
                <a:solidFill>
                  <a:srgbClr val="585858"/>
                </a:solidFill>
                <a:latin typeface="+mn-lt"/>
                <a:cs typeface="Calibri"/>
              </a:rPr>
              <a:t> </a:t>
            </a:r>
            <a:r>
              <a:rPr lang="fr-FR" sz="1200" dirty="0" smtClean="0">
                <a:solidFill>
                  <a:srgbClr val="585858"/>
                </a:solidFill>
                <a:latin typeface="+mn-lt"/>
                <a:cs typeface="Calibri"/>
              </a:rPr>
              <a:t>la</a:t>
            </a:r>
            <a:r>
              <a:rPr lang="fr-FR" sz="1200" spc="-10" dirty="0" smtClean="0">
                <a:solidFill>
                  <a:srgbClr val="585858"/>
                </a:solidFill>
                <a:latin typeface="+mn-lt"/>
                <a:cs typeface="Calibri"/>
              </a:rPr>
              <a:t> détection</a:t>
            </a:r>
            <a:r>
              <a:rPr lang="fr-FR" sz="1200" spc="-15" dirty="0" smtClean="0">
                <a:solidFill>
                  <a:srgbClr val="585858"/>
                </a:solidFill>
                <a:latin typeface="+mn-lt"/>
                <a:cs typeface="Calibri"/>
              </a:rPr>
              <a:t> </a:t>
            </a:r>
            <a:r>
              <a:rPr lang="fr-FR" sz="1200" dirty="0" smtClean="0">
                <a:solidFill>
                  <a:srgbClr val="585858"/>
                </a:solidFill>
                <a:latin typeface="+mn-lt"/>
                <a:cs typeface="Calibri"/>
              </a:rPr>
              <a:t>d’un</a:t>
            </a:r>
            <a:r>
              <a:rPr lang="fr-FR" sz="1200" spc="-15" dirty="0" smtClean="0">
                <a:solidFill>
                  <a:srgbClr val="585858"/>
                </a:solidFill>
                <a:latin typeface="+mn-lt"/>
                <a:cs typeface="Calibri"/>
              </a:rPr>
              <a:t> </a:t>
            </a:r>
            <a:r>
              <a:rPr lang="fr-FR" sz="1200" dirty="0" smtClean="0">
                <a:solidFill>
                  <a:srgbClr val="585858"/>
                </a:solidFill>
                <a:latin typeface="+mn-lt"/>
                <a:cs typeface="Calibri"/>
              </a:rPr>
              <a:t>virus </a:t>
            </a:r>
            <a:r>
              <a:rPr lang="fr-FR" sz="1200" spc="-10" dirty="0" smtClean="0">
                <a:solidFill>
                  <a:srgbClr val="585858"/>
                </a:solidFill>
                <a:latin typeface="+mn-lt"/>
                <a:cs typeface="Calibri"/>
              </a:rPr>
              <a:t>informatique.</a:t>
            </a:r>
            <a:endParaRPr lang="fr-FR" sz="1200" dirty="0" smtClean="0">
              <a:latin typeface="+mn-lt"/>
              <a:cs typeface="Calibri"/>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40</a:t>
            </a:fld>
            <a:endParaRPr lang="fr-FR"/>
          </a:p>
        </p:txBody>
      </p:sp>
    </p:spTree>
    <p:extLst>
      <p:ext uri="{BB962C8B-B14F-4D97-AF65-F5344CB8AC3E}">
        <p14:creationId xmlns:p14="http://schemas.microsoft.com/office/powerpoint/2010/main" val="201080971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solidFill>
                  <a:srgbClr val="585858"/>
                </a:solidFill>
                <a:latin typeface="+mn-lt"/>
                <a:cs typeface="Calibri"/>
              </a:rPr>
              <a:t>Pour</a:t>
            </a:r>
            <a:r>
              <a:rPr lang="fr-FR" sz="1200" spc="-10" dirty="0" smtClean="0">
                <a:solidFill>
                  <a:srgbClr val="585858"/>
                </a:solidFill>
                <a:latin typeface="+mn-lt"/>
                <a:cs typeface="Calibri"/>
              </a:rPr>
              <a:t> </a:t>
            </a:r>
            <a:r>
              <a:rPr lang="fr-FR" sz="1200" dirty="0" smtClean="0">
                <a:solidFill>
                  <a:srgbClr val="585858"/>
                </a:solidFill>
                <a:latin typeface="+mn-lt"/>
                <a:cs typeface="Calibri"/>
              </a:rPr>
              <a:t>consulter</a:t>
            </a:r>
            <a:r>
              <a:rPr lang="fr-FR" sz="1200" spc="25" dirty="0" smtClean="0">
                <a:solidFill>
                  <a:srgbClr val="585858"/>
                </a:solidFill>
                <a:latin typeface="+mn-lt"/>
                <a:cs typeface="Calibri"/>
              </a:rPr>
              <a:t> </a:t>
            </a:r>
            <a:r>
              <a:rPr lang="fr-FR" sz="1200" dirty="0" smtClean="0">
                <a:solidFill>
                  <a:srgbClr val="585858"/>
                </a:solidFill>
                <a:latin typeface="+mn-lt"/>
                <a:cs typeface="Calibri"/>
              </a:rPr>
              <a:t>la performance</a:t>
            </a:r>
            <a:r>
              <a:rPr lang="fr-FR" sz="1200" spc="30" dirty="0" smtClean="0">
                <a:solidFill>
                  <a:srgbClr val="585858"/>
                </a:solidFill>
                <a:latin typeface="+mn-lt"/>
                <a:cs typeface="Calibri"/>
              </a:rPr>
              <a:t> </a:t>
            </a:r>
            <a:r>
              <a:rPr lang="fr-FR" sz="1200" dirty="0" smtClean="0">
                <a:solidFill>
                  <a:srgbClr val="585858"/>
                </a:solidFill>
                <a:latin typeface="+mn-lt"/>
                <a:cs typeface="Calibri"/>
              </a:rPr>
              <a:t>de</a:t>
            </a:r>
            <a:r>
              <a:rPr lang="fr-FR" sz="1200" spc="5" dirty="0" smtClean="0">
                <a:solidFill>
                  <a:srgbClr val="585858"/>
                </a:solidFill>
                <a:latin typeface="+mn-lt"/>
                <a:cs typeface="Calibri"/>
              </a:rPr>
              <a:t> </a:t>
            </a:r>
            <a:r>
              <a:rPr lang="fr-FR" sz="1200" dirty="0" smtClean="0">
                <a:solidFill>
                  <a:srgbClr val="585858"/>
                </a:solidFill>
                <a:latin typeface="+mn-lt"/>
                <a:cs typeface="Calibri"/>
              </a:rPr>
              <a:t>son</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ordinateur,</a:t>
            </a:r>
            <a:r>
              <a:rPr lang="fr-FR" sz="1200" spc="15" dirty="0" smtClean="0">
                <a:solidFill>
                  <a:srgbClr val="585858"/>
                </a:solidFill>
                <a:latin typeface="+mn-lt"/>
                <a:cs typeface="Calibri"/>
              </a:rPr>
              <a:t> </a:t>
            </a:r>
            <a:r>
              <a:rPr lang="fr-FR" sz="1200" dirty="0" smtClean="0">
                <a:solidFill>
                  <a:srgbClr val="585858"/>
                </a:solidFill>
                <a:latin typeface="+mn-lt"/>
                <a:cs typeface="Calibri"/>
              </a:rPr>
              <a:t>l’utilisateur peut</a:t>
            </a:r>
            <a:r>
              <a:rPr lang="fr-FR" sz="1200" spc="30" dirty="0" smtClean="0">
                <a:solidFill>
                  <a:srgbClr val="585858"/>
                </a:solidFill>
                <a:latin typeface="+mn-lt"/>
                <a:cs typeface="Calibri"/>
              </a:rPr>
              <a:t> </a:t>
            </a:r>
            <a:r>
              <a:rPr lang="fr-FR" sz="1200" dirty="0" smtClean="0">
                <a:solidFill>
                  <a:srgbClr val="585858"/>
                </a:solidFill>
                <a:latin typeface="+mn-lt"/>
                <a:cs typeface="Calibri"/>
              </a:rPr>
              <a:t>choisir</a:t>
            </a:r>
            <a:r>
              <a:rPr lang="fr-FR" sz="1200" spc="315" dirty="0" smtClean="0">
                <a:solidFill>
                  <a:srgbClr val="585858"/>
                </a:solidFill>
                <a:latin typeface="+mn-lt"/>
                <a:cs typeface="Calibri"/>
              </a:rPr>
              <a:t> </a:t>
            </a:r>
            <a:r>
              <a:rPr lang="fr-FR" sz="1200" b="1" dirty="0" smtClean="0">
                <a:solidFill>
                  <a:srgbClr val="585858"/>
                </a:solidFill>
                <a:latin typeface="+mn-lt"/>
                <a:cs typeface="Calibri"/>
              </a:rPr>
              <a:t>l'onglet</a:t>
            </a:r>
            <a:r>
              <a:rPr lang="fr-FR" sz="1200" b="1" spc="25" dirty="0" smtClean="0">
                <a:solidFill>
                  <a:srgbClr val="585858"/>
                </a:solidFill>
                <a:latin typeface="+mn-lt"/>
                <a:cs typeface="Calibri"/>
              </a:rPr>
              <a:t> </a:t>
            </a:r>
            <a:r>
              <a:rPr lang="fr-FR" sz="1200" b="1" dirty="0" smtClean="0">
                <a:solidFill>
                  <a:srgbClr val="585858"/>
                </a:solidFill>
                <a:latin typeface="+mn-lt"/>
                <a:cs typeface="Calibri"/>
              </a:rPr>
              <a:t>Performances</a:t>
            </a:r>
            <a:r>
              <a:rPr lang="fr-FR" sz="1200" b="1" spc="5" dirty="0" smtClean="0">
                <a:solidFill>
                  <a:srgbClr val="585858"/>
                </a:solidFill>
                <a:latin typeface="+mn-lt"/>
                <a:cs typeface="Calibri"/>
              </a:rPr>
              <a:t> </a:t>
            </a:r>
            <a:r>
              <a:rPr lang="fr-FR" sz="1200" dirty="0" smtClean="0">
                <a:solidFill>
                  <a:srgbClr val="585858"/>
                </a:solidFill>
                <a:latin typeface="+mn-lt"/>
                <a:cs typeface="Calibri"/>
              </a:rPr>
              <a:t>(Voir</a:t>
            </a:r>
            <a:r>
              <a:rPr lang="fr-FR" sz="1200" spc="15" dirty="0" smtClean="0">
                <a:solidFill>
                  <a:srgbClr val="585858"/>
                </a:solidFill>
                <a:latin typeface="+mn-lt"/>
                <a:cs typeface="Calibri"/>
              </a:rPr>
              <a:t> </a:t>
            </a:r>
            <a:r>
              <a:rPr lang="fr-FR" sz="1200" dirty="0" smtClean="0">
                <a:solidFill>
                  <a:srgbClr val="585858"/>
                </a:solidFill>
                <a:latin typeface="+mn-lt"/>
                <a:cs typeface="Calibri"/>
              </a:rPr>
              <a:t>Figure</a:t>
            </a:r>
            <a:r>
              <a:rPr lang="fr-FR" sz="1200" spc="30" dirty="0" smtClean="0">
                <a:solidFill>
                  <a:srgbClr val="585858"/>
                </a:solidFill>
                <a:latin typeface="+mn-lt"/>
                <a:cs typeface="Calibri"/>
              </a:rPr>
              <a:t> </a:t>
            </a:r>
            <a:r>
              <a:rPr lang="fr-FR" sz="1200" spc="0" dirty="0" smtClean="0">
                <a:solidFill>
                  <a:srgbClr val="585858"/>
                </a:solidFill>
                <a:latin typeface="+mn-lt"/>
                <a:cs typeface="Calibri"/>
              </a:rPr>
              <a:t>1</a:t>
            </a:r>
            <a:r>
              <a:rPr lang="fr-FR" sz="1200" dirty="0" smtClean="0">
                <a:solidFill>
                  <a:srgbClr val="585858"/>
                </a:solidFill>
                <a:latin typeface="+mn-lt"/>
                <a:cs typeface="Calibri"/>
              </a:rPr>
              <a:t>)</a:t>
            </a:r>
            <a:r>
              <a:rPr lang="fr-FR" sz="1200" spc="20" dirty="0" smtClean="0">
                <a:solidFill>
                  <a:srgbClr val="585858"/>
                </a:solidFill>
                <a:latin typeface="+mn-lt"/>
                <a:cs typeface="Calibri"/>
              </a:rPr>
              <a:t> </a:t>
            </a:r>
            <a:r>
              <a:rPr lang="fr-FR" sz="1200" dirty="0" smtClean="0">
                <a:solidFill>
                  <a:srgbClr val="585858"/>
                </a:solidFill>
                <a:latin typeface="+mn-lt"/>
                <a:cs typeface="Calibri"/>
              </a:rPr>
              <a:t>pour</a:t>
            </a:r>
            <a:r>
              <a:rPr lang="fr-FR" sz="1200" spc="-5" dirty="0" smtClean="0">
                <a:solidFill>
                  <a:srgbClr val="585858"/>
                </a:solidFill>
                <a:latin typeface="+mn-lt"/>
                <a:cs typeface="Calibri"/>
              </a:rPr>
              <a:t> </a:t>
            </a:r>
            <a:r>
              <a:rPr lang="fr-FR" sz="1200" dirty="0" smtClean="0">
                <a:solidFill>
                  <a:srgbClr val="585858"/>
                </a:solidFill>
                <a:latin typeface="+mn-lt"/>
                <a:cs typeface="Calibri"/>
              </a:rPr>
              <a:t>voir</a:t>
            </a:r>
            <a:r>
              <a:rPr lang="fr-FR" sz="1200" spc="15" dirty="0" smtClean="0">
                <a:solidFill>
                  <a:srgbClr val="585858"/>
                </a:solidFill>
                <a:latin typeface="+mn-lt"/>
                <a:cs typeface="Calibri"/>
              </a:rPr>
              <a:t> </a:t>
            </a:r>
            <a:r>
              <a:rPr lang="fr-FR" sz="1200" dirty="0" smtClean="0">
                <a:solidFill>
                  <a:srgbClr val="585858"/>
                </a:solidFill>
                <a:latin typeface="+mn-lt"/>
                <a:cs typeface="Calibri"/>
              </a:rPr>
              <a:t>le</a:t>
            </a:r>
            <a:r>
              <a:rPr lang="fr-FR" sz="1200" spc="25" dirty="0" smtClean="0">
                <a:solidFill>
                  <a:srgbClr val="585858"/>
                </a:solidFill>
                <a:latin typeface="+mn-lt"/>
                <a:cs typeface="Calibri"/>
              </a:rPr>
              <a:t> </a:t>
            </a:r>
            <a:r>
              <a:rPr lang="fr-FR" sz="1200" dirty="0" smtClean="0">
                <a:solidFill>
                  <a:srgbClr val="585858"/>
                </a:solidFill>
                <a:latin typeface="+mn-lt"/>
                <a:cs typeface="Calibri"/>
              </a:rPr>
              <a:t>taux</a:t>
            </a:r>
            <a:r>
              <a:rPr lang="fr-FR" sz="1200" spc="30" dirty="0" smtClean="0">
                <a:solidFill>
                  <a:srgbClr val="585858"/>
                </a:solidFill>
                <a:latin typeface="+mn-lt"/>
                <a:cs typeface="Calibri"/>
              </a:rPr>
              <a:t> </a:t>
            </a:r>
            <a:r>
              <a:rPr lang="fr-FR" sz="1200" dirty="0" smtClean="0">
                <a:solidFill>
                  <a:srgbClr val="585858"/>
                </a:solidFill>
                <a:latin typeface="+mn-lt"/>
                <a:cs typeface="Calibri"/>
              </a:rPr>
              <a:t>d'utilisation</a:t>
            </a:r>
            <a:r>
              <a:rPr lang="fr-FR" sz="1200" spc="5" dirty="0" smtClean="0">
                <a:solidFill>
                  <a:srgbClr val="585858"/>
                </a:solidFill>
                <a:latin typeface="+mn-lt"/>
                <a:cs typeface="Calibri"/>
              </a:rPr>
              <a:t> </a:t>
            </a:r>
            <a:r>
              <a:rPr lang="fr-FR" sz="1200" dirty="0" smtClean="0">
                <a:solidFill>
                  <a:srgbClr val="585858"/>
                </a:solidFill>
                <a:latin typeface="+mn-lt"/>
                <a:cs typeface="Calibri"/>
              </a:rPr>
              <a:t>du</a:t>
            </a:r>
            <a:r>
              <a:rPr lang="fr-FR" sz="1200" spc="-5" dirty="0" smtClean="0">
                <a:solidFill>
                  <a:srgbClr val="585858"/>
                </a:solidFill>
                <a:latin typeface="+mn-lt"/>
                <a:cs typeface="Calibri"/>
              </a:rPr>
              <a:t> </a:t>
            </a:r>
            <a:r>
              <a:rPr lang="fr-FR" sz="1200" dirty="0" smtClean="0">
                <a:solidFill>
                  <a:srgbClr val="585858"/>
                </a:solidFill>
                <a:latin typeface="+mn-lt"/>
                <a:cs typeface="Calibri"/>
              </a:rPr>
              <a:t>processeur</a:t>
            </a:r>
            <a:r>
              <a:rPr lang="fr-FR" sz="1200" spc="15" dirty="0" smtClean="0">
                <a:solidFill>
                  <a:srgbClr val="585858"/>
                </a:solidFill>
                <a:latin typeface="+mn-lt"/>
                <a:cs typeface="Calibri"/>
              </a:rPr>
              <a:t> </a:t>
            </a:r>
            <a:r>
              <a:rPr lang="fr-FR" sz="1200" dirty="0" smtClean="0">
                <a:solidFill>
                  <a:srgbClr val="585858"/>
                </a:solidFill>
                <a:latin typeface="+mn-lt"/>
                <a:cs typeface="Calibri"/>
              </a:rPr>
              <a:t>et</a:t>
            </a:r>
            <a:r>
              <a:rPr lang="fr-FR" sz="1200" spc="10" dirty="0" smtClean="0">
                <a:solidFill>
                  <a:srgbClr val="585858"/>
                </a:solidFill>
                <a:latin typeface="+mn-lt"/>
                <a:cs typeface="Calibri"/>
              </a:rPr>
              <a:t> </a:t>
            </a:r>
            <a:r>
              <a:rPr lang="fr-FR" sz="1200" dirty="0" smtClean="0">
                <a:solidFill>
                  <a:srgbClr val="585858"/>
                </a:solidFill>
                <a:latin typeface="+mn-lt"/>
                <a:cs typeface="Calibri"/>
              </a:rPr>
              <a:t>de</a:t>
            </a:r>
            <a:r>
              <a:rPr lang="fr-FR" sz="1200" spc="25" dirty="0" smtClean="0">
                <a:solidFill>
                  <a:srgbClr val="585858"/>
                </a:solidFill>
                <a:latin typeface="+mn-lt"/>
                <a:cs typeface="Calibri"/>
              </a:rPr>
              <a:t> </a:t>
            </a:r>
            <a:r>
              <a:rPr lang="fr-FR" sz="1200" spc="-25" dirty="0" smtClean="0">
                <a:solidFill>
                  <a:srgbClr val="585858"/>
                </a:solidFill>
                <a:latin typeface="+mn-lt"/>
                <a:cs typeface="Calibri"/>
              </a:rPr>
              <a:t>la </a:t>
            </a:r>
            <a:r>
              <a:rPr lang="fr-FR" sz="1200" dirty="0" smtClean="0">
                <a:solidFill>
                  <a:srgbClr val="585858"/>
                </a:solidFill>
                <a:latin typeface="+mn-lt"/>
                <a:cs typeface="Calibri"/>
              </a:rPr>
              <a:t>mémoire</a:t>
            </a:r>
            <a:r>
              <a:rPr lang="fr-FR" sz="1200" spc="145" dirty="0" smtClean="0">
                <a:solidFill>
                  <a:srgbClr val="585858"/>
                </a:solidFill>
                <a:latin typeface="+mn-lt"/>
                <a:cs typeface="Calibri"/>
              </a:rPr>
              <a:t> </a:t>
            </a:r>
            <a:r>
              <a:rPr lang="fr-FR" sz="1200" dirty="0" smtClean="0">
                <a:solidFill>
                  <a:srgbClr val="585858"/>
                </a:solidFill>
                <a:latin typeface="+mn-lt"/>
                <a:cs typeface="Calibri"/>
              </a:rPr>
              <a:t>vive.</a:t>
            </a:r>
            <a:r>
              <a:rPr lang="fr-FR" sz="1200" spc="130" dirty="0" smtClean="0">
                <a:solidFill>
                  <a:srgbClr val="585858"/>
                </a:solidFill>
                <a:latin typeface="+mn-lt"/>
                <a:cs typeface="Calibri"/>
              </a:rPr>
              <a:t> </a:t>
            </a:r>
            <a:r>
              <a:rPr lang="fr-FR" sz="1200" dirty="0" smtClean="0">
                <a:solidFill>
                  <a:srgbClr val="585858"/>
                </a:solidFill>
                <a:latin typeface="+mn-lt"/>
                <a:cs typeface="Calibri"/>
              </a:rPr>
              <a:t>Vérifiez</a:t>
            </a:r>
            <a:r>
              <a:rPr lang="fr-FR" sz="1200" spc="125" dirty="0" smtClean="0">
                <a:solidFill>
                  <a:srgbClr val="585858"/>
                </a:solidFill>
                <a:latin typeface="+mn-lt"/>
                <a:cs typeface="Calibri"/>
              </a:rPr>
              <a:t> </a:t>
            </a:r>
            <a:r>
              <a:rPr lang="fr-FR" sz="1200" dirty="0" smtClean="0">
                <a:solidFill>
                  <a:srgbClr val="585858"/>
                </a:solidFill>
                <a:latin typeface="+mn-lt"/>
                <a:cs typeface="Calibri"/>
              </a:rPr>
              <a:t>aussi</a:t>
            </a:r>
            <a:r>
              <a:rPr lang="fr-FR" sz="1200" spc="140" dirty="0" smtClean="0">
                <a:solidFill>
                  <a:srgbClr val="585858"/>
                </a:solidFill>
                <a:latin typeface="+mn-lt"/>
                <a:cs typeface="Calibri"/>
              </a:rPr>
              <a:t> </a:t>
            </a:r>
            <a:r>
              <a:rPr lang="fr-FR" sz="1200" dirty="0" smtClean="0">
                <a:solidFill>
                  <a:srgbClr val="585858"/>
                </a:solidFill>
                <a:latin typeface="+mn-lt"/>
                <a:cs typeface="Calibri"/>
              </a:rPr>
              <a:t>le</a:t>
            </a:r>
            <a:r>
              <a:rPr lang="fr-FR" sz="1200" spc="145" dirty="0" smtClean="0">
                <a:solidFill>
                  <a:srgbClr val="585858"/>
                </a:solidFill>
                <a:latin typeface="+mn-lt"/>
                <a:cs typeface="Calibri"/>
              </a:rPr>
              <a:t> </a:t>
            </a:r>
            <a:r>
              <a:rPr lang="fr-FR" sz="1200" dirty="0" smtClean="0">
                <a:solidFill>
                  <a:srgbClr val="585858"/>
                </a:solidFill>
                <a:latin typeface="+mn-lt"/>
                <a:cs typeface="Calibri"/>
              </a:rPr>
              <a:t>taux</a:t>
            </a:r>
            <a:r>
              <a:rPr lang="fr-FR" sz="1200" spc="150" dirty="0" smtClean="0">
                <a:solidFill>
                  <a:srgbClr val="585858"/>
                </a:solidFill>
                <a:latin typeface="+mn-lt"/>
                <a:cs typeface="Calibri"/>
              </a:rPr>
              <a:t> </a:t>
            </a:r>
            <a:r>
              <a:rPr lang="fr-FR" sz="1200" dirty="0" smtClean="0">
                <a:solidFill>
                  <a:srgbClr val="585858"/>
                </a:solidFill>
                <a:latin typeface="+mn-lt"/>
                <a:cs typeface="Calibri"/>
              </a:rPr>
              <a:t>d'utilisation</a:t>
            </a:r>
            <a:r>
              <a:rPr lang="fr-FR" sz="1200" spc="140" dirty="0" smtClean="0">
                <a:solidFill>
                  <a:srgbClr val="585858"/>
                </a:solidFill>
                <a:latin typeface="+mn-lt"/>
                <a:cs typeface="Calibri"/>
              </a:rPr>
              <a:t> </a:t>
            </a:r>
            <a:r>
              <a:rPr lang="fr-FR" sz="1200" dirty="0" smtClean="0">
                <a:solidFill>
                  <a:srgbClr val="585858"/>
                </a:solidFill>
                <a:latin typeface="+mn-lt"/>
                <a:cs typeface="Calibri"/>
              </a:rPr>
              <a:t>du</a:t>
            </a:r>
            <a:r>
              <a:rPr lang="fr-FR" sz="1200" spc="135" dirty="0" smtClean="0">
                <a:solidFill>
                  <a:srgbClr val="585858"/>
                </a:solidFill>
                <a:latin typeface="+mn-lt"/>
                <a:cs typeface="Calibri"/>
              </a:rPr>
              <a:t> </a:t>
            </a:r>
            <a:r>
              <a:rPr lang="fr-FR" sz="1200" dirty="0" smtClean="0">
                <a:solidFill>
                  <a:srgbClr val="585858"/>
                </a:solidFill>
                <a:latin typeface="+mn-lt"/>
                <a:cs typeface="Calibri"/>
              </a:rPr>
              <a:t>processeur</a:t>
            </a:r>
            <a:r>
              <a:rPr lang="fr-FR" sz="1200" spc="135" dirty="0" smtClean="0">
                <a:solidFill>
                  <a:srgbClr val="585858"/>
                </a:solidFill>
                <a:latin typeface="+mn-lt"/>
                <a:cs typeface="Calibri"/>
              </a:rPr>
              <a:t> </a:t>
            </a:r>
            <a:r>
              <a:rPr lang="fr-FR" sz="1200" dirty="0" smtClean="0">
                <a:solidFill>
                  <a:srgbClr val="585858"/>
                </a:solidFill>
                <a:latin typeface="+mn-lt"/>
                <a:cs typeface="Calibri"/>
              </a:rPr>
              <a:t>et</a:t>
            </a:r>
            <a:r>
              <a:rPr lang="fr-FR" sz="1200" spc="150" dirty="0" smtClean="0">
                <a:solidFill>
                  <a:srgbClr val="585858"/>
                </a:solidFill>
                <a:latin typeface="+mn-lt"/>
                <a:cs typeface="Calibri"/>
              </a:rPr>
              <a:t> </a:t>
            </a:r>
            <a:r>
              <a:rPr lang="fr-FR" sz="1200" dirty="0" smtClean="0">
                <a:solidFill>
                  <a:srgbClr val="585858"/>
                </a:solidFill>
                <a:latin typeface="+mn-lt"/>
                <a:cs typeface="Calibri"/>
              </a:rPr>
              <a:t>le</a:t>
            </a:r>
            <a:r>
              <a:rPr lang="fr-FR" sz="1200" spc="145" dirty="0" smtClean="0">
                <a:solidFill>
                  <a:srgbClr val="585858"/>
                </a:solidFill>
                <a:latin typeface="+mn-lt"/>
                <a:cs typeface="Calibri"/>
              </a:rPr>
              <a:t> </a:t>
            </a:r>
            <a:r>
              <a:rPr lang="fr-FR" sz="1200" dirty="0" smtClean="0">
                <a:solidFill>
                  <a:srgbClr val="585858"/>
                </a:solidFill>
                <a:latin typeface="+mn-lt"/>
                <a:cs typeface="Calibri"/>
              </a:rPr>
              <a:t>taux</a:t>
            </a:r>
            <a:r>
              <a:rPr lang="fr-FR" sz="1200" spc="130" dirty="0" smtClean="0">
                <a:solidFill>
                  <a:srgbClr val="585858"/>
                </a:solidFill>
                <a:latin typeface="+mn-lt"/>
                <a:cs typeface="Calibri"/>
              </a:rPr>
              <a:t> </a:t>
            </a:r>
            <a:r>
              <a:rPr lang="fr-FR" sz="1200" dirty="0" smtClean="0">
                <a:solidFill>
                  <a:srgbClr val="585858"/>
                </a:solidFill>
                <a:latin typeface="+mn-lt"/>
                <a:cs typeface="Calibri"/>
              </a:rPr>
              <a:t>d'occupation</a:t>
            </a:r>
            <a:r>
              <a:rPr lang="fr-FR" sz="1200" spc="140" dirty="0" smtClean="0">
                <a:solidFill>
                  <a:srgbClr val="585858"/>
                </a:solidFill>
                <a:latin typeface="+mn-lt"/>
                <a:cs typeface="Calibri"/>
              </a:rPr>
              <a:t> </a:t>
            </a:r>
            <a:r>
              <a:rPr lang="fr-FR" sz="1200" dirty="0" smtClean="0">
                <a:solidFill>
                  <a:srgbClr val="585858"/>
                </a:solidFill>
                <a:latin typeface="+mn-lt"/>
                <a:cs typeface="Calibri"/>
              </a:rPr>
              <a:t>de</a:t>
            </a:r>
            <a:r>
              <a:rPr lang="fr-FR" sz="1200" spc="145" dirty="0" smtClean="0">
                <a:solidFill>
                  <a:srgbClr val="585858"/>
                </a:solidFill>
                <a:latin typeface="+mn-lt"/>
                <a:cs typeface="Calibri"/>
              </a:rPr>
              <a:t> </a:t>
            </a:r>
            <a:r>
              <a:rPr lang="fr-FR" sz="1200" dirty="0" smtClean="0">
                <a:solidFill>
                  <a:srgbClr val="585858"/>
                </a:solidFill>
                <a:latin typeface="+mn-lt"/>
                <a:cs typeface="Calibri"/>
              </a:rPr>
              <a:t>la</a:t>
            </a:r>
            <a:r>
              <a:rPr lang="fr-FR" sz="1200" spc="145" dirty="0" smtClean="0">
                <a:solidFill>
                  <a:srgbClr val="585858"/>
                </a:solidFill>
                <a:latin typeface="+mn-lt"/>
                <a:cs typeface="Calibri"/>
              </a:rPr>
              <a:t> </a:t>
            </a:r>
            <a:r>
              <a:rPr lang="fr-FR" sz="1200" dirty="0" smtClean="0">
                <a:solidFill>
                  <a:srgbClr val="585858"/>
                </a:solidFill>
                <a:latin typeface="+mn-lt"/>
                <a:cs typeface="Calibri"/>
              </a:rPr>
              <a:t>mémoire</a:t>
            </a:r>
            <a:r>
              <a:rPr lang="fr-FR" sz="1200" spc="150" dirty="0" smtClean="0">
                <a:solidFill>
                  <a:srgbClr val="585858"/>
                </a:solidFill>
                <a:latin typeface="+mn-lt"/>
                <a:cs typeface="Calibri"/>
              </a:rPr>
              <a:t> </a:t>
            </a:r>
            <a:r>
              <a:rPr lang="fr-FR" sz="1200" dirty="0" smtClean="0">
                <a:solidFill>
                  <a:srgbClr val="585858"/>
                </a:solidFill>
                <a:latin typeface="+mn-lt"/>
                <a:cs typeface="Calibri"/>
              </a:rPr>
              <a:t>lorsqu'une</a:t>
            </a:r>
            <a:r>
              <a:rPr lang="fr-FR" sz="1200" spc="145" dirty="0" smtClean="0">
                <a:solidFill>
                  <a:srgbClr val="585858"/>
                </a:solidFill>
                <a:latin typeface="+mn-lt"/>
                <a:cs typeface="Calibri"/>
              </a:rPr>
              <a:t> </a:t>
            </a:r>
            <a:r>
              <a:rPr lang="fr-FR" sz="1200" dirty="0" smtClean="0">
                <a:solidFill>
                  <a:srgbClr val="585858"/>
                </a:solidFill>
                <a:latin typeface="+mn-lt"/>
                <a:cs typeface="Calibri"/>
              </a:rPr>
              <a:t>application</a:t>
            </a:r>
            <a:r>
              <a:rPr lang="fr-FR" sz="1200" spc="140" dirty="0" smtClean="0">
                <a:solidFill>
                  <a:srgbClr val="585858"/>
                </a:solidFill>
                <a:latin typeface="+mn-lt"/>
                <a:cs typeface="Calibri"/>
              </a:rPr>
              <a:t> </a:t>
            </a:r>
            <a:r>
              <a:rPr lang="fr-FR" sz="1200" dirty="0" smtClean="0">
                <a:solidFill>
                  <a:srgbClr val="585858"/>
                </a:solidFill>
                <a:latin typeface="+mn-lt"/>
                <a:cs typeface="Calibri"/>
              </a:rPr>
              <a:t>est</a:t>
            </a:r>
            <a:r>
              <a:rPr lang="fr-FR" sz="1200" spc="130" dirty="0" smtClean="0">
                <a:solidFill>
                  <a:srgbClr val="585858"/>
                </a:solidFill>
                <a:latin typeface="+mn-lt"/>
                <a:cs typeface="Calibri"/>
              </a:rPr>
              <a:t> </a:t>
            </a:r>
            <a:r>
              <a:rPr lang="fr-FR" sz="1200" dirty="0" smtClean="0">
                <a:solidFill>
                  <a:srgbClr val="585858"/>
                </a:solidFill>
                <a:latin typeface="+mn-lt"/>
                <a:cs typeface="Calibri"/>
              </a:rPr>
              <a:t>particulièrement</a:t>
            </a:r>
            <a:r>
              <a:rPr lang="fr-FR" sz="1200" spc="130" dirty="0" smtClean="0">
                <a:solidFill>
                  <a:srgbClr val="585858"/>
                </a:solidFill>
                <a:latin typeface="+mn-lt"/>
                <a:cs typeface="Calibri"/>
              </a:rPr>
              <a:t> </a:t>
            </a:r>
            <a:r>
              <a:rPr lang="fr-FR" sz="1200" dirty="0" smtClean="0">
                <a:solidFill>
                  <a:srgbClr val="585858"/>
                </a:solidFill>
                <a:latin typeface="+mn-lt"/>
                <a:cs typeface="Calibri"/>
              </a:rPr>
              <a:t>lente</a:t>
            </a:r>
            <a:r>
              <a:rPr lang="fr-FR" sz="1200" spc="125" dirty="0" smtClean="0">
                <a:solidFill>
                  <a:srgbClr val="585858"/>
                </a:solidFill>
                <a:latin typeface="+mn-lt"/>
                <a:cs typeface="Calibri"/>
              </a:rPr>
              <a:t> </a:t>
            </a:r>
            <a:r>
              <a:rPr lang="fr-FR" sz="1200" dirty="0" smtClean="0">
                <a:solidFill>
                  <a:srgbClr val="585858"/>
                </a:solidFill>
                <a:latin typeface="+mn-lt"/>
                <a:cs typeface="Calibri"/>
              </a:rPr>
              <a:t>sur</a:t>
            </a:r>
            <a:r>
              <a:rPr lang="fr-FR" sz="1200" spc="130" dirty="0" smtClean="0">
                <a:solidFill>
                  <a:srgbClr val="585858"/>
                </a:solidFill>
                <a:latin typeface="+mn-lt"/>
                <a:cs typeface="Calibri"/>
              </a:rPr>
              <a:t> </a:t>
            </a:r>
            <a:r>
              <a:rPr lang="fr-FR" sz="1200" spc="-10" dirty="0" smtClean="0">
                <a:solidFill>
                  <a:srgbClr val="585858"/>
                </a:solidFill>
                <a:latin typeface="+mn-lt"/>
                <a:cs typeface="Calibri"/>
              </a:rPr>
              <a:t>votre </a:t>
            </a:r>
            <a:r>
              <a:rPr lang="fr-FR" sz="1200" spc="-20" dirty="0" smtClean="0">
                <a:solidFill>
                  <a:srgbClr val="585858"/>
                </a:solidFill>
                <a:latin typeface="+mn-lt"/>
                <a:cs typeface="Calibri"/>
              </a:rPr>
              <a:t>ordinateur. </a:t>
            </a:r>
            <a:r>
              <a:rPr lang="fr-FR" sz="1200" dirty="0" smtClean="0">
                <a:solidFill>
                  <a:srgbClr val="585858"/>
                </a:solidFill>
                <a:latin typeface="+mn-lt"/>
                <a:cs typeface="Calibri"/>
              </a:rPr>
              <a:t>Si</a:t>
            </a:r>
            <a:r>
              <a:rPr lang="fr-FR" sz="1200" spc="-40" dirty="0" smtClean="0">
                <a:solidFill>
                  <a:srgbClr val="585858"/>
                </a:solidFill>
                <a:latin typeface="+mn-lt"/>
                <a:cs typeface="Calibri"/>
              </a:rPr>
              <a:t> </a:t>
            </a:r>
            <a:r>
              <a:rPr lang="fr-FR" sz="1200" dirty="0" smtClean="0">
                <a:solidFill>
                  <a:srgbClr val="585858"/>
                </a:solidFill>
                <a:latin typeface="+mn-lt"/>
                <a:cs typeface="Calibri"/>
              </a:rPr>
              <a:t>elle est</a:t>
            </a:r>
            <a:r>
              <a:rPr lang="fr-FR" sz="1200" spc="-45" dirty="0" smtClean="0">
                <a:solidFill>
                  <a:srgbClr val="585858"/>
                </a:solidFill>
                <a:latin typeface="+mn-lt"/>
                <a:cs typeface="Calibri"/>
              </a:rPr>
              <a:t> </a:t>
            </a:r>
            <a:r>
              <a:rPr lang="fr-FR" sz="1200" dirty="0" smtClean="0">
                <a:solidFill>
                  <a:srgbClr val="585858"/>
                </a:solidFill>
                <a:latin typeface="+mn-lt"/>
                <a:cs typeface="Calibri"/>
              </a:rPr>
              <a:t>bien</a:t>
            </a:r>
            <a:r>
              <a:rPr lang="fr-FR" sz="1200" spc="-30" dirty="0" smtClean="0">
                <a:solidFill>
                  <a:srgbClr val="585858"/>
                </a:solidFill>
                <a:latin typeface="+mn-lt"/>
                <a:cs typeface="Calibri"/>
              </a:rPr>
              <a:t> </a:t>
            </a:r>
            <a:r>
              <a:rPr lang="fr-FR" sz="1200" dirty="0" smtClean="0">
                <a:solidFill>
                  <a:srgbClr val="585858"/>
                </a:solidFill>
                <a:latin typeface="+mn-lt"/>
                <a:cs typeface="Calibri"/>
              </a:rPr>
              <a:t>responsable d'une</a:t>
            </a:r>
            <a:r>
              <a:rPr lang="fr-FR" sz="1200" spc="-45" dirty="0" smtClean="0">
                <a:solidFill>
                  <a:srgbClr val="585858"/>
                </a:solidFill>
                <a:latin typeface="+mn-lt"/>
                <a:cs typeface="Calibri"/>
              </a:rPr>
              <a:t> </a:t>
            </a:r>
            <a:r>
              <a:rPr lang="fr-FR" sz="1200" dirty="0" smtClean="0">
                <a:solidFill>
                  <a:srgbClr val="585858"/>
                </a:solidFill>
                <a:latin typeface="+mn-lt"/>
                <a:cs typeface="Calibri"/>
              </a:rPr>
              <a:t>certaine</a:t>
            </a:r>
            <a:r>
              <a:rPr lang="fr-FR" sz="1200" spc="-5" dirty="0" smtClean="0">
                <a:solidFill>
                  <a:srgbClr val="585858"/>
                </a:solidFill>
                <a:latin typeface="+mn-lt"/>
                <a:cs typeface="Calibri"/>
              </a:rPr>
              <a:t> </a:t>
            </a:r>
            <a:r>
              <a:rPr lang="fr-FR" sz="1200" spc="-20" dirty="0" smtClean="0">
                <a:solidFill>
                  <a:srgbClr val="585858"/>
                </a:solidFill>
                <a:latin typeface="+mn-lt"/>
                <a:cs typeface="Calibri"/>
              </a:rPr>
              <a:t>lenteur,</a:t>
            </a:r>
            <a:r>
              <a:rPr lang="fr-FR" sz="1200" spc="-35" dirty="0" smtClean="0">
                <a:solidFill>
                  <a:srgbClr val="585858"/>
                </a:solidFill>
                <a:latin typeface="+mn-lt"/>
                <a:cs typeface="Calibri"/>
              </a:rPr>
              <a:t> </a:t>
            </a:r>
            <a:r>
              <a:rPr lang="fr-FR" sz="1200" dirty="0" smtClean="0">
                <a:solidFill>
                  <a:srgbClr val="585858"/>
                </a:solidFill>
                <a:latin typeface="+mn-lt"/>
                <a:cs typeface="Calibri"/>
              </a:rPr>
              <a:t>il</a:t>
            </a:r>
            <a:r>
              <a:rPr lang="fr-FR" sz="1200" spc="-35" dirty="0" smtClean="0">
                <a:solidFill>
                  <a:srgbClr val="585858"/>
                </a:solidFill>
                <a:latin typeface="+mn-lt"/>
                <a:cs typeface="Calibri"/>
              </a:rPr>
              <a:t> </a:t>
            </a:r>
            <a:r>
              <a:rPr lang="fr-FR" sz="1200" dirty="0" smtClean="0">
                <a:solidFill>
                  <a:srgbClr val="585858"/>
                </a:solidFill>
                <a:latin typeface="+mn-lt"/>
                <a:cs typeface="Calibri"/>
              </a:rPr>
              <a:t>faudra</a:t>
            </a:r>
            <a:r>
              <a:rPr lang="fr-FR" sz="1200" spc="-25" dirty="0" smtClean="0">
                <a:solidFill>
                  <a:srgbClr val="585858"/>
                </a:solidFill>
                <a:latin typeface="+mn-lt"/>
                <a:cs typeface="Calibri"/>
              </a:rPr>
              <a:t> </a:t>
            </a:r>
            <a:r>
              <a:rPr lang="fr-FR" sz="1200" dirty="0" smtClean="0">
                <a:solidFill>
                  <a:srgbClr val="585858"/>
                </a:solidFill>
                <a:latin typeface="+mn-lt"/>
                <a:cs typeface="Calibri"/>
              </a:rPr>
              <a:t>analyser</a:t>
            </a:r>
            <a:r>
              <a:rPr lang="fr-FR" sz="1200" spc="-55" dirty="0" smtClean="0">
                <a:solidFill>
                  <a:srgbClr val="585858"/>
                </a:solidFill>
                <a:latin typeface="+mn-lt"/>
                <a:cs typeface="Calibri"/>
              </a:rPr>
              <a:t> </a:t>
            </a:r>
            <a:r>
              <a:rPr lang="fr-FR" sz="1200" dirty="0" smtClean="0">
                <a:solidFill>
                  <a:srgbClr val="585858"/>
                </a:solidFill>
                <a:latin typeface="+mn-lt"/>
                <a:cs typeface="Calibri"/>
              </a:rPr>
              <a:t>tous</a:t>
            </a:r>
            <a:r>
              <a:rPr lang="fr-FR" sz="1200" spc="-35" dirty="0" smtClean="0">
                <a:solidFill>
                  <a:srgbClr val="585858"/>
                </a:solidFill>
                <a:latin typeface="+mn-lt"/>
                <a:cs typeface="Calibri"/>
              </a:rPr>
              <a:t> </a:t>
            </a:r>
            <a:r>
              <a:rPr lang="fr-FR" sz="1200" dirty="0" smtClean="0">
                <a:solidFill>
                  <a:srgbClr val="585858"/>
                </a:solidFill>
                <a:latin typeface="+mn-lt"/>
                <a:cs typeface="Calibri"/>
              </a:rPr>
              <a:t>les</a:t>
            </a:r>
            <a:r>
              <a:rPr lang="fr-FR" sz="1200" spc="-35" dirty="0" smtClean="0">
                <a:solidFill>
                  <a:srgbClr val="585858"/>
                </a:solidFill>
                <a:latin typeface="+mn-lt"/>
                <a:cs typeface="Calibri"/>
              </a:rPr>
              <a:t> </a:t>
            </a:r>
            <a:r>
              <a:rPr lang="fr-FR" sz="1200" dirty="0" smtClean="0">
                <a:solidFill>
                  <a:srgbClr val="585858"/>
                </a:solidFill>
                <a:latin typeface="+mn-lt"/>
                <a:cs typeface="Calibri"/>
              </a:rPr>
              <a:t>processus</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relatifs</a:t>
            </a:r>
            <a:r>
              <a:rPr lang="fr-FR" sz="1200" spc="-15" dirty="0" smtClean="0">
                <a:solidFill>
                  <a:srgbClr val="585858"/>
                </a:solidFill>
                <a:latin typeface="+mn-lt"/>
                <a:cs typeface="Calibri"/>
              </a:rPr>
              <a:t> </a:t>
            </a:r>
            <a:r>
              <a:rPr lang="fr-FR" sz="1200" dirty="0" smtClean="0">
                <a:solidFill>
                  <a:srgbClr val="585858"/>
                </a:solidFill>
                <a:latin typeface="+mn-lt"/>
                <a:cs typeface="Calibri"/>
              </a:rPr>
              <a:t>à</a:t>
            </a:r>
            <a:r>
              <a:rPr lang="fr-FR" sz="1200" spc="-45" dirty="0" smtClean="0">
                <a:solidFill>
                  <a:srgbClr val="585858"/>
                </a:solidFill>
                <a:latin typeface="+mn-lt"/>
                <a:cs typeface="Calibri"/>
              </a:rPr>
              <a:t> </a:t>
            </a:r>
            <a:r>
              <a:rPr lang="fr-FR" sz="1200" dirty="0" smtClean="0">
                <a:solidFill>
                  <a:srgbClr val="585858"/>
                </a:solidFill>
                <a:latin typeface="+mn-lt"/>
                <a:cs typeface="Calibri"/>
              </a:rPr>
              <a:t>cette</a:t>
            </a:r>
            <a:r>
              <a:rPr lang="fr-FR" sz="1200" spc="-20" dirty="0" smtClean="0">
                <a:solidFill>
                  <a:srgbClr val="585858"/>
                </a:solidFill>
                <a:latin typeface="+mn-lt"/>
                <a:cs typeface="Calibri"/>
              </a:rPr>
              <a:t> </a:t>
            </a:r>
            <a:r>
              <a:rPr lang="fr-FR" sz="1200" dirty="0" smtClean="0">
                <a:solidFill>
                  <a:srgbClr val="585858"/>
                </a:solidFill>
                <a:latin typeface="+mn-lt"/>
                <a:cs typeface="Calibri"/>
              </a:rPr>
              <a:t>application</a:t>
            </a:r>
            <a:r>
              <a:rPr lang="fr-FR" sz="1200" spc="-15" dirty="0" smtClean="0">
                <a:solidFill>
                  <a:srgbClr val="585858"/>
                </a:solidFill>
                <a:latin typeface="+mn-lt"/>
                <a:cs typeface="Calibri"/>
              </a:rPr>
              <a:t> </a:t>
            </a:r>
            <a:r>
              <a:rPr lang="fr-FR" sz="1200" dirty="0" smtClean="0">
                <a:solidFill>
                  <a:srgbClr val="585858"/>
                </a:solidFill>
                <a:latin typeface="+mn-lt"/>
                <a:cs typeface="Calibri"/>
              </a:rPr>
              <a:t>pour</a:t>
            </a:r>
            <a:r>
              <a:rPr lang="fr-FR" sz="1200" spc="-40" dirty="0" smtClean="0">
                <a:solidFill>
                  <a:srgbClr val="585858"/>
                </a:solidFill>
                <a:latin typeface="+mn-lt"/>
                <a:cs typeface="Calibri"/>
              </a:rPr>
              <a:t> </a:t>
            </a:r>
            <a:r>
              <a:rPr lang="fr-FR" sz="1200" dirty="0" smtClean="0">
                <a:solidFill>
                  <a:srgbClr val="585858"/>
                </a:solidFill>
                <a:latin typeface="+mn-lt"/>
                <a:cs typeface="Calibri"/>
              </a:rPr>
              <a:t>déterminer</a:t>
            </a:r>
            <a:r>
              <a:rPr lang="fr-FR" sz="1200" spc="-30" dirty="0" smtClean="0">
                <a:solidFill>
                  <a:srgbClr val="585858"/>
                </a:solidFill>
                <a:latin typeface="+mn-lt"/>
                <a:cs typeface="Calibri"/>
              </a:rPr>
              <a:t> </a:t>
            </a:r>
            <a:r>
              <a:rPr lang="fr-FR" sz="1200" dirty="0" smtClean="0">
                <a:solidFill>
                  <a:srgbClr val="585858"/>
                </a:solidFill>
                <a:latin typeface="+mn-lt"/>
                <a:cs typeface="Calibri"/>
              </a:rPr>
              <a:t>l'origine</a:t>
            </a:r>
            <a:r>
              <a:rPr lang="fr-FR" sz="1200" spc="-5" dirty="0" smtClean="0">
                <a:solidFill>
                  <a:srgbClr val="585858"/>
                </a:solidFill>
                <a:latin typeface="+mn-lt"/>
                <a:cs typeface="Calibri"/>
              </a:rPr>
              <a:t> </a:t>
            </a:r>
            <a:r>
              <a:rPr lang="fr-FR" sz="1200" dirty="0" smtClean="0">
                <a:solidFill>
                  <a:srgbClr val="585858"/>
                </a:solidFill>
                <a:latin typeface="+mn-lt"/>
                <a:cs typeface="Calibri"/>
              </a:rPr>
              <a:t>du</a:t>
            </a:r>
            <a:r>
              <a:rPr lang="fr-FR" sz="1200" spc="-35" dirty="0" smtClean="0">
                <a:solidFill>
                  <a:srgbClr val="585858"/>
                </a:solidFill>
                <a:latin typeface="+mn-lt"/>
                <a:cs typeface="Calibri"/>
              </a:rPr>
              <a:t> </a:t>
            </a:r>
            <a:r>
              <a:rPr lang="fr-FR" sz="1200" spc="-10" dirty="0" smtClean="0">
                <a:solidFill>
                  <a:srgbClr val="585858"/>
                </a:solidFill>
                <a:latin typeface="+mn-lt"/>
                <a:cs typeface="Calibri"/>
              </a:rPr>
              <a:t>problème.</a:t>
            </a:r>
            <a:endParaRPr lang="fr-FR" sz="1200" dirty="0" smtClean="0">
              <a:latin typeface="+mn-lt"/>
              <a:cs typeface="Calibri"/>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43</a:t>
            </a:fld>
            <a:endParaRPr lang="fr-FR"/>
          </a:p>
        </p:txBody>
      </p:sp>
    </p:spTree>
    <p:extLst>
      <p:ext uri="{BB962C8B-B14F-4D97-AF65-F5344CB8AC3E}">
        <p14:creationId xmlns:p14="http://schemas.microsoft.com/office/powerpoint/2010/main" val="40531888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solidFill>
                  <a:srgbClr val="585858"/>
                </a:solidFill>
                <a:latin typeface="+mn-lt"/>
                <a:cs typeface="Calibri"/>
              </a:rPr>
              <a:t>Toujours</a:t>
            </a:r>
            <a:r>
              <a:rPr lang="fr-FR" sz="1200" spc="114" dirty="0" smtClean="0">
                <a:solidFill>
                  <a:srgbClr val="585858"/>
                </a:solidFill>
                <a:latin typeface="+mn-lt"/>
                <a:cs typeface="Calibri"/>
              </a:rPr>
              <a:t> </a:t>
            </a:r>
            <a:r>
              <a:rPr lang="fr-FR" sz="1200" dirty="0" smtClean="0">
                <a:solidFill>
                  <a:srgbClr val="585858"/>
                </a:solidFill>
                <a:latin typeface="+mn-lt"/>
                <a:cs typeface="Calibri"/>
              </a:rPr>
              <a:t>dans</a:t>
            </a:r>
            <a:r>
              <a:rPr lang="fr-FR" sz="1200" spc="140" dirty="0" smtClean="0">
                <a:solidFill>
                  <a:srgbClr val="585858"/>
                </a:solidFill>
                <a:latin typeface="+mn-lt"/>
                <a:cs typeface="Calibri"/>
              </a:rPr>
              <a:t> </a:t>
            </a:r>
            <a:r>
              <a:rPr lang="fr-FR" sz="1200" dirty="0" smtClean="0">
                <a:solidFill>
                  <a:srgbClr val="585858"/>
                </a:solidFill>
                <a:latin typeface="+mn-lt"/>
                <a:cs typeface="Calibri"/>
              </a:rPr>
              <a:t>le</a:t>
            </a:r>
            <a:r>
              <a:rPr lang="fr-FR" sz="1200" spc="125" dirty="0" smtClean="0">
                <a:solidFill>
                  <a:srgbClr val="585858"/>
                </a:solidFill>
                <a:latin typeface="+mn-lt"/>
                <a:cs typeface="Calibri"/>
              </a:rPr>
              <a:t> </a:t>
            </a:r>
            <a:r>
              <a:rPr lang="fr-FR" sz="1200" dirty="0" smtClean="0">
                <a:solidFill>
                  <a:srgbClr val="585858"/>
                </a:solidFill>
                <a:latin typeface="+mn-lt"/>
                <a:cs typeface="Calibri"/>
              </a:rPr>
              <a:t>gestionnaire</a:t>
            </a:r>
            <a:r>
              <a:rPr lang="fr-FR" sz="1200" spc="130" dirty="0" smtClean="0">
                <a:solidFill>
                  <a:srgbClr val="585858"/>
                </a:solidFill>
                <a:latin typeface="+mn-lt"/>
                <a:cs typeface="Calibri"/>
              </a:rPr>
              <a:t> </a:t>
            </a:r>
            <a:r>
              <a:rPr lang="fr-FR" sz="1200" dirty="0" smtClean="0">
                <a:solidFill>
                  <a:srgbClr val="585858"/>
                </a:solidFill>
                <a:latin typeface="+mn-lt"/>
                <a:cs typeface="Calibri"/>
              </a:rPr>
              <a:t>des</a:t>
            </a:r>
            <a:r>
              <a:rPr lang="fr-FR" sz="1200" spc="140" dirty="0" smtClean="0">
                <a:solidFill>
                  <a:srgbClr val="585858"/>
                </a:solidFill>
                <a:latin typeface="+mn-lt"/>
                <a:cs typeface="Calibri"/>
              </a:rPr>
              <a:t> </a:t>
            </a:r>
            <a:r>
              <a:rPr lang="fr-FR" sz="1200" dirty="0" smtClean="0">
                <a:solidFill>
                  <a:srgbClr val="585858"/>
                </a:solidFill>
                <a:latin typeface="+mn-lt"/>
                <a:cs typeface="Calibri"/>
              </a:rPr>
              <a:t>tâches,</a:t>
            </a:r>
            <a:r>
              <a:rPr lang="fr-FR" sz="1200" spc="114" dirty="0" smtClean="0">
                <a:solidFill>
                  <a:srgbClr val="585858"/>
                </a:solidFill>
                <a:latin typeface="+mn-lt"/>
                <a:cs typeface="Calibri"/>
              </a:rPr>
              <a:t> </a:t>
            </a:r>
            <a:r>
              <a:rPr lang="fr-FR" sz="1200" b="1" spc="-10" dirty="0" smtClean="0">
                <a:solidFill>
                  <a:srgbClr val="585858"/>
                </a:solidFill>
                <a:latin typeface="+mn-lt"/>
                <a:cs typeface="Calibri"/>
              </a:rPr>
              <a:t>WI-</a:t>
            </a:r>
            <a:r>
              <a:rPr lang="fr-FR" sz="1200" b="1" dirty="0" smtClean="0">
                <a:solidFill>
                  <a:srgbClr val="585858"/>
                </a:solidFill>
                <a:latin typeface="+mn-lt"/>
                <a:cs typeface="Calibri"/>
              </a:rPr>
              <a:t>FI</a:t>
            </a:r>
            <a:r>
              <a:rPr lang="fr-FR" sz="1200" b="1" spc="95" dirty="0" smtClean="0">
                <a:solidFill>
                  <a:srgbClr val="585858"/>
                </a:solidFill>
                <a:latin typeface="+mn-lt"/>
                <a:cs typeface="Calibri"/>
              </a:rPr>
              <a:t> </a:t>
            </a:r>
            <a:r>
              <a:rPr lang="fr-FR" sz="1200" dirty="0" smtClean="0">
                <a:solidFill>
                  <a:srgbClr val="585858"/>
                </a:solidFill>
                <a:latin typeface="+mn-lt"/>
                <a:cs typeface="Calibri"/>
              </a:rPr>
              <a:t>(voir</a:t>
            </a:r>
            <a:r>
              <a:rPr lang="fr-FR" sz="1200" spc="90" dirty="0" smtClean="0">
                <a:solidFill>
                  <a:srgbClr val="585858"/>
                </a:solidFill>
                <a:latin typeface="+mn-lt"/>
                <a:cs typeface="Calibri"/>
              </a:rPr>
              <a:t> </a:t>
            </a:r>
            <a:r>
              <a:rPr lang="fr-FR" sz="1200" dirty="0" smtClean="0">
                <a:solidFill>
                  <a:srgbClr val="585858"/>
                </a:solidFill>
                <a:latin typeface="+mn-lt"/>
                <a:cs typeface="Calibri"/>
              </a:rPr>
              <a:t>Figure</a:t>
            </a:r>
            <a:r>
              <a:rPr lang="fr-FR" sz="1200" spc="150" dirty="0" smtClean="0">
                <a:solidFill>
                  <a:srgbClr val="585858"/>
                </a:solidFill>
                <a:latin typeface="+mn-lt"/>
                <a:cs typeface="Calibri"/>
              </a:rPr>
              <a:t> </a:t>
            </a:r>
            <a:r>
              <a:rPr lang="fr-FR" sz="1200" spc="0" dirty="0" smtClean="0">
                <a:solidFill>
                  <a:srgbClr val="585858"/>
                </a:solidFill>
                <a:latin typeface="+mn-lt"/>
                <a:cs typeface="Calibri"/>
              </a:rPr>
              <a:t>2</a:t>
            </a:r>
            <a:r>
              <a:rPr lang="fr-FR" sz="1200" dirty="0" smtClean="0">
                <a:solidFill>
                  <a:srgbClr val="585858"/>
                </a:solidFill>
                <a:latin typeface="+mn-lt"/>
                <a:cs typeface="Calibri"/>
              </a:rPr>
              <a:t>)</a:t>
            </a:r>
            <a:r>
              <a:rPr lang="fr-FR" sz="1200" spc="120" dirty="0" smtClean="0">
                <a:solidFill>
                  <a:srgbClr val="585858"/>
                </a:solidFill>
                <a:latin typeface="+mn-lt"/>
                <a:cs typeface="Calibri"/>
              </a:rPr>
              <a:t> </a:t>
            </a:r>
            <a:r>
              <a:rPr lang="fr-FR" sz="1200" dirty="0" smtClean="0">
                <a:solidFill>
                  <a:srgbClr val="585858"/>
                </a:solidFill>
                <a:latin typeface="+mn-lt"/>
                <a:cs typeface="Calibri"/>
              </a:rPr>
              <a:t>permet</a:t>
            </a:r>
            <a:r>
              <a:rPr lang="fr-FR" sz="1200" spc="100" dirty="0" smtClean="0">
                <a:solidFill>
                  <a:srgbClr val="585858"/>
                </a:solidFill>
                <a:latin typeface="+mn-lt"/>
                <a:cs typeface="Calibri"/>
              </a:rPr>
              <a:t> </a:t>
            </a:r>
            <a:r>
              <a:rPr lang="fr-FR" sz="1200" dirty="0" smtClean="0">
                <a:solidFill>
                  <a:srgbClr val="585858"/>
                </a:solidFill>
                <a:latin typeface="+mn-lt"/>
                <a:cs typeface="Calibri"/>
              </a:rPr>
              <a:t>de</a:t>
            </a:r>
            <a:r>
              <a:rPr lang="fr-FR" sz="1200" spc="130" dirty="0" smtClean="0">
                <a:solidFill>
                  <a:srgbClr val="585858"/>
                </a:solidFill>
                <a:latin typeface="+mn-lt"/>
                <a:cs typeface="Calibri"/>
              </a:rPr>
              <a:t> </a:t>
            </a:r>
            <a:r>
              <a:rPr lang="fr-FR" sz="1200" dirty="0" smtClean="0">
                <a:solidFill>
                  <a:srgbClr val="585858"/>
                </a:solidFill>
                <a:latin typeface="+mn-lt"/>
                <a:cs typeface="Calibri"/>
              </a:rPr>
              <a:t>voir</a:t>
            </a:r>
            <a:r>
              <a:rPr lang="fr-FR" sz="1200" spc="120" dirty="0" smtClean="0">
                <a:solidFill>
                  <a:srgbClr val="585858"/>
                </a:solidFill>
                <a:latin typeface="+mn-lt"/>
                <a:cs typeface="Calibri"/>
              </a:rPr>
              <a:t> </a:t>
            </a:r>
            <a:r>
              <a:rPr lang="fr-FR" sz="1200" dirty="0" smtClean="0">
                <a:solidFill>
                  <a:srgbClr val="585858"/>
                </a:solidFill>
                <a:latin typeface="+mn-lt"/>
                <a:cs typeface="Calibri"/>
              </a:rPr>
              <a:t>les</a:t>
            </a:r>
            <a:r>
              <a:rPr lang="fr-FR" sz="1200" spc="135" dirty="0" smtClean="0">
                <a:solidFill>
                  <a:srgbClr val="585858"/>
                </a:solidFill>
                <a:latin typeface="+mn-lt"/>
                <a:cs typeface="Calibri"/>
              </a:rPr>
              <a:t> </a:t>
            </a:r>
            <a:r>
              <a:rPr lang="fr-FR" sz="1200" dirty="0" smtClean="0">
                <a:solidFill>
                  <a:srgbClr val="585858"/>
                </a:solidFill>
                <a:latin typeface="+mn-lt"/>
                <a:cs typeface="Calibri"/>
              </a:rPr>
              <a:t>flux</a:t>
            </a:r>
            <a:r>
              <a:rPr lang="fr-FR" sz="1200" spc="150" dirty="0" smtClean="0">
                <a:solidFill>
                  <a:srgbClr val="585858"/>
                </a:solidFill>
                <a:latin typeface="+mn-lt"/>
                <a:cs typeface="Calibri"/>
              </a:rPr>
              <a:t> </a:t>
            </a:r>
            <a:r>
              <a:rPr lang="fr-FR" sz="1200" dirty="0" smtClean="0">
                <a:solidFill>
                  <a:srgbClr val="585858"/>
                </a:solidFill>
                <a:latin typeface="+mn-lt"/>
                <a:cs typeface="Calibri"/>
              </a:rPr>
              <a:t>réseaux</a:t>
            </a:r>
            <a:r>
              <a:rPr lang="fr-FR" sz="1200" spc="114" dirty="0" smtClean="0">
                <a:solidFill>
                  <a:srgbClr val="585858"/>
                </a:solidFill>
                <a:latin typeface="+mn-lt"/>
                <a:cs typeface="Calibri"/>
              </a:rPr>
              <a:t> </a:t>
            </a:r>
            <a:r>
              <a:rPr lang="fr-FR" sz="1200" dirty="0" smtClean="0">
                <a:solidFill>
                  <a:srgbClr val="585858"/>
                </a:solidFill>
                <a:latin typeface="+mn-lt"/>
                <a:cs typeface="Calibri"/>
              </a:rPr>
              <a:t>sortants.</a:t>
            </a:r>
            <a:r>
              <a:rPr lang="fr-FR" sz="1200" spc="110" dirty="0" smtClean="0">
                <a:solidFill>
                  <a:srgbClr val="585858"/>
                </a:solidFill>
                <a:latin typeface="+mn-lt"/>
                <a:cs typeface="Calibri"/>
              </a:rPr>
              <a:t> </a:t>
            </a:r>
            <a:r>
              <a:rPr lang="fr-FR" sz="1200" dirty="0" smtClean="0">
                <a:solidFill>
                  <a:srgbClr val="585858"/>
                </a:solidFill>
                <a:latin typeface="+mn-lt"/>
                <a:cs typeface="Calibri"/>
              </a:rPr>
              <a:t>Si</a:t>
            </a:r>
            <a:r>
              <a:rPr lang="fr-FR" sz="1200" spc="110" dirty="0" smtClean="0">
                <a:solidFill>
                  <a:srgbClr val="585858"/>
                </a:solidFill>
                <a:latin typeface="+mn-lt"/>
                <a:cs typeface="Calibri"/>
              </a:rPr>
              <a:t> </a:t>
            </a:r>
            <a:r>
              <a:rPr lang="fr-FR" sz="1200" dirty="0" smtClean="0">
                <a:solidFill>
                  <a:srgbClr val="585858"/>
                </a:solidFill>
                <a:latin typeface="+mn-lt"/>
                <a:cs typeface="Calibri"/>
              </a:rPr>
              <a:t>cette</a:t>
            </a:r>
            <a:r>
              <a:rPr lang="fr-FR" sz="1200" spc="105" dirty="0" smtClean="0">
                <a:solidFill>
                  <a:srgbClr val="585858"/>
                </a:solidFill>
                <a:latin typeface="+mn-lt"/>
                <a:cs typeface="Calibri"/>
              </a:rPr>
              <a:t> </a:t>
            </a:r>
            <a:r>
              <a:rPr lang="fr-FR" sz="1200" dirty="0" smtClean="0">
                <a:solidFill>
                  <a:srgbClr val="585858"/>
                </a:solidFill>
                <a:latin typeface="+mn-lt"/>
                <a:cs typeface="Calibri"/>
              </a:rPr>
              <a:t>valeur</a:t>
            </a:r>
            <a:r>
              <a:rPr lang="fr-FR" sz="1200" spc="120" dirty="0" smtClean="0">
                <a:solidFill>
                  <a:srgbClr val="585858"/>
                </a:solidFill>
                <a:latin typeface="+mn-lt"/>
                <a:cs typeface="Calibri"/>
              </a:rPr>
              <a:t> </a:t>
            </a:r>
            <a:r>
              <a:rPr lang="fr-FR" sz="1200" dirty="0" smtClean="0">
                <a:solidFill>
                  <a:srgbClr val="585858"/>
                </a:solidFill>
                <a:latin typeface="+mn-lt"/>
                <a:cs typeface="Calibri"/>
              </a:rPr>
              <a:t>est</a:t>
            </a:r>
            <a:r>
              <a:rPr lang="fr-FR" sz="1200" spc="105" dirty="0" smtClean="0">
                <a:solidFill>
                  <a:srgbClr val="585858"/>
                </a:solidFill>
                <a:latin typeface="+mn-lt"/>
                <a:cs typeface="Calibri"/>
              </a:rPr>
              <a:t> </a:t>
            </a:r>
            <a:r>
              <a:rPr lang="fr-FR" sz="1200" dirty="0" smtClean="0">
                <a:solidFill>
                  <a:srgbClr val="585858"/>
                </a:solidFill>
                <a:latin typeface="+mn-lt"/>
                <a:cs typeface="Calibri"/>
              </a:rPr>
              <a:t>très</a:t>
            </a:r>
            <a:r>
              <a:rPr lang="fr-FR" sz="1200" spc="135" dirty="0" smtClean="0">
                <a:solidFill>
                  <a:srgbClr val="585858"/>
                </a:solidFill>
                <a:latin typeface="+mn-lt"/>
                <a:cs typeface="Calibri"/>
              </a:rPr>
              <a:t> </a:t>
            </a:r>
            <a:r>
              <a:rPr lang="fr-FR" sz="1200" dirty="0" smtClean="0">
                <a:solidFill>
                  <a:srgbClr val="585858"/>
                </a:solidFill>
                <a:latin typeface="+mn-lt"/>
                <a:cs typeface="Calibri"/>
              </a:rPr>
              <a:t>élevée</a:t>
            </a:r>
            <a:r>
              <a:rPr lang="fr-FR" sz="1200" spc="110" dirty="0" smtClean="0">
                <a:solidFill>
                  <a:srgbClr val="585858"/>
                </a:solidFill>
                <a:latin typeface="+mn-lt"/>
                <a:cs typeface="Calibri"/>
              </a:rPr>
              <a:t> </a:t>
            </a:r>
            <a:r>
              <a:rPr lang="fr-FR" sz="1200" dirty="0" smtClean="0">
                <a:solidFill>
                  <a:srgbClr val="585858"/>
                </a:solidFill>
                <a:latin typeface="+mn-lt"/>
                <a:cs typeface="Calibri"/>
              </a:rPr>
              <a:t>alors</a:t>
            </a:r>
            <a:r>
              <a:rPr lang="fr-FR" sz="1200" spc="135" dirty="0" smtClean="0">
                <a:solidFill>
                  <a:srgbClr val="585858"/>
                </a:solidFill>
                <a:latin typeface="+mn-lt"/>
                <a:cs typeface="Calibri"/>
              </a:rPr>
              <a:t> </a:t>
            </a:r>
            <a:r>
              <a:rPr lang="fr-FR" sz="1200" dirty="0" smtClean="0">
                <a:solidFill>
                  <a:srgbClr val="585858"/>
                </a:solidFill>
                <a:latin typeface="+mn-lt"/>
                <a:cs typeface="Calibri"/>
              </a:rPr>
              <a:t>que</a:t>
            </a:r>
            <a:r>
              <a:rPr lang="fr-FR" sz="1200" spc="130" dirty="0" smtClean="0">
                <a:solidFill>
                  <a:srgbClr val="585858"/>
                </a:solidFill>
                <a:latin typeface="+mn-lt"/>
                <a:cs typeface="Calibri"/>
              </a:rPr>
              <a:t> </a:t>
            </a:r>
            <a:r>
              <a:rPr lang="fr-FR" sz="1200" dirty="0" smtClean="0">
                <a:solidFill>
                  <a:srgbClr val="585858"/>
                </a:solidFill>
                <a:latin typeface="+mn-lt"/>
                <a:cs typeface="Calibri"/>
              </a:rPr>
              <a:t>vous</a:t>
            </a:r>
            <a:r>
              <a:rPr lang="fr-FR" sz="1200" spc="114" dirty="0" smtClean="0">
                <a:solidFill>
                  <a:srgbClr val="585858"/>
                </a:solidFill>
                <a:latin typeface="+mn-lt"/>
                <a:cs typeface="Calibri"/>
              </a:rPr>
              <a:t> </a:t>
            </a:r>
            <a:r>
              <a:rPr lang="fr-FR" sz="1200" dirty="0" smtClean="0">
                <a:solidFill>
                  <a:srgbClr val="585858"/>
                </a:solidFill>
                <a:latin typeface="+mn-lt"/>
                <a:cs typeface="Calibri"/>
              </a:rPr>
              <a:t>n'avez</a:t>
            </a:r>
            <a:r>
              <a:rPr lang="fr-FR" sz="1200" spc="110" dirty="0" smtClean="0">
                <a:solidFill>
                  <a:srgbClr val="585858"/>
                </a:solidFill>
                <a:latin typeface="+mn-lt"/>
                <a:cs typeface="Calibri"/>
              </a:rPr>
              <a:t> </a:t>
            </a:r>
            <a:r>
              <a:rPr lang="fr-FR" sz="1200" spc="-25" dirty="0" smtClean="0">
                <a:solidFill>
                  <a:srgbClr val="585858"/>
                </a:solidFill>
                <a:latin typeface="+mn-lt"/>
                <a:cs typeface="Calibri"/>
              </a:rPr>
              <a:t>pas </a:t>
            </a:r>
            <a:r>
              <a:rPr lang="fr-FR" sz="1200" dirty="0" smtClean="0">
                <a:solidFill>
                  <a:srgbClr val="585858"/>
                </a:solidFill>
                <a:latin typeface="+mn-lt"/>
                <a:cs typeface="Calibri"/>
              </a:rPr>
              <a:t>d'activité</a:t>
            </a:r>
            <a:r>
              <a:rPr lang="fr-FR" sz="1200" spc="150" dirty="0" smtClean="0">
                <a:solidFill>
                  <a:srgbClr val="585858"/>
                </a:solidFill>
                <a:latin typeface="+mn-lt"/>
                <a:cs typeface="Calibri"/>
              </a:rPr>
              <a:t> </a:t>
            </a:r>
            <a:r>
              <a:rPr lang="fr-FR" sz="1200" dirty="0" smtClean="0">
                <a:solidFill>
                  <a:srgbClr val="585858"/>
                </a:solidFill>
                <a:latin typeface="+mn-lt"/>
                <a:cs typeface="Calibri"/>
              </a:rPr>
              <a:t>Internet,</a:t>
            </a:r>
            <a:r>
              <a:rPr lang="fr-FR" sz="1200" spc="145" dirty="0" smtClean="0">
                <a:solidFill>
                  <a:srgbClr val="585858"/>
                </a:solidFill>
                <a:latin typeface="+mn-lt"/>
                <a:cs typeface="Calibri"/>
              </a:rPr>
              <a:t> </a:t>
            </a:r>
            <a:r>
              <a:rPr lang="fr-FR" sz="1200" dirty="0" smtClean="0">
                <a:solidFill>
                  <a:srgbClr val="585858"/>
                </a:solidFill>
                <a:latin typeface="+mn-lt"/>
                <a:cs typeface="Calibri"/>
              </a:rPr>
              <a:t>vous</a:t>
            </a:r>
            <a:r>
              <a:rPr lang="fr-FR" sz="1200" spc="180" dirty="0" smtClean="0">
                <a:solidFill>
                  <a:srgbClr val="585858"/>
                </a:solidFill>
                <a:latin typeface="+mn-lt"/>
                <a:cs typeface="Calibri"/>
              </a:rPr>
              <a:t> </a:t>
            </a:r>
            <a:r>
              <a:rPr lang="fr-FR" sz="1200" dirty="0" smtClean="0">
                <a:solidFill>
                  <a:srgbClr val="585858"/>
                </a:solidFill>
                <a:latin typeface="+mn-lt"/>
                <a:cs typeface="Calibri"/>
              </a:rPr>
              <a:t>avez</a:t>
            </a:r>
            <a:r>
              <a:rPr lang="fr-FR" sz="1200" spc="160" dirty="0" smtClean="0">
                <a:solidFill>
                  <a:srgbClr val="585858"/>
                </a:solidFill>
                <a:latin typeface="+mn-lt"/>
                <a:cs typeface="Calibri"/>
              </a:rPr>
              <a:t> </a:t>
            </a:r>
            <a:r>
              <a:rPr lang="fr-FR" sz="1200" dirty="0" smtClean="0">
                <a:solidFill>
                  <a:srgbClr val="585858"/>
                </a:solidFill>
                <a:latin typeface="+mn-lt"/>
                <a:cs typeface="Calibri"/>
              </a:rPr>
              <a:t>soit</a:t>
            </a:r>
            <a:r>
              <a:rPr lang="fr-FR" sz="1200" spc="150" dirty="0" smtClean="0">
                <a:solidFill>
                  <a:srgbClr val="585858"/>
                </a:solidFill>
                <a:latin typeface="+mn-lt"/>
                <a:cs typeface="Calibri"/>
              </a:rPr>
              <a:t> </a:t>
            </a:r>
            <a:r>
              <a:rPr lang="fr-FR" sz="1200" dirty="0" smtClean="0">
                <a:solidFill>
                  <a:srgbClr val="585858"/>
                </a:solidFill>
                <a:latin typeface="+mn-lt"/>
                <a:cs typeface="Calibri"/>
              </a:rPr>
              <a:t>été</a:t>
            </a:r>
            <a:r>
              <a:rPr lang="fr-FR" sz="1200" spc="175" dirty="0" smtClean="0">
                <a:solidFill>
                  <a:srgbClr val="585858"/>
                </a:solidFill>
                <a:latin typeface="+mn-lt"/>
                <a:cs typeface="Calibri"/>
              </a:rPr>
              <a:t> </a:t>
            </a:r>
            <a:r>
              <a:rPr lang="fr-FR" sz="1200" dirty="0" smtClean="0">
                <a:solidFill>
                  <a:srgbClr val="585858"/>
                </a:solidFill>
                <a:latin typeface="+mn-lt"/>
                <a:cs typeface="Calibri"/>
              </a:rPr>
              <a:t>infecté</a:t>
            </a:r>
            <a:r>
              <a:rPr lang="fr-FR" sz="1200" spc="175" dirty="0" smtClean="0">
                <a:solidFill>
                  <a:srgbClr val="585858"/>
                </a:solidFill>
                <a:latin typeface="+mn-lt"/>
                <a:cs typeface="Calibri"/>
              </a:rPr>
              <a:t> </a:t>
            </a:r>
            <a:r>
              <a:rPr lang="fr-FR" sz="1200" dirty="0" smtClean="0">
                <a:solidFill>
                  <a:srgbClr val="585858"/>
                </a:solidFill>
                <a:latin typeface="+mn-lt"/>
                <a:cs typeface="Calibri"/>
              </a:rPr>
              <a:t>par</a:t>
            </a:r>
            <a:r>
              <a:rPr lang="fr-FR" sz="1200" spc="140" dirty="0" smtClean="0">
                <a:solidFill>
                  <a:srgbClr val="585858"/>
                </a:solidFill>
                <a:latin typeface="+mn-lt"/>
                <a:cs typeface="Calibri"/>
              </a:rPr>
              <a:t> </a:t>
            </a:r>
            <a:r>
              <a:rPr lang="fr-FR" sz="1200" dirty="0" smtClean="0">
                <a:solidFill>
                  <a:srgbClr val="585858"/>
                </a:solidFill>
                <a:latin typeface="+mn-lt"/>
                <a:cs typeface="Calibri"/>
              </a:rPr>
              <a:t>un</a:t>
            </a:r>
            <a:r>
              <a:rPr lang="fr-FR" sz="1200" spc="160" dirty="0" smtClean="0">
                <a:solidFill>
                  <a:srgbClr val="585858"/>
                </a:solidFill>
                <a:latin typeface="+mn-lt"/>
                <a:cs typeface="Calibri"/>
              </a:rPr>
              <a:t> </a:t>
            </a:r>
            <a:r>
              <a:rPr lang="fr-FR" sz="1200" dirty="0" smtClean="0">
                <a:solidFill>
                  <a:srgbClr val="585858"/>
                </a:solidFill>
                <a:latin typeface="+mn-lt"/>
                <a:cs typeface="Calibri"/>
              </a:rPr>
              <a:t>cheval</a:t>
            </a:r>
            <a:r>
              <a:rPr lang="fr-FR" sz="1200" spc="160" dirty="0" smtClean="0">
                <a:solidFill>
                  <a:srgbClr val="585858"/>
                </a:solidFill>
                <a:latin typeface="+mn-lt"/>
                <a:cs typeface="Calibri"/>
              </a:rPr>
              <a:t> </a:t>
            </a:r>
            <a:r>
              <a:rPr lang="fr-FR" sz="1200" dirty="0" smtClean="0">
                <a:solidFill>
                  <a:srgbClr val="585858"/>
                </a:solidFill>
                <a:latin typeface="+mn-lt"/>
                <a:cs typeface="Calibri"/>
              </a:rPr>
              <a:t>de</a:t>
            </a:r>
            <a:r>
              <a:rPr lang="fr-FR" sz="1200" spc="175" dirty="0" smtClean="0">
                <a:solidFill>
                  <a:srgbClr val="585858"/>
                </a:solidFill>
                <a:latin typeface="+mn-lt"/>
                <a:cs typeface="Calibri"/>
              </a:rPr>
              <a:t> </a:t>
            </a:r>
            <a:r>
              <a:rPr lang="fr-FR" sz="1200" dirty="0" smtClean="0">
                <a:solidFill>
                  <a:srgbClr val="585858"/>
                </a:solidFill>
                <a:latin typeface="+mn-lt"/>
                <a:cs typeface="Calibri"/>
              </a:rPr>
              <a:t>Troie,</a:t>
            </a:r>
            <a:r>
              <a:rPr lang="fr-FR" sz="1200" spc="155" dirty="0" smtClean="0">
                <a:solidFill>
                  <a:srgbClr val="585858"/>
                </a:solidFill>
                <a:latin typeface="+mn-lt"/>
                <a:cs typeface="Calibri"/>
              </a:rPr>
              <a:t> </a:t>
            </a:r>
            <a:r>
              <a:rPr lang="fr-FR" sz="1200" dirty="0" smtClean="0">
                <a:solidFill>
                  <a:srgbClr val="585858"/>
                </a:solidFill>
                <a:latin typeface="+mn-lt"/>
                <a:cs typeface="Calibri"/>
              </a:rPr>
              <a:t>soit</a:t>
            </a:r>
            <a:r>
              <a:rPr lang="fr-FR" sz="1200" spc="160" dirty="0" smtClean="0">
                <a:solidFill>
                  <a:srgbClr val="585858"/>
                </a:solidFill>
                <a:latin typeface="+mn-lt"/>
                <a:cs typeface="Calibri"/>
              </a:rPr>
              <a:t> </a:t>
            </a:r>
            <a:r>
              <a:rPr lang="fr-FR" sz="1200" dirty="0" smtClean="0">
                <a:solidFill>
                  <a:srgbClr val="585858"/>
                </a:solidFill>
                <a:latin typeface="+mn-lt"/>
                <a:cs typeface="Calibri"/>
              </a:rPr>
              <a:t>vous</a:t>
            </a:r>
            <a:r>
              <a:rPr lang="fr-FR" sz="1200" spc="155" dirty="0" smtClean="0">
                <a:solidFill>
                  <a:srgbClr val="585858"/>
                </a:solidFill>
                <a:latin typeface="+mn-lt"/>
                <a:cs typeface="Calibri"/>
              </a:rPr>
              <a:t> </a:t>
            </a:r>
            <a:r>
              <a:rPr lang="fr-FR" sz="1200" dirty="0" smtClean="0">
                <a:solidFill>
                  <a:srgbClr val="585858"/>
                </a:solidFill>
                <a:latin typeface="+mn-lt"/>
                <a:cs typeface="Calibri"/>
              </a:rPr>
              <a:t>avez</a:t>
            </a:r>
            <a:r>
              <a:rPr lang="fr-FR" sz="1200" spc="160" dirty="0" smtClean="0">
                <a:solidFill>
                  <a:srgbClr val="585858"/>
                </a:solidFill>
                <a:latin typeface="+mn-lt"/>
                <a:cs typeface="Calibri"/>
              </a:rPr>
              <a:t> </a:t>
            </a:r>
            <a:r>
              <a:rPr lang="fr-FR" sz="1200" dirty="0" smtClean="0">
                <a:solidFill>
                  <a:srgbClr val="585858"/>
                </a:solidFill>
                <a:latin typeface="+mn-lt"/>
                <a:cs typeface="Calibri"/>
              </a:rPr>
              <a:t>installé</a:t>
            </a:r>
            <a:r>
              <a:rPr lang="fr-FR" sz="1200" spc="170" dirty="0" smtClean="0">
                <a:solidFill>
                  <a:srgbClr val="585858"/>
                </a:solidFill>
                <a:latin typeface="+mn-lt"/>
                <a:cs typeface="Calibri"/>
              </a:rPr>
              <a:t> </a:t>
            </a:r>
            <a:r>
              <a:rPr lang="fr-FR" sz="1200" dirty="0" smtClean="0">
                <a:solidFill>
                  <a:srgbClr val="585858"/>
                </a:solidFill>
                <a:latin typeface="+mn-lt"/>
                <a:cs typeface="Calibri"/>
              </a:rPr>
              <a:t>des</a:t>
            </a:r>
            <a:r>
              <a:rPr lang="fr-FR" sz="1200" spc="180" dirty="0" smtClean="0">
                <a:solidFill>
                  <a:srgbClr val="585858"/>
                </a:solidFill>
                <a:latin typeface="+mn-lt"/>
                <a:cs typeface="Calibri"/>
              </a:rPr>
              <a:t> </a:t>
            </a:r>
            <a:r>
              <a:rPr lang="fr-FR" sz="1200" dirty="0" smtClean="0">
                <a:solidFill>
                  <a:srgbClr val="585858"/>
                </a:solidFill>
                <a:latin typeface="+mn-lt"/>
                <a:cs typeface="Calibri"/>
              </a:rPr>
              <a:t>applications</a:t>
            </a:r>
            <a:r>
              <a:rPr lang="fr-FR" sz="1200" spc="185" dirty="0" smtClean="0">
                <a:solidFill>
                  <a:srgbClr val="585858"/>
                </a:solidFill>
                <a:latin typeface="+mn-lt"/>
                <a:cs typeface="Calibri"/>
              </a:rPr>
              <a:t> </a:t>
            </a:r>
            <a:r>
              <a:rPr lang="fr-FR" sz="1200" dirty="0" smtClean="0">
                <a:solidFill>
                  <a:srgbClr val="585858"/>
                </a:solidFill>
                <a:latin typeface="+mn-lt"/>
                <a:cs typeface="Calibri"/>
              </a:rPr>
              <a:t>qui</a:t>
            </a:r>
            <a:r>
              <a:rPr lang="fr-FR" sz="1200" spc="160" dirty="0" smtClean="0">
                <a:solidFill>
                  <a:srgbClr val="585858"/>
                </a:solidFill>
                <a:latin typeface="+mn-lt"/>
                <a:cs typeface="Calibri"/>
              </a:rPr>
              <a:t> </a:t>
            </a:r>
            <a:r>
              <a:rPr lang="fr-FR" sz="1200" dirty="0" smtClean="0">
                <a:solidFill>
                  <a:srgbClr val="585858"/>
                </a:solidFill>
                <a:latin typeface="+mn-lt"/>
                <a:cs typeface="Calibri"/>
              </a:rPr>
              <a:t>communiquent</a:t>
            </a:r>
            <a:r>
              <a:rPr lang="fr-FR" sz="1200" spc="155" dirty="0" smtClean="0">
                <a:solidFill>
                  <a:srgbClr val="585858"/>
                </a:solidFill>
                <a:latin typeface="+mn-lt"/>
                <a:cs typeface="Calibri"/>
              </a:rPr>
              <a:t> </a:t>
            </a:r>
            <a:r>
              <a:rPr lang="fr-FR" sz="1200" dirty="0" smtClean="0">
                <a:solidFill>
                  <a:srgbClr val="585858"/>
                </a:solidFill>
                <a:latin typeface="+mn-lt"/>
                <a:cs typeface="Calibri"/>
              </a:rPr>
              <a:t>très</a:t>
            </a:r>
            <a:r>
              <a:rPr lang="fr-FR" sz="1200" spc="210" dirty="0" smtClean="0">
                <a:solidFill>
                  <a:srgbClr val="585858"/>
                </a:solidFill>
                <a:latin typeface="+mn-lt"/>
                <a:cs typeface="Calibri"/>
              </a:rPr>
              <a:t> </a:t>
            </a:r>
            <a:r>
              <a:rPr lang="fr-FR" sz="1200" dirty="0" smtClean="0">
                <a:solidFill>
                  <a:srgbClr val="585858"/>
                </a:solidFill>
                <a:latin typeface="+mn-lt"/>
                <a:cs typeface="Calibri"/>
              </a:rPr>
              <a:t>régulièrement</a:t>
            </a:r>
            <a:r>
              <a:rPr lang="fr-FR" sz="1200" spc="165" dirty="0" smtClean="0">
                <a:solidFill>
                  <a:srgbClr val="585858"/>
                </a:solidFill>
                <a:latin typeface="+mn-lt"/>
                <a:cs typeface="Calibri"/>
              </a:rPr>
              <a:t> </a:t>
            </a:r>
            <a:r>
              <a:rPr lang="fr-FR" sz="1200" dirty="0" smtClean="0">
                <a:solidFill>
                  <a:srgbClr val="585858"/>
                </a:solidFill>
                <a:latin typeface="+mn-lt"/>
                <a:cs typeface="Calibri"/>
              </a:rPr>
              <a:t>par</a:t>
            </a:r>
            <a:r>
              <a:rPr lang="fr-FR" sz="1200" spc="135" dirty="0" smtClean="0">
                <a:solidFill>
                  <a:srgbClr val="585858"/>
                </a:solidFill>
                <a:latin typeface="+mn-lt"/>
                <a:cs typeface="Calibri"/>
              </a:rPr>
              <a:t> </a:t>
            </a:r>
            <a:r>
              <a:rPr lang="fr-FR" sz="1200" spc="-10" dirty="0" smtClean="0">
                <a:solidFill>
                  <a:srgbClr val="585858"/>
                </a:solidFill>
                <a:latin typeface="+mn-lt"/>
                <a:cs typeface="Calibri"/>
              </a:rPr>
              <a:t>Internet. Attention,</a:t>
            </a:r>
            <a:r>
              <a:rPr lang="fr-FR" sz="1200" spc="-35" dirty="0" smtClean="0">
                <a:solidFill>
                  <a:srgbClr val="585858"/>
                </a:solidFill>
                <a:latin typeface="+mn-lt"/>
                <a:cs typeface="Calibri"/>
              </a:rPr>
              <a:t> </a:t>
            </a:r>
            <a:r>
              <a:rPr lang="fr-FR" sz="1200" dirty="0" smtClean="0">
                <a:solidFill>
                  <a:srgbClr val="585858"/>
                </a:solidFill>
                <a:latin typeface="+mn-lt"/>
                <a:cs typeface="Calibri"/>
              </a:rPr>
              <a:t>là</a:t>
            </a:r>
            <a:r>
              <a:rPr lang="fr-FR" sz="1200" spc="-30" dirty="0" smtClean="0">
                <a:solidFill>
                  <a:srgbClr val="585858"/>
                </a:solidFill>
                <a:latin typeface="+mn-lt"/>
                <a:cs typeface="Calibri"/>
              </a:rPr>
              <a:t> </a:t>
            </a:r>
            <a:r>
              <a:rPr lang="fr-FR" sz="1200" dirty="0" smtClean="0">
                <a:solidFill>
                  <a:srgbClr val="585858"/>
                </a:solidFill>
                <a:latin typeface="+mn-lt"/>
                <a:cs typeface="Calibri"/>
              </a:rPr>
              <a:t>encore</a:t>
            </a:r>
            <a:r>
              <a:rPr lang="fr-FR" sz="1200" spc="-5" dirty="0" smtClean="0">
                <a:solidFill>
                  <a:srgbClr val="585858"/>
                </a:solidFill>
                <a:latin typeface="+mn-lt"/>
                <a:cs typeface="Calibri"/>
              </a:rPr>
              <a:t> </a:t>
            </a:r>
            <a:r>
              <a:rPr lang="fr-FR" sz="1200" dirty="0" smtClean="0">
                <a:solidFill>
                  <a:srgbClr val="585858"/>
                </a:solidFill>
                <a:latin typeface="+mn-lt"/>
                <a:cs typeface="Calibri"/>
              </a:rPr>
              <a:t>ces</a:t>
            </a:r>
            <a:r>
              <a:rPr lang="fr-FR" sz="1200" spc="-35" dirty="0" smtClean="0">
                <a:solidFill>
                  <a:srgbClr val="585858"/>
                </a:solidFill>
                <a:latin typeface="+mn-lt"/>
                <a:cs typeface="Calibri"/>
              </a:rPr>
              <a:t> </a:t>
            </a:r>
            <a:r>
              <a:rPr lang="fr-FR" sz="1200" dirty="0" smtClean="0">
                <a:solidFill>
                  <a:srgbClr val="585858"/>
                </a:solidFill>
                <a:latin typeface="+mn-lt"/>
                <a:cs typeface="Calibri"/>
              </a:rPr>
              <a:t>applications</a:t>
            </a:r>
            <a:r>
              <a:rPr lang="fr-FR" sz="1200" spc="5" dirty="0" smtClean="0">
                <a:solidFill>
                  <a:srgbClr val="585858"/>
                </a:solidFill>
                <a:latin typeface="+mn-lt"/>
                <a:cs typeface="Calibri"/>
              </a:rPr>
              <a:t> </a:t>
            </a:r>
            <a:r>
              <a:rPr lang="fr-FR" sz="1200" dirty="0" smtClean="0">
                <a:solidFill>
                  <a:srgbClr val="585858"/>
                </a:solidFill>
                <a:latin typeface="+mn-lt"/>
                <a:cs typeface="Calibri"/>
              </a:rPr>
              <a:t>limitent</a:t>
            </a:r>
            <a:r>
              <a:rPr lang="fr-FR" sz="1200" spc="-25" dirty="0" smtClean="0">
                <a:solidFill>
                  <a:srgbClr val="585858"/>
                </a:solidFill>
                <a:latin typeface="+mn-lt"/>
                <a:cs typeface="Calibri"/>
              </a:rPr>
              <a:t> </a:t>
            </a:r>
            <a:r>
              <a:rPr lang="fr-FR" sz="1200" dirty="0" smtClean="0">
                <a:solidFill>
                  <a:srgbClr val="585858"/>
                </a:solidFill>
                <a:latin typeface="+mn-lt"/>
                <a:cs typeface="Calibri"/>
              </a:rPr>
              <a:t>les</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ressources</a:t>
            </a:r>
            <a:r>
              <a:rPr lang="fr-FR" sz="1200" spc="-15" dirty="0" smtClean="0">
                <a:solidFill>
                  <a:srgbClr val="585858"/>
                </a:solidFill>
                <a:latin typeface="+mn-lt"/>
                <a:cs typeface="Calibri"/>
              </a:rPr>
              <a:t> </a:t>
            </a:r>
            <a:r>
              <a:rPr lang="fr-FR" sz="1200" dirty="0" smtClean="0">
                <a:solidFill>
                  <a:srgbClr val="585858"/>
                </a:solidFill>
                <a:latin typeface="+mn-lt"/>
                <a:cs typeface="Calibri"/>
              </a:rPr>
              <a:t>encore</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disponibles</a:t>
            </a:r>
            <a:r>
              <a:rPr lang="fr-FR" sz="1200" spc="10" dirty="0" smtClean="0">
                <a:solidFill>
                  <a:srgbClr val="585858"/>
                </a:solidFill>
                <a:latin typeface="+mn-lt"/>
                <a:cs typeface="Calibri"/>
              </a:rPr>
              <a:t> </a:t>
            </a:r>
            <a:r>
              <a:rPr lang="fr-FR" sz="1200" dirty="0" smtClean="0">
                <a:solidFill>
                  <a:srgbClr val="585858"/>
                </a:solidFill>
                <a:latin typeface="+mn-lt"/>
                <a:cs typeface="Calibri"/>
              </a:rPr>
              <a:t>sur</a:t>
            </a:r>
            <a:r>
              <a:rPr lang="fr-FR" sz="1200" spc="-40" dirty="0" smtClean="0">
                <a:solidFill>
                  <a:srgbClr val="585858"/>
                </a:solidFill>
                <a:latin typeface="+mn-lt"/>
                <a:cs typeface="Calibri"/>
              </a:rPr>
              <a:t> </a:t>
            </a:r>
            <a:r>
              <a:rPr lang="fr-FR" sz="1200" dirty="0" smtClean="0">
                <a:solidFill>
                  <a:srgbClr val="585858"/>
                </a:solidFill>
                <a:latin typeface="+mn-lt"/>
                <a:cs typeface="Calibri"/>
              </a:rPr>
              <a:t>votre</a:t>
            </a:r>
            <a:r>
              <a:rPr lang="fr-FR" sz="1200" spc="-40" dirty="0" smtClean="0">
                <a:solidFill>
                  <a:srgbClr val="585858"/>
                </a:solidFill>
                <a:latin typeface="+mn-lt"/>
                <a:cs typeface="Calibri"/>
              </a:rPr>
              <a:t> </a:t>
            </a:r>
            <a:r>
              <a:rPr lang="fr-FR" sz="1200" spc="-10" dirty="0" smtClean="0">
                <a:solidFill>
                  <a:srgbClr val="585858"/>
                </a:solidFill>
                <a:latin typeface="+mn-lt"/>
                <a:cs typeface="Calibri"/>
              </a:rPr>
              <a:t>machine.</a:t>
            </a:r>
            <a:endParaRPr lang="fr-FR" sz="1200" dirty="0" smtClean="0">
              <a:latin typeface="+mn-lt"/>
              <a:cs typeface="Calibri"/>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44</a:t>
            </a:fld>
            <a:endParaRPr lang="fr-FR"/>
          </a:p>
        </p:txBody>
      </p:sp>
    </p:spTree>
    <p:extLst>
      <p:ext uri="{BB962C8B-B14F-4D97-AF65-F5344CB8AC3E}">
        <p14:creationId xmlns:p14="http://schemas.microsoft.com/office/powerpoint/2010/main" val="249088156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2700">
              <a:lnSpc>
                <a:spcPct val="100000"/>
              </a:lnSpc>
              <a:spcBef>
                <a:spcPts val="1320"/>
              </a:spcBef>
            </a:pPr>
            <a:r>
              <a:rPr lang="fr-FR" sz="1200" b="1" dirty="0" smtClean="0">
                <a:solidFill>
                  <a:srgbClr val="0058A0"/>
                </a:solidFill>
                <a:latin typeface="+mn-lt"/>
                <a:cs typeface="Calibri"/>
              </a:rPr>
              <a:t>Définition</a:t>
            </a:r>
            <a:r>
              <a:rPr lang="fr-FR" sz="1200" b="1" spc="-15" dirty="0" smtClean="0">
                <a:solidFill>
                  <a:srgbClr val="0058A0"/>
                </a:solidFill>
                <a:latin typeface="+mn-lt"/>
                <a:cs typeface="Calibri"/>
              </a:rPr>
              <a:t> </a:t>
            </a:r>
            <a:r>
              <a:rPr lang="fr-FR" sz="1200" b="1" dirty="0" smtClean="0">
                <a:solidFill>
                  <a:srgbClr val="0058A0"/>
                </a:solidFill>
                <a:latin typeface="+mn-lt"/>
                <a:cs typeface="Calibri"/>
              </a:rPr>
              <a:t>d’un</a:t>
            </a:r>
            <a:r>
              <a:rPr lang="fr-FR" sz="1200" b="1" spc="-15" dirty="0" smtClean="0">
                <a:solidFill>
                  <a:srgbClr val="0058A0"/>
                </a:solidFill>
                <a:latin typeface="+mn-lt"/>
                <a:cs typeface="Calibri"/>
              </a:rPr>
              <a:t> </a:t>
            </a:r>
            <a:r>
              <a:rPr lang="fr-FR" sz="1200" b="1" dirty="0" smtClean="0">
                <a:solidFill>
                  <a:srgbClr val="0058A0"/>
                </a:solidFill>
                <a:latin typeface="+mn-lt"/>
                <a:cs typeface="Calibri"/>
              </a:rPr>
              <a:t>processus</a:t>
            </a:r>
            <a:r>
              <a:rPr lang="fr-FR" sz="1200" b="1" spc="-40" dirty="0" smtClean="0">
                <a:solidFill>
                  <a:srgbClr val="0058A0"/>
                </a:solidFill>
                <a:latin typeface="+mn-lt"/>
                <a:cs typeface="Calibri"/>
              </a:rPr>
              <a:t> </a:t>
            </a:r>
            <a:r>
              <a:rPr lang="fr-FR" sz="1200" b="1" dirty="0" smtClean="0">
                <a:solidFill>
                  <a:srgbClr val="0058A0"/>
                </a:solidFill>
                <a:latin typeface="+mn-lt"/>
                <a:cs typeface="Calibri"/>
              </a:rPr>
              <a:t>:</a:t>
            </a:r>
            <a:r>
              <a:rPr lang="fr-FR" sz="1200" b="1" spc="-35" dirty="0" smtClean="0">
                <a:solidFill>
                  <a:srgbClr val="0058A0"/>
                </a:solidFill>
                <a:latin typeface="+mn-lt"/>
                <a:cs typeface="Calibri"/>
              </a:rPr>
              <a:t> </a:t>
            </a:r>
            <a:r>
              <a:rPr lang="fr-FR" sz="1200" spc="-20" dirty="0" smtClean="0">
                <a:solidFill>
                  <a:srgbClr val="585858"/>
                </a:solidFill>
                <a:latin typeface="+mn-lt"/>
                <a:cs typeface="Calibri"/>
              </a:rPr>
              <a:t>c’est</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l’entité</a:t>
            </a:r>
            <a:r>
              <a:rPr lang="fr-FR" sz="1200" spc="5" dirty="0" smtClean="0">
                <a:solidFill>
                  <a:srgbClr val="585858"/>
                </a:solidFill>
                <a:latin typeface="+mn-lt"/>
                <a:cs typeface="Calibri"/>
              </a:rPr>
              <a:t> </a:t>
            </a:r>
            <a:r>
              <a:rPr lang="fr-FR" sz="1200" dirty="0" smtClean="0">
                <a:solidFill>
                  <a:srgbClr val="585858"/>
                </a:solidFill>
                <a:latin typeface="+mn-lt"/>
                <a:cs typeface="Calibri"/>
              </a:rPr>
              <a:t>qui</a:t>
            </a:r>
            <a:r>
              <a:rPr lang="fr-FR" sz="1200" spc="-35" dirty="0" smtClean="0">
                <a:solidFill>
                  <a:srgbClr val="585858"/>
                </a:solidFill>
                <a:latin typeface="+mn-lt"/>
                <a:cs typeface="Calibri"/>
              </a:rPr>
              <a:t> </a:t>
            </a:r>
            <a:r>
              <a:rPr lang="fr-FR" sz="1200" spc="-10" dirty="0" smtClean="0">
                <a:solidFill>
                  <a:srgbClr val="585858"/>
                </a:solidFill>
                <a:latin typeface="+mn-lt"/>
                <a:cs typeface="Calibri"/>
              </a:rPr>
              <a:t>correspond</a:t>
            </a:r>
            <a:r>
              <a:rPr lang="fr-FR" sz="1200" dirty="0" smtClean="0">
                <a:solidFill>
                  <a:srgbClr val="585858"/>
                </a:solidFill>
                <a:latin typeface="+mn-lt"/>
                <a:cs typeface="Calibri"/>
              </a:rPr>
              <a:t> à</a:t>
            </a:r>
            <a:r>
              <a:rPr lang="fr-FR" sz="1200" spc="-45" dirty="0" smtClean="0">
                <a:solidFill>
                  <a:srgbClr val="585858"/>
                </a:solidFill>
                <a:latin typeface="+mn-lt"/>
                <a:cs typeface="Calibri"/>
              </a:rPr>
              <a:t> </a:t>
            </a:r>
            <a:r>
              <a:rPr lang="fr-FR" sz="1200" spc="-20" dirty="0" smtClean="0">
                <a:solidFill>
                  <a:srgbClr val="585858"/>
                </a:solidFill>
                <a:latin typeface="+mn-lt"/>
                <a:cs typeface="Calibri"/>
              </a:rPr>
              <a:t>l’exécution</a:t>
            </a:r>
            <a:r>
              <a:rPr lang="fr-FR" sz="1200" spc="20" dirty="0" smtClean="0">
                <a:solidFill>
                  <a:srgbClr val="585858"/>
                </a:solidFill>
                <a:latin typeface="+mn-lt"/>
                <a:cs typeface="Calibri"/>
              </a:rPr>
              <a:t> </a:t>
            </a:r>
            <a:r>
              <a:rPr lang="fr-FR" sz="1200" dirty="0" smtClean="0">
                <a:solidFill>
                  <a:srgbClr val="585858"/>
                </a:solidFill>
                <a:latin typeface="+mn-lt"/>
                <a:cs typeface="Calibri"/>
              </a:rPr>
              <a:t>d’un</a:t>
            </a:r>
            <a:r>
              <a:rPr lang="fr-FR" sz="1200" spc="-35" dirty="0" smtClean="0">
                <a:solidFill>
                  <a:srgbClr val="585858"/>
                </a:solidFill>
                <a:latin typeface="+mn-lt"/>
                <a:cs typeface="Calibri"/>
              </a:rPr>
              <a:t> </a:t>
            </a:r>
            <a:r>
              <a:rPr lang="fr-FR" sz="1200" spc="-10" dirty="0" smtClean="0">
                <a:solidFill>
                  <a:srgbClr val="585858"/>
                </a:solidFill>
                <a:latin typeface="+mn-lt"/>
                <a:cs typeface="Calibri"/>
              </a:rPr>
              <a:t>programme. </a:t>
            </a:r>
            <a:r>
              <a:rPr lang="fr-FR" sz="1200" dirty="0" smtClean="0">
                <a:solidFill>
                  <a:srgbClr val="585858"/>
                </a:solidFill>
                <a:latin typeface="+mn-lt"/>
                <a:cs typeface="Calibri"/>
              </a:rPr>
              <a:t>Un</a:t>
            </a:r>
            <a:r>
              <a:rPr lang="fr-FR" sz="1200" spc="-25" dirty="0" smtClean="0">
                <a:solidFill>
                  <a:srgbClr val="585858"/>
                </a:solidFill>
                <a:latin typeface="+mn-lt"/>
                <a:cs typeface="Calibri"/>
              </a:rPr>
              <a:t> </a:t>
            </a:r>
            <a:r>
              <a:rPr lang="fr-FR" sz="1200" dirty="0" smtClean="0">
                <a:solidFill>
                  <a:srgbClr val="585858"/>
                </a:solidFill>
                <a:latin typeface="+mn-lt"/>
                <a:cs typeface="Calibri"/>
              </a:rPr>
              <a:t>processus</a:t>
            </a:r>
            <a:r>
              <a:rPr lang="fr-FR" sz="1200" spc="-10" dirty="0" smtClean="0">
                <a:solidFill>
                  <a:srgbClr val="585858"/>
                </a:solidFill>
                <a:latin typeface="+mn-lt"/>
                <a:cs typeface="Calibri"/>
              </a:rPr>
              <a:t> </a:t>
            </a:r>
            <a:r>
              <a:rPr lang="fr-FR" sz="1200" dirty="0" smtClean="0">
                <a:solidFill>
                  <a:srgbClr val="585858"/>
                </a:solidFill>
                <a:latin typeface="+mn-lt"/>
                <a:cs typeface="Calibri"/>
              </a:rPr>
              <a:t>est</a:t>
            </a:r>
            <a:r>
              <a:rPr lang="fr-FR" sz="1200" spc="-35" dirty="0" smtClean="0">
                <a:solidFill>
                  <a:srgbClr val="585858"/>
                </a:solidFill>
                <a:latin typeface="+mn-lt"/>
                <a:cs typeface="Calibri"/>
              </a:rPr>
              <a:t> </a:t>
            </a:r>
            <a:r>
              <a:rPr lang="fr-FR" sz="1200" dirty="0" smtClean="0">
                <a:solidFill>
                  <a:srgbClr val="585858"/>
                </a:solidFill>
                <a:latin typeface="+mn-lt"/>
                <a:cs typeface="Calibri"/>
              </a:rPr>
              <a:t>défini</a:t>
            </a:r>
            <a:r>
              <a:rPr lang="fr-FR" sz="1200" spc="-30" dirty="0" smtClean="0">
                <a:solidFill>
                  <a:srgbClr val="585858"/>
                </a:solidFill>
                <a:latin typeface="+mn-lt"/>
                <a:cs typeface="Calibri"/>
              </a:rPr>
              <a:t> </a:t>
            </a:r>
            <a:r>
              <a:rPr lang="fr-FR" sz="1200" dirty="0" smtClean="0">
                <a:solidFill>
                  <a:srgbClr val="585858"/>
                </a:solidFill>
                <a:latin typeface="+mn-lt"/>
                <a:cs typeface="Calibri"/>
              </a:rPr>
              <a:t>par</a:t>
            </a:r>
            <a:r>
              <a:rPr lang="fr-FR" sz="1200" spc="-30" dirty="0" smtClean="0">
                <a:solidFill>
                  <a:srgbClr val="585858"/>
                </a:solidFill>
                <a:latin typeface="+mn-lt"/>
                <a:cs typeface="Calibri"/>
              </a:rPr>
              <a:t> </a:t>
            </a:r>
            <a:r>
              <a:rPr lang="fr-FR" sz="1200" spc="-50" dirty="0" smtClean="0">
                <a:solidFill>
                  <a:srgbClr val="585858"/>
                </a:solidFill>
                <a:latin typeface="+mn-lt"/>
                <a:cs typeface="Calibri"/>
              </a:rPr>
              <a:t>:</a:t>
            </a:r>
            <a:endParaRPr lang="fr-FR" sz="1200" dirty="0" smtClean="0">
              <a:latin typeface="+mn-lt"/>
              <a:cs typeface="Calibri"/>
            </a:endParaRPr>
          </a:p>
          <a:p>
            <a:pPr marL="438784" indent="-81915">
              <a:lnSpc>
                <a:spcPct val="100000"/>
              </a:lnSpc>
              <a:spcBef>
                <a:spcPts val="1320"/>
              </a:spcBef>
              <a:buChar char="-"/>
              <a:tabLst>
                <a:tab pos="438784" algn="l"/>
              </a:tabLst>
            </a:pPr>
            <a:r>
              <a:rPr lang="fr-FR" sz="1200" dirty="0" smtClean="0">
                <a:solidFill>
                  <a:srgbClr val="585858"/>
                </a:solidFill>
                <a:latin typeface="+mn-lt"/>
                <a:cs typeface="Calibri"/>
              </a:rPr>
              <a:t>un</a:t>
            </a:r>
            <a:r>
              <a:rPr lang="fr-FR" sz="1200" spc="-55" dirty="0" smtClean="0">
                <a:solidFill>
                  <a:srgbClr val="585858"/>
                </a:solidFill>
                <a:latin typeface="+mn-lt"/>
                <a:cs typeface="Calibri"/>
              </a:rPr>
              <a:t> </a:t>
            </a:r>
            <a:r>
              <a:rPr lang="fr-FR" sz="1200" dirty="0" smtClean="0">
                <a:solidFill>
                  <a:srgbClr val="585858"/>
                </a:solidFill>
                <a:latin typeface="+mn-lt"/>
                <a:cs typeface="Calibri"/>
              </a:rPr>
              <a:t>espace</a:t>
            </a:r>
            <a:r>
              <a:rPr lang="fr-FR" sz="1200" spc="-10" dirty="0" smtClean="0">
                <a:solidFill>
                  <a:srgbClr val="585858"/>
                </a:solidFill>
                <a:latin typeface="+mn-lt"/>
                <a:cs typeface="Calibri"/>
              </a:rPr>
              <a:t> </a:t>
            </a:r>
            <a:r>
              <a:rPr lang="fr-FR" sz="1200" dirty="0" smtClean="0">
                <a:solidFill>
                  <a:srgbClr val="585858"/>
                </a:solidFill>
                <a:latin typeface="+mn-lt"/>
                <a:cs typeface="Calibri"/>
              </a:rPr>
              <a:t>mémoire</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contenant</a:t>
            </a:r>
            <a:r>
              <a:rPr lang="fr-FR" sz="1200" spc="-30" dirty="0" smtClean="0">
                <a:solidFill>
                  <a:srgbClr val="585858"/>
                </a:solidFill>
                <a:latin typeface="+mn-lt"/>
                <a:cs typeface="Calibri"/>
              </a:rPr>
              <a:t> </a:t>
            </a:r>
            <a:r>
              <a:rPr lang="fr-FR" sz="1200" dirty="0" smtClean="0">
                <a:solidFill>
                  <a:srgbClr val="585858"/>
                </a:solidFill>
                <a:latin typeface="+mn-lt"/>
                <a:cs typeface="Calibri"/>
              </a:rPr>
              <a:t>le</a:t>
            </a:r>
            <a:r>
              <a:rPr lang="fr-FR" sz="1200" spc="-15" dirty="0" smtClean="0">
                <a:solidFill>
                  <a:srgbClr val="585858"/>
                </a:solidFill>
                <a:latin typeface="+mn-lt"/>
                <a:cs typeface="Calibri"/>
              </a:rPr>
              <a:t> </a:t>
            </a:r>
            <a:r>
              <a:rPr lang="fr-FR" sz="1200" dirty="0" smtClean="0">
                <a:solidFill>
                  <a:srgbClr val="585858"/>
                </a:solidFill>
                <a:latin typeface="+mn-lt"/>
                <a:cs typeface="Calibri"/>
              </a:rPr>
              <a:t>code,</a:t>
            </a:r>
            <a:r>
              <a:rPr lang="fr-FR" sz="1200" spc="-25" dirty="0" smtClean="0">
                <a:solidFill>
                  <a:srgbClr val="585858"/>
                </a:solidFill>
                <a:latin typeface="+mn-lt"/>
                <a:cs typeface="Calibri"/>
              </a:rPr>
              <a:t> </a:t>
            </a:r>
            <a:r>
              <a:rPr lang="fr-FR" sz="1200" dirty="0" smtClean="0">
                <a:solidFill>
                  <a:srgbClr val="585858"/>
                </a:solidFill>
                <a:latin typeface="+mn-lt"/>
                <a:cs typeface="Calibri"/>
              </a:rPr>
              <a:t>les données</a:t>
            </a:r>
            <a:r>
              <a:rPr lang="fr-FR" sz="1200" spc="-15" dirty="0" smtClean="0">
                <a:solidFill>
                  <a:srgbClr val="585858"/>
                </a:solidFill>
                <a:latin typeface="+mn-lt"/>
                <a:cs typeface="Calibri"/>
              </a:rPr>
              <a:t> </a:t>
            </a:r>
            <a:r>
              <a:rPr lang="fr-FR" sz="1200" dirty="0" smtClean="0">
                <a:solidFill>
                  <a:srgbClr val="585858"/>
                </a:solidFill>
                <a:latin typeface="+mn-lt"/>
                <a:cs typeface="Calibri"/>
              </a:rPr>
              <a:t>et</a:t>
            </a:r>
            <a:r>
              <a:rPr lang="fr-FR" sz="1200" spc="-35" dirty="0" smtClean="0">
                <a:solidFill>
                  <a:srgbClr val="585858"/>
                </a:solidFill>
                <a:latin typeface="+mn-lt"/>
                <a:cs typeface="Calibri"/>
              </a:rPr>
              <a:t> </a:t>
            </a:r>
            <a:r>
              <a:rPr lang="fr-FR" sz="1200" dirty="0" smtClean="0">
                <a:solidFill>
                  <a:srgbClr val="585858"/>
                </a:solidFill>
                <a:latin typeface="+mn-lt"/>
                <a:cs typeface="Calibri"/>
              </a:rPr>
              <a:t>la</a:t>
            </a:r>
            <a:r>
              <a:rPr lang="fr-FR" sz="1200" spc="-15" dirty="0" smtClean="0">
                <a:solidFill>
                  <a:srgbClr val="585858"/>
                </a:solidFill>
                <a:latin typeface="+mn-lt"/>
                <a:cs typeface="Calibri"/>
              </a:rPr>
              <a:t> </a:t>
            </a:r>
            <a:r>
              <a:rPr lang="fr-FR" sz="1200" dirty="0" smtClean="0">
                <a:solidFill>
                  <a:srgbClr val="585858"/>
                </a:solidFill>
                <a:latin typeface="+mn-lt"/>
                <a:cs typeface="Calibri"/>
              </a:rPr>
              <a:t>pile</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d’instruction</a:t>
            </a:r>
            <a:r>
              <a:rPr lang="fr-FR" sz="1200" spc="30" dirty="0" smtClean="0">
                <a:solidFill>
                  <a:srgbClr val="585858"/>
                </a:solidFill>
                <a:latin typeface="+mn-lt"/>
                <a:cs typeface="Calibri"/>
              </a:rPr>
              <a:t> </a:t>
            </a:r>
            <a:r>
              <a:rPr lang="fr-FR" sz="1200" spc="-50" dirty="0" smtClean="0">
                <a:solidFill>
                  <a:srgbClr val="585858"/>
                </a:solidFill>
                <a:latin typeface="+mn-lt"/>
                <a:cs typeface="Calibri"/>
              </a:rPr>
              <a:t>;</a:t>
            </a:r>
            <a:endParaRPr lang="fr-FR" sz="1200" dirty="0" smtClean="0">
              <a:latin typeface="+mn-lt"/>
              <a:cs typeface="Calibri"/>
            </a:endParaRPr>
          </a:p>
          <a:p>
            <a:pPr marL="438784" indent="-81915">
              <a:lnSpc>
                <a:spcPct val="100000"/>
              </a:lnSpc>
              <a:spcBef>
                <a:spcPts val="1320"/>
              </a:spcBef>
              <a:buChar char="-"/>
              <a:tabLst>
                <a:tab pos="438784" algn="l"/>
              </a:tabLst>
            </a:pPr>
            <a:r>
              <a:rPr lang="fr-FR" sz="1200" dirty="0" smtClean="0">
                <a:solidFill>
                  <a:srgbClr val="585858"/>
                </a:solidFill>
                <a:latin typeface="+mn-lt"/>
                <a:cs typeface="Calibri"/>
              </a:rPr>
              <a:t>un</a:t>
            </a:r>
            <a:r>
              <a:rPr lang="fr-FR" sz="1200" spc="-55" dirty="0" smtClean="0">
                <a:solidFill>
                  <a:srgbClr val="585858"/>
                </a:solidFill>
                <a:latin typeface="+mn-lt"/>
                <a:cs typeface="Calibri"/>
              </a:rPr>
              <a:t> </a:t>
            </a:r>
            <a:r>
              <a:rPr lang="fr-FR" sz="1200" dirty="0" smtClean="0">
                <a:solidFill>
                  <a:srgbClr val="585858"/>
                </a:solidFill>
                <a:latin typeface="+mn-lt"/>
                <a:cs typeface="Calibri"/>
              </a:rPr>
              <a:t>compteur</a:t>
            </a:r>
            <a:r>
              <a:rPr lang="fr-FR" sz="1200" spc="-40" dirty="0" smtClean="0">
                <a:solidFill>
                  <a:srgbClr val="585858"/>
                </a:solidFill>
                <a:latin typeface="+mn-lt"/>
                <a:cs typeface="Calibri"/>
              </a:rPr>
              <a:t> </a:t>
            </a:r>
            <a:r>
              <a:rPr lang="fr-FR" sz="1200" dirty="0" smtClean="0">
                <a:solidFill>
                  <a:srgbClr val="585858"/>
                </a:solidFill>
                <a:latin typeface="+mn-lt"/>
                <a:cs typeface="Calibri"/>
              </a:rPr>
              <a:t>ordinal (zone</a:t>
            </a:r>
            <a:r>
              <a:rPr lang="fr-FR" sz="1200" spc="-25" dirty="0" smtClean="0">
                <a:solidFill>
                  <a:srgbClr val="585858"/>
                </a:solidFill>
                <a:latin typeface="+mn-lt"/>
                <a:cs typeface="Calibri"/>
              </a:rPr>
              <a:t> </a:t>
            </a:r>
            <a:r>
              <a:rPr lang="fr-FR" sz="1200" dirty="0" smtClean="0">
                <a:solidFill>
                  <a:srgbClr val="585858"/>
                </a:solidFill>
                <a:latin typeface="+mn-lt"/>
                <a:cs typeface="Calibri"/>
              </a:rPr>
              <a:t>mémoire</a:t>
            </a:r>
            <a:r>
              <a:rPr lang="fr-FR" sz="1200" spc="-5" dirty="0" smtClean="0">
                <a:solidFill>
                  <a:srgbClr val="585858"/>
                </a:solidFill>
                <a:latin typeface="+mn-lt"/>
                <a:cs typeface="Calibri"/>
              </a:rPr>
              <a:t> </a:t>
            </a:r>
            <a:r>
              <a:rPr lang="fr-FR" sz="1200" dirty="0" smtClean="0">
                <a:solidFill>
                  <a:srgbClr val="585858"/>
                </a:solidFill>
                <a:latin typeface="+mn-lt"/>
                <a:cs typeface="Calibri"/>
              </a:rPr>
              <a:t>qui</a:t>
            </a:r>
            <a:r>
              <a:rPr lang="fr-FR" sz="1200" spc="-40" dirty="0" smtClean="0">
                <a:solidFill>
                  <a:srgbClr val="585858"/>
                </a:solidFill>
                <a:latin typeface="+mn-lt"/>
                <a:cs typeface="Calibri"/>
              </a:rPr>
              <a:t> </a:t>
            </a:r>
            <a:r>
              <a:rPr lang="fr-FR" sz="1200" dirty="0" smtClean="0">
                <a:solidFill>
                  <a:srgbClr val="585858"/>
                </a:solidFill>
                <a:latin typeface="+mn-lt"/>
                <a:cs typeface="Calibri"/>
              </a:rPr>
              <a:t>pointe</a:t>
            </a:r>
            <a:r>
              <a:rPr lang="fr-FR" sz="1200" spc="-25" dirty="0" smtClean="0">
                <a:solidFill>
                  <a:srgbClr val="585858"/>
                </a:solidFill>
                <a:latin typeface="+mn-lt"/>
                <a:cs typeface="Calibri"/>
              </a:rPr>
              <a:t> </a:t>
            </a:r>
            <a:r>
              <a:rPr lang="fr-FR" sz="1200" dirty="0" smtClean="0">
                <a:solidFill>
                  <a:srgbClr val="585858"/>
                </a:solidFill>
                <a:latin typeface="+mn-lt"/>
                <a:cs typeface="Calibri"/>
              </a:rPr>
              <a:t>sur</a:t>
            </a:r>
            <a:r>
              <a:rPr lang="fr-FR" sz="1200" spc="-40" dirty="0" smtClean="0">
                <a:solidFill>
                  <a:srgbClr val="585858"/>
                </a:solidFill>
                <a:latin typeface="+mn-lt"/>
                <a:cs typeface="Calibri"/>
              </a:rPr>
              <a:t> </a:t>
            </a:r>
            <a:r>
              <a:rPr lang="fr-FR" sz="1200" spc="-10" dirty="0" smtClean="0">
                <a:solidFill>
                  <a:srgbClr val="585858"/>
                </a:solidFill>
                <a:latin typeface="+mn-lt"/>
                <a:cs typeface="Calibri"/>
              </a:rPr>
              <a:t>l’instruction</a:t>
            </a:r>
            <a:r>
              <a:rPr lang="fr-FR" sz="1200" spc="10" dirty="0" smtClean="0">
                <a:solidFill>
                  <a:srgbClr val="585858"/>
                </a:solidFill>
                <a:latin typeface="+mn-lt"/>
                <a:cs typeface="Calibri"/>
              </a:rPr>
              <a:t> </a:t>
            </a:r>
            <a:r>
              <a:rPr lang="fr-FR" sz="1200" dirty="0" smtClean="0">
                <a:solidFill>
                  <a:srgbClr val="585858"/>
                </a:solidFill>
                <a:latin typeface="+mn-lt"/>
                <a:cs typeface="Calibri"/>
              </a:rPr>
              <a:t>en</a:t>
            </a:r>
            <a:r>
              <a:rPr lang="fr-FR" sz="1200" spc="-55" dirty="0" smtClean="0">
                <a:solidFill>
                  <a:srgbClr val="585858"/>
                </a:solidFill>
                <a:latin typeface="+mn-lt"/>
                <a:cs typeface="Calibri"/>
              </a:rPr>
              <a:t> </a:t>
            </a:r>
            <a:r>
              <a:rPr lang="fr-FR" sz="1200" dirty="0" smtClean="0">
                <a:solidFill>
                  <a:srgbClr val="585858"/>
                </a:solidFill>
                <a:latin typeface="+mn-lt"/>
                <a:cs typeface="Calibri"/>
              </a:rPr>
              <a:t>cours)</a:t>
            </a:r>
            <a:r>
              <a:rPr lang="fr-FR" sz="1200" spc="-10" dirty="0" smtClean="0">
                <a:solidFill>
                  <a:srgbClr val="585858"/>
                </a:solidFill>
                <a:latin typeface="+mn-lt"/>
                <a:cs typeface="Calibri"/>
              </a:rPr>
              <a:t> </a:t>
            </a:r>
            <a:r>
              <a:rPr lang="fr-FR" sz="1200" spc="-50" dirty="0" smtClean="0">
                <a:solidFill>
                  <a:srgbClr val="585858"/>
                </a:solidFill>
                <a:latin typeface="+mn-lt"/>
                <a:cs typeface="Calibri"/>
              </a:rPr>
              <a:t>;</a:t>
            </a:r>
            <a:endParaRPr lang="fr-FR" sz="1200" dirty="0" smtClean="0">
              <a:latin typeface="+mn-lt"/>
              <a:cs typeface="Calibri"/>
            </a:endParaRPr>
          </a:p>
          <a:p>
            <a:pPr marL="356870">
              <a:lnSpc>
                <a:spcPct val="100000"/>
              </a:lnSpc>
              <a:spcBef>
                <a:spcPts val="1325"/>
              </a:spcBef>
            </a:pPr>
            <a:r>
              <a:rPr lang="fr-FR" sz="1200" spc="-10" dirty="0" smtClean="0">
                <a:solidFill>
                  <a:srgbClr val="585858"/>
                </a:solidFill>
                <a:latin typeface="+mn-lt"/>
                <a:cs typeface="Calibri"/>
              </a:rPr>
              <a:t>-</a:t>
            </a:r>
            <a:r>
              <a:rPr lang="fr-FR" sz="1200" dirty="0" smtClean="0">
                <a:solidFill>
                  <a:srgbClr val="585858"/>
                </a:solidFill>
                <a:latin typeface="+mn-lt"/>
                <a:cs typeface="Calibri"/>
              </a:rPr>
              <a:t>un</a:t>
            </a:r>
            <a:r>
              <a:rPr lang="fr-FR" sz="1200" spc="-25" dirty="0" smtClean="0">
                <a:solidFill>
                  <a:srgbClr val="585858"/>
                </a:solidFill>
                <a:latin typeface="+mn-lt"/>
                <a:cs typeface="Calibri"/>
              </a:rPr>
              <a:t> </a:t>
            </a:r>
            <a:r>
              <a:rPr lang="fr-FR" sz="1200" dirty="0" smtClean="0">
                <a:solidFill>
                  <a:srgbClr val="585858"/>
                </a:solidFill>
                <a:latin typeface="+mn-lt"/>
                <a:cs typeface="Calibri"/>
              </a:rPr>
              <a:t>ensemble</a:t>
            </a:r>
            <a:r>
              <a:rPr lang="fr-FR" sz="1200" spc="-15" dirty="0" smtClean="0">
                <a:solidFill>
                  <a:srgbClr val="585858"/>
                </a:solidFill>
                <a:latin typeface="+mn-lt"/>
                <a:cs typeface="Calibri"/>
              </a:rPr>
              <a:t> </a:t>
            </a:r>
            <a:r>
              <a:rPr lang="fr-FR" sz="1200" dirty="0" smtClean="0">
                <a:solidFill>
                  <a:srgbClr val="585858"/>
                </a:solidFill>
                <a:latin typeface="+mn-lt"/>
                <a:cs typeface="Calibri"/>
              </a:rPr>
              <a:t>de</a:t>
            </a:r>
            <a:r>
              <a:rPr lang="fr-FR" sz="1200" spc="-45" dirty="0" smtClean="0">
                <a:solidFill>
                  <a:srgbClr val="585858"/>
                </a:solidFill>
                <a:latin typeface="+mn-lt"/>
                <a:cs typeface="Calibri"/>
              </a:rPr>
              <a:t> </a:t>
            </a:r>
            <a:r>
              <a:rPr lang="fr-FR" sz="1200" spc="-10" dirty="0" smtClean="0">
                <a:solidFill>
                  <a:srgbClr val="585858"/>
                </a:solidFill>
                <a:latin typeface="+mn-lt"/>
                <a:cs typeface="Calibri"/>
              </a:rPr>
              <a:t>registres</a:t>
            </a:r>
            <a:r>
              <a:rPr lang="fr-FR" sz="1200" dirty="0" smtClean="0">
                <a:solidFill>
                  <a:srgbClr val="585858"/>
                </a:solidFill>
                <a:latin typeface="+mn-lt"/>
                <a:cs typeface="Calibri"/>
              </a:rPr>
              <a:t> (</a:t>
            </a:r>
            <a:r>
              <a:rPr lang="fr-FR" sz="1200" spc="-25" dirty="0" smtClean="0">
                <a:solidFill>
                  <a:srgbClr val="585858"/>
                </a:solidFill>
                <a:latin typeface="+mn-lt"/>
                <a:cs typeface="Calibri"/>
              </a:rPr>
              <a:t> </a:t>
            </a:r>
            <a:r>
              <a:rPr lang="fr-FR" sz="1200" dirty="0" smtClean="0">
                <a:solidFill>
                  <a:srgbClr val="585858"/>
                </a:solidFill>
                <a:latin typeface="+mn-lt"/>
                <a:cs typeface="Calibri"/>
              </a:rPr>
              <a:t>zones</a:t>
            </a:r>
            <a:r>
              <a:rPr lang="fr-FR" sz="1200" spc="-25" dirty="0" smtClean="0">
                <a:solidFill>
                  <a:srgbClr val="585858"/>
                </a:solidFill>
                <a:latin typeface="+mn-lt"/>
                <a:cs typeface="Calibri"/>
              </a:rPr>
              <a:t> </a:t>
            </a:r>
            <a:r>
              <a:rPr lang="fr-FR" sz="1200" dirty="0" smtClean="0">
                <a:solidFill>
                  <a:srgbClr val="585858"/>
                </a:solidFill>
                <a:latin typeface="+mn-lt"/>
                <a:cs typeface="Calibri"/>
              </a:rPr>
              <a:t>mémoire</a:t>
            </a:r>
            <a:r>
              <a:rPr lang="fr-FR" sz="1200" spc="5" dirty="0" smtClean="0">
                <a:solidFill>
                  <a:srgbClr val="585858"/>
                </a:solidFill>
                <a:latin typeface="+mn-lt"/>
                <a:cs typeface="Calibri"/>
              </a:rPr>
              <a:t> </a:t>
            </a:r>
            <a:r>
              <a:rPr lang="fr-FR" sz="1200" dirty="0" smtClean="0">
                <a:solidFill>
                  <a:srgbClr val="585858"/>
                </a:solidFill>
                <a:latin typeface="+mn-lt"/>
                <a:cs typeface="Calibri"/>
              </a:rPr>
              <a:t>à</a:t>
            </a:r>
            <a:r>
              <a:rPr lang="fr-FR" sz="1200" spc="-20" dirty="0" smtClean="0">
                <a:solidFill>
                  <a:srgbClr val="585858"/>
                </a:solidFill>
                <a:latin typeface="+mn-lt"/>
                <a:cs typeface="Calibri"/>
              </a:rPr>
              <a:t> </a:t>
            </a:r>
            <a:r>
              <a:rPr lang="fr-FR" sz="1200" dirty="0" smtClean="0">
                <a:solidFill>
                  <a:srgbClr val="585858"/>
                </a:solidFill>
                <a:latin typeface="+mn-lt"/>
                <a:cs typeface="Calibri"/>
              </a:rPr>
              <a:t>accès</a:t>
            </a:r>
            <a:r>
              <a:rPr lang="fr-FR" sz="1200" spc="-5" dirty="0" smtClean="0">
                <a:solidFill>
                  <a:srgbClr val="585858"/>
                </a:solidFill>
                <a:latin typeface="+mn-lt"/>
                <a:cs typeface="Calibri"/>
              </a:rPr>
              <a:t> </a:t>
            </a:r>
            <a:r>
              <a:rPr lang="fr-FR" sz="1200" dirty="0" smtClean="0">
                <a:solidFill>
                  <a:srgbClr val="585858"/>
                </a:solidFill>
                <a:latin typeface="+mn-lt"/>
                <a:cs typeface="Calibri"/>
              </a:rPr>
              <a:t>rapide</a:t>
            </a:r>
            <a:r>
              <a:rPr lang="fr-FR" sz="1200" spc="-15" dirty="0" smtClean="0">
                <a:solidFill>
                  <a:srgbClr val="585858"/>
                </a:solidFill>
                <a:latin typeface="+mn-lt"/>
                <a:cs typeface="Calibri"/>
              </a:rPr>
              <a:t> </a:t>
            </a:r>
            <a:r>
              <a:rPr lang="fr-FR" sz="1200" dirty="0" smtClean="0">
                <a:solidFill>
                  <a:srgbClr val="585858"/>
                </a:solidFill>
                <a:latin typeface="+mn-lt"/>
                <a:cs typeface="Calibri"/>
              </a:rPr>
              <a:t>situées</a:t>
            </a:r>
            <a:r>
              <a:rPr lang="fr-FR" sz="1200" spc="-25" dirty="0" smtClean="0">
                <a:solidFill>
                  <a:srgbClr val="585858"/>
                </a:solidFill>
                <a:latin typeface="+mn-lt"/>
                <a:cs typeface="Calibri"/>
              </a:rPr>
              <a:t> </a:t>
            </a:r>
            <a:r>
              <a:rPr lang="fr-FR" sz="1200" dirty="0" smtClean="0">
                <a:solidFill>
                  <a:srgbClr val="585858"/>
                </a:solidFill>
                <a:latin typeface="+mn-lt"/>
                <a:cs typeface="Calibri"/>
              </a:rPr>
              <a:t>au</a:t>
            </a:r>
            <a:r>
              <a:rPr lang="fr-FR" sz="1200" spc="-25" dirty="0" smtClean="0">
                <a:solidFill>
                  <a:srgbClr val="585858"/>
                </a:solidFill>
                <a:latin typeface="+mn-lt"/>
                <a:cs typeface="Calibri"/>
              </a:rPr>
              <a:t> </a:t>
            </a:r>
            <a:r>
              <a:rPr lang="fr-FR" sz="1200" dirty="0" smtClean="0">
                <a:solidFill>
                  <a:srgbClr val="585858"/>
                </a:solidFill>
                <a:latin typeface="+mn-lt"/>
                <a:cs typeface="Calibri"/>
              </a:rPr>
              <a:t>niveau</a:t>
            </a:r>
            <a:r>
              <a:rPr lang="fr-FR" sz="1200" spc="-60" dirty="0" smtClean="0">
                <a:solidFill>
                  <a:srgbClr val="585858"/>
                </a:solidFill>
                <a:latin typeface="+mn-lt"/>
                <a:cs typeface="Calibri"/>
              </a:rPr>
              <a:t> </a:t>
            </a:r>
            <a:r>
              <a:rPr lang="fr-FR" sz="1200" dirty="0" smtClean="0">
                <a:solidFill>
                  <a:srgbClr val="585858"/>
                </a:solidFill>
                <a:latin typeface="+mn-lt"/>
                <a:cs typeface="Calibri"/>
              </a:rPr>
              <a:t>du</a:t>
            </a:r>
            <a:r>
              <a:rPr lang="fr-FR" sz="1200" spc="-25" dirty="0" smtClean="0">
                <a:solidFill>
                  <a:srgbClr val="585858"/>
                </a:solidFill>
                <a:latin typeface="+mn-lt"/>
                <a:cs typeface="Calibri"/>
              </a:rPr>
              <a:t> </a:t>
            </a:r>
            <a:r>
              <a:rPr lang="fr-FR" sz="1200" spc="-10" dirty="0" smtClean="0">
                <a:solidFill>
                  <a:srgbClr val="585858"/>
                </a:solidFill>
                <a:latin typeface="+mn-lt"/>
                <a:cs typeface="Calibri"/>
              </a:rPr>
              <a:t>processeur).</a:t>
            </a:r>
            <a:endParaRPr lang="fr-FR" sz="1200" dirty="0" smtClean="0">
              <a:latin typeface="+mn-lt"/>
              <a:cs typeface="Calibri"/>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45</a:t>
            </a:fld>
            <a:endParaRPr lang="fr-FR"/>
          </a:p>
        </p:txBody>
      </p:sp>
    </p:spTree>
    <p:extLst>
      <p:ext uri="{BB962C8B-B14F-4D97-AF65-F5344CB8AC3E}">
        <p14:creationId xmlns:p14="http://schemas.microsoft.com/office/powerpoint/2010/main" val="38532325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solidFill>
                  <a:schemeClr val="tx1"/>
                </a:solidFill>
                <a:latin typeface="+mn-lt"/>
                <a:cs typeface="Calibri"/>
              </a:rPr>
              <a:t>l'ordonnanceur cherche à distribuer équitablement les ressources disponibles entre les différentes tâches ou processus, sans favoriser indûment certains d'entre eux</a:t>
            </a: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50</a:t>
            </a:fld>
            <a:endParaRPr lang="fr-FR"/>
          </a:p>
        </p:txBody>
      </p:sp>
    </p:spTree>
    <p:extLst>
      <p:ext uri="{BB962C8B-B14F-4D97-AF65-F5344CB8AC3E}">
        <p14:creationId xmlns:p14="http://schemas.microsoft.com/office/powerpoint/2010/main" val="303303513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53</a:t>
            </a:fld>
            <a:endParaRPr lang="fr-FR"/>
          </a:p>
        </p:txBody>
      </p:sp>
    </p:spTree>
    <p:extLst>
      <p:ext uri="{BB962C8B-B14F-4D97-AF65-F5344CB8AC3E}">
        <p14:creationId xmlns:p14="http://schemas.microsoft.com/office/powerpoint/2010/main" val="42750226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smtClean="0"/>
              <a:t>fork()</a:t>
            </a:r>
            <a:r>
              <a:rPr lang="fr-FR" sz="1200" b="0" i="0" kern="1200" dirty="0" smtClean="0">
                <a:solidFill>
                  <a:schemeClr val="tx1"/>
                </a:solidFill>
                <a:effectLst/>
                <a:latin typeface="+mn-lt"/>
                <a:ea typeface="+mn-ea"/>
                <a:cs typeface="+mn-cs"/>
              </a:rPr>
              <a:t> est utilisé pour créer un nouveau processus en dupliquant le processus appelant</a:t>
            </a:r>
          </a:p>
          <a:p>
            <a:r>
              <a:rPr lang="fr-FR" sz="1200" b="0" i="0" kern="1200" dirty="0" smtClean="0">
                <a:solidFill>
                  <a:schemeClr val="tx1"/>
                </a:solidFill>
                <a:effectLst/>
                <a:latin typeface="+mn-lt"/>
                <a:ea typeface="+mn-ea"/>
                <a:cs typeface="+mn-cs"/>
              </a:rPr>
              <a:t>tandis que </a:t>
            </a:r>
            <a:r>
              <a:rPr lang="fr-FR" dirty="0" err="1" smtClean="0"/>
              <a:t>exec</a:t>
            </a:r>
            <a:r>
              <a:rPr lang="fr-FR" dirty="0" smtClean="0"/>
              <a:t>()</a:t>
            </a:r>
            <a:r>
              <a:rPr lang="fr-FR" sz="1200" b="0" i="0" kern="1200" dirty="0" smtClean="0">
                <a:solidFill>
                  <a:schemeClr val="tx1"/>
                </a:solidFill>
                <a:effectLst/>
                <a:latin typeface="+mn-lt"/>
                <a:ea typeface="+mn-ea"/>
                <a:cs typeface="+mn-cs"/>
              </a:rPr>
              <a:t> est utilisé pour remplacer le code d'un processus par celui d'un nouveau programme.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kern="1200" dirty="0" smtClean="0">
                <a:solidFill>
                  <a:schemeClr val="tx1"/>
                </a:solidFill>
                <a:effectLst/>
                <a:latin typeface="+mn-lt"/>
                <a:ea typeface="+mn-ea"/>
                <a:cs typeface="+mn-cs"/>
              </a:rPr>
              <a:t>Lorsqu'un processus appelle une fonction </a:t>
            </a:r>
            <a:r>
              <a:rPr lang="fr-FR" sz="1200" b="0" i="0" kern="1200" dirty="0" err="1" smtClean="0">
                <a:solidFill>
                  <a:schemeClr val="tx1"/>
                </a:solidFill>
                <a:effectLst/>
                <a:latin typeface="+mn-lt"/>
                <a:ea typeface="+mn-ea"/>
                <a:cs typeface="+mn-cs"/>
              </a:rPr>
              <a:t>exec</a:t>
            </a:r>
            <a:r>
              <a:rPr lang="fr-FR" sz="1200" b="0" i="0" kern="1200" dirty="0" smtClean="0">
                <a:solidFill>
                  <a:schemeClr val="tx1"/>
                </a:solidFill>
                <a:effectLst/>
                <a:latin typeface="+mn-lt"/>
                <a:ea typeface="+mn-ea"/>
                <a:cs typeface="+mn-cs"/>
              </a:rPr>
              <a:t>(), il cesse d'exécuter le code du programme d'origine et commence à exécuter le code du nouveau programme spécifié.</a:t>
            </a: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58</a:t>
            </a:fld>
            <a:endParaRPr lang="fr-FR"/>
          </a:p>
        </p:txBody>
      </p:sp>
    </p:spTree>
    <p:extLst>
      <p:ext uri="{BB962C8B-B14F-4D97-AF65-F5344CB8AC3E}">
        <p14:creationId xmlns:p14="http://schemas.microsoft.com/office/powerpoint/2010/main" val="36022559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59</a:t>
            </a:fld>
            <a:endParaRPr lang="fr-FR"/>
          </a:p>
        </p:txBody>
      </p:sp>
    </p:spTree>
    <p:extLst>
      <p:ext uri="{BB962C8B-B14F-4D97-AF65-F5344CB8AC3E}">
        <p14:creationId xmlns:p14="http://schemas.microsoft.com/office/powerpoint/2010/main" val="41254449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smtClean="0">
                <a:solidFill>
                  <a:schemeClr val="tx1"/>
                </a:solidFill>
                <a:effectLst/>
                <a:latin typeface="+mn-lt"/>
                <a:ea typeface="+mn-ea"/>
                <a:cs typeface="+mn-cs"/>
              </a:rPr>
              <a:t>La communication interprocessus peut se faire de différentes manières, en fonction des besoins spécifiques de l'application et des caractéristiques du système d'exploitation utilisé.</a:t>
            </a:r>
          </a:p>
          <a:p>
            <a:r>
              <a:rPr lang="fr-FR" sz="1200" b="0" i="0" kern="1200" dirty="0" smtClean="0">
                <a:solidFill>
                  <a:schemeClr val="tx1"/>
                </a:solidFill>
                <a:effectLst/>
                <a:latin typeface="+mn-lt"/>
                <a:ea typeface="+mn-ea"/>
                <a:cs typeface="+mn-cs"/>
              </a:rPr>
              <a:t>Un pipe est un canal de communication unidirectionnel qui relie la sortie standard  d'un processus émetteur à l'entrée standard d'un processus récepteur.</a:t>
            </a:r>
          </a:p>
          <a:p>
            <a:r>
              <a:rPr lang="fr-FR" sz="1200" b="1" i="0" kern="1200" dirty="0" smtClean="0">
                <a:solidFill>
                  <a:schemeClr val="tx1"/>
                </a:solidFill>
                <a:effectLst/>
                <a:latin typeface="+mn-lt"/>
                <a:ea typeface="+mn-ea"/>
                <a:cs typeface="+mn-cs"/>
              </a:rPr>
              <a:t>Pipes :</a:t>
            </a:r>
            <a:r>
              <a:rPr lang="fr-FR" sz="1200" b="0" i="0" kern="1200" dirty="0" smtClean="0">
                <a:solidFill>
                  <a:schemeClr val="tx1"/>
                </a:solidFill>
                <a:effectLst/>
                <a:latin typeface="+mn-lt"/>
                <a:ea typeface="+mn-ea"/>
                <a:cs typeface="+mn-cs"/>
              </a:rPr>
              <a:t> Les pipes sont des canaux de communication unidirectionnels qui relient la sortie standard d'un processus à l'entrée standard d'un autre processus</a:t>
            </a:r>
          </a:p>
          <a:p>
            <a:r>
              <a:rPr lang="fr-FR" sz="1200" b="1" i="0" kern="1200" dirty="0" smtClean="0">
                <a:solidFill>
                  <a:schemeClr val="tx1"/>
                </a:solidFill>
                <a:effectLst/>
                <a:latin typeface="+mn-lt"/>
                <a:ea typeface="+mn-ea"/>
                <a:cs typeface="+mn-cs"/>
              </a:rPr>
              <a:t>Sockets :</a:t>
            </a:r>
            <a:r>
              <a:rPr lang="fr-FR" sz="1200" b="0" i="0" kern="1200" dirty="0" smtClean="0">
                <a:solidFill>
                  <a:schemeClr val="tx1"/>
                </a:solidFill>
                <a:effectLst/>
                <a:latin typeface="+mn-lt"/>
                <a:ea typeface="+mn-ea"/>
                <a:cs typeface="+mn-cs"/>
              </a:rPr>
              <a:t> Les sockets permettent la communication entre des processus s'exécutant sur des machines différentes, ainsi que sur la même machine. Ils sont couramment utilisés pour la communication réseau</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i="0" kern="1200" dirty="0" smtClean="0">
                <a:solidFill>
                  <a:schemeClr val="tx1"/>
                </a:solidFill>
                <a:effectLst/>
                <a:latin typeface="+mn-lt"/>
                <a:ea typeface="+mn-ea"/>
                <a:cs typeface="+mn-cs"/>
              </a:rPr>
              <a:t>Signaux :</a:t>
            </a:r>
            <a:r>
              <a:rPr lang="fr-FR" sz="1200" b="0" i="0" kern="1200" dirty="0" smtClean="0">
                <a:solidFill>
                  <a:schemeClr val="tx1"/>
                </a:solidFill>
                <a:effectLst/>
                <a:latin typeface="+mn-lt"/>
                <a:ea typeface="+mn-ea"/>
                <a:cs typeface="+mn-cs"/>
              </a:rPr>
              <a:t> Les signaux sont des notifications asynchrones envoyées à un processus pour indiquer un événement ou une condition particulière. Ils peuvent être utilisés pour la communication entre processus en envoyant des signaux d'un processus à un autre.</a:t>
            </a: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60</a:t>
            </a:fld>
            <a:endParaRPr lang="fr-FR"/>
          </a:p>
        </p:txBody>
      </p:sp>
    </p:spTree>
    <p:extLst>
      <p:ext uri="{BB962C8B-B14F-4D97-AF65-F5344CB8AC3E}">
        <p14:creationId xmlns:p14="http://schemas.microsoft.com/office/powerpoint/2010/main" val="150891626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61</a:t>
            </a:fld>
            <a:endParaRPr lang="fr-FR"/>
          </a:p>
        </p:txBody>
      </p:sp>
    </p:spTree>
    <p:extLst>
      <p:ext uri="{BB962C8B-B14F-4D97-AF65-F5344CB8AC3E}">
        <p14:creationId xmlns:p14="http://schemas.microsoft.com/office/powerpoint/2010/main" val="177359852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62</a:t>
            </a:fld>
            <a:endParaRPr lang="fr-FR"/>
          </a:p>
        </p:txBody>
      </p:sp>
    </p:spTree>
    <p:extLst>
      <p:ext uri="{BB962C8B-B14F-4D97-AF65-F5344CB8AC3E}">
        <p14:creationId xmlns:p14="http://schemas.microsoft.com/office/powerpoint/2010/main" val="294512000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smtClean="0"/>
              <a:t>Résultat</a:t>
            </a:r>
            <a:r>
              <a:rPr lang="fr-FR" baseline="0" dirty="0" smtClean="0"/>
              <a:t> du programme</a:t>
            </a:r>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63</a:t>
            </a:fld>
            <a:endParaRPr lang="fr-FR"/>
          </a:p>
        </p:txBody>
      </p:sp>
    </p:spTree>
    <p:extLst>
      <p:ext uri="{BB962C8B-B14F-4D97-AF65-F5344CB8AC3E}">
        <p14:creationId xmlns:p14="http://schemas.microsoft.com/office/powerpoint/2010/main" val="222907683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dirty="0" smtClean="0">
                <a:solidFill>
                  <a:srgbClr val="585858"/>
                </a:solidFill>
                <a:latin typeface="+mn-lt"/>
                <a:cs typeface="Calibri"/>
              </a:rPr>
              <a:t>Linux</a:t>
            </a:r>
            <a:r>
              <a:rPr lang="fr-FR" sz="1200" spc="-35" dirty="0" smtClean="0">
                <a:solidFill>
                  <a:srgbClr val="585858"/>
                </a:solidFill>
                <a:latin typeface="+mn-lt"/>
                <a:cs typeface="Calibri"/>
              </a:rPr>
              <a:t> </a:t>
            </a:r>
            <a:r>
              <a:rPr lang="fr-FR" sz="1200" dirty="0" smtClean="0">
                <a:solidFill>
                  <a:srgbClr val="585858"/>
                </a:solidFill>
                <a:latin typeface="+mn-lt"/>
                <a:cs typeface="Calibri"/>
              </a:rPr>
              <a:t>nous</a:t>
            </a:r>
            <a:r>
              <a:rPr lang="fr-FR" sz="1200" spc="-15" dirty="0" smtClean="0">
                <a:solidFill>
                  <a:srgbClr val="585858"/>
                </a:solidFill>
                <a:latin typeface="+mn-lt"/>
                <a:cs typeface="Calibri"/>
              </a:rPr>
              <a:t> </a:t>
            </a:r>
            <a:r>
              <a:rPr lang="fr-FR" sz="1200" dirty="0" smtClean="0">
                <a:solidFill>
                  <a:srgbClr val="585858"/>
                </a:solidFill>
                <a:latin typeface="+mn-lt"/>
                <a:cs typeface="Calibri"/>
              </a:rPr>
              <a:t>permet</a:t>
            </a:r>
            <a:r>
              <a:rPr lang="fr-FR" sz="1200" spc="-55" dirty="0" smtClean="0">
                <a:solidFill>
                  <a:srgbClr val="585858"/>
                </a:solidFill>
                <a:latin typeface="+mn-lt"/>
                <a:cs typeface="Calibri"/>
              </a:rPr>
              <a:t> </a:t>
            </a:r>
            <a:r>
              <a:rPr lang="fr-FR" sz="1200" spc="-10" dirty="0" smtClean="0">
                <a:solidFill>
                  <a:srgbClr val="585858"/>
                </a:solidFill>
                <a:latin typeface="+mn-lt"/>
                <a:cs typeface="Calibri"/>
              </a:rPr>
              <a:t>également</a:t>
            </a:r>
            <a:r>
              <a:rPr lang="fr-FR" sz="1200" spc="-40" dirty="0" smtClean="0">
                <a:solidFill>
                  <a:srgbClr val="585858"/>
                </a:solidFill>
                <a:latin typeface="+mn-lt"/>
                <a:cs typeface="Calibri"/>
              </a:rPr>
              <a:t> </a:t>
            </a:r>
            <a:r>
              <a:rPr lang="fr-FR" sz="1200" dirty="0" smtClean="0">
                <a:solidFill>
                  <a:srgbClr val="585858"/>
                </a:solidFill>
                <a:latin typeface="+mn-lt"/>
                <a:cs typeface="Calibri"/>
              </a:rPr>
              <a:t>la</a:t>
            </a:r>
            <a:r>
              <a:rPr lang="fr-FR" sz="1200" spc="-45" dirty="0" smtClean="0">
                <a:solidFill>
                  <a:srgbClr val="585858"/>
                </a:solidFill>
                <a:latin typeface="+mn-lt"/>
                <a:cs typeface="Calibri"/>
              </a:rPr>
              <a:t> </a:t>
            </a:r>
            <a:r>
              <a:rPr lang="fr-FR" sz="1200" dirty="0" smtClean="0">
                <a:solidFill>
                  <a:srgbClr val="585858"/>
                </a:solidFill>
                <a:latin typeface="+mn-lt"/>
                <a:cs typeface="Calibri"/>
              </a:rPr>
              <a:t>gestion</a:t>
            </a:r>
            <a:r>
              <a:rPr lang="fr-FR" sz="1200" spc="-30" dirty="0" smtClean="0">
                <a:solidFill>
                  <a:srgbClr val="585858"/>
                </a:solidFill>
                <a:latin typeface="+mn-lt"/>
                <a:cs typeface="Calibri"/>
              </a:rPr>
              <a:t> </a:t>
            </a:r>
            <a:r>
              <a:rPr lang="fr-FR" sz="1200" dirty="0" smtClean="0">
                <a:solidFill>
                  <a:srgbClr val="585858"/>
                </a:solidFill>
                <a:latin typeface="+mn-lt"/>
                <a:cs typeface="Calibri"/>
              </a:rPr>
              <a:t>des</a:t>
            </a:r>
            <a:r>
              <a:rPr lang="fr-FR" sz="1200" spc="-35" dirty="0" smtClean="0">
                <a:solidFill>
                  <a:srgbClr val="585858"/>
                </a:solidFill>
                <a:latin typeface="+mn-lt"/>
                <a:cs typeface="Calibri"/>
              </a:rPr>
              <a:t> </a:t>
            </a:r>
            <a:r>
              <a:rPr lang="fr-FR" sz="1200" dirty="0" smtClean="0">
                <a:solidFill>
                  <a:srgbClr val="585858"/>
                </a:solidFill>
                <a:latin typeface="+mn-lt"/>
                <a:cs typeface="Calibri"/>
              </a:rPr>
              <a:t>signaux,</a:t>
            </a:r>
            <a:r>
              <a:rPr lang="fr-FR" sz="1200" spc="-30" dirty="0" smtClean="0">
                <a:solidFill>
                  <a:srgbClr val="585858"/>
                </a:solidFill>
                <a:latin typeface="+mn-lt"/>
                <a:cs typeface="Calibri"/>
              </a:rPr>
              <a:t> </a:t>
            </a:r>
            <a:r>
              <a:rPr lang="fr-FR" sz="1200" dirty="0" smtClean="0">
                <a:solidFill>
                  <a:srgbClr val="585858"/>
                </a:solidFill>
                <a:latin typeface="+mn-lt"/>
                <a:cs typeface="Calibri"/>
              </a:rPr>
              <a:t>qui</a:t>
            </a:r>
            <a:r>
              <a:rPr lang="fr-FR" sz="1200" spc="-40" dirty="0" smtClean="0">
                <a:solidFill>
                  <a:srgbClr val="585858"/>
                </a:solidFill>
                <a:latin typeface="+mn-lt"/>
                <a:cs typeface="Calibri"/>
              </a:rPr>
              <a:t> </a:t>
            </a:r>
            <a:r>
              <a:rPr lang="fr-FR" sz="1200" dirty="0" smtClean="0">
                <a:solidFill>
                  <a:srgbClr val="585858"/>
                </a:solidFill>
                <a:latin typeface="+mn-lt"/>
                <a:cs typeface="Calibri"/>
              </a:rPr>
              <a:t>sont</a:t>
            </a:r>
            <a:r>
              <a:rPr lang="fr-FR" sz="1200" spc="-40" dirty="0" smtClean="0">
                <a:solidFill>
                  <a:srgbClr val="585858"/>
                </a:solidFill>
                <a:latin typeface="+mn-lt"/>
                <a:cs typeface="Calibri"/>
              </a:rPr>
              <a:t> </a:t>
            </a:r>
            <a:r>
              <a:rPr lang="fr-FR" sz="1200" dirty="0" smtClean="0">
                <a:solidFill>
                  <a:srgbClr val="585858"/>
                </a:solidFill>
                <a:latin typeface="+mn-lt"/>
                <a:cs typeface="Calibri"/>
              </a:rPr>
              <a:t>des</a:t>
            </a:r>
            <a:r>
              <a:rPr lang="fr-FR" sz="1200" spc="-35" dirty="0" smtClean="0">
                <a:solidFill>
                  <a:srgbClr val="585858"/>
                </a:solidFill>
                <a:latin typeface="+mn-lt"/>
                <a:cs typeface="Calibri"/>
              </a:rPr>
              <a:t> </a:t>
            </a:r>
            <a:r>
              <a:rPr lang="fr-FR" sz="1200" dirty="0" smtClean="0">
                <a:solidFill>
                  <a:srgbClr val="585858"/>
                </a:solidFill>
                <a:latin typeface="+mn-lt"/>
                <a:cs typeface="Calibri"/>
              </a:rPr>
              <a:t>moyens</a:t>
            </a:r>
            <a:r>
              <a:rPr lang="fr-FR" sz="1200" spc="-10" dirty="0" smtClean="0">
                <a:solidFill>
                  <a:srgbClr val="585858"/>
                </a:solidFill>
                <a:latin typeface="+mn-lt"/>
                <a:cs typeface="Calibri"/>
              </a:rPr>
              <a:t> </a:t>
            </a:r>
            <a:r>
              <a:rPr lang="fr-FR" sz="1200" dirty="0" smtClean="0">
                <a:solidFill>
                  <a:srgbClr val="585858"/>
                </a:solidFill>
                <a:latin typeface="+mn-lt"/>
                <a:cs typeface="Calibri"/>
              </a:rPr>
              <a:t>utilisés</a:t>
            </a:r>
            <a:r>
              <a:rPr lang="fr-FR" sz="1200" spc="-15" dirty="0" smtClean="0">
                <a:solidFill>
                  <a:srgbClr val="585858"/>
                </a:solidFill>
                <a:latin typeface="+mn-lt"/>
                <a:cs typeface="Calibri"/>
              </a:rPr>
              <a:t> </a:t>
            </a:r>
            <a:r>
              <a:rPr lang="fr-FR" sz="1200" dirty="0" smtClean="0">
                <a:solidFill>
                  <a:srgbClr val="585858"/>
                </a:solidFill>
                <a:latin typeface="+mn-lt"/>
                <a:cs typeface="Calibri"/>
              </a:rPr>
              <a:t>pour</a:t>
            </a:r>
            <a:r>
              <a:rPr lang="fr-FR" sz="1200" spc="-35" dirty="0" smtClean="0">
                <a:solidFill>
                  <a:srgbClr val="585858"/>
                </a:solidFill>
                <a:latin typeface="+mn-lt"/>
                <a:cs typeface="Calibri"/>
              </a:rPr>
              <a:t> </a:t>
            </a:r>
            <a:r>
              <a:rPr lang="fr-FR" sz="1200" dirty="0" smtClean="0">
                <a:solidFill>
                  <a:srgbClr val="585858"/>
                </a:solidFill>
                <a:latin typeface="+mn-lt"/>
                <a:cs typeface="Calibri"/>
              </a:rPr>
              <a:t>communiquer</a:t>
            </a:r>
            <a:r>
              <a:rPr lang="fr-FR" sz="1200" spc="-15" dirty="0" smtClean="0">
                <a:solidFill>
                  <a:srgbClr val="585858"/>
                </a:solidFill>
                <a:latin typeface="+mn-lt"/>
                <a:cs typeface="Calibri"/>
              </a:rPr>
              <a:t> </a:t>
            </a:r>
            <a:r>
              <a:rPr lang="fr-FR" sz="1200" dirty="0" smtClean="0">
                <a:solidFill>
                  <a:srgbClr val="585858"/>
                </a:solidFill>
                <a:latin typeface="+mn-lt"/>
                <a:cs typeface="Calibri"/>
              </a:rPr>
              <a:t>avec</a:t>
            </a:r>
            <a:r>
              <a:rPr lang="fr-FR" sz="1200" spc="-45" dirty="0" smtClean="0">
                <a:solidFill>
                  <a:srgbClr val="585858"/>
                </a:solidFill>
                <a:latin typeface="+mn-lt"/>
                <a:cs typeface="Calibri"/>
              </a:rPr>
              <a:t> </a:t>
            </a:r>
            <a:r>
              <a:rPr lang="fr-FR" sz="1200" dirty="0" smtClean="0">
                <a:solidFill>
                  <a:srgbClr val="585858"/>
                </a:solidFill>
                <a:latin typeface="+mn-lt"/>
                <a:cs typeface="Calibri"/>
              </a:rPr>
              <a:t>les</a:t>
            </a:r>
            <a:r>
              <a:rPr lang="fr-FR" sz="1200" spc="-35" dirty="0" smtClean="0">
                <a:solidFill>
                  <a:srgbClr val="585858"/>
                </a:solidFill>
                <a:latin typeface="+mn-lt"/>
                <a:cs typeface="Calibri"/>
              </a:rPr>
              <a:t> </a:t>
            </a:r>
            <a:r>
              <a:rPr lang="fr-FR" sz="1200" dirty="0" smtClean="0">
                <a:solidFill>
                  <a:srgbClr val="585858"/>
                </a:solidFill>
                <a:latin typeface="+mn-lt"/>
                <a:cs typeface="Calibri"/>
              </a:rPr>
              <a:t>processus</a:t>
            </a:r>
            <a:r>
              <a:rPr lang="fr-FR" sz="1200" spc="235" dirty="0" smtClean="0">
                <a:solidFill>
                  <a:srgbClr val="585858"/>
                </a:solidFill>
                <a:latin typeface="+mn-lt"/>
                <a:cs typeface="Calibri"/>
              </a:rPr>
              <a:t> </a:t>
            </a:r>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64</a:t>
            </a:fld>
            <a:endParaRPr lang="fr-FR"/>
          </a:p>
        </p:txBody>
      </p:sp>
    </p:spTree>
    <p:extLst>
      <p:ext uri="{BB962C8B-B14F-4D97-AF65-F5344CB8AC3E}">
        <p14:creationId xmlns:p14="http://schemas.microsoft.com/office/powerpoint/2010/main" val="377326380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65</a:t>
            </a:fld>
            <a:endParaRPr lang="fr-FR"/>
          </a:p>
        </p:txBody>
      </p:sp>
    </p:spTree>
    <p:extLst>
      <p:ext uri="{BB962C8B-B14F-4D97-AF65-F5344CB8AC3E}">
        <p14:creationId xmlns:p14="http://schemas.microsoft.com/office/powerpoint/2010/main" val="228570393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66</a:t>
            </a:fld>
            <a:endParaRPr lang="fr-FR"/>
          </a:p>
        </p:txBody>
      </p:sp>
    </p:spTree>
    <p:extLst>
      <p:ext uri="{BB962C8B-B14F-4D97-AF65-F5344CB8AC3E}">
        <p14:creationId xmlns:p14="http://schemas.microsoft.com/office/powerpoint/2010/main" val="93441828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1" i="0" kern="1200" dirty="0" smtClean="0">
                <a:solidFill>
                  <a:schemeClr val="tx1"/>
                </a:solidFill>
                <a:effectLst/>
                <a:latin typeface="+mn-lt"/>
                <a:ea typeface="+mn-ea"/>
                <a:cs typeface="+mn-cs"/>
              </a:rPr>
              <a:t>Variable de verrouillage</a:t>
            </a:r>
            <a:r>
              <a:rPr lang="fr-FR" sz="1200" b="0" i="0" kern="1200" dirty="0" smtClean="0">
                <a:solidFill>
                  <a:schemeClr val="tx1"/>
                </a:solidFill>
                <a:effectLst/>
                <a:latin typeface="+mn-lt"/>
                <a:ea typeface="+mn-ea"/>
                <a:cs typeface="+mn-cs"/>
              </a:rPr>
              <a:t> : En programmation </a:t>
            </a:r>
            <a:r>
              <a:rPr lang="fr-FR" sz="1200" b="0" i="0" kern="1200" dirty="0" err="1" smtClean="0">
                <a:solidFill>
                  <a:schemeClr val="tx1"/>
                </a:solidFill>
                <a:effectLst/>
                <a:latin typeface="+mn-lt"/>
                <a:ea typeface="+mn-ea"/>
                <a:cs typeface="+mn-cs"/>
              </a:rPr>
              <a:t>multi-threading</a:t>
            </a:r>
            <a:r>
              <a:rPr lang="fr-FR" sz="1200" b="0" i="0" kern="1200" dirty="0" smtClean="0">
                <a:solidFill>
                  <a:schemeClr val="tx1"/>
                </a:solidFill>
                <a:effectLst/>
                <a:latin typeface="+mn-lt"/>
                <a:ea typeface="+mn-ea"/>
                <a:cs typeface="+mn-cs"/>
              </a:rPr>
              <a:t>, une variable de verrouillage (lock variable en anglais) </a:t>
            </a:r>
            <a:r>
              <a:rPr lang="fr-FR" sz="1200" b="1" i="0" kern="1200" dirty="0" smtClean="0">
                <a:solidFill>
                  <a:schemeClr val="tx1"/>
                </a:solidFill>
                <a:effectLst/>
                <a:latin typeface="+mn-lt"/>
                <a:ea typeface="+mn-ea"/>
                <a:cs typeface="+mn-cs"/>
              </a:rPr>
              <a:t>est utilisée pour synchroniser l'accès à une ressource partagée entre plusieurs threads</a:t>
            </a:r>
            <a:r>
              <a:rPr lang="fr-FR" sz="1200" b="0" i="0" kern="1200" dirty="0" smtClean="0">
                <a:solidFill>
                  <a:schemeClr val="tx1"/>
                </a:solidFill>
                <a:effectLst/>
                <a:latin typeface="+mn-lt"/>
                <a:ea typeface="+mn-ea"/>
                <a:cs typeface="+mn-cs"/>
              </a:rPr>
              <a:t>. Lorsqu'un thread souhaite accéder à la ressource, il acquiert le verrou sur la variable de verrouillage. Les autres threads qui tentent d'accéder à la même ressource doivent attendre que le verrou soit libéré par le premier thread avant de pouvoir accéder à la ressource.</a:t>
            </a:r>
          </a:p>
          <a:p>
            <a:r>
              <a:rPr lang="fr-FR" sz="1200" b="1" i="0" kern="1200" dirty="0" smtClean="0">
                <a:solidFill>
                  <a:schemeClr val="tx1"/>
                </a:solidFill>
                <a:effectLst/>
                <a:latin typeface="+mn-lt"/>
                <a:ea typeface="+mn-ea"/>
                <a:cs typeface="+mn-cs"/>
              </a:rPr>
              <a:t>L'alternance</a:t>
            </a:r>
            <a:r>
              <a:rPr lang="fr-FR" sz="1200" b="0" i="0" kern="1200" dirty="0" smtClean="0">
                <a:solidFill>
                  <a:schemeClr val="tx1"/>
                </a:solidFill>
                <a:effectLst/>
                <a:latin typeface="+mn-lt"/>
                <a:ea typeface="+mn-ea"/>
                <a:cs typeface="+mn-cs"/>
              </a:rPr>
              <a:t> : L'alternance est un phénomène qui peut se produire dans la programmation </a:t>
            </a:r>
            <a:r>
              <a:rPr lang="fr-FR" sz="1200" b="0" i="0" kern="1200" dirty="0" err="1" smtClean="0">
                <a:solidFill>
                  <a:schemeClr val="tx1"/>
                </a:solidFill>
                <a:effectLst/>
                <a:latin typeface="+mn-lt"/>
                <a:ea typeface="+mn-ea"/>
                <a:cs typeface="+mn-cs"/>
              </a:rPr>
              <a:t>multi-threading</a:t>
            </a:r>
            <a:r>
              <a:rPr lang="fr-FR" sz="1200" b="1" i="0" kern="1200" dirty="0" smtClean="0">
                <a:solidFill>
                  <a:schemeClr val="tx1"/>
                </a:solidFill>
                <a:effectLst/>
                <a:latin typeface="+mn-lt"/>
                <a:ea typeface="+mn-ea"/>
                <a:cs typeface="+mn-cs"/>
              </a:rPr>
              <a:t> lorsque plusieurs threads tentent d'accéder à une ressource partagée en utilisant une méthode d'accès non synchronisée</a:t>
            </a:r>
            <a:r>
              <a:rPr lang="fr-FR" sz="1200" b="0" i="0" kern="1200" dirty="0" smtClean="0">
                <a:solidFill>
                  <a:schemeClr val="tx1"/>
                </a:solidFill>
                <a:effectLst/>
                <a:latin typeface="+mn-lt"/>
                <a:ea typeface="+mn-ea"/>
                <a:cs typeface="+mn-cs"/>
              </a:rPr>
              <a:t>. Dans ce cas, les threads peuvent s'exécuter de manière séquentielle en alternance, ce qui peut entraîner des problèmes de cohérence des données ou des performances.</a:t>
            </a:r>
          </a:p>
          <a:p>
            <a:r>
              <a:rPr lang="fr-FR" sz="1200" b="1" i="0" kern="1200" dirty="0" smtClean="0">
                <a:solidFill>
                  <a:schemeClr val="tx1"/>
                </a:solidFill>
                <a:effectLst/>
                <a:latin typeface="+mn-lt"/>
                <a:ea typeface="+mn-ea"/>
                <a:cs typeface="+mn-cs"/>
              </a:rPr>
              <a:t>Sémaphore</a:t>
            </a:r>
            <a:r>
              <a:rPr lang="fr-FR" sz="1200" b="0" i="0" kern="1200" dirty="0" smtClean="0">
                <a:solidFill>
                  <a:schemeClr val="tx1"/>
                </a:solidFill>
                <a:effectLst/>
                <a:latin typeface="+mn-lt"/>
                <a:ea typeface="+mn-ea"/>
                <a:cs typeface="+mn-cs"/>
              </a:rPr>
              <a:t> : Un sémaphore est un mécanisme de synchronisation utilisé pour contrôler l'accès concurrent à une ressource partagée. Il maintient un compteur et deux opérations principales : P (acquisition) et V (libération). Lorsqu'un thread souhaite accéder à la ressource, il effectue une opération P sur le sémaphore. Si le compteur est supérieur à zéro, le thread peut accéder à la ressource et le compteur est décrémenté. Sinon, le thread est mis en attente. Lorsqu'un thread a terminé d'utiliser la ressource, il effectue une opération V sur le sémaphore pour libérer la ressource et incrémenter le compteur, ce qui permet à d'autres threads en attente d'accéder à la ressource.</a:t>
            </a:r>
          </a:p>
          <a:p>
            <a:r>
              <a:rPr lang="fr-FR" sz="1200" b="0" i="0" kern="1200" dirty="0" smtClean="0">
                <a:solidFill>
                  <a:schemeClr val="tx1"/>
                </a:solidFill>
                <a:effectLst/>
                <a:latin typeface="+mn-lt"/>
                <a:ea typeface="+mn-ea"/>
                <a:cs typeface="+mn-cs"/>
              </a:rPr>
              <a:t>Ces mécanismes sont utilisés pour garantir que les opérations concurrentes sur des ressources partagées se déroulent de manière coordonnée et sans conflit dans les programmes </a:t>
            </a:r>
            <a:r>
              <a:rPr lang="fr-FR" sz="1200" b="0" i="0" kern="1200" dirty="0" err="1" smtClean="0">
                <a:solidFill>
                  <a:schemeClr val="tx1"/>
                </a:solidFill>
                <a:effectLst/>
                <a:latin typeface="+mn-lt"/>
                <a:ea typeface="+mn-ea"/>
                <a:cs typeface="+mn-cs"/>
              </a:rPr>
              <a:t>multi-threading</a:t>
            </a:r>
            <a:r>
              <a:rPr lang="fr-FR" sz="1200" b="0" i="0" kern="1200" dirty="0" smtClean="0">
                <a:solidFill>
                  <a:schemeClr val="tx1"/>
                </a:solidFill>
                <a:effectLst/>
                <a:latin typeface="+mn-lt"/>
                <a:ea typeface="+mn-ea"/>
                <a:cs typeface="+mn-cs"/>
              </a:rPr>
              <a:t>.</a:t>
            </a: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67</a:t>
            </a:fld>
            <a:endParaRPr lang="fr-FR"/>
          </a:p>
        </p:txBody>
      </p:sp>
    </p:spTree>
    <p:extLst>
      <p:ext uri="{BB962C8B-B14F-4D97-AF65-F5344CB8AC3E}">
        <p14:creationId xmlns:p14="http://schemas.microsoft.com/office/powerpoint/2010/main" val="208434477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68</a:t>
            </a:fld>
            <a:endParaRPr lang="fr-FR"/>
          </a:p>
        </p:txBody>
      </p:sp>
    </p:spTree>
    <p:extLst>
      <p:ext uri="{BB962C8B-B14F-4D97-AF65-F5344CB8AC3E}">
        <p14:creationId xmlns:p14="http://schemas.microsoft.com/office/powerpoint/2010/main" val="354088994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69</a:t>
            </a:fld>
            <a:endParaRPr lang="fr-FR"/>
          </a:p>
        </p:txBody>
      </p:sp>
    </p:spTree>
    <p:extLst>
      <p:ext uri="{BB962C8B-B14F-4D97-AF65-F5344CB8AC3E}">
        <p14:creationId xmlns:p14="http://schemas.microsoft.com/office/powerpoint/2010/main" val="50348927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smtClean="0">
                <a:solidFill>
                  <a:schemeClr val="tx1"/>
                </a:solidFill>
                <a:effectLst/>
                <a:latin typeface="+mn-lt"/>
                <a:ea typeface="+mn-ea"/>
                <a:cs typeface="+mn-cs"/>
              </a:rPr>
              <a:t>les </a:t>
            </a:r>
            <a:r>
              <a:rPr lang="fr-FR" sz="1200" b="0" i="0" kern="1200" dirty="0" err="1" smtClean="0">
                <a:solidFill>
                  <a:schemeClr val="tx1"/>
                </a:solidFill>
                <a:effectLst/>
                <a:latin typeface="+mn-lt"/>
                <a:ea typeface="+mn-ea"/>
                <a:cs typeface="+mn-cs"/>
              </a:rPr>
              <a:t>Mutex</a:t>
            </a:r>
            <a:r>
              <a:rPr lang="fr-FR" sz="1200" b="0" i="0" kern="1200" dirty="0" smtClean="0">
                <a:solidFill>
                  <a:schemeClr val="tx1"/>
                </a:solidFill>
                <a:effectLst/>
                <a:latin typeface="+mn-lt"/>
                <a:ea typeface="+mn-ea"/>
                <a:cs typeface="+mn-cs"/>
              </a:rPr>
              <a:t> garantissent l'accès exclusif à une ressource unique, tandis que les sémaphores de comptage permettent de limiter le nombre de threads pouvant accéder à une ressource simultanément, en maintenant un compteur qui représente le nombre de ressources disponibles</a:t>
            </a:r>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70</a:t>
            </a:fld>
            <a:endParaRPr lang="fr-FR"/>
          </a:p>
        </p:txBody>
      </p:sp>
    </p:spTree>
    <p:extLst>
      <p:ext uri="{BB962C8B-B14F-4D97-AF65-F5344CB8AC3E}">
        <p14:creationId xmlns:p14="http://schemas.microsoft.com/office/powerpoint/2010/main" val="245263086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71</a:t>
            </a:fld>
            <a:endParaRPr lang="fr-FR"/>
          </a:p>
        </p:txBody>
      </p:sp>
    </p:spTree>
    <p:extLst>
      <p:ext uri="{BB962C8B-B14F-4D97-AF65-F5344CB8AC3E}">
        <p14:creationId xmlns:p14="http://schemas.microsoft.com/office/powerpoint/2010/main" val="18009585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72</a:t>
            </a:fld>
            <a:endParaRPr lang="fr-FR"/>
          </a:p>
        </p:txBody>
      </p:sp>
    </p:spTree>
    <p:extLst>
      <p:ext uri="{BB962C8B-B14F-4D97-AF65-F5344CB8AC3E}">
        <p14:creationId xmlns:p14="http://schemas.microsoft.com/office/powerpoint/2010/main" val="267796024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73</a:t>
            </a:fld>
            <a:endParaRPr lang="fr-FR"/>
          </a:p>
        </p:txBody>
      </p:sp>
    </p:spTree>
    <p:extLst>
      <p:ext uri="{BB962C8B-B14F-4D97-AF65-F5344CB8AC3E}">
        <p14:creationId xmlns:p14="http://schemas.microsoft.com/office/powerpoint/2010/main" val="427769152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74</a:t>
            </a:fld>
            <a:endParaRPr lang="fr-FR"/>
          </a:p>
        </p:txBody>
      </p:sp>
    </p:spTree>
    <p:extLst>
      <p:ext uri="{BB962C8B-B14F-4D97-AF65-F5344CB8AC3E}">
        <p14:creationId xmlns:p14="http://schemas.microsoft.com/office/powerpoint/2010/main" val="15392063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75</a:t>
            </a:fld>
            <a:endParaRPr lang="fr-FR"/>
          </a:p>
        </p:txBody>
      </p:sp>
    </p:spTree>
    <p:extLst>
      <p:ext uri="{BB962C8B-B14F-4D97-AF65-F5344CB8AC3E}">
        <p14:creationId xmlns:p14="http://schemas.microsoft.com/office/powerpoint/2010/main" val="1778773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000" b="1" i="0">
                <a:solidFill>
                  <a:srgbClr val="585858"/>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200" b="1" i="0">
                <a:solidFill>
                  <a:srgbClr val="585858"/>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000" b="0" i="0">
                <a:solidFill>
                  <a:srgbClr val="AEABAB"/>
                </a:solidFill>
                <a:latin typeface="Calibri"/>
                <a:cs typeface="Calibri"/>
              </a:defRPr>
            </a:lvl1pPr>
          </a:lstStyle>
          <a:p>
            <a:pPr marL="12700">
              <a:lnSpc>
                <a:spcPts val="1055"/>
              </a:lnSpc>
            </a:pPr>
            <a:r>
              <a:rPr dirty="0"/>
              <a:t>Copyright</a:t>
            </a:r>
            <a:r>
              <a:rPr spc="-35" dirty="0"/>
              <a:t> </a:t>
            </a:r>
            <a:r>
              <a:rPr dirty="0"/>
              <a:t>-</a:t>
            </a:r>
            <a:r>
              <a:rPr spc="-10" dirty="0"/>
              <a:t> </a:t>
            </a:r>
            <a:r>
              <a:rPr dirty="0"/>
              <a:t>Tout</a:t>
            </a:r>
            <a:r>
              <a:rPr spc="-15" dirty="0"/>
              <a:t> </a:t>
            </a:r>
            <a:r>
              <a:rPr dirty="0"/>
              <a:t>droit</a:t>
            </a:r>
            <a:r>
              <a:rPr spc="-40" dirty="0"/>
              <a:t> </a:t>
            </a:r>
            <a:r>
              <a:rPr dirty="0"/>
              <a:t>réservé</a:t>
            </a:r>
            <a:r>
              <a:rPr spc="-30" dirty="0"/>
              <a:t> </a:t>
            </a:r>
            <a:r>
              <a:rPr dirty="0"/>
              <a:t>-</a:t>
            </a:r>
            <a:r>
              <a:rPr spc="-10" dirty="0"/>
              <a:t> </a:t>
            </a:r>
            <a:r>
              <a:rPr spc="-20" dirty="0"/>
              <a:t>OFPPT</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5/13/2024</a:t>
            </a:fld>
            <a:endParaRPr lang="en-US"/>
          </a:p>
        </p:txBody>
      </p:sp>
      <p:sp>
        <p:nvSpPr>
          <p:cNvPr id="6" name="Holder 6"/>
          <p:cNvSpPr>
            <a:spLocks noGrp="1"/>
          </p:cNvSpPr>
          <p:nvPr>
            <p:ph type="sldNum" sz="quarter" idx="7"/>
          </p:nvPr>
        </p:nvSpPr>
        <p:spPr/>
        <p:txBody>
          <a:bodyPr lIns="0" tIns="0" rIns="0" bIns="0"/>
          <a:lstStyle>
            <a:lvl1pPr>
              <a:defRPr sz="1000" b="0" i="0">
                <a:solidFill>
                  <a:srgbClr val="AEABAB"/>
                </a:solidFill>
                <a:latin typeface="Calibri"/>
                <a:cs typeface="Calibri"/>
              </a:defRPr>
            </a:lvl1pPr>
          </a:lstStyle>
          <a:p>
            <a:pPr marL="38100">
              <a:lnSpc>
                <a:spcPts val="1055"/>
              </a:lnSpc>
            </a:pPr>
            <a:fld id="{81D60167-4931-47E6-BA6A-407CBD079E47}" type="slidenum">
              <a:rPr spc="-25" dirty="0"/>
              <a:t>‹N°›</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585858"/>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200" b="1" i="0">
                <a:solidFill>
                  <a:srgbClr val="585858"/>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000" b="0" i="0">
                <a:solidFill>
                  <a:srgbClr val="AEABAB"/>
                </a:solidFill>
                <a:latin typeface="Calibri"/>
                <a:cs typeface="Calibri"/>
              </a:defRPr>
            </a:lvl1pPr>
          </a:lstStyle>
          <a:p>
            <a:pPr marL="12700">
              <a:lnSpc>
                <a:spcPts val="1055"/>
              </a:lnSpc>
            </a:pPr>
            <a:r>
              <a:rPr dirty="0"/>
              <a:t>Copyright</a:t>
            </a:r>
            <a:r>
              <a:rPr spc="-35" dirty="0"/>
              <a:t> </a:t>
            </a:r>
            <a:r>
              <a:rPr dirty="0"/>
              <a:t>-</a:t>
            </a:r>
            <a:r>
              <a:rPr spc="-10" dirty="0"/>
              <a:t> </a:t>
            </a:r>
            <a:r>
              <a:rPr dirty="0"/>
              <a:t>Tout</a:t>
            </a:r>
            <a:r>
              <a:rPr spc="-15" dirty="0"/>
              <a:t> </a:t>
            </a:r>
            <a:r>
              <a:rPr dirty="0"/>
              <a:t>droit</a:t>
            </a:r>
            <a:r>
              <a:rPr spc="-40" dirty="0"/>
              <a:t> </a:t>
            </a:r>
            <a:r>
              <a:rPr dirty="0"/>
              <a:t>réservé</a:t>
            </a:r>
            <a:r>
              <a:rPr spc="-30" dirty="0"/>
              <a:t> </a:t>
            </a:r>
            <a:r>
              <a:rPr dirty="0"/>
              <a:t>-</a:t>
            </a:r>
            <a:r>
              <a:rPr spc="-10" dirty="0"/>
              <a:t> </a:t>
            </a:r>
            <a:r>
              <a:rPr spc="-20" dirty="0"/>
              <a:t>OFPPT</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5/13/2024</a:t>
            </a:fld>
            <a:endParaRPr lang="en-US"/>
          </a:p>
        </p:txBody>
      </p:sp>
      <p:sp>
        <p:nvSpPr>
          <p:cNvPr id="6" name="Holder 6"/>
          <p:cNvSpPr>
            <a:spLocks noGrp="1"/>
          </p:cNvSpPr>
          <p:nvPr>
            <p:ph type="sldNum" sz="quarter" idx="7"/>
          </p:nvPr>
        </p:nvSpPr>
        <p:spPr/>
        <p:txBody>
          <a:bodyPr lIns="0" tIns="0" rIns="0" bIns="0"/>
          <a:lstStyle>
            <a:lvl1pPr>
              <a:defRPr sz="1000" b="0" i="0">
                <a:solidFill>
                  <a:srgbClr val="AEABAB"/>
                </a:solidFill>
                <a:latin typeface="Calibri"/>
                <a:cs typeface="Calibri"/>
              </a:defRPr>
            </a:lvl1pPr>
          </a:lstStyle>
          <a:p>
            <a:pPr marL="38100">
              <a:lnSpc>
                <a:spcPts val="1055"/>
              </a:lnSpc>
            </a:pPr>
            <a:fld id="{81D60167-4931-47E6-BA6A-407CBD079E47}" type="slidenum">
              <a:rPr spc="-25" dirty="0"/>
              <a:t>‹N°›</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585858"/>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000" b="0" i="0">
                <a:solidFill>
                  <a:srgbClr val="AEABAB"/>
                </a:solidFill>
                <a:latin typeface="Calibri"/>
                <a:cs typeface="Calibri"/>
              </a:defRPr>
            </a:lvl1pPr>
          </a:lstStyle>
          <a:p>
            <a:pPr marL="12700">
              <a:lnSpc>
                <a:spcPts val="1055"/>
              </a:lnSpc>
            </a:pPr>
            <a:r>
              <a:rPr dirty="0"/>
              <a:t>Copyright</a:t>
            </a:r>
            <a:r>
              <a:rPr spc="-35" dirty="0"/>
              <a:t> </a:t>
            </a:r>
            <a:r>
              <a:rPr dirty="0"/>
              <a:t>-</a:t>
            </a:r>
            <a:r>
              <a:rPr spc="-10" dirty="0"/>
              <a:t> </a:t>
            </a:r>
            <a:r>
              <a:rPr dirty="0"/>
              <a:t>Tout</a:t>
            </a:r>
            <a:r>
              <a:rPr spc="-15" dirty="0"/>
              <a:t> </a:t>
            </a:r>
            <a:r>
              <a:rPr dirty="0"/>
              <a:t>droit</a:t>
            </a:r>
            <a:r>
              <a:rPr spc="-40" dirty="0"/>
              <a:t> </a:t>
            </a:r>
            <a:r>
              <a:rPr dirty="0"/>
              <a:t>réservé</a:t>
            </a:r>
            <a:r>
              <a:rPr spc="-30" dirty="0"/>
              <a:t> </a:t>
            </a:r>
            <a:r>
              <a:rPr dirty="0"/>
              <a:t>-</a:t>
            </a:r>
            <a:r>
              <a:rPr spc="-10" dirty="0"/>
              <a:t> </a:t>
            </a:r>
            <a:r>
              <a:rPr spc="-20" dirty="0"/>
              <a:t>OFPPT</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5/13/2024</a:t>
            </a:fld>
            <a:endParaRPr lang="en-US"/>
          </a:p>
        </p:txBody>
      </p:sp>
      <p:sp>
        <p:nvSpPr>
          <p:cNvPr id="7" name="Holder 7"/>
          <p:cNvSpPr>
            <a:spLocks noGrp="1"/>
          </p:cNvSpPr>
          <p:nvPr>
            <p:ph type="sldNum" sz="quarter" idx="7"/>
          </p:nvPr>
        </p:nvSpPr>
        <p:spPr/>
        <p:txBody>
          <a:bodyPr lIns="0" tIns="0" rIns="0" bIns="0"/>
          <a:lstStyle>
            <a:lvl1pPr>
              <a:defRPr sz="1000" b="0" i="0">
                <a:solidFill>
                  <a:srgbClr val="AEABAB"/>
                </a:solidFill>
                <a:latin typeface="Calibri"/>
                <a:cs typeface="Calibri"/>
              </a:defRPr>
            </a:lvl1pPr>
          </a:lstStyle>
          <a:p>
            <a:pPr marL="38100">
              <a:lnSpc>
                <a:spcPts val="1055"/>
              </a:lnSpc>
            </a:pPr>
            <a:fld id="{81D60167-4931-47E6-BA6A-407CBD079E47}" type="slidenum">
              <a:rPr spc="-25" dirty="0"/>
              <a:t>‹N°›</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048" y="17"/>
            <a:ext cx="12185903" cy="6855206"/>
          </a:xfrm>
          <a:prstGeom prst="rect">
            <a:avLst/>
          </a:prstGeom>
        </p:spPr>
      </p:pic>
      <p:sp>
        <p:nvSpPr>
          <p:cNvPr id="17" name="bg object 17"/>
          <p:cNvSpPr/>
          <p:nvPr/>
        </p:nvSpPr>
        <p:spPr>
          <a:xfrm>
            <a:off x="537972" y="1461515"/>
            <a:ext cx="11119485" cy="5148580"/>
          </a:xfrm>
          <a:custGeom>
            <a:avLst/>
            <a:gdLst/>
            <a:ahLst/>
            <a:cxnLst/>
            <a:rect l="l" t="t" r="r" b="b"/>
            <a:pathLst>
              <a:path w="11119485" h="5148580">
                <a:moveTo>
                  <a:pt x="11119104" y="0"/>
                </a:moveTo>
                <a:lnTo>
                  <a:pt x="0" y="0"/>
                </a:lnTo>
                <a:lnTo>
                  <a:pt x="0" y="5148072"/>
                </a:lnTo>
                <a:lnTo>
                  <a:pt x="11119104" y="5148072"/>
                </a:lnTo>
                <a:lnTo>
                  <a:pt x="11119104" y="0"/>
                </a:lnTo>
                <a:close/>
              </a:path>
            </a:pathLst>
          </a:custGeom>
          <a:solidFill>
            <a:srgbClr val="FFFFFF"/>
          </a:solidFill>
        </p:spPr>
        <p:txBody>
          <a:bodyPr wrap="square" lIns="0" tIns="0" rIns="0" bIns="0" rtlCol="0"/>
          <a:lstStyle/>
          <a:p>
            <a:endParaRPr/>
          </a:p>
        </p:txBody>
      </p:sp>
      <p:sp>
        <p:nvSpPr>
          <p:cNvPr id="18" name="bg object 18"/>
          <p:cNvSpPr/>
          <p:nvPr/>
        </p:nvSpPr>
        <p:spPr>
          <a:xfrm>
            <a:off x="537972" y="1461515"/>
            <a:ext cx="11119485" cy="5148580"/>
          </a:xfrm>
          <a:custGeom>
            <a:avLst/>
            <a:gdLst/>
            <a:ahLst/>
            <a:cxnLst/>
            <a:rect l="l" t="t" r="r" b="b"/>
            <a:pathLst>
              <a:path w="11119485" h="5148580">
                <a:moveTo>
                  <a:pt x="0" y="5148072"/>
                </a:moveTo>
                <a:lnTo>
                  <a:pt x="11119104" y="5148072"/>
                </a:lnTo>
                <a:lnTo>
                  <a:pt x="11119104" y="0"/>
                </a:lnTo>
                <a:lnTo>
                  <a:pt x="0" y="0"/>
                </a:lnTo>
                <a:lnTo>
                  <a:pt x="0" y="5148072"/>
                </a:lnTo>
                <a:close/>
              </a:path>
            </a:pathLst>
          </a:custGeom>
          <a:ln w="9525">
            <a:solidFill>
              <a:srgbClr val="F8CCAC"/>
            </a:solidFill>
          </a:ln>
        </p:spPr>
        <p:txBody>
          <a:bodyPr wrap="square" lIns="0" tIns="0" rIns="0" bIns="0" rtlCol="0"/>
          <a:lstStyle/>
          <a:p>
            <a:endParaRPr/>
          </a:p>
        </p:txBody>
      </p:sp>
      <p:sp>
        <p:nvSpPr>
          <p:cNvPr id="19" name="bg object 19"/>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FF7800"/>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000" b="1" i="0">
                <a:solidFill>
                  <a:srgbClr val="585858"/>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1000" b="0" i="0">
                <a:solidFill>
                  <a:srgbClr val="AEABAB"/>
                </a:solidFill>
                <a:latin typeface="Calibri"/>
                <a:cs typeface="Calibri"/>
              </a:defRPr>
            </a:lvl1pPr>
          </a:lstStyle>
          <a:p>
            <a:pPr marL="12700">
              <a:lnSpc>
                <a:spcPts val="1055"/>
              </a:lnSpc>
            </a:pPr>
            <a:r>
              <a:rPr dirty="0"/>
              <a:t>Copyright</a:t>
            </a:r>
            <a:r>
              <a:rPr spc="-35" dirty="0"/>
              <a:t> </a:t>
            </a:r>
            <a:r>
              <a:rPr dirty="0"/>
              <a:t>-</a:t>
            </a:r>
            <a:r>
              <a:rPr spc="-10" dirty="0"/>
              <a:t> </a:t>
            </a:r>
            <a:r>
              <a:rPr dirty="0"/>
              <a:t>Tout</a:t>
            </a:r>
            <a:r>
              <a:rPr spc="-15" dirty="0"/>
              <a:t> </a:t>
            </a:r>
            <a:r>
              <a:rPr dirty="0"/>
              <a:t>droit</a:t>
            </a:r>
            <a:r>
              <a:rPr spc="-40" dirty="0"/>
              <a:t> </a:t>
            </a:r>
            <a:r>
              <a:rPr dirty="0"/>
              <a:t>réservé</a:t>
            </a:r>
            <a:r>
              <a:rPr spc="-30" dirty="0"/>
              <a:t> </a:t>
            </a:r>
            <a:r>
              <a:rPr dirty="0"/>
              <a:t>-</a:t>
            </a:r>
            <a:r>
              <a:rPr spc="-10" dirty="0"/>
              <a:t> </a:t>
            </a:r>
            <a:r>
              <a:rPr spc="-20" dirty="0"/>
              <a:t>OFPPT</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5/13/2024</a:t>
            </a:fld>
            <a:endParaRPr lang="en-US"/>
          </a:p>
        </p:txBody>
      </p:sp>
      <p:sp>
        <p:nvSpPr>
          <p:cNvPr id="5" name="Holder 5"/>
          <p:cNvSpPr>
            <a:spLocks noGrp="1"/>
          </p:cNvSpPr>
          <p:nvPr>
            <p:ph type="sldNum" sz="quarter" idx="7"/>
          </p:nvPr>
        </p:nvSpPr>
        <p:spPr/>
        <p:txBody>
          <a:bodyPr lIns="0" tIns="0" rIns="0" bIns="0"/>
          <a:lstStyle>
            <a:lvl1pPr>
              <a:defRPr sz="1000" b="0" i="0">
                <a:solidFill>
                  <a:srgbClr val="AEABAB"/>
                </a:solidFill>
                <a:latin typeface="Calibri"/>
                <a:cs typeface="Calibri"/>
              </a:defRPr>
            </a:lvl1pPr>
          </a:lstStyle>
          <a:p>
            <a:pPr marL="38100">
              <a:lnSpc>
                <a:spcPts val="1055"/>
              </a:lnSpc>
            </a:pPr>
            <a:fld id="{81D60167-4931-47E6-BA6A-407CBD079E47}" type="slidenum">
              <a:rPr spc="-25" dirty="0"/>
              <a:t>‹N°›</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048" y="17"/>
            <a:ext cx="12185903" cy="6855206"/>
          </a:xfrm>
          <a:prstGeom prst="rect">
            <a:avLst/>
          </a:prstGeom>
        </p:spPr>
      </p:pic>
      <p:sp>
        <p:nvSpPr>
          <p:cNvPr id="17" name="bg object 17"/>
          <p:cNvSpPr/>
          <p:nvPr/>
        </p:nvSpPr>
        <p:spPr>
          <a:xfrm>
            <a:off x="537972" y="1461515"/>
            <a:ext cx="11119485" cy="5148580"/>
          </a:xfrm>
          <a:custGeom>
            <a:avLst/>
            <a:gdLst/>
            <a:ahLst/>
            <a:cxnLst/>
            <a:rect l="l" t="t" r="r" b="b"/>
            <a:pathLst>
              <a:path w="11119485" h="5148580">
                <a:moveTo>
                  <a:pt x="11119104" y="0"/>
                </a:moveTo>
                <a:lnTo>
                  <a:pt x="0" y="0"/>
                </a:lnTo>
                <a:lnTo>
                  <a:pt x="0" y="5148072"/>
                </a:lnTo>
                <a:lnTo>
                  <a:pt x="11119104" y="5148072"/>
                </a:lnTo>
                <a:lnTo>
                  <a:pt x="11119104" y="0"/>
                </a:lnTo>
                <a:close/>
              </a:path>
            </a:pathLst>
          </a:custGeom>
          <a:solidFill>
            <a:srgbClr val="FFFFFF"/>
          </a:solidFill>
        </p:spPr>
        <p:txBody>
          <a:bodyPr wrap="square" lIns="0" tIns="0" rIns="0" bIns="0" rtlCol="0"/>
          <a:lstStyle/>
          <a:p>
            <a:endParaRPr/>
          </a:p>
        </p:txBody>
      </p:sp>
      <p:sp>
        <p:nvSpPr>
          <p:cNvPr id="18" name="bg object 18"/>
          <p:cNvSpPr/>
          <p:nvPr/>
        </p:nvSpPr>
        <p:spPr>
          <a:xfrm>
            <a:off x="537972" y="1461515"/>
            <a:ext cx="11119485" cy="5148580"/>
          </a:xfrm>
          <a:custGeom>
            <a:avLst/>
            <a:gdLst/>
            <a:ahLst/>
            <a:cxnLst/>
            <a:rect l="l" t="t" r="r" b="b"/>
            <a:pathLst>
              <a:path w="11119485" h="5148580">
                <a:moveTo>
                  <a:pt x="0" y="5148072"/>
                </a:moveTo>
                <a:lnTo>
                  <a:pt x="11119104" y="5148072"/>
                </a:lnTo>
                <a:lnTo>
                  <a:pt x="11119104" y="0"/>
                </a:lnTo>
                <a:lnTo>
                  <a:pt x="0" y="0"/>
                </a:lnTo>
                <a:lnTo>
                  <a:pt x="0" y="5148072"/>
                </a:lnTo>
                <a:close/>
              </a:path>
            </a:pathLst>
          </a:custGeom>
          <a:ln w="9525">
            <a:solidFill>
              <a:srgbClr val="F8CCAC"/>
            </a:solidFill>
          </a:ln>
        </p:spPr>
        <p:txBody>
          <a:bodyPr wrap="square" lIns="0" tIns="0" rIns="0" bIns="0" rtlCol="0"/>
          <a:lstStyle/>
          <a:p>
            <a:endParaRPr/>
          </a:p>
        </p:txBody>
      </p:sp>
      <p:sp>
        <p:nvSpPr>
          <p:cNvPr id="19" name="bg object 19"/>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FF7800"/>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000" b="0" i="0">
                <a:solidFill>
                  <a:srgbClr val="AEABAB"/>
                </a:solidFill>
                <a:latin typeface="Calibri"/>
                <a:cs typeface="Calibri"/>
              </a:defRPr>
            </a:lvl1pPr>
          </a:lstStyle>
          <a:p>
            <a:pPr marL="12700">
              <a:lnSpc>
                <a:spcPts val="1055"/>
              </a:lnSpc>
            </a:pPr>
            <a:r>
              <a:rPr dirty="0"/>
              <a:t>Copyright</a:t>
            </a:r>
            <a:r>
              <a:rPr spc="-35" dirty="0"/>
              <a:t> </a:t>
            </a:r>
            <a:r>
              <a:rPr dirty="0"/>
              <a:t>-</a:t>
            </a:r>
            <a:r>
              <a:rPr spc="-10" dirty="0"/>
              <a:t> </a:t>
            </a:r>
            <a:r>
              <a:rPr dirty="0"/>
              <a:t>Tout</a:t>
            </a:r>
            <a:r>
              <a:rPr spc="-15" dirty="0"/>
              <a:t> </a:t>
            </a:r>
            <a:r>
              <a:rPr dirty="0"/>
              <a:t>droit</a:t>
            </a:r>
            <a:r>
              <a:rPr spc="-40" dirty="0"/>
              <a:t> </a:t>
            </a:r>
            <a:r>
              <a:rPr dirty="0"/>
              <a:t>réservé</a:t>
            </a:r>
            <a:r>
              <a:rPr spc="-30" dirty="0"/>
              <a:t> </a:t>
            </a:r>
            <a:r>
              <a:rPr dirty="0"/>
              <a:t>-</a:t>
            </a:r>
            <a:r>
              <a:rPr spc="-10" dirty="0"/>
              <a:t> </a:t>
            </a:r>
            <a:r>
              <a:rPr spc="-20" dirty="0"/>
              <a:t>OFPPT</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5/13/2024</a:t>
            </a:fld>
            <a:endParaRPr lang="en-US"/>
          </a:p>
        </p:txBody>
      </p:sp>
      <p:sp>
        <p:nvSpPr>
          <p:cNvPr id="4" name="Holder 4"/>
          <p:cNvSpPr>
            <a:spLocks noGrp="1"/>
          </p:cNvSpPr>
          <p:nvPr>
            <p:ph type="sldNum" sz="quarter" idx="7"/>
          </p:nvPr>
        </p:nvSpPr>
        <p:spPr/>
        <p:txBody>
          <a:bodyPr lIns="0" tIns="0" rIns="0" bIns="0"/>
          <a:lstStyle>
            <a:lvl1pPr>
              <a:defRPr sz="1000" b="0" i="0">
                <a:solidFill>
                  <a:srgbClr val="AEABAB"/>
                </a:solidFill>
                <a:latin typeface="Calibri"/>
                <a:cs typeface="Calibri"/>
              </a:defRPr>
            </a:lvl1pPr>
          </a:lstStyle>
          <a:p>
            <a:pPr marL="38100">
              <a:lnSpc>
                <a:spcPts val="1055"/>
              </a:lnSpc>
            </a:pPr>
            <a:fld id="{81D60167-4931-47E6-BA6A-407CBD079E47}" type="slidenum">
              <a:rPr spc="-25" dirty="0"/>
              <a:t>‹N°›</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63753" y="332308"/>
            <a:ext cx="11664492" cy="768350"/>
          </a:xfrm>
          <a:prstGeom prst="rect">
            <a:avLst/>
          </a:prstGeom>
        </p:spPr>
        <p:txBody>
          <a:bodyPr wrap="square" lIns="0" tIns="0" rIns="0" bIns="0">
            <a:spAutoFit/>
          </a:bodyPr>
          <a:lstStyle>
            <a:lvl1pPr>
              <a:defRPr sz="2000" b="1" i="0">
                <a:solidFill>
                  <a:srgbClr val="585858"/>
                </a:solidFill>
                <a:latin typeface="Calibri"/>
                <a:cs typeface="Calibri"/>
              </a:defRPr>
            </a:lvl1pPr>
          </a:lstStyle>
          <a:p>
            <a:endParaRPr/>
          </a:p>
        </p:txBody>
      </p:sp>
      <p:sp>
        <p:nvSpPr>
          <p:cNvPr id="3" name="Holder 3"/>
          <p:cNvSpPr>
            <a:spLocks noGrp="1"/>
          </p:cNvSpPr>
          <p:nvPr>
            <p:ph type="body" idx="1"/>
          </p:nvPr>
        </p:nvSpPr>
        <p:spPr>
          <a:xfrm>
            <a:off x="798982" y="1605152"/>
            <a:ext cx="10590530" cy="4752340"/>
          </a:xfrm>
          <a:prstGeom prst="rect">
            <a:avLst/>
          </a:prstGeom>
        </p:spPr>
        <p:txBody>
          <a:bodyPr wrap="square" lIns="0" tIns="0" rIns="0" bIns="0">
            <a:spAutoFit/>
          </a:bodyPr>
          <a:lstStyle>
            <a:lvl1pPr>
              <a:defRPr sz="1200" b="1" i="0">
                <a:solidFill>
                  <a:srgbClr val="585858"/>
                </a:solidFill>
                <a:latin typeface="Calibri"/>
                <a:cs typeface="Calibri"/>
              </a:defRPr>
            </a:lvl1pPr>
          </a:lstStyle>
          <a:p>
            <a:endParaRPr/>
          </a:p>
        </p:txBody>
      </p:sp>
      <p:sp>
        <p:nvSpPr>
          <p:cNvPr id="4" name="Holder 4"/>
          <p:cNvSpPr>
            <a:spLocks noGrp="1"/>
          </p:cNvSpPr>
          <p:nvPr>
            <p:ph type="ftr" sz="quarter" idx="5"/>
          </p:nvPr>
        </p:nvSpPr>
        <p:spPr>
          <a:xfrm>
            <a:off x="5103621" y="6694423"/>
            <a:ext cx="1986915" cy="184150"/>
          </a:xfrm>
          <a:prstGeom prst="rect">
            <a:avLst/>
          </a:prstGeom>
        </p:spPr>
        <p:txBody>
          <a:bodyPr wrap="square" lIns="0" tIns="0" rIns="0" bIns="0">
            <a:spAutoFit/>
          </a:bodyPr>
          <a:lstStyle>
            <a:lvl1pPr>
              <a:defRPr sz="1000" b="0" i="0">
                <a:solidFill>
                  <a:srgbClr val="AEABAB"/>
                </a:solidFill>
                <a:latin typeface="Calibri"/>
                <a:cs typeface="Calibri"/>
              </a:defRPr>
            </a:lvl1pPr>
          </a:lstStyle>
          <a:p>
            <a:pPr marL="12700">
              <a:lnSpc>
                <a:spcPts val="1055"/>
              </a:lnSpc>
            </a:pPr>
            <a:r>
              <a:rPr dirty="0"/>
              <a:t>Copyright</a:t>
            </a:r>
            <a:r>
              <a:rPr spc="-35" dirty="0"/>
              <a:t> </a:t>
            </a:r>
            <a:r>
              <a:rPr dirty="0"/>
              <a:t>-</a:t>
            </a:r>
            <a:r>
              <a:rPr spc="-10" dirty="0"/>
              <a:t> </a:t>
            </a:r>
            <a:r>
              <a:rPr dirty="0"/>
              <a:t>Tout</a:t>
            </a:r>
            <a:r>
              <a:rPr spc="-15" dirty="0"/>
              <a:t> </a:t>
            </a:r>
            <a:r>
              <a:rPr dirty="0"/>
              <a:t>droit</a:t>
            </a:r>
            <a:r>
              <a:rPr spc="-40" dirty="0"/>
              <a:t> </a:t>
            </a:r>
            <a:r>
              <a:rPr dirty="0"/>
              <a:t>réservé</a:t>
            </a:r>
            <a:r>
              <a:rPr spc="-30" dirty="0"/>
              <a:t> </a:t>
            </a:r>
            <a:r>
              <a:rPr dirty="0"/>
              <a:t>-</a:t>
            </a:r>
            <a:r>
              <a:rPr spc="-10" dirty="0"/>
              <a:t> </a:t>
            </a:r>
            <a:r>
              <a:rPr spc="-20" dirty="0"/>
              <a:t>OFPPT</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5/13/2024</a:t>
            </a:fld>
            <a:endParaRPr lang="en-US"/>
          </a:p>
        </p:txBody>
      </p:sp>
      <p:sp>
        <p:nvSpPr>
          <p:cNvPr id="6" name="Holder 6"/>
          <p:cNvSpPr>
            <a:spLocks noGrp="1"/>
          </p:cNvSpPr>
          <p:nvPr>
            <p:ph type="sldNum" sz="quarter" idx="7"/>
          </p:nvPr>
        </p:nvSpPr>
        <p:spPr>
          <a:xfrm>
            <a:off x="11845417" y="6709968"/>
            <a:ext cx="281304" cy="153670"/>
          </a:xfrm>
          <a:prstGeom prst="rect">
            <a:avLst/>
          </a:prstGeom>
        </p:spPr>
        <p:txBody>
          <a:bodyPr wrap="square" lIns="0" tIns="0" rIns="0" bIns="0">
            <a:spAutoFit/>
          </a:bodyPr>
          <a:lstStyle>
            <a:lvl1pPr>
              <a:defRPr sz="1000" b="0" i="0">
                <a:solidFill>
                  <a:srgbClr val="AEABAB"/>
                </a:solidFill>
                <a:latin typeface="Calibri"/>
                <a:cs typeface="Calibri"/>
              </a:defRPr>
            </a:lvl1pPr>
          </a:lstStyle>
          <a:p>
            <a:pPr marL="38100">
              <a:lnSpc>
                <a:spcPts val="1055"/>
              </a:lnSpc>
            </a:pPr>
            <a:fld id="{81D60167-4931-47E6-BA6A-407CBD079E47}" type="slidenum">
              <a:rPr spc="-25" dirty="0"/>
              <a:t>‹N°›</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47.jpg"/><Relationship Id="rId4" Type="http://schemas.openxmlformats.org/officeDocument/2006/relationships/image" Target="../media/image46.jp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47.jpg"/><Relationship Id="rId4" Type="http://schemas.openxmlformats.org/officeDocument/2006/relationships/image" Target="../media/image46.jpg"/></Relationships>
</file>

<file path=ppt/slides/_rels/slide4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5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5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6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6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6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6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6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6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png"/></Relationships>
</file>

<file path=ppt/slides/_rels/slide7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7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7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7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7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7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36946"/>
            <a:ext cx="12191999" cy="4763238"/>
          </a:xfrm>
          <a:prstGeom prst="rect">
            <a:avLst/>
          </a:prstGeom>
        </p:spPr>
      </p:pic>
      <p:sp>
        <p:nvSpPr>
          <p:cNvPr id="10" name="object 10"/>
          <p:cNvSpPr txBox="1"/>
          <p:nvPr/>
        </p:nvSpPr>
        <p:spPr>
          <a:xfrm>
            <a:off x="1316863" y="5043373"/>
            <a:ext cx="8973185" cy="1296509"/>
          </a:xfrm>
          <a:prstGeom prst="rect">
            <a:avLst/>
          </a:prstGeom>
        </p:spPr>
        <p:txBody>
          <a:bodyPr vert="horz" wrap="square" lIns="0" tIns="13970" rIns="0" bIns="0" rtlCol="0">
            <a:spAutoFit/>
          </a:bodyPr>
          <a:lstStyle/>
          <a:p>
            <a:pPr algn="ctr">
              <a:lnSpc>
                <a:spcPct val="100000"/>
              </a:lnSpc>
              <a:spcBef>
                <a:spcPts val="40"/>
              </a:spcBef>
            </a:pPr>
            <a:r>
              <a:rPr sz="3200" b="1" dirty="0" smtClean="0">
                <a:solidFill>
                  <a:srgbClr val="1C3051"/>
                </a:solidFill>
                <a:latin typeface="Calibri"/>
                <a:cs typeface="Calibri"/>
              </a:rPr>
              <a:t>M</a:t>
            </a:r>
            <a:r>
              <a:rPr lang="fr-FR" sz="3200" b="1" dirty="0" err="1" smtClean="0">
                <a:solidFill>
                  <a:srgbClr val="1C3051"/>
                </a:solidFill>
                <a:latin typeface="Calibri"/>
                <a:cs typeface="Calibri"/>
              </a:rPr>
              <a:t>odule</a:t>
            </a:r>
            <a:r>
              <a:rPr lang="fr-FR" sz="3200" b="1" spc="-75" dirty="0">
                <a:solidFill>
                  <a:srgbClr val="1C3051"/>
                </a:solidFill>
                <a:latin typeface="Calibri"/>
                <a:cs typeface="Calibri"/>
              </a:rPr>
              <a:t>:</a:t>
            </a:r>
            <a:r>
              <a:rPr sz="3200" b="1" spc="-35" dirty="0" smtClean="0">
                <a:solidFill>
                  <a:srgbClr val="1C3051"/>
                </a:solidFill>
                <a:latin typeface="Calibri"/>
                <a:cs typeface="Calibri"/>
              </a:rPr>
              <a:t> </a:t>
            </a:r>
            <a:r>
              <a:rPr lang="fr-FR" sz="3200" b="1" dirty="0">
                <a:solidFill>
                  <a:srgbClr val="1C3051"/>
                </a:solidFill>
                <a:latin typeface="Calibri"/>
                <a:cs typeface="Calibri"/>
              </a:rPr>
              <a:t>S</a:t>
            </a:r>
            <a:r>
              <a:rPr sz="3200" b="1" dirty="0" err="1" smtClean="0">
                <a:solidFill>
                  <a:srgbClr val="1C3051"/>
                </a:solidFill>
                <a:latin typeface="Calibri"/>
                <a:cs typeface="Calibri"/>
              </a:rPr>
              <a:t>ystème</a:t>
            </a:r>
            <a:r>
              <a:rPr sz="3200" b="1" spc="-20" dirty="0" smtClean="0">
                <a:solidFill>
                  <a:srgbClr val="1C3051"/>
                </a:solidFill>
                <a:latin typeface="Calibri"/>
                <a:cs typeface="Calibri"/>
              </a:rPr>
              <a:t> </a:t>
            </a:r>
            <a:r>
              <a:rPr sz="3200" b="1" dirty="0" err="1" smtClean="0">
                <a:solidFill>
                  <a:srgbClr val="1C3051"/>
                </a:solidFill>
                <a:latin typeface="Calibri"/>
                <a:cs typeface="Calibri"/>
              </a:rPr>
              <a:t>d'exploitation</a:t>
            </a:r>
            <a:endParaRPr sz="3200" dirty="0">
              <a:latin typeface="Calibri"/>
              <a:cs typeface="Calibri"/>
            </a:endParaRPr>
          </a:p>
          <a:p>
            <a:pPr>
              <a:lnSpc>
                <a:spcPct val="100000"/>
              </a:lnSpc>
              <a:spcBef>
                <a:spcPts val="385"/>
              </a:spcBef>
            </a:pPr>
            <a:endParaRPr sz="2400" dirty="0">
              <a:latin typeface="Calibri"/>
              <a:cs typeface="Calibri"/>
            </a:endParaRPr>
          </a:p>
          <a:p>
            <a:pPr marL="1055370" algn="ctr">
              <a:lnSpc>
                <a:spcPct val="100000"/>
              </a:lnSpc>
              <a:spcBef>
                <a:spcPts val="5"/>
              </a:spcBef>
            </a:pPr>
            <a:r>
              <a:rPr sz="2400" b="1" dirty="0">
                <a:solidFill>
                  <a:srgbClr val="FFFFFF"/>
                </a:solidFill>
                <a:latin typeface="Calibri"/>
                <a:cs typeface="Calibri"/>
              </a:rPr>
              <a:t>135</a:t>
            </a:r>
            <a:r>
              <a:rPr sz="2400" b="1" spc="-25" dirty="0">
                <a:solidFill>
                  <a:srgbClr val="FFFFFF"/>
                </a:solidFill>
                <a:latin typeface="Calibri"/>
                <a:cs typeface="Calibri"/>
              </a:rPr>
              <a:t> </a:t>
            </a:r>
            <a:r>
              <a:rPr sz="2400" b="1" spc="-10" dirty="0">
                <a:solidFill>
                  <a:srgbClr val="FFFFFF"/>
                </a:solidFill>
                <a:latin typeface="Calibri"/>
                <a:cs typeface="Calibri"/>
              </a:rPr>
              <a:t>heures</a:t>
            </a:r>
            <a:endParaRPr sz="240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3048" y="0"/>
            <a:ext cx="6483078" cy="6857997"/>
          </a:xfrm>
          <a:prstGeom prst="rect">
            <a:avLst/>
          </a:prstGeom>
        </p:spPr>
      </p:pic>
      <p:sp>
        <p:nvSpPr>
          <p:cNvPr id="10" name="object 10"/>
          <p:cNvSpPr txBox="1">
            <a:spLocks noGrp="1"/>
          </p:cNvSpPr>
          <p:nvPr>
            <p:ph type="title"/>
          </p:nvPr>
        </p:nvSpPr>
        <p:spPr>
          <a:xfrm>
            <a:off x="263753" y="152400"/>
            <a:ext cx="11664492" cy="674338"/>
          </a:xfrm>
          <a:prstGeom prst="rect">
            <a:avLst/>
          </a:prstGeom>
        </p:spPr>
        <p:txBody>
          <a:bodyPr vert="horz" wrap="square" lIns="0" tIns="241096" rIns="0" bIns="0" rtlCol="0">
            <a:spAutoFit/>
          </a:bodyPr>
          <a:lstStyle/>
          <a:p>
            <a:pPr marL="7964805">
              <a:lnSpc>
                <a:spcPct val="100000"/>
              </a:lnSpc>
              <a:spcBef>
                <a:spcPts val="105"/>
              </a:spcBef>
            </a:pPr>
            <a:r>
              <a:rPr sz="2800" dirty="0">
                <a:solidFill>
                  <a:srgbClr val="008245"/>
                </a:solidFill>
              </a:rPr>
              <a:t>CHAPITRE</a:t>
            </a:r>
            <a:r>
              <a:rPr sz="2800" spc="-40" dirty="0">
                <a:solidFill>
                  <a:srgbClr val="008245"/>
                </a:solidFill>
              </a:rPr>
              <a:t> </a:t>
            </a:r>
            <a:r>
              <a:rPr lang="fr-FR" sz="2800" spc="-50" dirty="0">
                <a:solidFill>
                  <a:srgbClr val="008245"/>
                </a:solidFill>
              </a:rPr>
              <a:t>4</a:t>
            </a:r>
            <a:endParaRPr sz="2800" dirty="0"/>
          </a:p>
        </p:txBody>
      </p:sp>
      <p:sp>
        <p:nvSpPr>
          <p:cNvPr id="11" name="object 11"/>
          <p:cNvSpPr txBox="1"/>
          <p:nvPr/>
        </p:nvSpPr>
        <p:spPr>
          <a:xfrm>
            <a:off x="6445122" y="1105280"/>
            <a:ext cx="5289550" cy="391160"/>
          </a:xfrm>
          <a:prstGeom prst="rect">
            <a:avLst/>
          </a:prstGeom>
        </p:spPr>
        <p:txBody>
          <a:bodyPr vert="horz" wrap="square" lIns="0" tIns="12700" rIns="0" bIns="0" rtlCol="0">
            <a:spAutoFit/>
          </a:bodyPr>
          <a:lstStyle/>
          <a:p>
            <a:pPr marL="12700" algn="ctr">
              <a:lnSpc>
                <a:spcPct val="100000"/>
              </a:lnSpc>
              <a:spcBef>
                <a:spcPts val="100"/>
              </a:spcBef>
            </a:pPr>
            <a:r>
              <a:rPr lang="fr-FR" sz="2400" b="1" spc="-35" dirty="0" smtClean="0">
                <a:solidFill>
                  <a:srgbClr val="008245"/>
                </a:solidFill>
                <a:latin typeface="Calibri"/>
                <a:cs typeface="Calibri"/>
              </a:rPr>
              <a:t>GESTION DES PROCESSUS</a:t>
            </a:r>
            <a:endParaRPr sz="2400" dirty="0">
              <a:latin typeface="Calibri"/>
              <a:cs typeface="Calibri"/>
            </a:endParaRPr>
          </a:p>
        </p:txBody>
      </p:sp>
      <p:sp>
        <p:nvSpPr>
          <p:cNvPr id="12" name="object 12"/>
          <p:cNvSpPr txBox="1"/>
          <p:nvPr/>
        </p:nvSpPr>
        <p:spPr>
          <a:xfrm>
            <a:off x="6380478" y="2358897"/>
            <a:ext cx="6040121" cy="3313728"/>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7800"/>
                </a:solidFill>
                <a:latin typeface="Calibri"/>
                <a:cs typeface="Calibri"/>
              </a:rPr>
              <a:t>Ce</a:t>
            </a:r>
            <a:r>
              <a:rPr sz="1800" b="1" spc="-60" dirty="0">
                <a:solidFill>
                  <a:srgbClr val="FF7800"/>
                </a:solidFill>
                <a:latin typeface="Calibri"/>
                <a:cs typeface="Calibri"/>
              </a:rPr>
              <a:t> </a:t>
            </a:r>
            <a:r>
              <a:rPr sz="1800" b="1" dirty="0">
                <a:solidFill>
                  <a:srgbClr val="FF7800"/>
                </a:solidFill>
                <a:latin typeface="Calibri"/>
                <a:cs typeface="Calibri"/>
              </a:rPr>
              <a:t>que</a:t>
            </a:r>
            <a:r>
              <a:rPr sz="1800" b="1" spc="-35" dirty="0">
                <a:solidFill>
                  <a:srgbClr val="FF7800"/>
                </a:solidFill>
                <a:latin typeface="Calibri"/>
                <a:cs typeface="Calibri"/>
              </a:rPr>
              <a:t> </a:t>
            </a:r>
            <a:r>
              <a:rPr sz="1800" b="1" dirty="0">
                <a:solidFill>
                  <a:srgbClr val="FF7800"/>
                </a:solidFill>
                <a:latin typeface="Calibri"/>
                <a:cs typeface="Calibri"/>
              </a:rPr>
              <a:t>vous</a:t>
            </a:r>
            <a:r>
              <a:rPr sz="1800" b="1" spc="-15" dirty="0">
                <a:solidFill>
                  <a:srgbClr val="FF7800"/>
                </a:solidFill>
                <a:latin typeface="Calibri"/>
                <a:cs typeface="Calibri"/>
              </a:rPr>
              <a:t> </a:t>
            </a:r>
            <a:r>
              <a:rPr sz="1800" b="1" dirty="0">
                <a:solidFill>
                  <a:srgbClr val="FF7800"/>
                </a:solidFill>
                <a:latin typeface="Calibri"/>
                <a:cs typeface="Calibri"/>
              </a:rPr>
              <a:t>allez</a:t>
            </a:r>
            <a:r>
              <a:rPr sz="1800" b="1" spc="-35" dirty="0">
                <a:solidFill>
                  <a:srgbClr val="FF7800"/>
                </a:solidFill>
                <a:latin typeface="Calibri"/>
                <a:cs typeface="Calibri"/>
              </a:rPr>
              <a:t> </a:t>
            </a:r>
            <a:r>
              <a:rPr sz="1800" b="1" dirty="0">
                <a:solidFill>
                  <a:srgbClr val="FF7800"/>
                </a:solidFill>
                <a:latin typeface="Calibri"/>
                <a:cs typeface="Calibri"/>
              </a:rPr>
              <a:t>apprendre</a:t>
            </a:r>
            <a:r>
              <a:rPr sz="1800" b="1" spc="-55" dirty="0">
                <a:solidFill>
                  <a:srgbClr val="FF7800"/>
                </a:solidFill>
                <a:latin typeface="Calibri"/>
                <a:cs typeface="Calibri"/>
              </a:rPr>
              <a:t> </a:t>
            </a:r>
            <a:r>
              <a:rPr sz="1800" b="1" dirty="0">
                <a:solidFill>
                  <a:srgbClr val="FF7800"/>
                </a:solidFill>
                <a:latin typeface="Calibri"/>
                <a:cs typeface="Calibri"/>
              </a:rPr>
              <a:t>dans</a:t>
            </a:r>
            <a:r>
              <a:rPr sz="1800" b="1" spc="-40" dirty="0">
                <a:solidFill>
                  <a:srgbClr val="FF7800"/>
                </a:solidFill>
                <a:latin typeface="Calibri"/>
                <a:cs typeface="Calibri"/>
              </a:rPr>
              <a:t> </a:t>
            </a:r>
            <a:r>
              <a:rPr sz="1800" b="1" dirty="0">
                <a:solidFill>
                  <a:srgbClr val="FF7800"/>
                </a:solidFill>
                <a:latin typeface="Calibri"/>
                <a:cs typeface="Calibri"/>
              </a:rPr>
              <a:t>ce</a:t>
            </a:r>
            <a:r>
              <a:rPr sz="1800" b="1" spc="-35" dirty="0">
                <a:solidFill>
                  <a:srgbClr val="FF7800"/>
                </a:solidFill>
                <a:latin typeface="Calibri"/>
                <a:cs typeface="Calibri"/>
              </a:rPr>
              <a:t> </a:t>
            </a:r>
            <a:r>
              <a:rPr sz="1800" b="1" dirty="0">
                <a:solidFill>
                  <a:srgbClr val="FF7800"/>
                </a:solidFill>
                <a:latin typeface="Calibri"/>
                <a:cs typeface="Calibri"/>
              </a:rPr>
              <a:t>chapitre</a:t>
            </a:r>
            <a:r>
              <a:rPr sz="1800" b="1" spc="-40" dirty="0">
                <a:solidFill>
                  <a:srgbClr val="FF7800"/>
                </a:solidFill>
                <a:latin typeface="Calibri"/>
                <a:cs typeface="Calibri"/>
              </a:rPr>
              <a:t> </a:t>
            </a:r>
            <a:r>
              <a:rPr sz="1800" b="1" spc="-50" dirty="0">
                <a:solidFill>
                  <a:srgbClr val="FF7800"/>
                </a:solidFill>
                <a:latin typeface="Calibri"/>
                <a:cs typeface="Calibri"/>
              </a:rPr>
              <a:t>:</a:t>
            </a:r>
            <a:endParaRPr sz="1800" dirty="0">
              <a:latin typeface="Calibri"/>
              <a:cs typeface="Calibri"/>
            </a:endParaRPr>
          </a:p>
          <a:p>
            <a:pPr marL="356870" indent="-344170">
              <a:lnSpc>
                <a:spcPct val="100000"/>
              </a:lnSpc>
              <a:spcBef>
                <a:spcPts val="2095"/>
              </a:spcBef>
              <a:buFont typeface="Arial"/>
              <a:buChar char="•"/>
              <a:tabLst>
                <a:tab pos="356870" algn="l"/>
              </a:tabLst>
            </a:pPr>
            <a:r>
              <a:rPr sz="1800" dirty="0" err="1">
                <a:solidFill>
                  <a:srgbClr val="555555"/>
                </a:solidFill>
                <a:latin typeface="Calibri"/>
                <a:cs typeface="Calibri"/>
              </a:rPr>
              <a:t>Décrire</a:t>
            </a:r>
            <a:r>
              <a:rPr sz="1800" spc="-40" dirty="0">
                <a:solidFill>
                  <a:srgbClr val="555555"/>
                </a:solidFill>
                <a:latin typeface="Calibri"/>
                <a:cs typeface="Calibri"/>
              </a:rPr>
              <a:t> </a:t>
            </a:r>
            <a:r>
              <a:rPr lang="fr-FR" dirty="0" smtClean="0">
                <a:solidFill>
                  <a:srgbClr val="555555"/>
                </a:solidFill>
                <a:latin typeface="Calibri"/>
                <a:cs typeface="Calibri"/>
              </a:rPr>
              <a:t>la notion et les composants des processus</a:t>
            </a:r>
            <a:endParaRPr sz="1800" dirty="0">
              <a:latin typeface="Calibri"/>
              <a:cs typeface="Calibri"/>
            </a:endParaRPr>
          </a:p>
          <a:p>
            <a:pPr marL="356870" indent="-344170">
              <a:lnSpc>
                <a:spcPct val="100000"/>
              </a:lnSpc>
              <a:spcBef>
                <a:spcPts val="600"/>
              </a:spcBef>
              <a:buFont typeface="Arial"/>
              <a:buChar char="•"/>
              <a:tabLst>
                <a:tab pos="356870" algn="l"/>
              </a:tabLst>
            </a:pPr>
            <a:r>
              <a:rPr sz="1800" dirty="0" err="1">
                <a:solidFill>
                  <a:srgbClr val="555555"/>
                </a:solidFill>
                <a:latin typeface="Calibri"/>
                <a:cs typeface="Calibri"/>
              </a:rPr>
              <a:t>Présenter</a:t>
            </a:r>
            <a:r>
              <a:rPr sz="1800" spc="-45" dirty="0">
                <a:solidFill>
                  <a:srgbClr val="555555"/>
                </a:solidFill>
                <a:latin typeface="Calibri"/>
                <a:cs typeface="Calibri"/>
              </a:rPr>
              <a:t> </a:t>
            </a:r>
            <a:r>
              <a:rPr lang="fr-FR" dirty="0" smtClean="0">
                <a:solidFill>
                  <a:srgbClr val="555555"/>
                </a:solidFill>
                <a:latin typeface="Calibri"/>
                <a:cs typeface="Calibri"/>
              </a:rPr>
              <a:t>les états d’un processus</a:t>
            </a:r>
            <a:endParaRPr sz="1800" dirty="0">
              <a:latin typeface="Calibri"/>
              <a:cs typeface="Calibri"/>
            </a:endParaRPr>
          </a:p>
          <a:p>
            <a:pPr marL="356870" indent="-344170">
              <a:lnSpc>
                <a:spcPct val="100000"/>
              </a:lnSpc>
              <a:spcBef>
                <a:spcPts val="600"/>
              </a:spcBef>
              <a:buFont typeface="Arial"/>
              <a:buChar char="•"/>
              <a:tabLst>
                <a:tab pos="356870" algn="l"/>
              </a:tabLst>
            </a:pPr>
            <a:r>
              <a:rPr sz="1800" dirty="0" err="1">
                <a:solidFill>
                  <a:srgbClr val="555555"/>
                </a:solidFill>
                <a:latin typeface="Calibri"/>
                <a:cs typeface="Calibri"/>
              </a:rPr>
              <a:t>Découvrir</a:t>
            </a:r>
            <a:r>
              <a:rPr sz="1800" spc="-25" dirty="0">
                <a:solidFill>
                  <a:srgbClr val="555555"/>
                </a:solidFill>
                <a:latin typeface="Calibri"/>
                <a:cs typeface="Calibri"/>
              </a:rPr>
              <a:t> </a:t>
            </a:r>
            <a:r>
              <a:rPr sz="1800" dirty="0" smtClean="0">
                <a:solidFill>
                  <a:srgbClr val="555555"/>
                </a:solidFill>
                <a:latin typeface="Calibri"/>
                <a:cs typeface="Calibri"/>
              </a:rPr>
              <a:t>le</a:t>
            </a:r>
            <a:r>
              <a:rPr lang="fr-FR" spc="-30" dirty="0" smtClean="0">
                <a:solidFill>
                  <a:srgbClr val="555555"/>
                </a:solidFill>
                <a:latin typeface="Calibri"/>
                <a:cs typeface="Calibri"/>
              </a:rPr>
              <a:t>s techniques de gestion des processus</a:t>
            </a:r>
          </a:p>
          <a:p>
            <a:pPr marL="356870" indent="-344170">
              <a:lnSpc>
                <a:spcPct val="100000"/>
              </a:lnSpc>
              <a:spcBef>
                <a:spcPts val="600"/>
              </a:spcBef>
              <a:buFont typeface="Arial"/>
              <a:buChar char="•"/>
              <a:tabLst>
                <a:tab pos="356870" algn="l"/>
              </a:tabLst>
            </a:pPr>
            <a:r>
              <a:rPr lang="fr-FR" sz="1800" spc="-30" dirty="0" smtClean="0">
                <a:solidFill>
                  <a:srgbClr val="555555"/>
                </a:solidFill>
                <a:latin typeface="Calibri"/>
                <a:cs typeface="Calibri"/>
              </a:rPr>
              <a:t>Connaître les algorithmes d’ordonnancement</a:t>
            </a:r>
          </a:p>
          <a:p>
            <a:pPr marL="356870" indent="-344170">
              <a:lnSpc>
                <a:spcPct val="100000"/>
              </a:lnSpc>
              <a:spcBef>
                <a:spcPts val="600"/>
              </a:spcBef>
              <a:buFont typeface="Arial"/>
              <a:buChar char="•"/>
              <a:tabLst>
                <a:tab pos="356870" algn="l"/>
              </a:tabLst>
            </a:pPr>
            <a:r>
              <a:rPr lang="fr-FR" spc="-30" dirty="0" smtClean="0">
                <a:solidFill>
                  <a:srgbClr val="555555"/>
                </a:solidFill>
                <a:latin typeface="Calibri"/>
                <a:cs typeface="Calibri"/>
              </a:rPr>
              <a:t>Création et destruction des processus</a:t>
            </a:r>
          </a:p>
          <a:p>
            <a:pPr marL="356870" indent="-344170">
              <a:lnSpc>
                <a:spcPct val="100000"/>
              </a:lnSpc>
              <a:spcBef>
                <a:spcPts val="600"/>
              </a:spcBef>
              <a:buFont typeface="Arial"/>
              <a:buChar char="•"/>
              <a:tabLst>
                <a:tab pos="356870" algn="l"/>
              </a:tabLst>
            </a:pPr>
            <a:r>
              <a:rPr lang="fr-FR" sz="1800" spc="-30" dirty="0" smtClean="0">
                <a:solidFill>
                  <a:srgbClr val="555555"/>
                </a:solidFill>
                <a:latin typeface="Calibri"/>
                <a:cs typeface="Calibri"/>
              </a:rPr>
              <a:t>Découvrir la notion des processus légers</a:t>
            </a:r>
          </a:p>
          <a:p>
            <a:pPr marL="356870" indent="-344170">
              <a:lnSpc>
                <a:spcPct val="100000"/>
              </a:lnSpc>
              <a:spcBef>
                <a:spcPts val="600"/>
              </a:spcBef>
              <a:buFont typeface="Arial"/>
              <a:buChar char="•"/>
              <a:tabLst>
                <a:tab pos="356870" algn="l"/>
              </a:tabLst>
            </a:pPr>
            <a:r>
              <a:rPr lang="fr-FR" spc="-30" dirty="0" smtClean="0">
                <a:solidFill>
                  <a:srgbClr val="555555"/>
                </a:solidFill>
                <a:latin typeface="Calibri"/>
                <a:cs typeface="Calibri"/>
              </a:rPr>
              <a:t>Présenter les techniques de synchronisation</a:t>
            </a:r>
            <a:endParaRPr lang="fr-FR" sz="1800" spc="-30" dirty="0" smtClean="0">
              <a:solidFill>
                <a:srgbClr val="555555"/>
              </a:solidFill>
              <a:latin typeface="Calibri"/>
              <a:cs typeface="Calibri"/>
            </a:endParaRPr>
          </a:p>
          <a:p>
            <a:pPr marL="12700">
              <a:lnSpc>
                <a:spcPct val="100000"/>
              </a:lnSpc>
              <a:spcBef>
                <a:spcPts val="600"/>
              </a:spcBef>
              <a:tabLst>
                <a:tab pos="356870" algn="l"/>
              </a:tabLst>
            </a:pPr>
            <a:endParaRPr sz="1800" dirty="0">
              <a:latin typeface="Calibri"/>
              <a:cs typeface="Calibri"/>
            </a:endParaRPr>
          </a:p>
        </p:txBody>
      </p:sp>
    </p:spTree>
    <p:extLst>
      <p:ext uri="{BB962C8B-B14F-4D97-AF65-F5344CB8AC3E}">
        <p14:creationId xmlns:p14="http://schemas.microsoft.com/office/powerpoint/2010/main" val="3376147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11" name="object 11"/>
          <p:cNvSpPr txBox="1"/>
          <p:nvPr/>
        </p:nvSpPr>
        <p:spPr>
          <a:xfrm>
            <a:off x="798982" y="1691975"/>
            <a:ext cx="10591165" cy="4426853"/>
          </a:xfrm>
          <a:prstGeom prst="rect">
            <a:avLst/>
          </a:prstGeom>
        </p:spPr>
        <p:txBody>
          <a:bodyPr vert="horz" wrap="square" lIns="0" tIns="12700" rIns="0" bIns="0" rtlCol="0">
            <a:spAutoFit/>
          </a:bodyPr>
          <a:lstStyle/>
          <a:p>
            <a:pPr marL="12700" marR="5080" algn="just">
              <a:lnSpc>
                <a:spcPct val="150100"/>
              </a:lnSpc>
              <a:spcBef>
                <a:spcPts val="100"/>
              </a:spcBef>
            </a:pPr>
            <a:r>
              <a:rPr sz="1400" dirty="0">
                <a:solidFill>
                  <a:srgbClr val="555555"/>
                </a:solidFill>
                <a:latin typeface="Calibri"/>
                <a:cs typeface="Calibri"/>
              </a:rPr>
              <a:t>Le</a:t>
            </a:r>
            <a:r>
              <a:rPr sz="1400" spc="-20" dirty="0">
                <a:solidFill>
                  <a:srgbClr val="555555"/>
                </a:solidFill>
                <a:latin typeface="Calibri"/>
                <a:cs typeface="Calibri"/>
              </a:rPr>
              <a:t> </a:t>
            </a:r>
            <a:r>
              <a:rPr sz="1400" dirty="0">
                <a:solidFill>
                  <a:srgbClr val="555555"/>
                </a:solidFill>
                <a:latin typeface="Calibri"/>
                <a:cs typeface="Calibri"/>
              </a:rPr>
              <a:t>système</a:t>
            </a:r>
            <a:r>
              <a:rPr sz="1400" spc="-15" dirty="0">
                <a:solidFill>
                  <a:srgbClr val="555555"/>
                </a:solidFill>
                <a:latin typeface="Calibri"/>
                <a:cs typeface="Calibri"/>
              </a:rPr>
              <a:t> </a:t>
            </a:r>
            <a:r>
              <a:rPr sz="1400" spc="-20" dirty="0">
                <a:solidFill>
                  <a:srgbClr val="555555"/>
                </a:solidFill>
                <a:latin typeface="Calibri"/>
                <a:cs typeface="Calibri"/>
              </a:rPr>
              <a:t>d’exploitation </a:t>
            </a:r>
            <a:r>
              <a:rPr sz="1400" dirty="0">
                <a:solidFill>
                  <a:srgbClr val="555555"/>
                </a:solidFill>
                <a:latin typeface="Calibri"/>
                <a:cs typeface="Calibri"/>
              </a:rPr>
              <a:t>fournit</a:t>
            </a:r>
            <a:r>
              <a:rPr sz="1400" spc="-10" dirty="0">
                <a:solidFill>
                  <a:srgbClr val="555555"/>
                </a:solidFill>
                <a:latin typeface="Calibri"/>
                <a:cs typeface="Calibri"/>
              </a:rPr>
              <a:t> </a:t>
            </a:r>
            <a:r>
              <a:rPr sz="1400" dirty="0">
                <a:solidFill>
                  <a:srgbClr val="555555"/>
                </a:solidFill>
                <a:latin typeface="Calibri"/>
                <a:cs typeface="Calibri"/>
              </a:rPr>
              <a:t>un</a:t>
            </a:r>
            <a:r>
              <a:rPr sz="1400" spc="-25" dirty="0">
                <a:solidFill>
                  <a:srgbClr val="555555"/>
                </a:solidFill>
                <a:latin typeface="Calibri"/>
                <a:cs typeface="Calibri"/>
              </a:rPr>
              <a:t> </a:t>
            </a:r>
            <a:r>
              <a:rPr sz="1400" dirty="0">
                <a:solidFill>
                  <a:srgbClr val="555555"/>
                </a:solidFill>
                <a:latin typeface="Calibri"/>
                <a:cs typeface="Calibri"/>
              </a:rPr>
              <a:t>ensemble</a:t>
            </a:r>
            <a:r>
              <a:rPr sz="1400" spc="-15" dirty="0">
                <a:solidFill>
                  <a:srgbClr val="555555"/>
                </a:solidFill>
                <a:latin typeface="Calibri"/>
                <a:cs typeface="Calibri"/>
              </a:rPr>
              <a:t> </a:t>
            </a:r>
            <a:r>
              <a:rPr sz="1400" dirty="0">
                <a:solidFill>
                  <a:srgbClr val="555555"/>
                </a:solidFill>
                <a:latin typeface="Calibri"/>
                <a:cs typeface="Calibri"/>
              </a:rPr>
              <a:t>de</a:t>
            </a:r>
            <a:r>
              <a:rPr sz="1400" spc="5" dirty="0">
                <a:solidFill>
                  <a:srgbClr val="555555"/>
                </a:solidFill>
                <a:latin typeface="Calibri"/>
                <a:cs typeface="Calibri"/>
              </a:rPr>
              <a:t> </a:t>
            </a:r>
            <a:r>
              <a:rPr sz="1400" dirty="0">
                <a:solidFill>
                  <a:srgbClr val="555555"/>
                </a:solidFill>
                <a:latin typeface="Calibri"/>
                <a:cs typeface="Calibri"/>
              </a:rPr>
              <a:t>services</a:t>
            </a:r>
            <a:r>
              <a:rPr sz="1400" spc="-15" dirty="0">
                <a:solidFill>
                  <a:srgbClr val="555555"/>
                </a:solidFill>
                <a:latin typeface="Calibri"/>
                <a:cs typeface="Calibri"/>
              </a:rPr>
              <a:t> </a:t>
            </a:r>
            <a:r>
              <a:rPr sz="1400" dirty="0">
                <a:solidFill>
                  <a:srgbClr val="555555"/>
                </a:solidFill>
                <a:latin typeface="Calibri"/>
                <a:cs typeface="Calibri"/>
              </a:rPr>
              <a:t>qui</a:t>
            </a:r>
            <a:r>
              <a:rPr sz="1400" spc="-30" dirty="0">
                <a:solidFill>
                  <a:srgbClr val="555555"/>
                </a:solidFill>
                <a:latin typeface="Calibri"/>
                <a:cs typeface="Calibri"/>
              </a:rPr>
              <a:t> </a:t>
            </a:r>
            <a:r>
              <a:rPr sz="1400" dirty="0">
                <a:solidFill>
                  <a:srgbClr val="555555"/>
                </a:solidFill>
                <a:latin typeface="Calibri"/>
                <a:cs typeface="Calibri"/>
              </a:rPr>
              <a:t>facilitent</a:t>
            </a:r>
            <a:r>
              <a:rPr sz="1400" spc="-10" dirty="0">
                <a:solidFill>
                  <a:srgbClr val="555555"/>
                </a:solidFill>
                <a:latin typeface="Calibri"/>
                <a:cs typeface="Calibri"/>
              </a:rPr>
              <a:t> </a:t>
            </a:r>
            <a:r>
              <a:rPr sz="1400" dirty="0">
                <a:solidFill>
                  <a:srgbClr val="555555"/>
                </a:solidFill>
                <a:latin typeface="Calibri"/>
                <a:cs typeface="Calibri"/>
              </a:rPr>
              <a:t>la</a:t>
            </a:r>
            <a:r>
              <a:rPr sz="1400" spc="-15" dirty="0">
                <a:solidFill>
                  <a:srgbClr val="555555"/>
                </a:solidFill>
                <a:latin typeface="Calibri"/>
                <a:cs typeface="Calibri"/>
              </a:rPr>
              <a:t> </a:t>
            </a:r>
            <a:r>
              <a:rPr sz="1400" dirty="0">
                <a:solidFill>
                  <a:srgbClr val="555555"/>
                </a:solidFill>
                <a:latin typeface="Calibri"/>
                <a:cs typeface="Calibri"/>
              </a:rPr>
              <a:t>création</a:t>
            </a:r>
            <a:r>
              <a:rPr sz="1400" spc="-25" dirty="0">
                <a:solidFill>
                  <a:srgbClr val="555555"/>
                </a:solidFill>
                <a:latin typeface="Calibri"/>
                <a:cs typeface="Calibri"/>
              </a:rPr>
              <a:t> </a:t>
            </a:r>
            <a:r>
              <a:rPr sz="1400" dirty="0">
                <a:solidFill>
                  <a:srgbClr val="555555"/>
                </a:solidFill>
                <a:latin typeface="Calibri"/>
                <a:cs typeface="Calibri"/>
              </a:rPr>
              <a:t>et</a:t>
            </a:r>
            <a:r>
              <a:rPr sz="1400" spc="-10" dirty="0">
                <a:solidFill>
                  <a:srgbClr val="555555"/>
                </a:solidFill>
                <a:latin typeface="Calibri"/>
                <a:cs typeface="Calibri"/>
              </a:rPr>
              <a:t> </a:t>
            </a:r>
            <a:r>
              <a:rPr sz="1400" dirty="0">
                <a:solidFill>
                  <a:srgbClr val="555555"/>
                </a:solidFill>
                <a:latin typeface="Calibri"/>
                <a:cs typeface="Calibri"/>
              </a:rPr>
              <a:t>l’utilisation des</a:t>
            </a:r>
            <a:r>
              <a:rPr sz="1400" spc="-10" dirty="0">
                <a:solidFill>
                  <a:srgbClr val="555555"/>
                </a:solidFill>
                <a:latin typeface="Calibri"/>
                <a:cs typeface="Calibri"/>
              </a:rPr>
              <a:t> </a:t>
            </a:r>
            <a:r>
              <a:rPr sz="1400" dirty="0">
                <a:solidFill>
                  <a:srgbClr val="555555"/>
                </a:solidFill>
                <a:latin typeface="Calibri"/>
                <a:cs typeface="Calibri"/>
              </a:rPr>
              <a:t>logiciels</a:t>
            </a:r>
            <a:r>
              <a:rPr sz="1400" spc="-10" dirty="0">
                <a:solidFill>
                  <a:srgbClr val="555555"/>
                </a:solidFill>
                <a:latin typeface="Calibri"/>
                <a:cs typeface="Calibri"/>
              </a:rPr>
              <a:t> </a:t>
            </a:r>
            <a:r>
              <a:rPr sz="1400" dirty="0">
                <a:solidFill>
                  <a:srgbClr val="555555"/>
                </a:solidFill>
                <a:latin typeface="Calibri"/>
                <a:cs typeface="Calibri"/>
              </a:rPr>
              <a:t>applicatifs.</a:t>
            </a:r>
            <a:r>
              <a:rPr sz="1400" spc="-5" dirty="0">
                <a:solidFill>
                  <a:srgbClr val="555555"/>
                </a:solidFill>
                <a:latin typeface="Calibri"/>
                <a:cs typeface="Calibri"/>
              </a:rPr>
              <a:t> </a:t>
            </a:r>
            <a:r>
              <a:rPr sz="1400" dirty="0" err="1" smtClean="0">
                <a:solidFill>
                  <a:srgbClr val="555555"/>
                </a:solidFill>
                <a:latin typeface="Calibri"/>
                <a:cs typeface="Calibri"/>
              </a:rPr>
              <a:t>Ces</a:t>
            </a:r>
            <a:r>
              <a:rPr sz="1400" spc="10" dirty="0" smtClean="0">
                <a:solidFill>
                  <a:srgbClr val="555555"/>
                </a:solidFill>
                <a:latin typeface="Calibri"/>
                <a:cs typeface="Calibri"/>
              </a:rPr>
              <a:t> </a:t>
            </a:r>
            <a:r>
              <a:rPr sz="1400" dirty="0">
                <a:solidFill>
                  <a:srgbClr val="555555"/>
                </a:solidFill>
                <a:latin typeface="Calibri"/>
                <a:cs typeface="Calibri"/>
              </a:rPr>
              <a:t>services</a:t>
            </a:r>
            <a:r>
              <a:rPr sz="1400" spc="10" dirty="0">
                <a:solidFill>
                  <a:srgbClr val="555555"/>
                </a:solidFill>
                <a:latin typeface="Calibri"/>
                <a:cs typeface="Calibri"/>
              </a:rPr>
              <a:t> </a:t>
            </a:r>
            <a:r>
              <a:rPr sz="1400" dirty="0">
                <a:solidFill>
                  <a:srgbClr val="555555"/>
                </a:solidFill>
                <a:latin typeface="Calibri"/>
                <a:cs typeface="Calibri"/>
              </a:rPr>
              <a:t>vont</a:t>
            </a:r>
            <a:r>
              <a:rPr sz="1400" spc="-15" dirty="0">
                <a:solidFill>
                  <a:srgbClr val="555555"/>
                </a:solidFill>
                <a:latin typeface="Calibri"/>
                <a:cs typeface="Calibri"/>
              </a:rPr>
              <a:t> </a:t>
            </a:r>
            <a:r>
              <a:rPr sz="1400" spc="-10" dirty="0">
                <a:solidFill>
                  <a:srgbClr val="555555"/>
                </a:solidFill>
                <a:latin typeface="Calibri"/>
                <a:cs typeface="Calibri"/>
              </a:rPr>
              <a:t>permettre</a:t>
            </a:r>
            <a:r>
              <a:rPr sz="1400" spc="-25" dirty="0">
                <a:solidFill>
                  <a:srgbClr val="555555"/>
                </a:solidFill>
                <a:latin typeface="Calibri"/>
                <a:cs typeface="Calibri"/>
              </a:rPr>
              <a:t> </a:t>
            </a:r>
            <a:r>
              <a:rPr sz="1400" dirty="0">
                <a:solidFill>
                  <a:srgbClr val="555555"/>
                </a:solidFill>
                <a:latin typeface="Calibri"/>
                <a:cs typeface="Calibri"/>
              </a:rPr>
              <a:t>à</a:t>
            </a:r>
            <a:r>
              <a:rPr sz="1400" spc="-5" dirty="0">
                <a:solidFill>
                  <a:srgbClr val="555555"/>
                </a:solidFill>
                <a:latin typeface="Calibri"/>
                <a:cs typeface="Calibri"/>
              </a:rPr>
              <a:t> </a:t>
            </a:r>
            <a:r>
              <a:rPr sz="1400" dirty="0">
                <a:solidFill>
                  <a:srgbClr val="555555"/>
                </a:solidFill>
                <a:latin typeface="Calibri"/>
                <a:cs typeface="Calibri"/>
              </a:rPr>
              <a:t>plusieurs</a:t>
            </a:r>
            <a:r>
              <a:rPr sz="1400" spc="15" dirty="0">
                <a:solidFill>
                  <a:srgbClr val="555555"/>
                </a:solidFill>
                <a:latin typeface="Calibri"/>
                <a:cs typeface="Calibri"/>
              </a:rPr>
              <a:t> </a:t>
            </a:r>
            <a:r>
              <a:rPr sz="1400" spc="-10" dirty="0">
                <a:solidFill>
                  <a:srgbClr val="555555"/>
                </a:solidFill>
                <a:latin typeface="Calibri"/>
                <a:cs typeface="Calibri"/>
              </a:rPr>
              <a:t>programmes</a:t>
            </a:r>
            <a:r>
              <a:rPr sz="1400" spc="-15" dirty="0">
                <a:solidFill>
                  <a:srgbClr val="555555"/>
                </a:solidFill>
                <a:latin typeface="Calibri"/>
                <a:cs typeface="Calibri"/>
              </a:rPr>
              <a:t> </a:t>
            </a:r>
            <a:r>
              <a:rPr sz="1400" dirty="0">
                <a:solidFill>
                  <a:srgbClr val="555555"/>
                </a:solidFill>
                <a:latin typeface="Calibri"/>
                <a:cs typeface="Calibri"/>
              </a:rPr>
              <a:t>et</a:t>
            </a:r>
            <a:r>
              <a:rPr sz="1400" spc="-25" dirty="0">
                <a:solidFill>
                  <a:srgbClr val="555555"/>
                </a:solidFill>
                <a:latin typeface="Calibri"/>
                <a:cs typeface="Calibri"/>
              </a:rPr>
              <a:t> </a:t>
            </a:r>
            <a:r>
              <a:rPr sz="1400" dirty="0">
                <a:solidFill>
                  <a:srgbClr val="555555"/>
                </a:solidFill>
                <a:latin typeface="Calibri"/>
                <a:cs typeface="Calibri"/>
              </a:rPr>
              <a:t>à </a:t>
            </a:r>
            <a:r>
              <a:rPr sz="1400" spc="-10" dirty="0">
                <a:solidFill>
                  <a:srgbClr val="555555"/>
                </a:solidFill>
                <a:latin typeface="Calibri"/>
                <a:cs typeface="Calibri"/>
              </a:rPr>
              <a:t>plusieurs usagers</a:t>
            </a:r>
            <a:r>
              <a:rPr sz="1400" spc="-50" dirty="0">
                <a:solidFill>
                  <a:srgbClr val="555555"/>
                </a:solidFill>
                <a:latin typeface="Calibri"/>
                <a:cs typeface="Calibri"/>
              </a:rPr>
              <a:t> </a:t>
            </a:r>
            <a:r>
              <a:rPr sz="1400" dirty="0">
                <a:solidFill>
                  <a:srgbClr val="555555"/>
                </a:solidFill>
                <a:latin typeface="Calibri"/>
                <a:cs typeface="Calibri"/>
              </a:rPr>
              <a:t>de</a:t>
            </a:r>
            <a:r>
              <a:rPr sz="1400" spc="-10" dirty="0">
                <a:solidFill>
                  <a:srgbClr val="555555"/>
                </a:solidFill>
                <a:latin typeface="Calibri"/>
                <a:cs typeface="Calibri"/>
              </a:rPr>
              <a:t> </a:t>
            </a:r>
            <a:r>
              <a:rPr sz="1400" dirty="0">
                <a:solidFill>
                  <a:srgbClr val="555555"/>
                </a:solidFill>
                <a:latin typeface="Calibri"/>
                <a:cs typeface="Calibri"/>
              </a:rPr>
              <a:t>partager</a:t>
            </a:r>
            <a:r>
              <a:rPr sz="1400" spc="-60" dirty="0">
                <a:solidFill>
                  <a:srgbClr val="555555"/>
                </a:solidFill>
                <a:latin typeface="Calibri"/>
                <a:cs typeface="Calibri"/>
              </a:rPr>
              <a:t> </a:t>
            </a:r>
            <a:r>
              <a:rPr sz="1400" dirty="0">
                <a:solidFill>
                  <a:srgbClr val="555555"/>
                </a:solidFill>
                <a:latin typeface="Calibri"/>
                <a:cs typeface="Calibri"/>
              </a:rPr>
              <a:t>les</a:t>
            </a:r>
            <a:r>
              <a:rPr sz="1400" spc="-25" dirty="0">
                <a:solidFill>
                  <a:srgbClr val="555555"/>
                </a:solidFill>
                <a:latin typeface="Calibri"/>
                <a:cs typeface="Calibri"/>
              </a:rPr>
              <a:t> </a:t>
            </a:r>
            <a:r>
              <a:rPr sz="1400" spc="-10" dirty="0">
                <a:solidFill>
                  <a:srgbClr val="555555"/>
                </a:solidFill>
                <a:latin typeface="Calibri"/>
                <a:cs typeface="Calibri"/>
              </a:rPr>
              <a:t>ressources</a:t>
            </a:r>
            <a:r>
              <a:rPr sz="1400" spc="25" dirty="0">
                <a:solidFill>
                  <a:srgbClr val="555555"/>
                </a:solidFill>
                <a:latin typeface="Calibri"/>
                <a:cs typeface="Calibri"/>
              </a:rPr>
              <a:t> </a:t>
            </a:r>
            <a:r>
              <a:rPr sz="1400" dirty="0">
                <a:solidFill>
                  <a:srgbClr val="555555"/>
                </a:solidFill>
                <a:latin typeface="Calibri"/>
                <a:cs typeface="Calibri"/>
              </a:rPr>
              <a:t>de</a:t>
            </a:r>
            <a:r>
              <a:rPr sz="1400" spc="-15" dirty="0">
                <a:solidFill>
                  <a:srgbClr val="555555"/>
                </a:solidFill>
                <a:latin typeface="Calibri"/>
                <a:cs typeface="Calibri"/>
              </a:rPr>
              <a:t> </a:t>
            </a:r>
            <a:r>
              <a:rPr sz="1400" spc="-20" dirty="0">
                <a:solidFill>
                  <a:srgbClr val="555555"/>
                </a:solidFill>
                <a:latin typeface="Calibri"/>
                <a:cs typeface="Calibri"/>
              </a:rPr>
              <a:t>l’ordinateur</a:t>
            </a:r>
            <a:r>
              <a:rPr sz="1400" spc="25" dirty="0">
                <a:solidFill>
                  <a:srgbClr val="555555"/>
                </a:solidFill>
                <a:latin typeface="Calibri"/>
                <a:cs typeface="Calibri"/>
              </a:rPr>
              <a:t> </a:t>
            </a:r>
            <a:r>
              <a:rPr sz="1400" dirty="0">
                <a:solidFill>
                  <a:srgbClr val="555555"/>
                </a:solidFill>
                <a:latin typeface="Calibri"/>
                <a:cs typeface="Calibri"/>
              </a:rPr>
              <a:t>d’une</a:t>
            </a:r>
            <a:r>
              <a:rPr sz="1400" spc="-20" dirty="0">
                <a:solidFill>
                  <a:srgbClr val="555555"/>
                </a:solidFill>
                <a:latin typeface="Calibri"/>
                <a:cs typeface="Calibri"/>
              </a:rPr>
              <a:t> </a:t>
            </a:r>
            <a:r>
              <a:rPr sz="1400" dirty="0">
                <a:solidFill>
                  <a:srgbClr val="555555"/>
                </a:solidFill>
                <a:latin typeface="Calibri"/>
                <a:cs typeface="Calibri"/>
              </a:rPr>
              <a:t>manière</a:t>
            </a:r>
            <a:r>
              <a:rPr sz="1400" spc="10" dirty="0">
                <a:solidFill>
                  <a:srgbClr val="555555"/>
                </a:solidFill>
                <a:latin typeface="Calibri"/>
                <a:cs typeface="Calibri"/>
              </a:rPr>
              <a:t> </a:t>
            </a:r>
            <a:r>
              <a:rPr sz="1400" dirty="0">
                <a:solidFill>
                  <a:srgbClr val="555555"/>
                </a:solidFill>
                <a:latin typeface="Calibri"/>
                <a:cs typeface="Calibri"/>
              </a:rPr>
              <a:t>fiable, rapide</a:t>
            </a:r>
            <a:r>
              <a:rPr sz="1400" spc="-5" dirty="0">
                <a:solidFill>
                  <a:srgbClr val="555555"/>
                </a:solidFill>
                <a:latin typeface="Calibri"/>
                <a:cs typeface="Calibri"/>
              </a:rPr>
              <a:t> </a:t>
            </a:r>
            <a:r>
              <a:rPr sz="1400" dirty="0">
                <a:solidFill>
                  <a:srgbClr val="555555"/>
                </a:solidFill>
                <a:latin typeface="Calibri"/>
                <a:cs typeface="Calibri"/>
              </a:rPr>
              <a:t>et</a:t>
            </a:r>
            <a:r>
              <a:rPr sz="1400" spc="-35" dirty="0">
                <a:solidFill>
                  <a:srgbClr val="555555"/>
                </a:solidFill>
                <a:latin typeface="Calibri"/>
                <a:cs typeface="Calibri"/>
              </a:rPr>
              <a:t> </a:t>
            </a:r>
            <a:r>
              <a:rPr sz="1400" spc="-10" dirty="0">
                <a:solidFill>
                  <a:srgbClr val="555555"/>
                </a:solidFill>
                <a:latin typeface="Calibri"/>
                <a:cs typeface="Calibri"/>
              </a:rPr>
              <a:t>rationnelle.</a:t>
            </a:r>
            <a:endParaRPr sz="1400" dirty="0">
              <a:latin typeface="Calibri"/>
              <a:cs typeface="Calibri"/>
            </a:endParaRPr>
          </a:p>
          <a:p>
            <a:pPr marL="12700" algn="just">
              <a:lnSpc>
                <a:spcPct val="100000"/>
              </a:lnSpc>
              <a:spcBef>
                <a:spcPts val="1320"/>
              </a:spcBef>
            </a:pPr>
            <a:r>
              <a:rPr sz="1400" dirty="0">
                <a:solidFill>
                  <a:srgbClr val="555555"/>
                </a:solidFill>
                <a:latin typeface="Calibri"/>
                <a:cs typeface="Calibri"/>
              </a:rPr>
              <a:t>Dans</a:t>
            </a:r>
            <a:r>
              <a:rPr sz="1400" spc="-20" dirty="0">
                <a:solidFill>
                  <a:srgbClr val="555555"/>
                </a:solidFill>
                <a:latin typeface="Calibri"/>
                <a:cs typeface="Calibri"/>
              </a:rPr>
              <a:t> </a:t>
            </a:r>
            <a:r>
              <a:rPr sz="1400" dirty="0">
                <a:solidFill>
                  <a:srgbClr val="555555"/>
                </a:solidFill>
                <a:latin typeface="Calibri"/>
                <a:cs typeface="Calibri"/>
              </a:rPr>
              <a:t>la</a:t>
            </a:r>
            <a:r>
              <a:rPr sz="1400" spc="-5" dirty="0">
                <a:solidFill>
                  <a:srgbClr val="555555"/>
                </a:solidFill>
                <a:latin typeface="Calibri"/>
                <a:cs typeface="Calibri"/>
              </a:rPr>
              <a:t> </a:t>
            </a:r>
            <a:r>
              <a:rPr sz="1400" dirty="0">
                <a:solidFill>
                  <a:srgbClr val="555555"/>
                </a:solidFill>
                <a:latin typeface="Calibri"/>
                <a:cs typeface="Calibri"/>
              </a:rPr>
              <a:t>partie</a:t>
            </a:r>
            <a:r>
              <a:rPr sz="1400" spc="-5" dirty="0">
                <a:solidFill>
                  <a:srgbClr val="555555"/>
                </a:solidFill>
                <a:latin typeface="Calibri"/>
                <a:cs typeface="Calibri"/>
              </a:rPr>
              <a:t> </a:t>
            </a:r>
            <a:r>
              <a:rPr sz="1400" spc="-10" dirty="0">
                <a:solidFill>
                  <a:srgbClr val="555555"/>
                </a:solidFill>
                <a:latin typeface="Calibri"/>
                <a:cs typeface="Calibri"/>
              </a:rPr>
              <a:t>suivante,</a:t>
            </a:r>
            <a:r>
              <a:rPr sz="1400" spc="-35" dirty="0">
                <a:solidFill>
                  <a:srgbClr val="555555"/>
                </a:solidFill>
                <a:latin typeface="Calibri"/>
                <a:cs typeface="Calibri"/>
              </a:rPr>
              <a:t> </a:t>
            </a:r>
            <a:r>
              <a:rPr sz="1400" dirty="0">
                <a:solidFill>
                  <a:srgbClr val="555555"/>
                </a:solidFill>
                <a:latin typeface="Calibri"/>
                <a:cs typeface="Calibri"/>
              </a:rPr>
              <a:t>on</a:t>
            </a:r>
            <a:r>
              <a:rPr sz="1400" spc="-15" dirty="0">
                <a:solidFill>
                  <a:srgbClr val="555555"/>
                </a:solidFill>
                <a:latin typeface="Calibri"/>
                <a:cs typeface="Calibri"/>
              </a:rPr>
              <a:t> </a:t>
            </a:r>
            <a:r>
              <a:rPr sz="1400" dirty="0">
                <a:solidFill>
                  <a:srgbClr val="555555"/>
                </a:solidFill>
                <a:latin typeface="Calibri"/>
                <a:cs typeface="Calibri"/>
              </a:rPr>
              <a:t>va</a:t>
            </a:r>
            <a:r>
              <a:rPr sz="1400" spc="-30" dirty="0">
                <a:solidFill>
                  <a:srgbClr val="555555"/>
                </a:solidFill>
                <a:latin typeface="Calibri"/>
                <a:cs typeface="Calibri"/>
              </a:rPr>
              <a:t> </a:t>
            </a:r>
            <a:r>
              <a:rPr sz="1400" dirty="0">
                <a:solidFill>
                  <a:srgbClr val="555555"/>
                </a:solidFill>
                <a:latin typeface="Calibri"/>
                <a:cs typeface="Calibri"/>
              </a:rPr>
              <a:t>découvrir</a:t>
            </a:r>
            <a:r>
              <a:rPr sz="1400" spc="-5" dirty="0">
                <a:solidFill>
                  <a:srgbClr val="555555"/>
                </a:solidFill>
                <a:latin typeface="Calibri"/>
                <a:cs typeface="Calibri"/>
              </a:rPr>
              <a:t> </a:t>
            </a:r>
            <a:r>
              <a:rPr sz="1400" dirty="0">
                <a:solidFill>
                  <a:srgbClr val="555555"/>
                </a:solidFill>
                <a:latin typeface="Calibri"/>
                <a:cs typeface="Calibri"/>
              </a:rPr>
              <a:t>en</a:t>
            </a:r>
            <a:r>
              <a:rPr sz="1400" spc="-35" dirty="0">
                <a:solidFill>
                  <a:srgbClr val="555555"/>
                </a:solidFill>
                <a:latin typeface="Calibri"/>
                <a:cs typeface="Calibri"/>
              </a:rPr>
              <a:t> </a:t>
            </a:r>
            <a:r>
              <a:rPr sz="1400" dirty="0">
                <a:solidFill>
                  <a:srgbClr val="555555"/>
                </a:solidFill>
                <a:latin typeface="Calibri"/>
                <a:cs typeface="Calibri"/>
              </a:rPr>
              <a:t>détail</a:t>
            </a:r>
            <a:r>
              <a:rPr sz="1400" spc="-20" dirty="0">
                <a:solidFill>
                  <a:srgbClr val="555555"/>
                </a:solidFill>
                <a:latin typeface="Calibri"/>
                <a:cs typeface="Calibri"/>
              </a:rPr>
              <a:t> </a:t>
            </a:r>
            <a:r>
              <a:rPr sz="1400" dirty="0">
                <a:solidFill>
                  <a:srgbClr val="555555"/>
                </a:solidFill>
                <a:latin typeface="Calibri"/>
                <a:cs typeface="Calibri"/>
              </a:rPr>
              <a:t>les </a:t>
            </a:r>
            <a:r>
              <a:rPr sz="1400" b="1" i="1" spc="-10" dirty="0">
                <a:solidFill>
                  <a:srgbClr val="FF7800"/>
                </a:solidFill>
                <a:latin typeface="Calibri"/>
                <a:cs typeface="Calibri"/>
              </a:rPr>
              <a:t>concepts</a:t>
            </a:r>
            <a:r>
              <a:rPr sz="1400" b="1" i="1" spc="-20" dirty="0">
                <a:solidFill>
                  <a:srgbClr val="FF7800"/>
                </a:solidFill>
                <a:latin typeface="Calibri"/>
                <a:cs typeface="Calibri"/>
              </a:rPr>
              <a:t> </a:t>
            </a:r>
            <a:r>
              <a:rPr sz="1400" b="1" i="1" spc="-10" dirty="0">
                <a:solidFill>
                  <a:srgbClr val="FF7800"/>
                </a:solidFill>
                <a:latin typeface="Calibri"/>
                <a:cs typeface="Calibri"/>
              </a:rPr>
              <a:t>fondamentaux</a:t>
            </a:r>
            <a:r>
              <a:rPr sz="1400" b="1" i="1" spc="60" dirty="0">
                <a:solidFill>
                  <a:srgbClr val="FF7800"/>
                </a:solidFill>
                <a:latin typeface="Calibri"/>
                <a:cs typeface="Calibri"/>
              </a:rPr>
              <a:t> </a:t>
            </a:r>
            <a:r>
              <a:rPr sz="1400" spc="-10" dirty="0">
                <a:solidFill>
                  <a:srgbClr val="555555"/>
                </a:solidFill>
                <a:latin typeface="Calibri"/>
                <a:cs typeface="Calibri"/>
              </a:rPr>
              <a:t>suivant</a:t>
            </a:r>
            <a:r>
              <a:rPr sz="1400" spc="-45" dirty="0">
                <a:solidFill>
                  <a:srgbClr val="555555"/>
                </a:solidFill>
                <a:latin typeface="Calibri"/>
                <a:cs typeface="Calibri"/>
              </a:rPr>
              <a:t> </a:t>
            </a:r>
            <a:r>
              <a:rPr sz="1400" dirty="0">
                <a:solidFill>
                  <a:srgbClr val="555555"/>
                </a:solidFill>
                <a:latin typeface="Calibri"/>
                <a:cs typeface="Calibri"/>
              </a:rPr>
              <a:t>d’un</a:t>
            </a:r>
            <a:r>
              <a:rPr sz="1400" spc="-10" dirty="0">
                <a:solidFill>
                  <a:srgbClr val="555555"/>
                </a:solidFill>
                <a:latin typeface="Calibri"/>
                <a:cs typeface="Calibri"/>
              </a:rPr>
              <a:t> </a:t>
            </a:r>
            <a:r>
              <a:rPr sz="1400" dirty="0">
                <a:solidFill>
                  <a:srgbClr val="555555"/>
                </a:solidFill>
                <a:latin typeface="Calibri"/>
                <a:cs typeface="Calibri"/>
              </a:rPr>
              <a:t>OS</a:t>
            </a:r>
            <a:r>
              <a:rPr sz="1400" spc="-10" dirty="0">
                <a:solidFill>
                  <a:srgbClr val="555555"/>
                </a:solidFill>
                <a:latin typeface="Calibri"/>
                <a:cs typeface="Calibri"/>
              </a:rPr>
              <a:t> </a:t>
            </a:r>
            <a:r>
              <a:rPr sz="1400" spc="-50" dirty="0">
                <a:solidFill>
                  <a:srgbClr val="555555"/>
                </a:solidFill>
                <a:latin typeface="Calibri"/>
                <a:cs typeface="Calibri"/>
              </a:rPr>
              <a:t>:</a:t>
            </a:r>
            <a:endParaRPr sz="1400" dirty="0">
              <a:latin typeface="Calibri"/>
              <a:cs typeface="Calibri"/>
            </a:endParaRPr>
          </a:p>
          <a:p>
            <a:pPr>
              <a:lnSpc>
                <a:spcPct val="100000"/>
              </a:lnSpc>
              <a:buClr>
                <a:srgbClr val="FF7800"/>
              </a:buClr>
            </a:pPr>
            <a:endParaRPr sz="1400" dirty="0">
              <a:latin typeface="Calibri"/>
              <a:cs typeface="Calibri"/>
            </a:endParaRPr>
          </a:p>
          <a:p>
            <a:pPr>
              <a:lnSpc>
                <a:spcPct val="100000"/>
              </a:lnSpc>
              <a:spcBef>
                <a:spcPts val="25"/>
              </a:spcBef>
              <a:buClr>
                <a:srgbClr val="FF7800"/>
              </a:buClr>
              <a:buFont typeface="Calibri"/>
              <a:buAutoNum type="arabicPeriod"/>
            </a:pPr>
            <a:endParaRPr sz="1400" dirty="0">
              <a:latin typeface="Calibri"/>
              <a:cs typeface="Calibri"/>
            </a:endParaRPr>
          </a:p>
          <a:p>
            <a:pPr marL="1384300" indent="-286385">
              <a:buFontTx/>
              <a:buAutoNum type="arabicPeriod"/>
              <a:tabLst>
                <a:tab pos="1384300" algn="l"/>
              </a:tabLst>
            </a:pPr>
            <a:r>
              <a:rPr lang="fr-FR" sz="1400" b="1" dirty="0" smtClean="0">
                <a:solidFill>
                  <a:srgbClr val="FF7800"/>
                </a:solidFill>
                <a:latin typeface="Calibri"/>
                <a:cs typeface="Calibri"/>
              </a:rPr>
              <a:t>La</a:t>
            </a:r>
            <a:r>
              <a:rPr lang="fr-FR" sz="1400" b="1" spc="-40" dirty="0" smtClean="0">
                <a:solidFill>
                  <a:srgbClr val="FF7800"/>
                </a:solidFill>
                <a:latin typeface="Calibri"/>
                <a:cs typeface="Calibri"/>
              </a:rPr>
              <a:t> </a:t>
            </a:r>
            <a:r>
              <a:rPr lang="fr-FR" sz="1400" b="1" dirty="0" smtClean="0">
                <a:solidFill>
                  <a:srgbClr val="FF7800"/>
                </a:solidFill>
                <a:latin typeface="Calibri"/>
                <a:cs typeface="Calibri"/>
              </a:rPr>
              <a:t>gestion</a:t>
            </a:r>
            <a:r>
              <a:rPr lang="fr-FR" sz="1400" b="1" spc="10" dirty="0" smtClean="0">
                <a:solidFill>
                  <a:srgbClr val="FF7800"/>
                </a:solidFill>
                <a:latin typeface="Calibri"/>
                <a:cs typeface="Calibri"/>
              </a:rPr>
              <a:t> </a:t>
            </a:r>
            <a:r>
              <a:rPr lang="fr-FR" sz="1400" b="1" dirty="0" smtClean="0">
                <a:solidFill>
                  <a:srgbClr val="FF7800"/>
                </a:solidFill>
                <a:latin typeface="Calibri"/>
                <a:cs typeface="Calibri"/>
              </a:rPr>
              <a:t>des</a:t>
            </a:r>
            <a:r>
              <a:rPr lang="fr-FR" sz="1400" b="1" spc="-25" dirty="0" smtClean="0">
                <a:solidFill>
                  <a:srgbClr val="FF7800"/>
                </a:solidFill>
                <a:latin typeface="Calibri"/>
                <a:cs typeface="Calibri"/>
              </a:rPr>
              <a:t> </a:t>
            </a:r>
            <a:r>
              <a:rPr lang="fr-FR" sz="1400" b="1" spc="-10" dirty="0" smtClean="0">
                <a:solidFill>
                  <a:srgbClr val="FF7800"/>
                </a:solidFill>
                <a:latin typeface="Calibri"/>
                <a:cs typeface="Calibri"/>
              </a:rPr>
              <a:t>Utilisateurs</a:t>
            </a:r>
            <a:endParaRPr lang="fr-FR" sz="1400" dirty="0" smtClean="0">
              <a:latin typeface="Calibri"/>
              <a:cs typeface="Calibri"/>
            </a:endParaRPr>
          </a:p>
          <a:p>
            <a:pPr marL="1384300" indent="-286385">
              <a:lnSpc>
                <a:spcPct val="100000"/>
              </a:lnSpc>
              <a:buAutoNum type="arabicPeriod"/>
              <a:tabLst>
                <a:tab pos="1384300" algn="l"/>
              </a:tabLst>
            </a:pPr>
            <a:endParaRPr lang="fr-FR" sz="1400" b="1" dirty="0" smtClean="0">
              <a:solidFill>
                <a:srgbClr val="FF7800"/>
              </a:solidFill>
              <a:latin typeface="Calibri"/>
              <a:cs typeface="Calibri"/>
            </a:endParaRPr>
          </a:p>
          <a:p>
            <a:pPr marL="1384300" indent="-286385">
              <a:lnSpc>
                <a:spcPct val="100000"/>
              </a:lnSpc>
              <a:buAutoNum type="arabicPeriod"/>
              <a:tabLst>
                <a:tab pos="1384300" algn="l"/>
              </a:tabLst>
            </a:pPr>
            <a:endParaRPr lang="fr-FR" sz="1400" b="1" spc="-10" dirty="0">
              <a:solidFill>
                <a:srgbClr val="FF7800"/>
              </a:solidFill>
              <a:latin typeface="Calibri"/>
              <a:cs typeface="Calibri"/>
            </a:endParaRPr>
          </a:p>
          <a:p>
            <a:pPr marL="1384300" indent="-286385">
              <a:buFontTx/>
              <a:buAutoNum type="arabicPeriod"/>
              <a:tabLst>
                <a:tab pos="1384300" algn="l"/>
              </a:tabLst>
            </a:pPr>
            <a:r>
              <a:rPr lang="fr-FR" sz="1400" b="1" dirty="0" smtClean="0">
                <a:solidFill>
                  <a:srgbClr val="FF0000"/>
                </a:solidFill>
                <a:latin typeface="Calibri"/>
                <a:cs typeface="Calibri"/>
              </a:rPr>
              <a:t>La</a:t>
            </a:r>
            <a:r>
              <a:rPr lang="fr-FR" sz="1400" b="1" spc="-40" dirty="0" smtClean="0">
                <a:solidFill>
                  <a:srgbClr val="FF0000"/>
                </a:solidFill>
                <a:latin typeface="Calibri"/>
                <a:cs typeface="Calibri"/>
              </a:rPr>
              <a:t> </a:t>
            </a:r>
            <a:r>
              <a:rPr lang="fr-FR" sz="1400" b="1" dirty="0" smtClean="0">
                <a:solidFill>
                  <a:srgbClr val="FF0000"/>
                </a:solidFill>
                <a:latin typeface="Calibri"/>
                <a:cs typeface="Calibri"/>
              </a:rPr>
              <a:t>gestion</a:t>
            </a:r>
            <a:r>
              <a:rPr lang="fr-FR" sz="1400" b="1" spc="-5" dirty="0" smtClean="0">
                <a:solidFill>
                  <a:srgbClr val="FF0000"/>
                </a:solidFill>
                <a:latin typeface="Calibri"/>
                <a:cs typeface="Calibri"/>
              </a:rPr>
              <a:t> </a:t>
            </a:r>
            <a:r>
              <a:rPr lang="fr-FR" sz="1400" b="1" dirty="0" smtClean="0">
                <a:solidFill>
                  <a:srgbClr val="FF0000"/>
                </a:solidFill>
                <a:latin typeface="Calibri"/>
                <a:cs typeface="Calibri"/>
              </a:rPr>
              <a:t>des</a:t>
            </a:r>
            <a:r>
              <a:rPr lang="fr-FR" sz="1400" b="1" spc="-25" dirty="0" smtClean="0">
                <a:solidFill>
                  <a:srgbClr val="FF0000"/>
                </a:solidFill>
                <a:latin typeface="Calibri"/>
                <a:cs typeface="Calibri"/>
              </a:rPr>
              <a:t> </a:t>
            </a:r>
            <a:r>
              <a:rPr lang="fr-FR" sz="1400" b="1" spc="-10" dirty="0" smtClean="0">
                <a:solidFill>
                  <a:srgbClr val="FF0000"/>
                </a:solidFill>
                <a:latin typeface="Calibri"/>
                <a:cs typeface="Calibri"/>
              </a:rPr>
              <a:t>Processus</a:t>
            </a:r>
            <a:endParaRPr lang="fr-FR" sz="1400" b="1" dirty="0">
              <a:solidFill>
                <a:srgbClr val="FF0000"/>
              </a:solidFill>
              <a:latin typeface="Calibri"/>
              <a:cs typeface="Calibri"/>
            </a:endParaRPr>
          </a:p>
          <a:p>
            <a:pPr marL="1384300" indent="-286385">
              <a:buFontTx/>
              <a:buAutoNum type="arabicPeriod"/>
              <a:tabLst>
                <a:tab pos="1384300" algn="l"/>
              </a:tabLst>
            </a:pPr>
            <a:endParaRPr lang="fr-FR" sz="1400" b="1" dirty="0" smtClean="0">
              <a:solidFill>
                <a:srgbClr val="FF0000"/>
              </a:solidFill>
              <a:latin typeface="Calibri"/>
              <a:cs typeface="Calibri"/>
            </a:endParaRPr>
          </a:p>
          <a:p>
            <a:pPr marL="1384300" indent="-286385">
              <a:buFontTx/>
              <a:buAutoNum type="arabicPeriod"/>
              <a:tabLst>
                <a:tab pos="1384300" algn="l"/>
              </a:tabLst>
            </a:pPr>
            <a:r>
              <a:rPr lang="fr-FR" sz="1400" b="1" dirty="0" smtClean="0">
                <a:solidFill>
                  <a:srgbClr val="FF7800"/>
                </a:solidFill>
                <a:latin typeface="Calibri"/>
                <a:cs typeface="Calibri"/>
              </a:rPr>
              <a:t>La</a:t>
            </a:r>
            <a:r>
              <a:rPr lang="fr-FR" sz="1400" b="1" spc="-40" dirty="0" smtClean="0">
                <a:solidFill>
                  <a:srgbClr val="FF7800"/>
                </a:solidFill>
                <a:latin typeface="Calibri"/>
                <a:cs typeface="Calibri"/>
              </a:rPr>
              <a:t> </a:t>
            </a:r>
            <a:r>
              <a:rPr lang="fr-FR" sz="1400" b="1" dirty="0" smtClean="0">
                <a:solidFill>
                  <a:srgbClr val="FF7800"/>
                </a:solidFill>
                <a:latin typeface="Calibri"/>
                <a:cs typeface="Calibri"/>
              </a:rPr>
              <a:t>gestion</a:t>
            </a:r>
            <a:r>
              <a:rPr lang="fr-FR" sz="1400" b="1" spc="5" dirty="0" smtClean="0">
                <a:solidFill>
                  <a:srgbClr val="FF7800"/>
                </a:solidFill>
                <a:latin typeface="Calibri"/>
                <a:cs typeface="Calibri"/>
              </a:rPr>
              <a:t> </a:t>
            </a:r>
            <a:r>
              <a:rPr lang="fr-FR" sz="1400" b="1" dirty="0" smtClean="0">
                <a:solidFill>
                  <a:srgbClr val="FF7800"/>
                </a:solidFill>
                <a:latin typeface="Calibri"/>
                <a:cs typeface="Calibri"/>
              </a:rPr>
              <a:t>de</a:t>
            </a:r>
            <a:r>
              <a:rPr lang="fr-FR" sz="1400" b="1" spc="-25" dirty="0" smtClean="0">
                <a:solidFill>
                  <a:srgbClr val="FF7800"/>
                </a:solidFill>
                <a:latin typeface="Calibri"/>
                <a:cs typeface="Calibri"/>
              </a:rPr>
              <a:t> </a:t>
            </a:r>
            <a:r>
              <a:rPr lang="fr-FR" sz="1400" b="1" dirty="0" smtClean="0">
                <a:solidFill>
                  <a:srgbClr val="FF7800"/>
                </a:solidFill>
                <a:latin typeface="Calibri"/>
                <a:cs typeface="Calibri"/>
              </a:rPr>
              <a:t>la</a:t>
            </a:r>
            <a:r>
              <a:rPr lang="fr-FR" sz="1400" b="1" spc="-35" dirty="0" smtClean="0">
                <a:solidFill>
                  <a:srgbClr val="FF7800"/>
                </a:solidFill>
                <a:latin typeface="Calibri"/>
                <a:cs typeface="Calibri"/>
              </a:rPr>
              <a:t> </a:t>
            </a:r>
            <a:r>
              <a:rPr lang="fr-FR" sz="1400" b="1" spc="-10" dirty="0" smtClean="0">
                <a:solidFill>
                  <a:srgbClr val="FF7800"/>
                </a:solidFill>
                <a:latin typeface="Calibri"/>
                <a:cs typeface="Calibri"/>
              </a:rPr>
              <a:t>Mémoire</a:t>
            </a:r>
          </a:p>
          <a:p>
            <a:pPr>
              <a:lnSpc>
                <a:spcPct val="100000"/>
              </a:lnSpc>
              <a:buClr>
                <a:srgbClr val="FF7800"/>
              </a:buClr>
              <a:buFont typeface="Calibri"/>
              <a:buAutoNum type="arabicPeriod"/>
            </a:pPr>
            <a:endParaRPr sz="1400" dirty="0">
              <a:latin typeface="Calibri"/>
              <a:cs typeface="Calibri"/>
            </a:endParaRPr>
          </a:p>
          <a:p>
            <a:pPr>
              <a:lnSpc>
                <a:spcPct val="100000"/>
              </a:lnSpc>
              <a:spcBef>
                <a:spcPts val="25"/>
              </a:spcBef>
              <a:buClr>
                <a:srgbClr val="FF7800"/>
              </a:buClr>
              <a:buFont typeface="Calibri"/>
              <a:buAutoNum type="arabicPeriod"/>
            </a:pPr>
            <a:endParaRPr sz="1400" dirty="0">
              <a:latin typeface="Calibri"/>
              <a:cs typeface="Calibri"/>
            </a:endParaRPr>
          </a:p>
          <a:p>
            <a:pPr marL="1384300" indent="-286385">
              <a:lnSpc>
                <a:spcPct val="100000"/>
              </a:lnSpc>
              <a:buAutoNum type="arabicPeriod"/>
              <a:tabLst>
                <a:tab pos="1384300" algn="l"/>
              </a:tabLst>
            </a:pPr>
            <a:r>
              <a:rPr sz="1400" b="1" dirty="0">
                <a:solidFill>
                  <a:srgbClr val="FF7800"/>
                </a:solidFill>
                <a:latin typeface="Calibri"/>
                <a:cs typeface="Calibri"/>
              </a:rPr>
              <a:t>La</a:t>
            </a:r>
            <a:r>
              <a:rPr sz="1400" b="1" spc="-40" dirty="0">
                <a:solidFill>
                  <a:srgbClr val="FF7800"/>
                </a:solidFill>
                <a:latin typeface="Calibri"/>
                <a:cs typeface="Calibri"/>
              </a:rPr>
              <a:t> </a:t>
            </a:r>
            <a:r>
              <a:rPr sz="1400" b="1" dirty="0">
                <a:solidFill>
                  <a:srgbClr val="FF7800"/>
                </a:solidFill>
                <a:latin typeface="Calibri"/>
                <a:cs typeface="Calibri"/>
              </a:rPr>
              <a:t>gestion</a:t>
            </a:r>
            <a:r>
              <a:rPr sz="1400" b="1" spc="-5" dirty="0">
                <a:solidFill>
                  <a:srgbClr val="FF7800"/>
                </a:solidFill>
                <a:latin typeface="Calibri"/>
                <a:cs typeface="Calibri"/>
              </a:rPr>
              <a:t> </a:t>
            </a:r>
            <a:r>
              <a:rPr sz="1400" b="1" dirty="0">
                <a:solidFill>
                  <a:srgbClr val="FF7800"/>
                </a:solidFill>
                <a:latin typeface="Calibri"/>
                <a:cs typeface="Calibri"/>
              </a:rPr>
              <a:t>des</a:t>
            </a:r>
            <a:r>
              <a:rPr sz="1400" b="1" spc="-25" dirty="0">
                <a:solidFill>
                  <a:srgbClr val="FF7800"/>
                </a:solidFill>
                <a:latin typeface="Calibri"/>
                <a:cs typeface="Calibri"/>
              </a:rPr>
              <a:t> </a:t>
            </a:r>
            <a:r>
              <a:rPr sz="1400" b="1" spc="-10" dirty="0">
                <a:solidFill>
                  <a:srgbClr val="FF7800"/>
                </a:solidFill>
                <a:latin typeface="Calibri"/>
                <a:cs typeface="Calibri"/>
              </a:rPr>
              <a:t>Entrées/Sorties</a:t>
            </a:r>
            <a:endParaRPr sz="1400" dirty="0">
              <a:latin typeface="Calibri"/>
              <a:cs typeface="Calibri"/>
            </a:endParaRPr>
          </a:p>
          <a:p>
            <a:pPr>
              <a:lnSpc>
                <a:spcPct val="100000"/>
              </a:lnSpc>
              <a:buClr>
                <a:srgbClr val="FF7800"/>
              </a:buClr>
              <a:buFont typeface="Calibri"/>
              <a:buAutoNum type="arabicPeriod"/>
            </a:pPr>
            <a:endParaRPr sz="1400" dirty="0">
              <a:latin typeface="Calibri"/>
              <a:cs typeface="Calibri"/>
            </a:endParaRPr>
          </a:p>
          <a:p>
            <a:pPr>
              <a:lnSpc>
                <a:spcPct val="100000"/>
              </a:lnSpc>
              <a:spcBef>
                <a:spcPts val="45"/>
              </a:spcBef>
              <a:buClr>
                <a:srgbClr val="FF7800"/>
              </a:buClr>
              <a:buFont typeface="Calibri"/>
              <a:buAutoNum type="arabicPeriod"/>
            </a:pPr>
            <a:endParaRPr sz="1400" dirty="0">
              <a:latin typeface="Calibri"/>
              <a:cs typeface="Calibri"/>
            </a:endParaRPr>
          </a:p>
          <a:p>
            <a:pPr marL="1384300" indent="-286385">
              <a:lnSpc>
                <a:spcPct val="100000"/>
              </a:lnSpc>
              <a:buAutoNum type="arabicPeriod"/>
              <a:tabLst>
                <a:tab pos="1384300" algn="l"/>
              </a:tabLst>
            </a:pPr>
            <a:r>
              <a:rPr sz="1400" b="1" dirty="0">
                <a:solidFill>
                  <a:srgbClr val="FF7800"/>
                </a:solidFill>
                <a:latin typeface="Calibri"/>
                <a:cs typeface="Calibri"/>
              </a:rPr>
              <a:t>La</a:t>
            </a:r>
            <a:r>
              <a:rPr sz="1400" b="1" spc="-40" dirty="0">
                <a:solidFill>
                  <a:srgbClr val="FF7800"/>
                </a:solidFill>
                <a:latin typeface="Calibri"/>
                <a:cs typeface="Calibri"/>
              </a:rPr>
              <a:t> </a:t>
            </a:r>
            <a:r>
              <a:rPr sz="1400" b="1" dirty="0">
                <a:solidFill>
                  <a:srgbClr val="FF7800"/>
                </a:solidFill>
                <a:latin typeface="Calibri"/>
                <a:cs typeface="Calibri"/>
              </a:rPr>
              <a:t>gestion</a:t>
            </a:r>
            <a:r>
              <a:rPr sz="1400" b="1" spc="10" dirty="0">
                <a:solidFill>
                  <a:srgbClr val="FF7800"/>
                </a:solidFill>
                <a:latin typeface="Calibri"/>
                <a:cs typeface="Calibri"/>
              </a:rPr>
              <a:t> </a:t>
            </a:r>
            <a:r>
              <a:rPr sz="1400" b="1" dirty="0">
                <a:solidFill>
                  <a:srgbClr val="FF7800"/>
                </a:solidFill>
                <a:latin typeface="Calibri"/>
                <a:cs typeface="Calibri"/>
              </a:rPr>
              <a:t>des</a:t>
            </a:r>
            <a:r>
              <a:rPr sz="1400" b="1" spc="-25" dirty="0">
                <a:solidFill>
                  <a:srgbClr val="FF7800"/>
                </a:solidFill>
                <a:latin typeface="Calibri"/>
                <a:cs typeface="Calibri"/>
              </a:rPr>
              <a:t> </a:t>
            </a:r>
            <a:r>
              <a:rPr sz="1400" b="1" spc="-10" dirty="0">
                <a:solidFill>
                  <a:srgbClr val="FF7800"/>
                </a:solidFill>
                <a:latin typeface="Calibri"/>
                <a:cs typeface="Calibri"/>
              </a:rPr>
              <a:t>Fichiers</a:t>
            </a:r>
            <a:endParaRPr sz="1400" dirty="0">
              <a:latin typeface="Calibri"/>
              <a:cs typeface="Calibri"/>
            </a:endParaRPr>
          </a:p>
          <a:p>
            <a:pPr>
              <a:lnSpc>
                <a:spcPct val="100000"/>
              </a:lnSpc>
              <a:buClr>
                <a:srgbClr val="FF7800"/>
              </a:buClr>
              <a:buFont typeface="Calibri"/>
              <a:buAutoNum type="arabicPeriod"/>
            </a:pPr>
            <a:endParaRPr sz="1200" dirty="0">
              <a:latin typeface="Calibri"/>
              <a:cs typeface="Calibri"/>
            </a:endParaRPr>
          </a:p>
          <a:p>
            <a:pPr>
              <a:lnSpc>
                <a:spcPct val="100000"/>
              </a:lnSpc>
              <a:spcBef>
                <a:spcPts val="25"/>
              </a:spcBef>
              <a:buClr>
                <a:srgbClr val="FF7800"/>
              </a:buClr>
              <a:buFont typeface="Calibri"/>
              <a:buAutoNum type="arabicPeriod"/>
            </a:pPr>
            <a:endParaRPr sz="1200" dirty="0">
              <a:latin typeface="Calibri"/>
              <a:cs typeface="Calibri"/>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a:t>
            </a:fld>
            <a:endParaRPr spc="-25" dirty="0"/>
          </a:p>
        </p:txBody>
      </p:sp>
      <p:sp>
        <p:nvSpPr>
          <p:cNvPr id="12"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smtClean="0">
                <a:solidFill>
                  <a:srgbClr val="007842"/>
                </a:solidFill>
              </a:rPr>
              <a:t>4</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processus</a:t>
            </a:r>
            <a:endParaRPr spc="-25" dirty="0">
              <a:solidFill>
                <a:srgbClr val="007842"/>
              </a:solidFill>
            </a:endParaRPr>
          </a:p>
          <a:p>
            <a:pPr marL="12700">
              <a:lnSpc>
                <a:spcPct val="100000"/>
              </a:lnSpc>
              <a:spcBef>
                <a:spcPts val="90"/>
              </a:spcBef>
            </a:pPr>
            <a:r>
              <a:rPr lang="fr-FR" sz="1600" spc="-10" dirty="0" smtClean="0">
                <a:solidFill>
                  <a:srgbClr val="007842"/>
                </a:solidFill>
              </a:rPr>
              <a:t>Rappeler </a:t>
            </a:r>
            <a:r>
              <a:rPr sz="1600" dirty="0" smtClean="0">
                <a:solidFill>
                  <a:srgbClr val="007842"/>
                </a:solidFill>
              </a:rPr>
              <a:t>les</a:t>
            </a:r>
            <a:r>
              <a:rPr sz="1600" spc="-25" dirty="0" smtClean="0">
                <a:solidFill>
                  <a:srgbClr val="007842"/>
                </a:solidFill>
              </a:rPr>
              <a:t> </a:t>
            </a:r>
            <a:r>
              <a:rPr sz="1600" dirty="0">
                <a:solidFill>
                  <a:srgbClr val="007842"/>
                </a:solidFill>
              </a:rPr>
              <a:t>concepts</a:t>
            </a:r>
            <a:r>
              <a:rPr sz="1600" spc="-45" dirty="0">
                <a:solidFill>
                  <a:srgbClr val="007842"/>
                </a:solidFill>
              </a:rPr>
              <a:t> </a:t>
            </a:r>
            <a:r>
              <a:rPr sz="1600" spc="-10" dirty="0">
                <a:solidFill>
                  <a:srgbClr val="007842"/>
                </a:solidFill>
              </a:rPr>
              <a:t>fondamentaux</a:t>
            </a:r>
            <a:r>
              <a:rPr sz="1600" spc="-30" dirty="0">
                <a:solidFill>
                  <a:srgbClr val="007842"/>
                </a:solidFill>
              </a:rPr>
              <a:t> </a:t>
            </a:r>
            <a:r>
              <a:rPr sz="1600" dirty="0">
                <a:solidFill>
                  <a:srgbClr val="007842"/>
                </a:solidFill>
              </a:rPr>
              <a:t>d’un </a:t>
            </a:r>
            <a:r>
              <a:rPr sz="1600" spc="-25" dirty="0">
                <a:solidFill>
                  <a:srgbClr val="007842"/>
                </a:solidFill>
              </a:rPr>
              <a:t>SE</a:t>
            </a:r>
            <a:endParaRPr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pic>
        <p:nvPicPr>
          <p:cNvPr id="11" name="object 11"/>
          <p:cNvPicPr/>
          <p:nvPr/>
        </p:nvPicPr>
        <p:blipFill>
          <a:blip r:embed="rId4" cstate="print"/>
          <a:stretch>
            <a:fillRect/>
          </a:stretch>
        </p:blipFill>
        <p:spPr>
          <a:xfrm>
            <a:off x="9562972" y="3001644"/>
            <a:ext cx="1277365" cy="2353055"/>
          </a:xfrm>
          <a:prstGeom prst="rect">
            <a:avLst/>
          </a:prstGeom>
        </p:spPr>
      </p:pic>
      <p:sp>
        <p:nvSpPr>
          <p:cNvPr id="13" name="object 13"/>
          <p:cNvSpPr txBox="1"/>
          <p:nvPr/>
        </p:nvSpPr>
        <p:spPr>
          <a:xfrm>
            <a:off x="804558" y="2934472"/>
            <a:ext cx="8191982" cy="1034899"/>
          </a:xfrm>
          <a:prstGeom prst="rect">
            <a:avLst/>
          </a:prstGeom>
        </p:spPr>
        <p:txBody>
          <a:bodyPr vert="horz" wrap="square" lIns="0" tIns="11430" rIns="0" bIns="0" rtlCol="0">
            <a:spAutoFit/>
          </a:bodyPr>
          <a:lstStyle/>
          <a:p>
            <a:pPr marL="12700" algn="just">
              <a:spcBef>
                <a:spcPts val="90"/>
              </a:spcBef>
            </a:pPr>
            <a:r>
              <a:rPr lang="fr-FR" sz="1600" dirty="0" smtClean="0">
                <a:solidFill>
                  <a:srgbClr val="585858"/>
                </a:solidFill>
                <a:latin typeface="Calibri"/>
                <a:cs typeface="Calibri"/>
              </a:rPr>
              <a:t>Un</a:t>
            </a:r>
            <a:r>
              <a:rPr lang="fr-FR" sz="1600" spc="-15" dirty="0" smtClean="0">
                <a:solidFill>
                  <a:srgbClr val="585858"/>
                </a:solidFill>
                <a:latin typeface="Calibri"/>
                <a:cs typeface="Calibri"/>
              </a:rPr>
              <a:t> </a:t>
            </a:r>
            <a:r>
              <a:rPr lang="fr-FR" sz="1600" spc="-10" dirty="0" smtClean="0">
                <a:solidFill>
                  <a:srgbClr val="585858"/>
                </a:solidFill>
                <a:latin typeface="Calibri"/>
                <a:cs typeface="Calibri"/>
              </a:rPr>
              <a:t>processus</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est</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défini</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par</a:t>
            </a:r>
            <a:r>
              <a:rPr lang="fr-FR" sz="1600" spc="-30" dirty="0" smtClean="0">
                <a:solidFill>
                  <a:srgbClr val="585858"/>
                </a:solidFill>
                <a:latin typeface="Calibri"/>
                <a:cs typeface="Calibri"/>
              </a:rPr>
              <a:t> </a:t>
            </a:r>
            <a:r>
              <a:rPr lang="fr-FR" sz="1600" spc="-50" dirty="0" smtClean="0">
                <a:solidFill>
                  <a:srgbClr val="585858"/>
                </a:solidFill>
                <a:latin typeface="Calibri"/>
                <a:cs typeface="Calibri"/>
              </a:rPr>
              <a:t>:</a:t>
            </a:r>
          </a:p>
          <a:p>
            <a:pPr marL="298450" indent="-285750" algn="just">
              <a:spcBef>
                <a:spcPts val="90"/>
              </a:spcBef>
              <a:buFontTx/>
              <a:buChar char="-"/>
            </a:pPr>
            <a:r>
              <a:rPr lang="fr-FR" sz="1600" dirty="0">
                <a:solidFill>
                  <a:srgbClr val="585858"/>
                </a:solidFill>
                <a:latin typeface="Calibri"/>
                <a:cs typeface="Calibri"/>
              </a:rPr>
              <a:t>un espace mémoire : il contient les données, le code et la pile d’instruction ;</a:t>
            </a:r>
          </a:p>
          <a:p>
            <a:pPr marL="298450" indent="-285750" algn="just">
              <a:spcBef>
                <a:spcPts val="90"/>
              </a:spcBef>
              <a:buFontTx/>
              <a:buChar char="-"/>
            </a:pPr>
            <a:r>
              <a:rPr lang="fr-FR" sz="1600" dirty="0" smtClean="0">
                <a:solidFill>
                  <a:srgbClr val="585858"/>
                </a:solidFill>
                <a:latin typeface="Calibri"/>
                <a:cs typeface="Calibri"/>
              </a:rPr>
              <a:t>un</a:t>
            </a:r>
            <a:r>
              <a:rPr lang="fr-FR" sz="1600" spc="-45" dirty="0" smtClean="0">
                <a:solidFill>
                  <a:srgbClr val="585858"/>
                </a:solidFill>
                <a:latin typeface="Calibri"/>
                <a:cs typeface="Calibri"/>
              </a:rPr>
              <a:t> </a:t>
            </a:r>
            <a:r>
              <a:rPr lang="fr-FR" sz="1600" spc="-10" dirty="0" smtClean="0">
                <a:solidFill>
                  <a:srgbClr val="585858"/>
                </a:solidFill>
                <a:latin typeface="Calibri"/>
                <a:cs typeface="Calibri"/>
              </a:rPr>
              <a:t>compteur</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ordinal (zone</a:t>
            </a:r>
            <a:r>
              <a:rPr lang="fr-FR" sz="1600" spc="-50" dirty="0" smtClean="0">
                <a:solidFill>
                  <a:srgbClr val="585858"/>
                </a:solidFill>
                <a:latin typeface="Calibri"/>
                <a:cs typeface="Calibri"/>
              </a:rPr>
              <a:t> </a:t>
            </a:r>
            <a:r>
              <a:rPr lang="fr-FR" sz="1600" dirty="0" smtClean="0">
                <a:solidFill>
                  <a:srgbClr val="585858"/>
                </a:solidFill>
                <a:latin typeface="Calibri"/>
                <a:cs typeface="Calibri"/>
              </a:rPr>
              <a:t>mémoire</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qui</a:t>
            </a:r>
            <a:r>
              <a:rPr lang="fr-FR" sz="1600" spc="-25" dirty="0" smtClean="0">
                <a:solidFill>
                  <a:srgbClr val="585858"/>
                </a:solidFill>
                <a:latin typeface="Calibri"/>
                <a:cs typeface="Calibri"/>
              </a:rPr>
              <a:t> </a:t>
            </a:r>
            <a:r>
              <a:rPr lang="fr-FR" sz="1600" spc="-10" dirty="0" smtClean="0">
                <a:solidFill>
                  <a:srgbClr val="585858"/>
                </a:solidFill>
                <a:latin typeface="Calibri"/>
                <a:cs typeface="Calibri"/>
              </a:rPr>
              <a:t>représente</a:t>
            </a:r>
            <a:r>
              <a:rPr lang="fr-FR" sz="1600" spc="50" dirty="0" smtClean="0">
                <a:solidFill>
                  <a:srgbClr val="585858"/>
                </a:solidFill>
                <a:latin typeface="Calibri"/>
                <a:cs typeface="Calibri"/>
              </a:rPr>
              <a:t> </a:t>
            </a:r>
            <a:r>
              <a:rPr lang="fr-FR" sz="1600" spc="-10" dirty="0" smtClean="0">
                <a:solidFill>
                  <a:srgbClr val="585858"/>
                </a:solidFill>
                <a:latin typeface="Calibri"/>
                <a:cs typeface="Calibri"/>
              </a:rPr>
              <a:t>l’instruction</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en</a:t>
            </a:r>
            <a:r>
              <a:rPr lang="fr-FR" sz="1600" spc="-45" dirty="0" smtClean="0">
                <a:solidFill>
                  <a:srgbClr val="585858"/>
                </a:solidFill>
                <a:latin typeface="Calibri"/>
                <a:cs typeface="Calibri"/>
              </a:rPr>
              <a:t> </a:t>
            </a:r>
            <a:r>
              <a:rPr lang="fr-FR" sz="1600" dirty="0" smtClean="0">
                <a:solidFill>
                  <a:srgbClr val="585858"/>
                </a:solidFill>
                <a:latin typeface="Calibri"/>
                <a:cs typeface="Calibri"/>
              </a:rPr>
              <a:t>cours)</a:t>
            </a:r>
            <a:r>
              <a:rPr lang="fr-FR" sz="1600" spc="-65" dirty="0" smtClean="0">
                <a:solidFill>
                  <a:srgbClr val="585858"/>
                </a:solidFill>
                <a:latin typeface="Calibri"/>
                <a:cs typeface="Calibri"/>
              </a:rPr>
              <a:t> </a:t>
            </a:r>
            <a:r>
              <a:rPr lang="fr-FR" sz="1600" spc="-50" dirty="0" smtClean="0">
                <a:solidFill>
                  <a:srgbClr val="585858"/>
                </a:solidFill>
                <a:latin typeface="Calibri"/>
                <a:cs typeface="Calibri"/>
              </a:rPr>
              <a:t>;</a:t>
            </a:r>
            <a:endParaRPr lang="fr-FR" sz="1600" dirty="0">
              <a:latin typeface="Calibri"/>
              <a:cs typeface="Calibri"/>
            </a:endParaRPr>
          </a:p>
          <a:p>
            <a:pPr marL="298450" indent="-285750" algn="just">
              <a:spcBef>
                <a:spcPts val="90"/>
              </a:spcBef>
              <a:buFontTx/>
              <a:buChar char="-"/>
            </a:pPr>
            <a:r>
              <a:rPr sz="1600" dirty="0" smtClean="0">
                <a:solidFill>
                  <a:srgbClr val="585858"/>
                </a:solidFill>
                <a:latin typeface="Calibri"/>
                <a:cs typeface="Calibri"/>
              </a:rPr>
              <a:t>un</a:t>
            </a:r>
            <a:r>
              <a:rPr sz="1600" spc="-35" dirty="0" smtClean="0">
                <a:solidFill>
                  <a:srgbClr val="585858"/>
                </a:solidFill>
                <a:latin typeface="Calibri"/>
                <a:cs typeface="Calibri"/>
              </a:rPr>
              <a:t> </a:t>
            </a:r>
            <a:r>
              <a:rPr sz="1600" dirty="0" smtClean="0">
                <a:solidFill>
                  <a:srgbClr val="585858"/>
                </a:solidFill>
                <a:latin typeface="Calibri"/>
                <a:cs typeface="Calibri"/>
              </a:rPr>
              <a:t>ensemble</a:t>
            </a:r>
            <a:r>
              <a:rPr sz="1600" spc="10" dirty="0" smtClean="0">
                <a:solidFill>
                  <a:srgbClr val="585858"/>
                </a:solidFill>
                <a:latin typeface="Calibri"/>
                <a:cs typeface="Calibri"/>
              </a:rPr>
              <a:t> </a:t>
            </a:r>
            <a:r>
              <a:rPr sz="1600" dirty="0" smtClean="0">
                <a:solidFill>
                  <a:srgbClr val="585858"/>
                </a:solidFill>
                <a:latin typeface="Calibri"/>
                <a:cs typeface="Calibri"/>
              </a:rPr>
              <a:t>de</a:t>
            </a:r>
            <a:r>
              <a:rPr sz="1600" spc="-20" dirty="0" smtClean="0">
                <a:solidFill>
                  <a:srgbClr val="585858"/>
                </a:solidFill>
                <a:latin typeface="Calibri"/>
                <a:cs typeface="Calibri"/>
              </a:rPr>
              <a:t> </a:t>
            </a:r>
            <a:r>
              <a:rPr lang="fr-FR" sz="1600" spc="-10" dirty="0" err="1">
                <a:solidFill>
                  <a:srgbClr val="585858"/>
                </a:solidFill>
                <a:latin typeface="Calibri"/>
                <a:cs typeface="Calibri"/>
              </a:rPr>
              <a:t>R</a:t>
            </a:r>
            <a:r>
              <a:rPr sz="1600" spc="-10" dirty="0" err="1" smtClean="0">
                <a:solidFill>
                  <a:srgbClr val="585858"/>
                </a:solidFill>
                <a:latin typeface="Calibri"/>
                <a:cs typeface="Calibri"/>
              </a:rPr>
              <a:t>egistres</a:t>
            </a:r>
            <a:r>
              <a:rPr sz="1600" spc="-10" dirty="0" smtClean="0">
                <a:solidFill>
                  <a:srgbClr val="585858"/>
                </a:solidFill>
                <a:latin typeface="Calibri"/>
                <a:cs typeface="Calibri"/>
              </a:rPr>
              <a:t>.</a:t>
            </a:r>
            <a:endParaRPr sz="1600" dirty="0">
              <a:latin typeface="Calibri"/>
              <a:cs typeface="Calibri"/>
            </a:endParaRPr>
          </a:p>
        </p:txBody>
      </p:sp>
      <p:sp>
        <p:nvSpPr>
          <p:cNvPr id="14" name="object 14"/>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4</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processus</a:t>
            </a:r>
            <a:endParaRPr spc="-25" dirty="0">
              <a:solidFill>
                <a:srgbClr val="007842"/>
              </a:solidFill>
            </a:endParaRPr>
          </a:p>
          <a:p>
            <a:pPr marL="12700">
              <a:lnSpc>
                <a:spcPct val="100000"/>
              </a:lnSpc>
              <a:spcBef>
                <a:spcPts val="90"/>
              </a:spcBef>
            </a:pPr>
            <a:r>
              <a:rPr lang="fr-FR" sz="1600" spc="-10" dirty="0" smtClean="0">
                <a:solidFill>
                  <a:srgbClr val="007842"/>
                </a:solidFill>
              </a:rPr>
              <a:t>Composants d’un processus</a:t>
            </a:r>
            <a:endParaRPr sz="1600" dirty="0"/>
          </a:p>
        </p:txBody>
      </p:sp>
      <p:graphicFrame>
        <p:nvGraphicFramePr>
          <p:cNvPr id="15" name="object 15"/>
          <p:cNvGraphicFramePr>
            <a:graphicFrameLocks noGrp="1"/>
          </p:cNvGraphicFramePr>
          <p:nvPr/>
        </p:nvGraphicFramePr>
        <p:xfrm>
          <a:off x="9765792" y="3093085"/>
          <a:ext cx="871219" cy="2055495"/>
        </p:xfrm>
        <a:graphic>
          <a:graphicData uri="http://schemas.openxmlformats.org/drawingml/2006/table">
            <a:tbl>
              <a:tblPr firstRow="1" bandRow="1">
                <a:tableStyleId>{2D5ABB26-0587-4C30-8999-92F81FD0307C}</a:tableStyleId>
              </a:tblPr>
              <a:tblGrid>
                <a:gridCol w="871219">
                  <a:extLst>
                    <a:ext uri="{9D8B030D-6E8A-4147-A177-3AD203B41FA5}">
                      <a16:colId xmlns:a16="http://schemas.microsoft.com/office/drawing/2014/main" val="20000"/>
                    </a:ext>
                  </a:extLst>
                </a:gridCol>
              </a:tblGrid>
              <a:tr h="313055">
                <a:tc>
                  <a:txBody>
                    <a:bodyPr/>
                    <a:lstStyle/>
                    <a:p>
                      <a:pPr algn="ctr">
                        <a:lnSpc>
                          <a:spcPts val="1325"/>
                        </a:lnSpc>
                      </a:pPr>
                      <a:r>
                        <a:rPr sz="1400" b="1" spc="-10" dirty="0">
                          <a:latin typeface="Calibri"/>
                          <a:cs typeface="Calibri"/>
                        </a:rPr>
                        <a:t>Données</a:t>
                      </a:r>
                      <a:endParaRPr sz="1400">
                        <a:latin typeface="Calibri"/>
                        <a:cs typeface="Calibri"/>
                      </a:endParaRPr>
                    </a:p>
                  </a:txBody>
                  <a:tcPr marL="0" marR="0" marT="0" marB="0"/>
                </a:tc>
                <a:extLst>
                  <a:ext uri="{0D108BD9-81ED-4DB2-BD59-A6C34878D82A}">
                    <a16:rowId xmlns:a16="http://schemas.microsoft.com/office/drawing/2014/main" val="10000"/>
                  </a:ext>
                </a:extLst>
              </a:tr>
              <a:tr h="590550">
                <a:tc>
                  <a:txBody>
                    <a:bodyPr/>
                    <a:lstStyle/>
                    <a:p>
                      <a:pPr algn="ctr">
                        <a:lnSpc>
                          <a:spcPct val="100000"/>
                        </a:lnSpc>
                        <a:spcBef>
                          <a:spcPts val="720"/>
                        </a:spcBef>
                      </a:pPr>
                      <a:r>
                        <a:rPr sz="1400" b="1" spc="-10" dirty="0">
                          <a:latin typeface="Calibri"/>
                          <a:cs typeface="Calibri"/>
                        </a:rPr>
                        <a:t>Ressources</a:t>
                      </a:r>
                      <a:endParaRPr sz="1400">
                        <a:latin typeface="Calibri"/>
                        <a:cs typeface="Calibri"/>
                      </a:endParaRPr>
                    </a:p>
                    <a:p>
                      <a:pPr marL="3175" algn="ctr">
                        <a:lnSpc>
                          <a:spcPct val="100000"/>
                        </a:lnSpc>
                      </a:pPr>
                      <a:r>
                        <a:rPr sz="1400" b="1" spc="-10" dirty="0">
                          <a:latin typeface="Calibri"/>
                          <a:cs typeface="Calibri"/>
                        </a:rPr>
                        <a:t>handles</a:t>
                      </a:r>
                      <a:endParaRPr sz="1400">
                        <a:latin typeface="Calibri"/>
                        <a:cs typeface="Calibri"/>
                      </a:endParaRPr>
                    </a:p>
                  </a:txBody>
                  <a:tcPr marL="0" marR="0" marT="91440" marB="0"/>
                </a:tc>
                <a:extLst>
                  <a:ext uri="{0D108BD9-81ED-4DB2-BD59-A6C34878D82A}">
                    <a16:rowId xmlns:a16="http://schemas.microsoft.com/office/drawing/2014/main" val="10001"/>
                  </a:ext>
                </a:extLst>
              </a:tr>
              <a:tr h="379730">
                <a:tc>
                  <a:txBody>
                    <a:bodyPr/>
                    <a:lstStyle/>
                    <a:p>
                      <a:pPr algn="ctr">
                        <a:lnSpc>
                          <a:spcPct val="100000"/>
                        </a:lnSpc>
                        <a:spcBef>
                          <a:spcPts val="145"/>
                        </a:spcBef>
                      </a:pPr>
                      <a:r>
                        <a:rPr sz="1400" b="1" spc="-25" dirty="0">
                          <a:latin typeface="Calibri"/>
                          <a:cs typeface="Calibri"/>
                        </a:rPr>
                        <a:t>Tas</a:t>
                      </a:r>
                      <a:endParaRPr sz="1400">
                        <a:latin typeface="Calibri"/>
                        <a:cs typeface="Calibri"/>
                      </a:endParaRPr>
                    </a:p>
                  </a:txBody>
                  <a:tcPr marL="0" marR="0" marT="18415" marB="0"/>
                </a:tc>
                <a:extLst>
                  <a:ext uri="{0D108BD9-81ED-4DB2-BD59-A6C34878D82A}">
                    <a16:rowId xmlns:a16="http://schemas.microsoft.com/office/drawing/2014/main" val="10002"/>
                  </a:ext>
                </a:extLst>
              </a:tr>
              <a:tr h="455930">
                <a:tc>
                  <a:txBody>
                    <a:bodyPr/>
                    <a:lstStyle/>
                    <a:p>
                      <a:pPr algn="ctr">
                        <a:lnSpc>
                          <a:spcPct val="100000"/>
                        </a:lnSpc>
                        <a:spcBef>
                          <a:spcPts val="740"/>
                        </a:spcBef>
                      </a:pPr>
                      <a:r>
                        <a:rPr sz="1400" b="1" spc="-10" dirty="0">
                          <a:latin typeface="Calibri"/>
                          <a:cs typeface="Calibri"/>
                        </a:rPr>
                        <a:t>Registres</a:t>
                      </a:r>
                      <a:endParaRPr sz="1400">
                        <a:latin typeface="Calibri"/>
                        <a:cs typeface="Calibri"/>
                      </a:endParaRPr>
                    </a:p>
                  </a:txBody>
                  <a:tcPr marL="0" marR="0" marT="93980" marB="0"/>
                </a:tc>
                <a:extLst>
                  <a:ext uri="{0D108BD9-81ED-4DB2-BD59-A6C34878D82A}">
                    <a16:rowId xmlns:a16="http://schemas.microsoft.com/office/drawing/2014/main" val="10003"/>
                  </a:ext>
                </a:extLst>
              </a:tr>
              <a:tr h="316230">
                <a:tc>
                  <a:txBody>
                    <a:bodyPr/>
                    <a:lstStyle/>
                    <a:p>
                      <a:pPr marL="3175" algn="ctr">
                        <a:lnSpc>
                          <a:spcPts val="1650"/>
                        </a:lnSpc>
                        <a:spcBef>
                          <a:spcPts val="745"/>
                        </a:spcBef>
                      </a:pPr>
                      <a:r>
                        <a:rPr sz="1400" b="1" spc="-20" dirty="0">
                          <a:latin typeface="Calibri"/>
                          <a:cs typeface="Calibri"/>
                        </a:rPr>
                        <a:t>Pile</a:t>
                      </a:r>
                      <a:endParaRPr sz="1400">
                        <a:latin typeface="Calibri"/>
                        <a:cs typeface="Calibri"/>
                      </a:endParaRPr>
                    </a:p>
                  </a:txBody>
                  <a:tcPr marL="0" marR="0" marT="94615" marB="0"/>
                </a:tc>
                <a:extLst>
                  <a:ext uri="{0D108BD9-81ED-4DB2-BD59-A6C34878D82A}">
                    <a16:rowId xmlns:a16="http://schemas.microsoft.com/office/drawing/2014/main" val="10004"/>
                  </a:ext>
                </a:extLst>
              </a:tr>
            </a:tbl>
          </a:graphicData>
        </a:graphic>
      </p:graphicFrame>
      <p:sp>
        <p:nvSpPr>
          <p:cNvPr id="16" name="object 16"/>
          <p:cNvSpPr/>
          <p:nvPr/>
        </p:nvSpPr>
        <p:spPr>
          <a:xfrm>
            <a:off x="9051035" y="2860548"/>
            <a:ext cx="1914525" cy="2649220"/>
          </a:xfrm>
          <a:custGeom>
            <a:avLst/>
            <a:gdLst/>
            <a:ahLst/>
            <a:cxnLst/>
            <a:rect l="l" t="t" r="r" b="b"/>
            <a:pathLst>
              <a:path w="1914525" h="2649220">
                <a:moveTo>
                  <a:pt x="0" y="2648712"/>
                </a:moveTo>
                <a:lnTo>
                  <a:pt x="1914144" y="2648712"/>
                </a:lnTo>
                <a:lnTo>
                  <a:pt x="1914144" y="0"/>
                </a:lnTo>
                <a:lnTo>
                  <a:pt x="0" y="0"/>
                </a:lnTo>
                <a:lnTo>
                  <a:pt x="0" y="2648712"/>
                </a:lnTo>
                <a:close/>
              </a:path>
            </a:pathLst>
          </a:custGeom>
          <a:ln w="28575">
            <a:solidFill>
              <a:srgbClr val="000000"/>
            </a:solidFill>
          </a:ln>
        </p:spPr>
        <p:txBody>
          <a:bodyPr wrap="square" lIns="0" tIns="0" rIns="0" bIns="0" rtlCol="0"/>
          <a:lstStyle/>
          <a:p>
            <a:endParaRPr/>
          </a:p>
        </p:txBody>
      </p:sp>
      <p:sp>
        <p:nvSpPr>
          <p:cNvPr id="17" name="object 17"/>
          <p:cNvSpPr txBox="1"/>
          <p:nvPr/>
        </p:nvSpPr>
        <p:spPr>
          <a:xfrm>
            <a:off x="798982" y="4376446"/>
            <a:ext cx="10489565" cy="1555554"/>
          </a:xfrm>
          <a:prstGeom prst="rect">
            <a:avLst/>
          </a:prstGeom>
        </p:spPr>
        <p:txBody>
          <a:bodyPr vert="horz" wrap="square" lIns="0" tIns="11430" rIns="0" bIns="0" rtlCol="0">
            <a:spAutoFit/>
          </a:bodyPr>
          <a:lstStyle/>
          <a:p>
            <a:pPr marL="12700">
              <a:lnSpc>
                <a:spcPct val="100000"/>
              </a:lnSpc>
              <a:spcBef>
                <a:spcPts val="90"/>
              </a:spcBef>
            </a:pPr>
            <a:r>
              <a:rPr sz="1600" dirty="0">
                <a:solidFill>
                  <a:srgbClr val="585858"/>
                </a:solidFill>
                <a:latin typeface="Calibri"/>
                <a:cs typeface="Calibri"/>
              </a:rPr>
              <a:t>Un</a:t>
            </a:r>
            <a:r>
              <a:rPr sz="1600" spc="-40" dirty="0">
                <a:solidFill>
                  <a:srgbClr val="585858"/>
                </a:solidFill>
                <a:latin typeface="Calibri"/>
                <a:cs typeface="Calibri"/>
              </a:rPr>
              <a:t> </a:t>
            </a:r>
            <a:r>
              <a:rPr sz="1600" spc="-10" dirty="0" err="1" smtClean="0">
                <a:solidFill>
                  <a:srgbClr val="585858"/>
                </a:solidFill>
                <a:latin typeface="Calibri"/>
                <a:cs typeface="Calibri"/>
              </a:rPr>
              <a:t>processus</a:t>
            </a:r>
            <a:r>
              <a:rPr sz="1600" spc="-10" dirty="0" smtClean="0">
                <a:solidFill>
                  <a:srgbClr val="585858"/>
                </a:solidFill>
                <a:latin typeface="Calibri"/>
                <a:cs typeface="Calibri"/>
              </a:rPr>
              <a:t> </a:t>
            </a:r>
            <a:r>
              <a:rPr sz="1600" dirty="0">
                <a:solidFill>
                  <a:srgbClr val="585858"/>
                </a:solidFill>
                <a:latin typeface="Calibri"/>
                <a:cs typeface="Calibri"/>
              </a:rPr>
              <a:t>est</a:t>
            </a:r>
            <a:r>
              <a:rPr sz="1600" spc="-35" dirty="0">
                <a:solidFill>
                  <a:srgbClr val="585858"/>
                </a:solidFill>
                <a:latin typeface="Calibri"/>
                <a:cs typeface="Calibri"/>
              </a:rPr>
              <a:t> </a:t>
            </a:r>
            <a:r>
              <a:rPr sz="1600" spc="-10" dirty="0">
                <a:solidFill>
                  <a:srgbClr val="585858"/>
                </a:solidFill>
                <a:latin typeface="Calibri"/>
                <a:cs typeface="Calibri"/>
              </a:rPr>
              <a:t>exécuté</a:t>
            </a:r>
            <a:r>
              <a:rPr sz="1600" spc="15" dirty="0">
                <a:solidFill>
                  <a:srgbClr val="585858"/>
                </a:solidFill>
                <a:latin typeface="Calibri"/>
                <a:cs typeface="Calibri"/>
              </a:rPr>
              <a:t> </a:t>
            </a:r>
            <a:r>
              <a:rPr sz="1600" dirty="0">
                <a:solidFill>
                  <a:srgbClr val="585858"/>
                </a:solidFill>
                <a:latin typeface="Calibri"/>
                <a:cs typeface="Calibri"/>
              </a:rPr>
              <a:t>par</a:t>
            </a:r>
            <a:r>
              <a:rPr sz="1600" spc="-30" dirty="0">
                <a:solidFill>
                  <a:srgbClr val="585858"/>
                </a:solidFill>
                <a:latin typeface="Calibri"/>
                <a:cs typeface="Calibri"/>
              </a:rPr>
              <a:t> </a:t>
            </a:r>
            <a:r>
              <a:rPr sz="1600" dirty="0">
                <a:solidFill>
                  <a:srgbClr val="585858"/>
                </a:solidFill>
                <a:latin typeface="Calibri"/>
                <a:cs typeface="Calibri"/>
              </a:rPr>
              <a:t>un</a:t>
            </a:r>
            <a:r>
              <a:rPr sz="1600" spc="-20" dirty="0">
                <a:solidFill>
                  <a:srgbClr val="585858"/>
                </a:solidFill>
                <a:latin typeface="Calibri"/>
                <a:cs typeface="Calibri"/>
              </a:rPr>
              <a:t> </a:t>
            </a:r>
            <a:r>
              <a:rPr sz="1600" dirty="0">
                <a:solidFill>
                  <a:srgbClr val="585858"/>
                </a:solidFill>
                <a:latin typeface="Calibri"/>
                <a:cs typeface="Calibri"/>
              </a:rPr>
              <a:t>ou</a:t>
            </a:r>
            <a:r>
              <a:rPr sz="1600" spc="-60" dirty="0">
                <a:solidFill>
                  <a:srgbClr val="585858"/>
                </a:solidFill>
                <a:latin typeface="Calibri"/>
                <a:cs typeface="Calibri"/>
              </a:rPr>
              <a:t> </a:t>
            </a:r>
            <a:r>
              <a:rPr sz="1600" spc="-10" dirty="0">
                <a:solidFill>
                  <a:srgbClr val="585858"/>
                </a:solidFill>
                <a:latin typeface="Calibri"/>
                <a:cs typeface="Calibri"/>
              </a:rPr>
              <a:t>plusieurs</a:t>
            </a:r>
            <a:r>
              <a:rPr sz="1600" spc="40" dirty="0">
                <a:solidFill>
                  <a:srgbClr val="585858"/>
                </a:solidFill>
                <a:latin typeface="Calibri"/>
                <a:cs typeface="Calibri"/>
              </a:rPr>
              <a:t> </a:t>
            </a:r>
            <a:r>
              <a:rPr sz="1600" spc="-10" dirty="0">
                <a:solidFill>
                  <a:srgbClr val="585858"/>
                </a:solidFill>
                <a:latin typeface="Calibri"/>
                <a:cs typeface="Calibri"/>
              </a:rPr>
              <a:t>processeurs.</a:t>
            </a:r>
            <a:endParaRPr sz="1600" dirty="0">
              <a:latin typeface="Calibri"/>
              <a:cs typeface="Calibri"/>
            </a:endParaRPr>
          </a:p>
          <a:p>
            <a:pPr marL="12700">
              <a:lnSpc>
                <a:spcPct val="100000"/>
              </a:lnSpc>
              <a:spcBef>
                <a:spcPts val="1680"/>
              </a:spcBef>
            </a:pPr>
            <a:r>
              <a:rPr sz="1600" dirty="0">
                <a:solidFill>
                  <a:srgbClr val="585858"/>
                </a:solidFill>
                <a:latin typeface="Calibri"/>
                <a:cs typeface="Calibri"/>
              </a:rPr>
              <a:t>Un</a:t>
            </a:r>
            <a:r>
              <a:rPr sz="1600" spc="-55" dirty="0">
                <a:solidFill>
                  <a:srgbClr val="585858"/>
                </a:solidFill>
                <a:latin typeface="Calibri"/>
                <a:cs typeface="Calibri"/>
              </a:rPr>
              <a:t> </a:t>
            </a:r>
            <a:r>
              <a:rPr sz="1600" spc="-10" dirty="0">
                <a:solidFill>
                  <a:srgbClr val="585858"/>
                </a:solidFill>
                <a:latin typeface="Calibri"/>
                <a:cs typeface="Calibri"/>
              </a:rPr>
              <a:t>programme</a:t>
            </a:r>
            <a:r>
              <a:rPr sz="1600" spc="5" dirty="0">
                <a:solidFill>
                  <a:srgbClr val="585858"/>
                </a:solidFill>
                <a:latin typeface="Calibri"/>
                <a:cs typeface="Calibri"/>
              </a:rPr>
              <a:t> </a:t>
            </a:r>
            <a:r>
              <a:rPr sz="1600" dirty="0">
                <a:solidFill>
                  <a:srgbClr val="585858"/>
                </a:solidFill>
                <a:latin typeface="Calibri"/>
                <a:cs typeface="Calibri"/>
              </a:rPr>
              <a:t>peut</a:t>
            </a:r>
            <a:r>
              <a:rPr sz="1600" spc="-25" dirty="0">
                <a:solidFill>
                  <a:srgbClr val="585858"/>
                </a:solidFill>
                <a:latin typeface="Calibri"/>
                <a:cs typeface="Calibri"/>
              </a:rPr>
              <a:t> </a:t>
            </a:r>
            <a:r>
              <a:rPr sz="1600" dirty="0">
                <a:solidFill>
                  <a:srgbClr val="585858"/>
                </a:solidFill>
                <a:latin typeface="Calibri"/>
                <a:cs typeface="Calibri"/>
              </a:rPr>
              <a:t>être</a:t>
            </a:r>
            <a:r>
              <a:rPr sz="1600" spc="-20" dirty="0">
                <a:solidFill>
                  <a:srgbClr val="585858"/>
                </a:solidFill>
                <a:latin typeface="Calibri"/>
                <a:cs typeface="Calibri"/>
              </a:rPr>
              <a:t> </a:t>
            </a:r>
            <a:r>
              <a:rPr sz="1600" spc="-10" dirty="0">
                <a:solidFill>
                  <a:srgbClr val="585858"/>
                </a:solidFill>
                <a:latin typeface="Calibri"/>
                <a:cs typeface="Calibri"/>
              </a:rPr>
              <a:t>constitué</a:t>
            </a:r>
            <a:r>
              <a:rPr sz="1600" spc="-35" dirty="0">
                <a:solidFill>
                  <a:srgbClr val="585858"/>
                </a:solidFill>
                <a:latin typeface="Calibri"/>
                <a:cs typeface="Calibri"/>
              </a:rPr>
              <a:t> </a:t>
            </a:r>
            <a:r>
              <a:rPr sz="1600" dirty="0">
                <a:solidFill>
                  <a:srgbClr val="585858"/>
                </a:solidFill>
                <a:latin typeface="Calibri"/>
                <a:cs typeface="Calibri"/>
              </a:rPr>
              <a:t>d’un</a:t>
            </a:r>
            <a:r>
              <a:rPr sz="1600" spc="-10" dirty="0">
                <a:solidFill>
                  <a:srgbClr val="585858"/>
                </a:solidFill>
                <a:latin typeface="Calibri"/>
                <a:cs typeface="Calibri"/>
              </a:rPr>
              <a:t> </a:t>
            </a:r>
            <a:r>
              <a:rPr sz="1600" dirty="0">
                <a:solidFill>
                  <a:srgbClr val="585858"/>
                </a:solidFill>
                <a:latin typeface="Calibri"/>
                <a:cs typeface="Calibri"/>
              </a:rPr>
              <a:t>ou</a:t>
            </a:r>
            <a:r>
              <a:rPr sz="1600" spc="-70" dirty="0">
                <a:solidFill>
                  <a:srgbClr val="585858"/>
                </a:solidFill>
                <a:latin typeface="Calibri"/>
                <a:cs typeface="Calibri"/>
              </a:rPr>
              <a:t> </a:t>
            </a:r>
            <a:r>
              <a:rPr sz="1600" dirty="0">
                <a:solidFill>
                  <a:srgbClr val="585858"/>
                </a:solidFill>
                <a:latin typeface="Calibri"/>
                <a:cs typeface="Calibri"/>
              </a:rPr>
              <a:t>d’un</a:t>
            </a:r>
            <a:r>
              <a:rPr sz="1600" spc="-10" dirty="0">
                <a:solidFill>
                  <a:srgbClr val="585858"/>
                </a:solidFill>
                <a:latin typeface="Calibri"/>
                <a:cs typeface="Calibri"/>
              </a:rPr>
              <a:t> </a:t>
            </a:r>
            <a:r>
              <a:rPr sz="1600" dirty="0">
                <a:solidFill>
                  <a:srgbClr val="585858"/>
                </a:solidFill>
                <a:latin typeface="Calibri"/>
                <a:cs typeface="Calibri"/>
              </a:rPr>
              <a:t>ensemble de</a:t>
            </a:r>
            <a:r>
              <a:rPr sz="1600" spc="-40" dirty="0">
                <a:solidFill>
                  <a:srgbClr val="585858"/>
                </a:solidFill>
                <a:latin typeface="Calibri"/>
                <a:cs typeface="Calibri"/>
              </a:rPr>
              <a:t> </a:t>
            </a:r>
            <a:r>
              <a:rPr sz="1600" spc="-10" dirty="0">
                <a:solidFill>
                  <a:srgbClr val="585858"/>
                </a:solidFill>
                <a:latin typeface="Calibri"/>
                <a:cs typeface="Calibri"/>
              </a:rPr>
              <a:t>processus.</a:t>
            </a:r>
            <a:endParaRPr sz="1600" dirty="0">
              <a:latin typeface="Calibri"/>
              <a:cs typeface="Calibri"/>
            </a:endParaRPr>
          </a:p>
          <a:p>
            <a:pPr>
              <a:lnSpc>
                <a:spcPct val="100000"/>
              </a:lnSpc>
              <a:spcBef>
                <a:spcPts val="509"/>
              </a:spcBef>
            </a:pPr>
            <a:endParaRPr sz="1400" dirty="0">
              <a:latin typeface="Calibri"/>
              <a:cs typeface="Calibri"/>
            </a:endParaRPr>
          </a:p>
          <a:p>
            <a:pPr marR="5080" algn="r">
              <a:lnSpc>
                <a:spcPct val="100000"/>
              </a:lnSpc>
            </a:pPr>
            <a:endParaRPr lang="fr-FR" sz="1200" b="1" i="1" dirty="0" smtClean="0">
              <a:solidFill>
                <a:srgbClr val="A6A6A6"/>
              </a:solidFill>
              <a:latin typeface="Calibri"/>
              <a:cs typeface="Calibri"/>
            </a:endParaRPr>
          </a:p>
          <a:p>
            <a:pPr marR="5080" algn="r">
              <a:lnSpc>
                <a:spcPct val="100000"/>
              </a:lnSpc>
            </a:pPr>
            <a:endParaRPr lang="fr-FR" sz="1200" b="1" i="1" dirty="0">
              <a:solidFill>
                <a:srgbClr val="A6A6A6"/>
              </a:solidFill>
              <a:latin typeface="Calibri"/>
              <a:cs typeface="Calibri"/>
            </a:endParaRPr>
          </a:p>
          <a:p>
            <a:pPr marR="5080" algn="r">
              <a:lnSpc>
                <a:spcPct val="100000"/>
              </a:lnSpc>
            </a:pPr>
            <a:r>
              <a:rPr sz="1200" b="1" i="1" dirty="0" smtClean="0">
                <a:solidFill>
                  <a:srgbClr val="A6A6A6"/>
                </a:solidFill>
                <a:latin typeface="Calibri"/>
                <a:cs typeface="Calibri"/>
              </a:rPr>
              <a:t>Figure</a:t>
            </a:r>
            <a:r>
              <a:rPr sz="1200" b="1" i="1" spc="-35" dirty="0" smtClean="0">
                <a:solidFill>
                  <a:srgbClr val="A6A6A6"/>
                </a:solidFill>
                <a:latin typeface="Calibri"/>
                <a:cs typeface="Calibri"/>
              </a:rPr>
              <a:t> </a:t>
            </a:r>
            <a:r>
              <a:rPr sz="1200" b="1" i="1" dirty="0" smtClean="0">
                <a:solidFill>
                  <a:srgbClr val="A6A6A6"/>
                </a:solidFill>
                <a:latin typeface="Calibri"/>
                <a:cs typeface="Calibri"/>
              </a:rPr>
              <a:t>:</a:t>
            </a:r>
            <a:r>
              <a:rPr sz="1200" b="1" i="1" spc="-40" dirty="0" smtClean="0">
                <a:solidFill>
                  <a:srgbClr val="A6A6A6"/>
                </a:solidFill>
                <a:latin typeface="Calibri"/>
                <a:cs typeface="Calibri"/>
              </a:rPr>
              <a:t> </a:t>
            </a:r>
            <a:r>
              <a:rPr sz="1200" b="1" i="1" dirty="0">
                <a:solidFill>
                  <a:srgbClr val="A6A6A6"/>
                </a:solidFill>
                <a:latin typeface="Calibri"/>
                <a:cs typeface="Calibri"/>
              </a:rPr>
              <a:t>Les</a:t>
            </a:r>
            <a:r>
              <a:rPr sz="1200" b="1" i="1" spc="-55" dirty="0">
                <a:solidFill>
                  <a:srgbClr val="A6A6A6"/>
                </a:solidFill>
                <a:latin typeface="Calibri"/>
                <a:cs typeface="Calibri"/>
              </a:rPr>
              <a:t> </a:t>
            </a:r>
            <a:r>
              <a:rPr sz="1200" b="1" i="1" dirty="0">
                <a:solidFill>
                  <a:srgbClr val="A6A6A6"/>
                </a:solidFill>
                <a:latin typeface="Calibri"/>
                <a:cs typeface="Calibri"/>
              </a:rPr>
              <a:t>composants</a:t>
            </a:r>
            <a:r>
              <a:rPr sz="1200" b="1" i="1" spc="-15" dirty="0">
                <a:solidFill>
                  <a:srgbClr val="A6A6A6"/>
                </a:solidFill>
                <a:latin typeface="Calibri"/>
                <a:cs typeface="Calibri"/>
              </a:rPr>
              <a:t> </a:t>
            </a:r>
            <a:r>
              <a:rPr sz="1200" b="1" i="1" dirty="0">
                <a:solidFill>
                  <a:srgbClr val="A6A6A6"/>
                </a:solidFill>
                <a:latin typeface="Calibri"/>
                <a:cs typeface="Calibri"/>
              </a:rPr>
              <a:t>d’un</a:t>
            </a:r>
            <a:r>
              <a:rPr sz="1200" b="1" i="1" spc="-25" dirty="0">
                <a:solidFill>
                  <a:srgbClr val="A6A6A6"/>
                </a:solidFill>
                <a:latin typeface="Calibri"/>
                <a:cs typeface="Calibri"/>
              </a:rPr>
              <a:t> </a:t>
            </a:r>
            <a:r>
              <a:rPr sz="1200" b="1" i="1" spc="-10" dirty="0">
                <a:solidFill>
                  <a:srgbClr val="A6A6A6"/>
                </a:solidFill>
                <a:latin typeface="Calibri"/>
                <a:cs typeface="Calibri"/>
              </a:rPr>
              <a:t>processus</a:t>
            </a:r>
            <a:endParaRPr sz="1200" dirty="0">
              <a:latin typeface="Calibri"/>
              <a:cs typeface="Calibri"/>
            </a:endParaRPr>
          </a:p>
        </p:txBody>
      </p:sp>
      <p:pic>
        <p:nvPicPr>
          <p:cNvPr id="18" name="object 18"/>
          <p:cNvPicPr/>
          <p:nvPr/>
        </p:nvPicPr>
        <p:blipFill>
          <a:blip r:embed="rId5" cstate="print"/>
          <a:stretch>
            <a:fillRect/>
          </a:stretch>
        </p:blipFill>
        <p:spPr>
          <a:xfrm>
            <a:off x="9113519" y="2987039"/>
            <a:ext cx="506742" cy="2436114"/>
          </a:xfrm>
          <a:prstGeom prst="rect">
            <a:avLst/>
          </a:prstGeom>
        </p:spPr>
      </p:pic>
      <p:sp>
        <p:nvSpPr>
          <p:cNvPr id="19" name="object 19"/>
          <p:cNvSpPr txBox="1"/>
          <p:nvPr/>
        </p:nvSpPr>
        <p:spPr>
          <a:xfrm>
            <a:off x="798982" y="1602105"/>
            <a:ext cx="10591165" cy="1267655"/>
          </a:xfrm>
          <a:prstGeom prst="rect">
            <a:avLst/>
          </a:prstGeom>
        </p:spPr>
        <p:txBody>
          <a:bodyPr vert="horz" wrap="square" lIns="0" tIns="13335" rIns="0" bIns="0" rtlCol="0">
            <a:spAutoFit/>
          </a:bodyPr>
          <a:lstStyle/>
          <a:p>
            <a:pPr marL="12700" marR="5080" algn="just">
              <a:lnSpc>
                <a:spcPct val="200100"/>
              </a:lnSpc>
              <a:spcBef>
                <a:spcPts val="465"/>
              </a:spcBef>
            </a:pPr>
            <a:r>
              <a:rPr sz="1600" dirty="0" smtClean="0">
                <a:solidFill>
                  <a:srgbClr val="585858"/>
                </a:solidFill>
                <a:latin typeface="Calibri"/>
                <a:cs typeface="Calibri"/>
              </a:rPr>
              <a:t>Un</a:t>
            </a:r>
            <a:r>
              <a:rPr sz="1600" spc="65" dirty="0" smtClean="0">
                <a:solidFill>
                  <a:srgbClr val="585858"/>
                </a:solidFill>
                <a:latin typeface="Calibri"/>
                <a:cs typeface="Calibri"/>
              </a:rPr>
              <a:t> </a:t>
            </a:r>
            <a:r>
              <a:rPr sz="1600" dirty="0">
                <a:solidFill>
                  <a:srgbClr val="585858"/>
                </a:solidFill>
                <a:latin typeface="Calibri"/>
                <a:cs typeface="Calibri"/>
              </a:rPr>
              <a:t>système</a:t>
            </a:r>
            <a:r>
              <a:rPr sz="1600" spc="80" dirty="0">
                <a:solidFill>
                  <a:srgbClr val="585858"/>
                </a:solidFill>
                <a:latin typeface="Calibri"/>
                <a:cs typeface="Calibri"/>
              </a:rPr>
              <a:t> </a:t>
            </a:r>
            <a:r>
              <a:rPr sz="1600" spc="-10" dirty="0">
                <a:solidFill>
                  <a:srgbClr val="585858"/>
                </a:solidFill>
                <a:latin typeface="Calibri"/>
                <a:cs typeface="Calibri"/>
              </a:rPr>
              <a:t>d’exploitation</a:t>
            </a:r>
            <a:r>
              <a:rPr sz="1600" spc="70" dirty="0">
                <a:solidFill>
                  <a:srgbClr val="585858"/>
                </a:solidFill>
                <a:latin typeface="Calibri"/>
                <a:cs typeface="Calibri"/>
              </a:rPr>
              <a:t> </a:t>
            </a:r>
            <a:r>
              <a:rPr sz="1600" dirty="0">
                <a:solidFill>
                  <a:srgbClr val="585858"/>
                </a:solidFill>
                <a:latin typeface="Calibri"/>
                <a:cs typeface="Calibri"/>
              </a:rPr>
              <a:t>permet</a:t>
            </a:r>
            <a:r>
              <a:rPr sz="1600" spc="70" dirty="0">
                <a:solidFill>
                  <a:srgbClr val="585858"/>
                </a:solidFill>
                <a:latin typeface="Calibri"/>
                <a:cs typeface="Calibri"/>
              </a:rPr>
              <a:t> </a:t>
            </a:r>
            <a:r>
              <a:rPr sz="1600" spc="-10" dirty="0">
                <a:solidFill>
                  <a:srgbClr val="585858"/>
                </a:solidFill>
                <a:latin typeface="Calibri"/>
                <a:cs typeface="Calibri"/>
              </a:rPr>
              <a:t>l’exécution</a:t>
            </a:r>
            <a:r>
              <a:rPr sz="1600" spc="75" dirty="0">
                <a:solidFill>
                  <a:srgbClr val="585858"/>
                </a:solidFill>
                <a:latin typeface="Calibri"/>
                <a:cs typeface="Calibri"/>
              </a:rPr>
              <a:t> </a:t>
            </a:r>
            <a:r>
              <a:rPr sz="1600" dirty="0">
                <a:solidFill>
                  <a:srgbClr val="585858"/>
                </a:solidFill>
                <a:latin typeface="Calibri"/>
                <a:cs typeface="Calibri"/>
              </a:rPr>
              <a:t>des</a:t>
            </a:r>
            <a:r>
              <a:rPr sz="1600" spc="80" dirty="0">
                <a:solidFill>
                  <a:srgbClr val="585858"/>
                </a:solidFill>
                <a:latin typeface="Calibri"/>
                <a:cs typeface="Calibri"/>
              </a:rPr>
              <a:t> </a:t>
            </a:r>
            <a:r>
              <a:rPr sz="1600" dirty="0">
                <a:solidFill>
                  <a:srgbClr val="585858"/>
                </a:solidFill>
                <a:latin typeface="Calibri"/>
                <a:cs typeface="Calibri"/>
              </a:rPr>
              <a:t>programmes</a:t>
            </a:r>
            <a:r>
              <a:rPr sz="1600" spc="90" dirty="0">
                <a:solidFill>
                  <a:srgbClr val="585858"/>
                </a:solidFill>
                <a:latin typeface="Calibri"/>
                <a:cs typeface="Calibri"/>
              </a:rPr>
              <a:t> </a:t>
            </a:r>
            <a:r>
              <a:rPr sz="1600" dirty="0">
                <a:solidFill>
                  <a:srgbClr val="585858"/>
                </a:solidFill>
                <a:latin typeface="Calibri"/>
                <a:cs typeface="Calibri"/>
              </a:rPr>
              <a:t>sur</a:t>
            </a:r>
            <a:r>
              <a:rPr sz="1600" spc="75" dirty="0">
                <a:solidFill>
                  <a:srgbClr val="585858"/>
                </a:solidFill>
                <a:latin typeface="Calibri"/>
                <a:cs typeface="Calibri"/>
              </a:rPr>
              <a:t> </a:t>
            </a:r>
            <a:r>
              <a:rPr sz="1600" dirty="0">
                <a:solidFill>
                  <a:srgbClr val="585858"/>
                </a:solidFill>
                <a:latin typeface="Calibri"/>
                <a:cs typeface="Calibri"/>
              </a:rPr>
              <a:t>un</a:t>
            </a:r>
            <a:r>
              <a:rPr sz="1600" spc="40" dirty="0">
                <a:solidFill>
                  <a:srgbClr val="585858"/>
                </a:solidFill>
                <a:latin typeface="Calibri"/>
                <a:cs typeface="Calibri"/>
              </a:rPr>
              <a:t> </a:t>
            </a:r>
            <a:r>
              <a:rPr sz="1600" spc="-10" dirty="0">
                <a:solidFill>
                  <a:srgbClr val="585858"/>
                </a:solidFill>
                <a:latin typeface="Calibri"/>
                <a:cs typeface="Calibri"/>
              </a:rPr>
              <a:t>ordinateur.</a:t>
            </a:r>
            <a:r>
              <a:rPr sz="1600" spc="85" dirty="0">
                <a:solidFill>
                  <a:srgbClr val="585858"/>
                </a:solidFill>
                <a:latin typeface="Calibri"/>
                <a:cs typeface="Calibri"/>
              </a:rPr>
              <a:t> </a:t>
            </a:r>
            <a:r>
              <a:rPr sz="1600" dirty="0">
                <a:solidFill>
                  <a:srgbClr val="585858"/>
                </a:solidFill>
                <a:latin typeface="Calibri"/>
                <a:cs typeface="Calibri"/>
              </a:rPr>
              <a:t>Chaque</a:t>
            </a:r>
            <a:r>
              <a:rPr sz="1600" spc="95" dirty="0">
                <a:solidFill>
                  <a:srgbClr val="585858"/>
                </a:solidFill>
                <a:latin typeface="Calibri"/>
                <a:cs typeface="Calibri"/>
              </a:rPr>
              <a:t> </a:t>
            </a:r>
            <a:r>
              <a:rPr sz="1600" dirty="0">
                <a:solidFill>
                  <a:srgbClr val="585858"/>
                </a:solidFill>
                <a:latin typeface="Calibri"/>
                <a:cs typeface="Calibri"/>
              </a:rPr>
              <a:t>programme</a:t>
            </a:r>
            <a:r>
              <a:rPr sz="1600" spc="50" dirty="0">
                <a:solidFill>
                  <a:srgbClr val="585858"/>
                </a:solidFill>
                <a:latin typeface="Calibri"/>
                <a:cs typeface="Calibri"/>
              </a:rPr>
              <a:t> </a:t>
            </a:r>
            <a:r>
              <a:rPr sz="1600" dirty="0">
                <a:solidFill>
                  <a:srgbClr val="585858"/>
                </a:solidFill>
                <a:latin typeface="Calibri"/>
                <a:cs typeface="Calibri"/>
              </a:rPr>
              <a:t>exécuté</a:t>
            </a:r>
            <a:r>
              <a:rPr sz="1600" spc="80" dirty="0">
                <a:solidFill>
                  <a:srgbClr val="585858"/>
                </a:solidFill>
                <a:latin typeface="Calibri"/>
                <a:cs typeface="Calibri"/>
              </a:rPr>
              <a:t> </a:t>
            </a:r>
            <a:r>
              <a:rPr sz="1600" dirty="0">
                <a:solidFill>
                  <a:srgbClr val="585858"/>
                </a:solidFill>
                <a:latin typeface="Calibri"/>
                <a:cs typeface="Calibri"/>
              </a:rPr>
              <a:t>est</a:t>
            </a:r>
            <a:r>
              <a:rPr sz="1600" spc="70" dirty="0">
                <a:solidFill>
                  <a:srgbClr val="585858"/>
                </a:solidFill>
                <a:latin typeface="Calibri"/>
                <a:cs typeface="Calibri"/>
              </a:rPr>
              <a:t> </a:t>
            </a:r>
            <a:r>
              <a:rPr sz="1600" dirty="0">
                <a:solidFill>
                  <a:srgbClr val="585858"/>
                </a:solidFill>
                <a:latin typeface="Calibri"/>
                <a:cs typeface="Calibri"/>
              </a:rPr>
              <a:t>un</a:t>
            </a:r>
            <a:r>
              <a:rPr sz="1600" spc="65" dirty="0">
                <a:solidFill>
                  <a:srgbClr val="585858"/>
                </a:solidFill>
                <a:latin typeface="Calibri"/>
                <a:cs typeface="Calibri"/>
              </a:rPr>
              <a:t> </a:t>
            </a:r>
            <a:r>
              <a:rPr sz="1600" dirty="0">
                <a:solidFill>
                  <a:srgbClr val="585858"/>
                </a:solidFill>
                <a:latin typeface="Calibri"/>
                <a:cs typeface="Calibri"/>
              </a:rPr>
              <a:t>processus.</a:t>
            </a:r>
            <a:r>
              <a:rPr sz="1600" spc="65" dirty="0">
                <a:solidFill>
                  <a:srgbClr val="585858"/>
                </a:solidFill>
                <a:latin typeface="Calibri"/>
                <a:cs typeface="Calibri"/>
              </a:rPr>
              <a:t> </a:t>
            </a:r>
            <a:endParaRPr lang="fr-FR" sz="1600" spc="65" dirty="0">
              <a:solidFill>
                <a:srgbClr val="585858"/>
              </a:solidFill>
              <a:latin typeface="Calibri"/>
              <a:cs typeface="Calibri"/>
            </a:endParaRPr>
          </a:p>
          <a:p>
            <a:pPr marR="1953260" algn="r">
              <a:lnSpc>
                <a:spcPts val="2120"/>
              </a:lnSpc>
            </a:pPr>
            <a:r>
              <a:rPr sz="1800" b="1" spc="-50" dirty="0" smtClean="0">
                <a:latin typeface="Calibri"/>
                <a:cs typeface="Calibri"/>
              </a:rPr>
              <a:t>C</a:t>
            </a:r>
            <a:endParaRPr sz="1800" dirty="0">
              <a:latin typeface="Calibri"/>
              <a:cs typeface="Calibri"/>
            </a:endParaRPr>
          </a:p>
        </p:txBody>
      </p:sp>
      <p:sp>
        <p:nvSpPr>
          <p:cNvPr id="23" name="object 23"/>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4</a:t>
            </a:fld>
            <a:endParaRPr spc="-25" dirty="0"/>
          </a:p>
        </p:txBody>
      </p:sp>
      <p:sp>
        <p:nvSpPr>
          <p:cNvPr id="20" name="object 20"/>
          <p:cNvSpPr txBox="1"/>
          <p:nvPr/>
        </p:nvSpPr>
        <p:spPr>
          <a:xfrm>
            <a:off x="9307956" y="3878326"/>
            <a:ext cx="123189" cy="299720"/>
          </a:xfrm>
          <a:prstGeom prst="rect">
            <a:avLst/>
          </a:prstGeom>
        </p:spPr>
        <p:txBody>
          <a:bodyPr vert="horz" wrap="square" lIns="0" tIns="12700" rIns="0" bIns="0" rtlCol="0">
            <a:spAutoFit/>
          </a:bodyPr>
          <a:lstStyle/>
          <a:p>
            <a:pPr>
              <a:lnSpc>
                <a:spcPct val="100000"/>
              </a:lnSpc>
              <a:spcBef>
                <a:spcPts val="100"/>
              </a:spcBef>
            </a:pPr>
            <a:r>
              <a:rPr sz="1800" b="1" spc="-50" dirty="0">
                <a:latin typeface="Calibri"/>
                <a:cs typeface="Calibri"/>
              </a:rPr>
              <a:t>o</a:t>
            </a:r>
            <a:endParaRPr sz="1800">
              <a:latin typeface="Calibri"/>
              <a:cs typeface="Calibri"/>
            </a:endParaRPr>
          </a:p>
        </p:txBody>
      </p:sp>
      <p:sp>
        <p:nvSpPr>
          <p:cNvPr id="21" name="object 21"/>
          <p:cNvSpPr txBox="1"/>
          <p:nvPr/>
        </p:nvSpPr>
        <p:spPr>
          <a:xfrm>
            <a:off x="9307956" y="4152341"/>
            <a:ext cx="123189" cy="575310"/>
          </a:xfrm>
          <a:prstGeom prst="rect">
            <a:avLst/>
          </a:prstGeom>
        </p:spPr>
        <p:txBody>
          <a:bodyPr vert="horz" wrap="square" lIns="0" tIns="12700" rIns="0" bIns="0" rtlCol="0">
            <a:spAutoFit/>
          </a:bodyPr>
          <a:lstStyle/>
          <a:p>
            <a:pPr>
              <a:lnSpc>
                <a:spcPct val="100000"/>
              </a:lnSpc>
              <a:spcBef>
                <a:spcPts val="100"/>
              </a:spcBef>
            </a:pPr>
            <a:r>
              <a:rPr sz="1800" b="1" spc="-50" dirty="0">
                <a:latin typeface="Calibri"/>
                <a:cs typeface="Calibri"/>
              </a:rPr>
              <a:t>d</a:t>
            </a:r>
            <a:endParaRPr sz="1800">
              <a:latin typeface="Calibri"/>
              <a:cs typeface="Calibri"/>
            </a:endParaRPr>
          </a:p>
          <a:p>
            <a:pPr marL="2540">
              <a:lnSpc>
                <a:spcPct val="100000"/>
              </a:lnSpc>
              <a:spcBef>
                <a:spcPts val="5"/>
              </a:spcBef>
            </a:pPr>
            <a:r>
              <a:rPr sz="1800" b="1" spc="-50" dirty="0">
                <a:latin typeface="Calibri"/>
                <a:cs typeface="Calibri"/>
              </a:rPr>
              <a:t>e</a:t>
            </a:r>
            <a:endParaRPr sz="1800">
              <a:latin typeface="Calibri"/>
              <a:cs typeface="Calibri"/>
            </a:endParaRPr>
          </a:p>
        </p:txBody>
      </p:sp>
      <p:sp>
        <p:nvSpPr>
          <p:cNvPr id="22"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pic>
        <p:nvPicPr>
          <p:cNvPr id="11" name="object 11"/>
          <p:cNvPicPr/>
          <p:nvPr/>
        </p:nvPicPr>
        <p:blipFill>
          <a:blip r:embed="rId4" cstate="print"/>
          <a:stretch>
            <a:fillRect/>
          </a:stretch>
        </p:blipFill>
        <p:spPr>
          <a:xfrm>
            <a:off x="7213092" y="2868898"/>
            <a:ext cx="2258822" cy="2846870"/>
          </a:xfrm>
          <a:prstGeom prst="rect">
            <a:avLst/>
          </a:prstGeom>
        </p:spPr>
      </p:pic>
      <p:sp>
        <p:nvSpPr>
          <p:cNvPr id="13" name="object 13"/>
          <p:cNvSpPr txBox="1"/>
          <p:nvPr/>
        </p:nvSpPr>
        <p:spPr>
          <a:xfrm>
            <a:off x="1182764" y="3073307"/>
            <a:ext cx="5679300" cy="1651093"/>
          </a:xfrm>
          <a:prstGeom prst="rect">
            <a:avLst/>
          </a:prstGeom>
        </p:spPr>
        <p:txBody>
          <a:bodyPr vert="horz" wrap="square" lIns="0" tIns="12065" rIns="0" bIns="0" rtlCol="0">
            <a:spAutoFit/>
          </a:bodyPr>
          <a:lstStyle/>
          <a:p>
            <a:pPr marL="12700">
              <a:lnSpc>
                <a:spcPct val="100000"/>
              </a:lnSpc>
              <a:spcBef>
                <a:spcPts val="95"/>
              </a:spcBef>
            </a:pPr>
            <a:r>
              <a:rPr lang="fr-FR" sz="1600" dirty="0">
                <a:solidFill>
                  <a:srgbClr val="555555"/>
                </a:solidFill>
                <a:latin typeface="Calibri"/>
                <a:cs typeface="Calibri"/>
              </a:rPr>
              <a:t>C</a:t>
            </a:r>
            <a:r>
              <a:rPr sz="1600" dirty="0" smtClean="0">
                <a:solidFill>
                  <a:srgbClr val="555555"/>
                </a:solidFill>
                <a:latin typeface="Calibri"/>
                <a:cs typeface="Calibri"/>
              </a:rPr>
              <a:t>et</a:t>
            </a:r>
            <a:r>
              <a:rPr sz="1600" spc="-60" dirty="0" smtClean="0">
                <a:solidFill>
                  <a:srgbClr val="555555"/>
                </a:solidFill>
                <a:latin typeface="Calibri"/>
                <a:cs typeface="Calibri"/>
              </a:rPr>
              <a:t> </a:t>
            </a:r>
            <a:r>
              <a:rPr sz="1600" dirty="0">
                <a:solidFill>
                  <a:srgbClr val="555555"/>
                </a:solidFill>
                <a:latin typeface="Calibri"/>
                <a:cs typeface="Calibri"/>
              </a:rPr>
              <a:t>espace</a:t>
            </a:r>
            <a:r>
              <a:rPr sz="1600" spc="-35" dirty="0">
                <a:solidFill>
                  <a:srgbClr val="555555"/>
                </a:solidFill>
                <a:latin typeface="Calibri"/>
                <a:cs typeface="Calibri"/>
              </a:rPr>
              <a:t> </a:t>
            </a:r>
            <a:r>
              <a:rPr sz="1600" dirty="0">
                <a:solidFill>
                  <a:srgbClr val="555555"/>
                </a:solidFill>
                <a:latin typeface="Calibri"/>
                <a:cs typeface="Calibri"/>
              </a:rPr>
              <a:t>est</a:t>
            </a:r>
            <a:r>
              <a:rPr sz="1600" spc="-40" dirty="0">
                <a:solidFill>
                  <a:srgbClr val="555555"/>
                </a:solidFill>
                <a:latin typeface="Calibri"/>
                <a:cs typeface="Calibri"/>
              </a:rPr>
              <a:t> </a:t>
            </a:r>
            <a:r>
              <a:rPr sz="1600" dirty="0">
                <a:solidFill>
                  <a:srgbClr val="555555"/>
                </a:solidFill>
                <a:latin typeface="Calibri"/>
                <a:cs typeface="Calibri"/>
              </a:rPr>
              <a:t>formé</a:t>
            </a:r>
            <a:r>
              <a:rPr sz="1600" spc="-50" dirty="0">
                <a:solidFill>
                  <a:srgbClr val="555555"/>
                </a:solidFill>
                <a:latin typeface="Calibri"/>
                <a:cs typeface="Calibri"/>
              </a:rPr>
              <a:t> </a:t>
            </a:r>
            <a:r>
              <a:rPr sz="1600" dirty="0">
                <a:solidFill>
                  <a:srgbClr val="555555"/>
                </a:solidFill>
                <a:latin typeface="Calibri"/>
                <a:cs typeface="Calibri"/>
              </a:rPr>
              <a:t>de</a:t>
            </a:r>
            <a:r>
              <a:rPr sz="1600" spc="-30" dirty="0">
                <a:solidFill>
                  <a:srgbClr val="555555"/>
                </a:solidFill>
                <a:latin typeface="Calibri"/>
                <a:cs typeface="Calibri"/>
              </a:rPr>
              <a:t> </a:t>
            </a:r>
            <a:r>
              <a:rPr sz="1600" dirty="0">
                <a:solidFill>
                  <a:srgbClr val="555555"/>
                </a:solidFill>
                <a:latin typeface="Calibri"/>
                <a:cs typeface="Calibri"/>
              </a:rPr>
              <a:t>trois</a:t>
            </a:r>
            <a:r>
              <a:rPr sz="1600" spc="-25" dirty="0">
                <a:solidFill>
                  <a:srgbClr val="555555"/>
                </a:solidFill>
                <a:latin typeface="Calibri"/>
                <a:cs typeface="Calibri"/>
              </a:rPr>
              <a:t> </a:t>
            </a:r>
            <a:r>
              <a:rPr sz="1600" spc="-10" dirty="0">
                <a:solidFill>
                  <a:srgbClr val="555555"/>
                </a:solidFill>
                <a:latin typeface="Calibri"/>
                <a:cs typeface="Calibri"/>
              </a:rPr>
              <a:t>éléments</a:t>
            </a:r>
            <a:r>
              <a:rPr sz="1600" spc="40" dirty="0">
                <a:solidFill>
                  <a:srgbClr val="555555"/>
                </a:solidFill>
                <a:latin typeface="Calibri"/>
                <a:cs typeface="Calibri"/>
              </a:rPr>
              <a:t> </a:t>
            </a:r>
            <a:r>
              <a:rPr sz="1600" spc="-50" dirty="0">
                <a:solidFill>
                  <a:srgbClr val="555555"/>
                </a:solidFill>
                <a:latin typeface="Calibri"/>
                <a:cs typeface="Calibri"/>
              </a:rPr>
              <a:t>:</a:t>
            </a:r>
            <a:endParaRPr sz="1600" dirty="0">
              <a:latin typeface="Calibri"/>
              <a:cs typeface="Calibri"/>
            </a:endParaRPr>
          </a:p>
          <a:p>
            <a:pPr marL="185420" indent="-172720">
              <a:lnSpc>
                <a:spcPct val="100000"/>
              </a:lnSpc>
              <a:spcBef>
                <a:spcPts val="1680"/>
              </a:spcBef>
              <a:buFont typeface="Arial"/>
              <a:buChar char="•"/>
              <a:tabLst>
                <a:tab pos="185420" algn="l"/>
              </a:tabLst>
            </a:pPr>
            <a:r>
              <a:rPr sz="1600" dirty="0">
                <a:solidFill>
                  <a:srgbClr val="555555"/>
                </a:solidFill>
                <a:latin typeface="Calibri"/>
                <a:cs typeface="Calibri"/>
              </a:rPr>
              <a:t>le</a:t>
            </a:r>
            <a:r>
              <a:rPr sz="1600" spc="-50" dirty="0">
                <a:solidFill>
                  <a:srgbClr val="555555"/>
                </a:solidFill>
                <a:latin typeface="Calibri"/>
                <a:cs typeface="Calibri"/>
              </a:rPr>
              <a:t> </a:t>
            </a:r>
            <a:r>
              <a:rPr sz="1600" dirty="0">
                <a:solidFill>
                  <a:srgbClr val="555555"/>
                </a:solidFill>
                <a:latin typeface="Calibri"/>
                <a:cs typeface="Calibri"/>
              </a:rPr>
              <a:t>segment</a:t>
            </a:r>
            <a:r>
              <a:rPr sz="1600" spc="-20" dirty="0">
                <a:solidFill>
                  <a:srgbClr val="555555"/>
                </a:solidFill>
                <a:latin typeface="Calibri"/>
                <a:cs typeface="Calibri"/>
              </a:rPr>
              <a:t> </a:t>
            </a:r>
            <a:r>
              <a:rPr sz="1600" dirty="0">
                <a:solidFill>
                  <a:srgbClr val="555555"/>
                </a:solidFill>
                <a:latin typeface="Calibri"/>
                <a:cs typeface="Calibri"/>
              </a:rPr>
              <a:t>de</a:t>
            </a:r>
            <a:r>
              <a:rPr sz="1600" spc="-50" dirty="0">
                <a:solidFill>
                  <a:srgbClr val="555555"/>
                </a:solidFill>
                <a:latin typeface="Calibri"/>
                <a:cs typeface="Calibri"/>
              </a:rPr>
              <a:t> </a:t>
            </a:r>
            <a:r>
              <a:rPr sz="1600" dirty="0" err="1" smtClean="0">
                <a:solidFill>
                  <a:srgbClr val="555555"/>
                </a:solidFill>
                <a:latin typeface="Calibri"/>
                <a:cs typeface="Calibri"/>
              </a:rPr>
              <a:t>données</a:t>
            </a:r>
            <a:r>
              <a:rPr sz="1600" spc="-50" dirty="0" smtClean="0">
                <a:solidFill>
                  <a:srgbClr val="555555"/>
                </a:solidFill>
                <a:latin typeface="Calibri"/>
                <a:cs typeface="Calibri"/>
              </a:rPr>
              <a:t>;</a:t>
            </a:r>
            <a:r>
              <a:rPr lang="fr-FR" sz="1600" spc="-50" dirty="0" smtClean="0">
                <a:solidFill>
                  <a:srgbClr val="555555"/>
                </a:solidFill>
                <a:latin typeface="Calibri"/>
                <a:cs typeface="Calibri"/>
              </a:rPr>
              <a:t> </a:t>
            </a:r>
            <a:r>
              <a:rPr lang="fr-FR" sz="1600" spc="-10" dirty="0">
                <a:solidFill>
                  <a:srgbClr val="555555"/>
                </a:solidFill>
                <a:latin typeface="Calibri"/>
                <a:cs typeface="Calibri"/>
              </a:rPr>
              <a:t>C</a:t>
            </a:r>
            <a:r>
              <a:rPr lang="fr-FR" sz="1600" spc="-10" dirty="0" smtClean="0">
                <a:solidFill>
                  <a:srgbClr val="555555"/>
                </a:solidFill>
                <a:latin typeface="Calibri"/>
                <a:cs typeface="Calibri"/>
              </a:rPr>
              <a:t>orrespond</a:t>
            </a:r>
            <a:r>
              <a:rPr lang="fr-FR" sz="1600" spc="-35" dirty="0" smtClean="0">
                <a:solidFill>
                  <a:srgbClr val="555555"/>
                </a:solidFill>
                <a:latin typeface="Calibri"/>
                <a:cs typeface="Calibri"/>
              </a:rPr>
              <a:t> </a:t>
            </a:r>
            <a:r>
              <a:rPr lang="fr-FR" sz="1600" dirty="0" smtClean="0">
                <a:solidFill>
                  <a:srgbClr val="555555"/>
                </a:solidFill>
                <a:latin typeface="Calibri"/>
                <a:cs typeface="Calibri"/>
              </a:rPr>
              <a:t>aux</a:t>
            </a:r>
            <a:r>
              <a:rPr lang="fr-FR" sz="1600" spc="-15" dirty="0" smtClean="0">
                <a:solidFill>
                  <a:srgbClr val="555555"/>
                </a:solidFill>
                <a:latin typeface="Calibri"/>
                <a:cs typeface="Calibri"/>
              </a:rPr>
              <a:t> </a:t>
            </a:r>
            <a:r>
              <a:rPr lang="fr-FR" sz="1600" spc="-10" dirty="0" smtClean="0">
                <a:solidFill>
                  <a:srgbClr val="555555"/>
                </a:solidFill>
                <a:latin typeface="Calibri"/>
                <a:cs typeface="Calibri"/>
              </a:rPr>
              <a:t>variables</a:t>
            </a:r>
            <a:endParaRPr sz="1600" dirty="0">
              <a:latin typeface="Calibri"/>
              <a:cs typeface="Calibri"/>
            </a:endParaRPr>
          </a:p>
          <a:p>
            <a:pPr marL="185420" indent="-172720">
              <a:lnSpc>
                <a:spcPct val="100000"/>
              </a:lnSpc>
              <a:spcBef>
                <a:spcPts val="1685"/>
              </a:spcBef>
              <a:buFont typeface="Arial"/>
              <a:buChar char="•"/>
              <a:tabLst>
                <a:tab pos="185420" algn="l"/>
              </a:tabLst>
            </a:pPr>
            <a:r>
              <a:rPr sz="1600" dirty="0">
                <a:solidFill>
                  <a:srgbClr val="555555"/>
                </a:solidFill>
                <a:latin typeface="Calibri"/>
                <a:cs typeface="Calibri"/>
              </a:rPr>
              <a:t>le</a:t>
            </a:r>
            <a:r>
              <a:rPr sz="1600" spc="-45" dirty="0">
                <a:solidFill>
                  <a:srgbClr val="555555"/>
                </a:solidFill>
                <a:latin typeface="Calibri"/>
                <a:cs typeface="Calibri"/>
              </a:rPr>
              <a:t> </a:t>
            </a:r>
            <a:r>
              <a:rPr sz="1600" dirty="0">
                <a:solidFill>
                  <a:srgbClr val="555555"/>
                </a:solidFill>
                <a:latin typeface="Calibri"/>
                <a:cs typeface="Calibri"/>
              </a:rPr>
              <a:t>segment</a:t>
            </a:r>
            <a:r>
              <a:rPr sz="1600" spc="-25" dirty="0">
                <a:solidFill>
                  <a:srgbClr val="555555"/>
                </a:solidFill>
                <a:latin typeface="Calibri"/>
                <a:cs typeface="Calibri"/>
              </a:rPr>
              <a:t> </a:t>
            </a:r>
            <a:r>
              <a:rPr sz="1600" dirty="0">
                <a:solidFill>
                  <a:srgbClr val="555555"/>
                </a:solidFill>
                <a:latin typeface="Calibri"/>
                <a:cs typeface="Calibri"/>
              </a:rPr>
              <a:t>de</a:t>
            </a:r>
            <a:r>
              <a:rPr sz="1600" spc="-45" dirty="0">
                <a:solidFill>
                  <a:srgbClr val="555555"/>
                </a:solidFill>
                <a:latin typeface="Calibri"/>
                <a:cs typeface="Calibri"/>
              </a:rPr>
              <a:t> </a:t>
            </a:r>
            <a:r>
              <a:rPr sz="1600" spc="-10" dirty="0" err="1" smtClean="0">
                <a:solidFill>
                  <a:srgbClr val="555555"/>
                </a:solidFill>
                <a:latin typeface="Calibri"/>
                <a:cs typeface="Calibri"/>
              </a:rPr>
              <a:t>texte</a:t>
            </a:r>
            <a:r>
              <a:rPr sz="1600" spc="-50" dirty="0" smtClean="0">
                <a:solidFill>
                  <a:srgbClr val="555555"/>
                </a:solidFill>
                <a:latin typeface="Calibri"/>
                <a:cs typeface="Calibri"/>
              </a:rPr>
              <a:t>;</a:t>
            </a:r>
            <a:r>
              <a:rPr lang="fr-FR" sz="1600" spc="-50" dirty="0" smtClean="0">
                <a:solidFill>
                  <a:srgbClr val="555555"/>
                </a:solidFill>
                <a:latin typeface="Calibri"/>
                <a:cs typeface="Calibri"/>
              </a:rPr>
              <a:t> </a:t>
            </a:r>
            <a:r>
              <a:rPr lang="fr-FR" sz="1600" spc="-10" dirty="0" smtClean="0">
                <a:solidFill>
                  <a:srgbClr val="555555"/>
                </a:solidFill>
                <a:latin typeface="Calibri"/>
                <a:cs typeface="Calibri"/>
              </a:rPr>
              <a:t>Correspond</a:t>
            </a:r>
            <a:r>
              <a:rPr lang="fr-FR" sz="1600" spc="-50" dirty="0" smtClean="0">
                <a:solidFill>
                  <a:srgbClr val="555555"/>
                </a:solidFill>
                <a:latin typeface="Calibri"/>
                <a:cs typeface="Calibri"/>
              </a:rPr>
              <a:t> </a:t>
            </a:r>
            <a:r>
              <a:rPr lang="fr-FR" sz="1600" dirty="0" smtClean="0">
                <a:solidFill>
                  <a:srgbClr val="555555"/>
                </a:solidFill>
                <a:latin typeface="Calibri"/>
                <a:cs typeface="Calibri"/>
              </a:rPr>
              <a:t>au</a:t>
            </a:r>
            <a:r>
              <a:rPr lang="fr-FR" sz="1600" spc="-30" dirty="0" smtClean="0">
                <a:solidFill>
                  <a:srgbClr val="555555"/>
                </a:solidFill>
                <a:latin typeface="Calibri"/>
                <a:cs typeface="Calibri"/>
              </a:rPr>
              <a:t> </a:t>
            </a:r>
            <a:r>
              <a:rPr lang="fr-FR" sz="1600" dirty="0" smtClean="0">
                <a:solidFill>
                  <a:srgbClr val="555555"/>
                </a:solidFill>
                <a:latin typeface="Calibri"/>
                <a:cs typeface="Calibri"/>
              </a:rPr>
              <a:t>code</a:t>
            </a:r>
            <a:r>
              <a:rPr lang="fr-FR" sz="1600" spc="-40" dirty="0" smtClean="0">
                <a:solidFill>
                  <a:srgbClr val="555555"/>
                </a:solidFill>
                <a:latin typeface="Calibri"/>
                <a:cs typeface="Calibri"/>
              </a:rPr>
              <a:t> </a:t>
            </a:r>
            <a:r>
              <a:rPr lang="fr-FR" sz="1600" dirty="0" smtClean="0">
                <a:solidFill>
                  <a:srgbClr val="555555"/>
                </a:solidFill>
                <a:latin typeface="Calibri"/>
                <a:cs typeface="Calibri"/>
              </a:rPr>
              <a:t>de</a:t>
            </a:r>
            <a:r>
              <a:rPr lang="fr-FR" sz="1600" spc="-20" dirty="0" smtClean="0">
                <a:solidFill>
                  <a:srgbClr val="555555"/>
                </a:solidFill>
                <a:latin typeface="Calibri"/>
                <a:cs typeface="Calibri"/>
              </a:rPr>
              <a:t> </a:t>
            </a:r>
            <a:r>
              <a:rPr lang="fr-FR" sz="1600" spc="-10" dirty="0" smtClean="0">
                <a:solidFill>
                  <a:srgbClr val="555555"/>
                </a:solidFill>
                <a:latin typeface="Calibri"/>
                <a:cs typeface="Calibri"/>
              </a:rPr>
              <a:t>programme</a:t>
            </a:r>
            <a:endParaRPr sz="1600" dirty="0">
              <a:latin typeface="Calibri"/>
              <a:cs typeface="Calibri"/>
            </a:endParaRPr>
          </a:p>
          <a:p>
            <a:pPr marL="185420" indent="-172720">
              <a:lnSpc>
                <a:spcPct val="100000"/>
              </a:lnSpc>
              <a:spcBef>
                <a:spcPts val="1680"/>
              </a:spcBef>
              <a:buFont typeface="Arial"/>
              <a:buChar char="•"/>
              <a:tabLst>
                <a:tab pos="185420" algn="l"/>
              </a:tabLst>
            </a:pPr>
            <a:r>
              <a:rPr sz="1600" dirty="0">
                <a:solidFill>
                  <a:srgbClr val="555555"/>
                </a:solidFill>
                <a:latin typeface="Calibri"/>
                <a:cs typeface="Calibri"/>
              </a:rPr>
              <a:t>la</a:t>
            </a:r>
            <a:r>
              <a:rPr sz="1600" spc="-5" dirty="0">
                <a:solidFill>
                  <a:srgbClr val="555555"/>
                </a:solidFill>
                <a:latin typeface="Calibri"/>
                <a:cs typeface="Calibri"/>
              </a:rPr>
              <a:t> </a:t>
            </a:r>
            <a:r>
              <a:rPr sz="1600" spc="-10" dirty="0">
                <a:solidFill>
                  <a:srgbClr val="555555"/>
                </a:solidFill>
                <a:latin typeface="Calibri"/>
                <a:cs typeface="Calibri"/>
              </a:rPr>
              <a:t>pile.</a:t>
            </a:r>
            <a:endParaRPr sz="1600" dirty="0">
              <a:latin typeface="Calibri"/>
              <a:cs typeface="Calibri"/>
            </a:endParaRPr>
          </a:p>
        </p:txBody>
      </p:sp>
      <p:sp>
        <p:nvSpPr>
          <p:cNvPr id="16" name="object 16"/>
          <p:cNvSpPr txBox="1"/>
          <p:nvPr/>
        </p:nvSpPr>
        <p:spPr>
          <a:xfrm>
            <a:off x="798982" y="1602105"/>
            <a:ext cx="10707218" cy="970137"/>
          </a:xfrm>
          <a:prstGeom prst="rect">
            <a:avLst/>
          </a:prstGeom>
        </p:spPr>
        <p:txBody>
          <a:bodyPr vert="horz" wrap="square" lIns="0" tIns="13335" rIns="0" bIns="0" rtlCol="0">
            <a:spAutoFit/>
          </a:bodyPr>
          <a:lstStyle/>
          <a:p>
            <a:pPr marL="381000">
              <a:lnSpc>
                <a:spcPct val="100000"/>
              </a:lnSpc>
            </a:pPr>
            <a:endParaRPr lang="fr-FR" sz="1600" dirty="0">
              <a:latin typeface="Calibri"/>
              <a:cs typeface="Calibri"/>
            </a:endParaRPr>
          </a:p>
          <a:p>
            <a:pPr marL="381000">
              <a:lnSpc>
                <a:spcPct val="100000"/>
              </a:lnSpc>
            </a:pPr>
            <a:r>
              <a:rPr sz="1600" dirty="0" err="1" smtClean="0">
                <a:solidFill>
                  <a:srgbClr val="555555"/>
                </a:solidFill>
                <a:latin typeface="Calibri"/>
                <a:cs typeface="Calibri"/>
              </a:rPr>
              <a:t>Chaque</a:t>
            </a:r>
            <a:r>
              <a:rPr sz="1600" spc="10" dirty="0" smtClean="0">
                <a:solidFill>
                  <a:srgbClr val="555555"/>
                </a:solidFill>
                <a:latin typeface="Calibri"/>
                <a:cs typeface="Calibri"/>
              </a:rPr>
              <a:t> </a:t>
            </a:r>
            <a:r>
              <a:rPr sz="1600" dirty="0">
                <a:solidFill>
                  <a:srgbClr val="555555"/>
                </a:solidFill>
                <a:latin typeface="Calibri"/>
                <a:cs typeface="Calibri"/>
              </a:rPr>
              <a:t>processus</a:t>
            </a:r>
            <a:r>
              <a:rPr sz="1600" spc="-20" dirty="0">
                <a:solidFill>
                  <a:srgbClr val="555555"/>
                </a:solidFill>
                <a:latin typeface="Calibri"/>
                <a:cs typeface="Calibri"/>
              </a:rPr>
              <a:t> </a:t>
            </a:r>
            <a:r>
              <a:rPr sz="1600" dirty="0">
                <a:solidFill>
                  <a:srgbClr val="555555"/>
                </a:solidFill>
                <a:latin typeface="Calibri"/>
                <a:cs typeface="Calibri"/>
              </a:rPr>
              <a:t>est</a:t>
            </a:r>
            <a:r>
              <a:rPr sz="1600" spc="-40" dirty="0">
                <a:solidFill>
                  <a:srgbClr val="555555"/>
                </a:solidFill>
                <a:latin typeface="Calibri"/>
                <a:cs typeface="Calibri"/>
              </a:rPr>
              <a:t> </a:t>
            </a:r>
            <a:r>
              <a:rPr sz="1600" spc="-10" dirty="0">
                <a:solidFill>
                  <a:srgbClr val="555555"/>
                </a:solidFill>
                <a:latin typeface="Calibri"/>
                <a:cs typeface="Calibri"/>
              </a:rPr>
              <a:t>caractérisé</a:t>
            </a:r>
            <a:r>
              <a:rPr sz="1600" spc="-25" dirty="0">
                <a:solidFill>
                  <a:srgbClr val="555555"/>
                </a:solidFill>
                <a:latin typeface="Calibri"/>
                <a:cs typeface="Calibri"/>
              </a:rPr>
              <a:t> </a:t>
            </a:r>
            <a:r>
              <a:rPr sz="1600" dirty="0">
                <a:solidFill>
                  <a:srgbClr val="555555"/>
                </a:solidFill>
                <a:latin typeface="Calibri"/>
                <a:cs typeface="Calibri"/>
              </a:rPr>
              <a:t>par</a:t>
            </a:r>
            <a:r>
              <a:rPr sz="1600" spc="-35" dirty="0">
                <a:solidFill>
                  <a:srgbClr val="555555"/>
                </a:solidFill>
                <a:latin typeface="Calibri"/>
                <a:cs typeface="Calibri"/>
              </a:rPr>
              <a:t> </a:t>
            </a:r>
            <a:r>
              <a:rPr sz="1600" dirty="0">
                <a:solidFill>
                  <a:srgbClr val="555555"/>
                </a:solidFill>
                <a:latin typeface="Calibri"/>
                <a:cs typeface="Calibri"/>
              </a:rPr>
              <a:t>son</a:t>
            </a:r>
            <a:r>
              <a:rPr sz="1600" spc="-40" dirty="0">
                <a:solidFill>
                  <a:srgbClr val="555555"/>
                </a:solidFill>
                <a:latin typeface="Calibri"/>
                <a:cs typeface="Calibri"/>
              </a:rPr>
              <a:t> </a:t>
            </a:r>
            <a:r>
              <a:rPr sz="1600" dirty="0">
                <a:solidFill>
                  <a:srgbClr val="555555"/>
                </a:solidFill>
                <a:latin typeface="Calibri"/>
                <a:cs typeface="Calibri"/>
              </a:rPr>
              <a:t>espace</a:t>
            </a:r>
            <a:r>
              <a:rPr sz="1600" spc="-45" dirty="0">
                <a:solidFill>
                  <a:srgbClr val="555555"/>
                </a:solidFill>
                <a:latin typeface="Calibri"/>
                <a:cs typeface="Calibri"/>
              </a:rPr>
              <a:t> </a:t>
            </a:r>
            <a:r>
              <a:rPr sz="1600" spc="-10" dirty="0">
                <a:solidFill>
                  <a:srgbClr val="555555"/>
                </a:solidFill>
                <a:latin typeface="Calibri"/>
                <a:cs typeface="Calibri"/>
              </a:rPr>
              <a:t>d'adressage.</a:t>
            </a:r>
            <a:endParaRPr sz="1600" dirty="0">
              <a:latin typeface="Calibri"/>
              <a:cs typeface="Calibri"/>
            </a:endParaRPr>
          </a:p>
          <a:p>
            <a:pPr marL="381000">
              <a:lnSpc>
                <a:spcPct val="100000"/>
              </a:lnSpc>
              <a:spcBef>
                <a:spcPts val="1685"/>
              </a:spcBef>
            </a:pPr>
            <a:r>
              <a:rPr sz="1600" spc="-30" dirty="0">
                <a:solidFill>
                  <a:srgbClr val="555555"/>
                </a:solidFill>
                <a:latin typeface="Calibri"/>
                <a:cs typeface="Calibri"/>
              </a:rPr>
              <a:t>L’espace</a:t>
            </a:r>
            <a:r>
              <a:rPr sz="1600" spc="-25" dirty="0">
                <a:solidFill>
                  <a:srgbClr val="555555"/>
                </a:solidFill>
                <a:latin typeface="Calibri"/>
                <a:cs typeface="Calibri"/>
              </a:rPr>
              <a:t> </a:t>
            </a:r>
            <a:r>
              <a:rPr sz="1600" spc="-20" dirty="0">
                <a:solidFill>
                  <a:srgbClr val="555555"/>
                </a:solidFill>
                <a:latin typeface="Calibri"/>
                <a:cs typeface="Calibri"/>
              </a:rPr>
              <a:t>d’adressage</a:t>
            </a:r>
            <a:r>
              <a:rPr sz="1600" spc="15" dirty="0">
                <a:solidFill>
                  <a:srgbClr val="555555"/>
                </a:solidFill>
                <a:latin typeface="Calibri"/>
                <a:cs typeface="Calibri"/>
              </a:rPr>
              <a:t> </a:t>
            </a:r>
            <a:r>
              <a:rPr sz="1600" dirty="0">
                <a:solidFill>
                  <a:srgbClr val="555555"/>
                </a:solidFill>
                <a:latin typeface="Calibri"/>
                <a:cs typeface="Calibri"/>
              </a:rPr>
              <a:t>est</a:t>
            </a:r>
            <a:r>
              <a:rPr sz="1600" spc="-20" dirty="0">
                <a:solidFill>
                  <a:srgbClr val="555555"/>
                </a:solidFill>
                <a:latin typeface="Calibri"/>
                <a:cs typeface="Calibri"/>
              </a:rPr>
              <a:t> l’ensemble</a:t>
            </a:r>
            <a:r>
              <a:rPr sz="1600" spc="15" dirty="0">
                <a:solidFill>
                  <a:srgbClr val="555555"/>
                </a:solidFill>
                <a:latin typeface="Calibri"/>
                <a:cs typeface="Calibri"/>
              </a:rPr>
              <a:t> </a:t>
            </a:r>
            <a:r>
              <a:rPr sz="1600" spc="-10" dirty="0">
                <a:solidFill>
                  <a:srgbClr val="555555"/>
                </a:solidFill>
                <a:latin typeface="Calibri"/>
                <a:cs typeface="Calibri"/>
              </a:rPr>
              <a:t>d'adresse</a:t>
            </a:r>
            <a:r>
              <a:rPr sz="1600" spc="15" dirty="0">
                <a:solidFill>
                  <a:srgbClr val="555555"/>
                </a:solidFill>
                <a:latin typeface="Calibri"/>
                <a:cs typeface="Calibri"/>
              </a:rPr>
              <a:t> </a:t>
            </a:r>
            <a:r>
              <a:rPr sz="1600" spc="-10" dirty="0">
                <a:solidFill>
                  <a:srgbClr val="555555"/>
                </a:solidFill>
                <a:latin typeface="Calibri"/>
                <a:cs typeface="Calibri"/>
              </a:rPr>
              <a:t>mémoires</a:t>
            </a:r>
            <a:r>
              <a:rPr sz="1600" spc="-20" dirty="0">
                <a:solidFill>
                  <a:srgbClr val="555555"/>
                </a:solidFill>
                <a:latin typeface="Calibri"/>
                <a:cs typeface="Calibri"/>
              </a:rPr>
              <a:t> </a:t>
            </a:r>
            <a:r>
              <a:rPr sz="1600" dirty="0">
                <a:solidFill>
                  <a:srgbClr val="555555"/>
                </a:solidFill>
                <a:latin typeface="Calibri"/>
                <a:cs typeface="Calibri"/>
              </a:rPr>
              <a:t>utilisées</a:t>
            </a:r>
            <a:r>
              <a:rPr sz="1600" spc="40" dirty="0">
                <a:solidFill>
                  <a:srgbClr val="555555"/>
                </a:solidFill>
                <a:latin typeface="Calibri"/>
                <a:cs typeface="Calibri"/>
              </a:rPr>
              <a:t> </a:t>
            </a:r>
            <a:r>
              <a:rPr sz="1600" dirty="0">
                <a:solidFill>
                  <a:srgbClr val="555555"/>
                </a:solidFill>
                <a:latin typeface="Calibri"/>
                <a:cs typeface="Calibri"/>
              </a:rPr>
              <a:t>par</a:t>
            </a:r>
            <a:r>
              <a:rPr sz="1600" spc="-35" dirty="0">
                <a:solidFill>
                  <a:srgbClr val="555555"/>
                </a:solidFill>
                <a:latin typeface="Calibri"/>
                <a:cs typeface="Calibri"/>
              </a:rPr>
              <a:t> </a:t>
            </a:r>
            <a:r>
              <a:rPr sz="1600" dirty="0">
                <a:solidFill>
                  <a:srgbClr val="555555"/>
                </a:solidFill>
                <a:latin typeface="Calibri"/>
                <a:cs typeface="Calibri"/>
              </a:rPr>
              <a:t>le</a:t>
            </a:r>
            <a:r>
              <a:rPr sz="1600" spc="-30" dirty="0">
                <a:solidFill>
                  <a:srgbClr val="555555"/>
                </a:solidFill>
                <a:latin typeface="Calibri"/>
                <a:cs typeface="Calibri"/>
              </a:rPr>
              <a:t> </a:t>
            </a:r>
            <a:r>
              <a:rPr sz="1600" spc="-10" dirty="0">
                <a:solidFill>
                  <a:srgbClr val="555555"/>
                </a:solidFill>
                <a:latin typeface="Calibri"/>
                <a:cs typeface="Calibri"/>
              </a:rPr>
              <a:t>processus</a:t>
            </a:r>
            <a:r>
              <a:rPr sz="1600" spc="-20" dirty="0">
                <a:solidFill>
                  <a:srgbClr val="555555"/>
                </a:solidFill>
                <a:latin typeface="Calibri"/>
                <a:cs typeface="Calibri"/>
              </a:rPr>
              <a:t> </a:t>
            </a:r>
            <a:r>
              <a:rPr sz="1600" dirty="0">
                <a:solidFill>
                  <a:srgbClr val="555555"/>
                </a:solidFill>
                <a:latin typeface="Calibri"/>
                <a:cs typeface="Calibri"/>
              </a:rPr>
              <a:t>pour</a:t>
            </a:r>
            <a:r>
              <a:rPr sz="1600" spc="-35" dirty="0">
                <a:solidFill>
                  <a:srgbClr val="555555"/>
                </a:solidFill>
                <a:latin typeface="Calibri"/>
                <a:cs typeface="Calibri"/>
              </a:rPr>
              <a:t> </a:t>
            </a:r>
            <a:r>
              <a:rPr sz="1600" spc="-20" dirty="0" smtClean="0">
                <a:solidFill>
                  <a:srgbClr val="555555"/>
                </a:solidFill>
                <a:latin typeface="Calibri"/>
                <a:cs typeface="Calibri"/>
              </a:rPr>
              <a:t>lire</a:t>
            </a:r>
            <a:r>
              <a:rPr lang="fr-FR" sz="1600" spc="-20" dirty="0" smtClean="0">
                <a:solidFill>
                  <a:srgbClr val="555555"/>
                </a:solidFill>
                <a:latin typeface="Calibri"/>
                <a:cs typeface="Calibri"/>
              </a:rPr>
              <a:t> </a:t>
            </a:r>
            <a:r>
              <a:rPr lang="fr-FR" sz="1600" dirty="0" smtClean="0">
                <a:solidFill>
                  <a:srgbClr val="555555"/>
                </a:solidFill>
                <a:latin typeface="Calibri"/>
                <a:cs typeface="Calibri"/>
              </a:rPr>
              <a:t>et</a:t>
            </a:r>
            <a:r>
              <a:rPr lang="fr-FR" sz="1600" spc="-50" dirty="0" smtClean="0">
                <a:solidFill>
                  <a:srgbClr val="555555"/>
                </a:solidFill>
                <a:latin typeface="Calibri"/>
                <a:cs typeface="Calibri"/>
              </a:rPr>
              <a:t> </a:t>
            </a:r>
            <a:r>
              <a:rPr lang="fr-FR" sz="1600" dirty="0" smtClean="0">
                <a:solidFill>
                  <a:srgbClr val="555555"/>
                </a:solidFill>
                <a:latin typeface="Calibri"/>
                <a:cs typeface="Calibri"/>
              </a:rPr>
              <a:t>écrire</a:t>
            </a:r>
            <a:r>
              <a:rPr lang="fr-FR" sz="1600" spc="-35" dirty="0" smtClean="0">
                <a:solidFill>
                  <a:srgbClr val="555555"/>
                </a:solidFill>
                <a:latin typeface="Calibri"/>
                <a:cs typeface="Calibri"/>
              </a:rPr>
              <a:t> </a:t>
            </a:r>
            <a:r>
              <a:rPr lang="fr-FR" sz="1600" dirty="0" smtClean="0">
                <a:solidFill>
                  <a:srgbClr val="555555"/>
                </a:solidFill>
                <a:latin typeface="Calibri"/>
                <a:cs typeface="Calibri"/>
              </a:rPr>
              <a:t>des</a:t>
            </a:r>
            <a:r>
              <a:rPr lang="fr-FR" sz="1600" spc="-30" dirty="0" smtClean="0">
                <a:solidFill>
                  <a:srgbClr val="555555"/>
                </a:solidFill>
                <a:latin typeface="Calibri"/>
                <a:cs typeface="Calibri"/>
              </a:rPr>
              <a:t> </a:t>
            </a:r>
            <a:r>
              <a:rPr lang="fr-FR" sz="1600" dirty="0" smtClean="0">
                <a:solidFill>
                  <a:srgbClr val="555555"/>
                </a:solidFill>
                <a:latin typeface="Calibri"/>
                <a:cs typeface="Calibri"/>
              </a:rPr>
              <a:t>données</a:t>
            </a:r>
            <a:endParaRPr sz="1600" dirty="0">
              <a:latin typeface="Calibri"/>
              <a:cs typeface="Calibri"/>
            </a:endParaRPr>
          </a:p>
        </p:txBody>
      </p:sp>
      <p:sp>
        <p:nvSpPr>
          <p:cNvPr id="17" name="object 17"/>
          <p:cNvSpPr txBox="1">
            <a:spLocks noGrp="1"/>
          </p:cNvSpPr>
          <p:nvPr>
            <p:ph type="title"/>
          </p:nvPr>
        </p:nvSpPr>
        <p:spPr>
          <a:xfrm>
            <a:off x="263753" y="332308"/>
            <a:ext cx="11664492" cy="702713"/>
          </a:xfrm>
          <a:prstGeom prst="rect">
            <a:avLst/>
          </a:prstGeom>
        </p:spPr>
        <p:txBody>
          <a:bodyPr vert="horz" wrap="square" lIns="0" tIns="147277" rIns="0" bIns="0" rtlCol="0">
            <a:spAutoFit/>
          </a:bodyPr>
          <a:lstStyle/>
          <a:p>
            <a:pPr marL="12700">
              <a:lnSpc>
                <a:spcPct val="100000"/>
              </a:lnSpc>
              <a:spcBef>
                <a:spcPts val="280"/>
              </a:spcBef>
            </a:pPr>
            <a:r>
              <a:rPr lang="fr-FR" dirty="0">
                <a:solidFill>
                  <a:srgbClr val="007842"/>
                </a:solidFill>
              </a:rPr>
              <a:t>04</a:t>
            </a:r>
            <a:r>
              <a:rPr lang="fr-FR" spc="-35" dirty="0">
                <a:solidFill>
                  <a:srgbClr val="007842"/>
                </a:solidFill>
              </a:rPr>
              <a:t> </a:t>
            </a:r>
            <a:r>
              <a:rPr lang="fr-FR" dirty="0">
                <a:solidFill>
                  <a:srgbClr val="007842"/>
                </a:solidFill>
              </a:rPr>
              <a:t>–</a:t>
            </a:r>
            <a:r>
              <a:rPr lang="fr-FR" spc="-20" dirty="0">
                <a:solidFill>
                  <a:srgbClr val="007842"/>
                </a:solidFill>
              </a:rPr>
              <a:t> </a:t>
            </a:r>
            <a:r>
              <a:rPr lang="fr-FR" dirty="0">
                <a:solidFill>
                  <a:srgbClr val="007842"/>
                </a:solidFill>
              </a:rPr>
              <a:t>Gestion des </a:t>
            </a:r>
            <a:r>
              <a:rPr lang="fr-FR" dirty="0" smtClean="0">
                <a:solidFill>
                  <a:srgbClr val="007842"/>
                </a:solidFill>
              </a:rPr>
              <a:t>processus</a:t>
            </a:r>
            <a:br>
              <a:rPr lang="fr-FR" dirty="0" smtClean="0">
                <a:solidFill>
                  <a:srgbClr val="007842"/>
                </a:solidFill>
              </a:rPr>
            </a:br>
            <a:r>
              <a:rPr lang="fr-FR" sz="1600" spc="-10" dirty="0" smtClean="0">
                <a:solidFill>
                  <a:srgbClr val="007842"/>
                </a:solidFill>
              </a:rPr>
              <a:t>Espace d’adressage d’un processus</a:t>
            </a:r>
            <a:endParaRPr sz="1600" dirty="0"/>
          </a:p>
        </p:txBody>
      </p:sp>
      <p:graphicFrame>
        <p:nvGraphicFramePr>
          <p:cNvPr id="18" name="object 18"/>
          <p:cNvGraphicFramePr>
            <a:graphicFrameLocks noGrp="1"/>
          </p:cNvGraphicFramePr>
          <p:nvPr/>
        </p:nvGraphicFramePr>
        <p:xfrm>
          <a:off x="7320660" y="3067685"/>
          <a:ext cx="2043430" cy="2350770"/>
        </p:xfrm>
        <a:graphic>
          <a:graphicData uri="http://schemas.openxmlformats.org/drawingml/2006/table">
            <a:tbl>
              <a:tblPr firstRow="1" bandRow="1">
                <a:tableStyleId>{2D5ABB26-0587-4C30-8999-92F81FD0307C}</a:tableStyleId>
              </a:tblPr>
              <a:tblGrid>
                <a:gridCol w="2043430">
                  <a:extLst>
                    <a:ext uri="{9D8B030D-6E8A-4147-A177-3AD203B41FA5}">
                      <a16:colId xmlns:a16="http://schemas.microsoft.com/office/drawing/2014/main" val="20000"/>
                    </a:ext>
                  </a:extLst>
                </a:gridCol>
              </a:tblGrid>
              <a:tr h="821690">
                <a:tc>
                  <a:txBody>
                    <a:bodyPr/>
                    <a:lstStyle/>
                    <a:p>
                      <a:pPr marL="1270" algn="ctr">
                        <a:lnSpc>
                          <a:spcPts val="1710"/>
                        </a:lnSpc>
                      </a:pPr>
                      <a:r>
                        <a:rPr sz="1800" b="1" spc="-20" dirty="0">
                          <a:latin typeface="Calibri"/>
                          <a:cs typeface="Calibri"/>
                        </a:rPr>
                        <a:t>Pile</a:t>
                      </a:r>
                      <a:endParaRPr sz="1800">
                        <a:latin typeface="Calibri"/>
                        <a:cs typeface="Calibri"/>
                      </a:endParaRPr>
                    </a:p>
                  </a:txBody>
                  <a:tcPr marL="0" marR="0" marT="0" marB="0"/>
                </a:tc>
                <a:extLst>
                  <a:ext uri="{0D108BD9-81ED-4DB2-BD59-A6C34878D82A}">
                    <a16:rowId xmlns:a16="http://schemas.microsoft.com/office/drawing/2014/main" val="10000"/>
                  </a:ext>
                </a:extLst>
              </a:tr>
              <a:tr h="1061085">
                <a:tc>
                  <a:txBody>
                    <a:bodyPr/>
                    <a:lstStyle/>
                    <a:p>
                      <a:pPr>
                        <a:lnSpc>
                          <a:spcPct val="100000"/>
                        </a:lnSpc>
                      </a:pPr>
                      <a:endParaRPr sz="1800">
                        <a:latin typeface="Times New Roman"/>
                        <a:cs typeface="Times New Roman"/>
                      </a:endParaRPr>
                    </a:p>
                    <a:p>
                      <a:pPr>
                        <a:lnSpc>
                          <a:spcPct val="100000"/>
                        </a:lnSpc>
                        <a:spcBef>
                          <a:spcPts val="80"/>
                        </a:spcBef>
                      </a:pPr>
                      <a:endParaRPr sz="1800">
                        <a:latin typeface="Times New Roman"/>
                        <a:cs typeface="Times New Roman"/>
                      </a:endParaRPr>
                    </a:p>
                    <a:p>
                      <a:pPr algn="ctr">
                        <a:lnSpc>
                          <a:spcPct val="100000"/>
                        </a:lnSpc>
                      </a:pPr>
                      <a:r>
                        <a:rPr sz="1800" b="1" dirty="0">
                          <a:latin typeface="Calibri"/>
                          <a:cs typeface="Calibri"/>
                        </a:rPr>
                        <a:t>Segment</a:t>
                      </a:r>
                      <a:r>
                        <a:rPr sz="1800" b="1" spc="-55" dirty="0">
                          <a:latin typeface="Calibri"/>
                          <a:cs typeface="Calibri"/>
                        </a:rPr>
                        <a:t> </a:t>
                      </a:r>
                      <a:r>
                        <a:rPr sz="1800" b="1" dirty="0">
                          <a:latin typeface="Calibri"/>
                          <a:cs typeface="Calibri"/>
                        </a:rPr>
                        <a:t>de</a:t>
                      </a:r>
                      <a:r>
                        <a:rPr sz="1800" b="1" spc="-35" dirty="0">
                          <a:latin typeface="Calibri"/>
                          <a:cs typeface="Calibri"/>
                        </a:rPr>
                        <a:t> </a:t>
                      </a:r>
                      <a:r>
                        <a:rPr sz="1800" b="1" spc="-10" dirty="0">
                          <a:latin typeface="Calibri"/>
                          <a:cs typeface="Calibri"/>
                        </a:rPr>
                        <a:t>données</a:t>
                      </a:r>
                      <a:endParaRPr sz="1800">
                        <a:latin typeface="Calibri"/>
                        <a:cs typeface="Calibri"/>
                      </a:endParaRPr>
                    </a:p>
                  </a:txBody>
                  <a:tcPr marL="0" marR="0" marT="0" marB="0"/>
                </a:tc>
                <a:extLst>
                  <a:ext uri="{0D108BD9-81ED-4DB2-BD59-A6C34878D82A}">
                    <a16:rowId xmlns:a16="http://schemas.microsoft.com/office/drawing/2014/main" val="10001"/>
                  </a:ext>
                </a:extLst>
              </a:tr>
              <a:tr h="467995">
                <a:tc>
                  <a:txBody>
                    <a:bodyPr/>
                    <a:lstStyle/>
                    <a:p>
                      <a:pPr algn="ctr">
                        <a:lnSpc>
                          <a:spcPts val="2150"/>
                        </a:lnSpc>
                        <a:spcBef>
                          <a:spcPts val="1435"/>
                        </a:spcBef>
                      </a:pPr>
                      <a:r>
                        <a:rPr sz="1800" b="1" dirty="0">
                          <a:latin typeface="Calibri"/>
                          <a:cs typeface="Calibri"/>
                        </a:rPr>
                        <a:t>Segment</a:t>
                      </a:r>
                      <a:r>
                        <a:rPr sz="1800" b="1" spc="-55" dirty="0">
                          <a:latin typeface="Calibri"/>
                          <a:cs typeface="Calibri"/>
                        </a:rPr>
                        <a:t> </a:t>
                      </a:r>
                      <a:r>
                        <a:rPr sz="1800" b="1" dirty="0">
                          <a:latin typeface="Calibri"/>
                          <a:cs typeface="Calibri"/>
                        </a:rPr>
                        <a:t>de</a:t>
                      </a:r>
                      <a:r>
                        <a:rPr sz="1800" b="1" spc="-35" dirty="0">
                          <a:latin typeface="Calibri"/>
                          <a:cs typeface="Calibri"/>
                        </a:rPr>
                        <a:t> </a:t>
                      </a:r>
                      <a:r>
                        <a:rPr sz="1800" b="1" spc="-10" dirty="0">
                          <a:latin typeface="Calibri"/>
                          <a:cs typeface="Calibri"/>
                        </a:rPr>
                        <a:t>texte</a:t>
                      </a:r>
                      <a:endParaRPr sz="1800">
                        <a:latin typeface="Calibri"/>
                        <a:cs typeface="Calibri"/>
                      </a:endParaRPr>
                    </a:p>
                  </a:txBody>
                  <a:tcPr marL="0" marR="0" marT="182245" marB="0"/>
                </a:tc>
                <a:extLst>
                  <a:ext uri="{0D108BD9-81ED-4DB2-BD59-A6C34878D82A}">
                    <a16:rowId xmlns:a16="http://schemas.microsoft.com/office/drawing/2014/main" val="10002"/>
                  </a:ext>
                </a:extLst>
              </a:tr>
            </a:tbl>
          </a:graphicData>
        </a:graphic>
      </p:graphicFrame>
      <p:sp>
        <p:nvSpPr>
          <p:cNvPr id="19" name="object 19"/>
          <p:cNvSpPr/>
          <p:nvPr/>
        </p:nvSpPr>
        <p:spPr>
          <a:xfrm>
            <a:off x="9632950" y="2964179"/>
            <a:ext cx="85725" cy="2829560"/>
          </a:xfrm>
          <a:custGeom>
            <a:avLst/>
            <a:gdLst/>
            <a:ahLst/>
            <a:cxnLst/>
            <a:rect l="l" t="t" r="r" b="b"/>
            <a:pathLst>
              <a:path w="85725" h="2829560">
                <a:moveTo>
                  <a:pt x="28575" y="2743517"/>
                </a:moveTo>
                <a:lnTo>
                  <a:pt x="0" y="2743517"/>
                </a:lnTo>
                <a:lnTo>
                  <a:pt x="42925" y="2829242"/>
                </a:lnTo>
                <a:lnTo>
                  <a:pt x="78591" y="2757805"/>
                </a:lnTo>
                <a:lnTo>
                  <a:pt x="28575" y="2757805"/>
                </a:lnTo>
                <a:lnTo>
                  <a:pt x="28575" y="2743517"/>
                </a:lnTo>
                <a:close/>
              </a:path>
              <a:path w="85725" h="2829560">
                <a:moveTo>
                  <a:pt x="57150" y="71500"/>
                </a:moveTo>
                <a:lnTo>
                  <a:pt x="28575" y="71500"/>
                </a:lnTo>
                <a:lnTo>
                  <a:pt x="28575" y="2757805"/>
                </a:lnTo>
                <a:lnTo>
                  <a:pt x="57150" y="2757805"/>
                </a:lnTo>
                <a:lnTo>
                  <a:pt x="57150" y="71500"/>
                </a:lnTo>
                <a:close/>
              </a:path>
              <a:path w="85725" h="2829560">
                <a:moveTo>
                  <a:pt x="85725" y="2743517"/>
                </a:moveTo>
                <a:lnTo>
                  <a:pt x="57150" y="2743517"/>
                </a:lnTo>
                <a:lnTo>
                  <a:pt x="57150" y="2757805"/>
                </a:lnTo>
                <a:lnTo>
                  <a:pt x="78591" y="2757805"/>
                </a:lnTo>
                <a:lnTo>
                  <a:pt x="85725" y="2743517"/>
                </a:lnTo>
                <a:close/>
              </a:path>
              <a:path w="85725" h="2829560">
                <a:moveTo>
                  <a:pt x="42925" y="0"/>
                </a:moveTo>
                <a:lnTo>
                  <a:pt x="0" y="85725"/>
                </a:lnTo>
                <a:lnTo>
                  <a:pt x="28575" y="85725"/>
                </a:lnTo>
                <a:lnTo>
                  <a:pt x="28575" y="71500"/>
                </a:lnTo>
                <a:lnTo>
                  <a:pt x="78623" y="71500"/>
                </a:lnTo>
                <a:lnTo>
                  <a:pt x="42925" y="0"/>
                </a:lnTo>
                <a:close/>
              </a:path>
              <a:path w="85725" h="2829560">
                <a:moveTo>
                  <a:pt x="78623" y="71500"/>
                </a:moveTo>
                <a:lnTo>
                  <a:pt x="57150" y="71500"/>
                </a:lnTo>
                <a:lnTo>
                  <a:pt x="57150" y="85725"/>
                </a:lnTo>
                <a:lnTo>
                  <a:pt x="85725" y="85725"/>
                </a:lnTo>
                <a:lnTo>
                  <a:pt x="78623" y="71500"/>
                </a:lnTo>
                <a:close/>
              </a:path>
            </a:pathLst>
          </a:custGeom>
          <a:solidFill>
            <a:srgbClr val="4471C4"/>
          </a:solidFill>
        </p:spPr>
        <p:txBody>
          <a:bodyPr wrap="square" lIns="0" tIns="0" rIns="0" bIns="0" rtlCol="0"/>
          <a:lstStyle/>
          <a:p>
            <a:endParaRPr/>
          </a:p>
        </p:txBody>
      </p:sp>
      <p:sp>
        <p:nvSpPr>
          <p:cNvPr id="20" name="object 20"/>
          <p:cNvSpPr txBox="1"/>
          <p:nvPr/>
        </p:nvSpPr>
        <p:spPr>
          <a:xfrm>
            <a:off x="9822942" y="2881706"/>
            <a:ext cx="1085215" cy="300355"/>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0*FFFFFFFF</a:t>
            </a:r>
            <a:endParaRPr sz="1800">
              <a:latin typeface="Calibri"/>
              <a:cs typeface="Calibri"/>
            </a:endParaRPr>
          </a:p>
        </p:txBody>
      </p:sp>
      <p:sp>
        <p:nvSpPr>
          <p:cNvPr id="21" name="object 21"/>
          <p:cNvSpPr txBox="1"/>
          <p:nvPr/>
        </p:nvSpPr>
        <p:spPr>
          <a:xfrm>
            <a:off x="9822942" y="5520029"/>
            <a:ext cx="118110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0*00000000</a:t>
            </a:r>
            <a:endParaRPr sz="1800">
              <a:latin typeface="Calibri"/>
              <a:cs typeface="Calibri"/>
            </a:endParaRPr>
          </a:p>
        </p:txBody>
      </p:sp>
      <p:sp>
        <p:nvSpPr>
          <p:cNvPr id="22" name="object 22"/>
          <p:cNvSpPr/>
          <p:nvPr/>
        </p:nvSpPr>
        <p:spPr>
          <a:xfrm>
            <a:off x="8221726" y="3430523"/>
            <a:ext cx="85725" cy="262255"/>
          </a:xfrm>
          <a:custGeom>
            <a:avLst/>
            <a:gdLst/>
            <a:ahLst/>
            <a:cxnLst/>
            <a:rect l="l" t="t" r="r" b="b"/>
            <a:pathLst>
              <a:path w="85725" h="262254">
                <a:moveTo>
                  <a:pt x="28575" y="176275"/>
                </a:moveTo>
                <a:lnTo>
                  <a:pt x="0" y="176275"/>
                </a:lnTo>
                <a:lnTo>
                  <a:pt x="42925" y="262000"/>
                </a:lnTo>
                <a:lnTo>
                  <a:pt x="78560" y="190626"/>
                </a:lnTo>
                <a:lnTo>
                  <a:pt x="28575" y="190626"/>
                </a:lnTo>
                <a:lnTo>
                  <a:pt x="28575" y="176275"/>
                </a:lnTo>
                <a:close/>
              </a:path>
              <a:path w="85725" h="262254">
                <a:moveTo>
                  <a:pt x="57150" y="0"/>
                </a:moveTo>
                <a:lnTo>
                  <a:pt x="28575" y="0"/>
                </a:lnTo>
                <a:lnTo>
                  <a:pt x="28575" y="190626"/>
                </a:lnTo>
                <a:lnTo>
                  <a:pt x="57150" y="190626"/>
                </a:lnTo>
                <a:lnTo>
                  <a:pt x="57150" y="0"/>
                </a:lnTo>
                <a:close/>
              </a:path>
              <a:path w="85725" h="262254">
                <a:moveTo>
                  <a:pt x="85725" y="176275"/>
                </a:moveTo>
                <a:lnTo>
                  <a:pt x="57150" y="176275"/>
                </a:lnTo>
                <a:lnTo>
                  <a:pt x="57150" y="190626"/>
                </a:lnTo>
                <a:lnTo>
                  <a:pt x="78560" y="190626"/>
                </a:lnTo>
                <a:lnTo>
                  <a:pt x="85725" y="176275"/>
                </a:lnTo>
                <a:close/>
              </a:path>
            </a:pathLst>
          </a:custGeom>
          <a:solidFill>
            <a:srgbClr val="4471C4"/>
          </a:solidFill>
        </p:spPr>
        <p:txBody>
          <a:bodyPr wrap="square" lIns="0" tIns="0" rIns="0" bIns="0" rtlCol="0"/>
          <a:lstStyle/>
          <a:p>
            <a:endParaRPr/>
          </a:p>
        </p:txBody>
      </p:sp>
      <p:sp>
        <p:nvSpPr>
          <p:cNvPr id="23" name="object 23"/>
          <p:cNvSpPr/>
          <p:nvPr/>
        </p:nvSpPr>
        <p:spPr>
          <a:xfrm>
            <a:off x="8221726" y="3793235"/>
            <a:ext cx="85725" cy="311150"/>
          </a:xfrm>
          <a:custGeom>
            <a:avLst/>
            <a:gdLst/>
            <a:ahLst/>
            <a:cxnLst/>
            <a:rect l="l" t="t" r="r" b="b"/>
            <a:pathLst>
              <a:path w="85725" h="311150">
                <a:moveTo>
                  <a:pt x="57150" y="71374"/>
                </a:moveTo>
                <a:lnTo>
                  <a:pt x="28575" y="71374"/>
                </a:lnTo>
                <a:lnTo>
                  <a:pt x="28575" y="310769"/>
                </a:lnTo>
                <a:lnTo>
                  <a:pt x="57150" y="310769"/>
                </a:lnTo>
                <a:lnTo>
                  <a:pt x="57150" y="71374"/>
                </a:lnTo>
                <a:close/>
              </a:path>
              <a:path w="85725" h="311150">
                <a:moveTo>
                  <a:pt x="42925" y="0"/>
                </a:moveTo>
                <a:lnTo>
                  <a:pt x="0" y="85725"/>
                </a:lnTo>
                <a:lnTo>
                  <a:pt x="28575" y="85725"/>
                </a:lnTo>
                <a:lnTo>
                  <a:pt x="28575" y="71374"/>
                </a:lnTo>
                <a:lnTo>
                  <a:pt x="78560" y="71374"/>
                </a:lnTo>
                <a:lnTo>
                  <a:pt x="42925" y="0"/>
                </a:lnTo>
                <a:close/>
              </a:path>
              <a:path w="85725" h="311150">
                <a:moveTo>
                  <a:pt x="78560" y="71374"/>
                </a:moveTo>
                <a:lnTo>
                  <a:pt x="57150" y="71374"/>
                </a:lnTo>
                <a:lnTo>
                  <a:pt x="57150" y="85725"/>
                </a:lnTo>
                <a:lnTo>
                  <a:pt x="85725" y="85725"/>
                </a:lnTo>
                <a:lnTo>
                  <a:pt x="78560" y="71374"/>
                </a:lnTo>
                <a:close/>
              </a:path>
            </a:pathLst>
          </a:custGeom>
          <a:solidFill>
            <a:srgbClr val="4471C4"/>
          </a:solidFill>
        </p:spPr>
        <p:txBody>
          <a:bodyPr wrap="square" lIns="0" tIns="0" rIns="0" bIns="0" rtlCol="0"/>
          <a:lstStyle/>
          <a:p>
            <a:endParaRPr/>
          </a:p>
        </p:txBody>
      </p:sp>
      <p:sp>
        <p:nvSpPr>
          <p:cNvPr id="24" name="object 24"/>
          <p:cNvSpPr txBox="1"/>
          <p:nvPr/>
        </p:nvSpPr>
        <p:spPr>
          <a:xfrm>
            <a:off x="6917372" y="5893781"/>
            <a:ext cx="2758440" cy="197490"/>
          </a:xfrm>
          <a:prstGeom prst="rect">
            <a:avLst/>
          </a:prstGeom>
        </p:spPr>
        <p:txBody>
          <a:bodyPr vert="horz" wrap="square" lIns="0" tIns="12700" rIns="0" bIns="0" rtlCol="0">
            <a:spAutoFit/>
          </a:bodyPr>
          <a:lstStyle/>
          <a:p>
            <a:pPr marL="12700">
              <a:lnSpc>
                <a:spcPct val="100000"/>
              </a:lnSpc>
              <a:spcBef>
                <a:spcPts val="100"/>
              </a:spcBef>
            </a:pPr>
            <a:r>
              <a:rPr sz="1200" i="1" dirty="0">
                <a:solidFill>
                  <a:srgbClr val="A6A6A6"/>
                </a:solidFill>
                <a:latin typeface="Calibri"/>
                <a:cs typeface="Calibri"/>
              </a:rPr>
              <a:t>Figure</a:t>
            </a:r>
            <a:r>
              <a:rPr sz="1200" i="1" spc="-20" dirty="0">
                <a:solidFill>
                  <a:srgbClr val="A6A6A6"/>
                </a:solidFill>
                <a:latin typeface="Calibri"/>
                <a:cs typeface="Calibri"/>
              </a:rPr>
              <a:t> </a:t>
            </a:r>
            <a:r>
              <a:rPr sz="1200" i="1" spc="-5" dirty="0" smtClean="0">
                <a:solidFill>
                  <a:srgbClr val="A6A6A6"/>
                </a:solidFill>
                <a:latin typeface="Calibri"/>
                <a:cs typeface="Calibri"/>
              </a:rPr>
              <a:t> </a:t>
            </a:r>
            <a:r>
              <a:rPr sz="1200" i="1" dirty="0">
                <a:solidFill>
                  <a:srgbClr val="A6A6A6"/>
                </a:solidFill>
                <a:latin typeface="Calibri"/>
                <a:cs typeface="Calibri"/>
              </a:rPr>
              <a:t>:</a:t>
            </a:r>
            <a:r>
              <a:rPr sz="1200" i="1" spc="-5" dirty="0">
                <a:solidFill>
                  <a:srgbClr val="A6A6A6"/>
                </a:solidFill>
                <a:latin typeface="Calibri"/>
                <a:cs typeface="Calibri"/>
              </a:rPr>
              <a:t> </a:t>
            </a:r>
            <a:r>
              <a:rPr sz="1200" i="1" dirty="0">
                <a:solidFill>
                  <a:srgbClr val="A6A6A6"/>
                </a:solidFill>
                <a:latin typeface="Calibri"/>
                <a:cs typeface="Calibri"/>
              </a:rPr>
              <a:t>Espace</a:t>
            </a:r>
            <a:r>
              <a:rPr sz="1200" i="1" spc="-15" dirty="0">
                <a:solidFill>
                  <a:srgbClr val="A6A6A6"/>
                </a:solidFill>
                <a:latin typeface="Calibri"/>
                <a:cs typeface="Calibri"/>
              </a:rPr>
              <a:t> </a:t>
            </a:r>
            <a:r>
              <a:rPr sz="1200" i="1" spc="-10" dirty="0">
                <a:solidFill>
                  <a:srgbClr val="A6A6A6"/>
                </a:solidFill>
                <a:latin typeface="Calibri"/>
                <a:cs typeface="Calibri"/>
              </a:rPr>
              <a:t>d’adressage</a:t>
            </a:r>
            <a:r>
              <a:rPr sz="1200" i="1" spc="-40" dirty="0">
                <a:solidFill>
                  <a:srgbClr val="A6A6A6"/>
                </a:solidFill>
                <a:latin typeface="Calibri"/>
                <a:cs typeface="Calibri"/>
              </a:rPr>
              <a:t> </a:t>
            </a:r>
            <a:r>
              <a:rPr sz="1200" i="1" spc="-20" dirty="0">
                <a:solidFill>
                  <a:srgbClr val="A6A6A6"/>
                </a:solidFill>
                <a:latin typeface="Calibri"/>
                <a:cs typeface="Calibri"/>
              </a:rPr>
              <a:t>d’un</a:t>
            </a:r>
            <a:r>
              <a:rPr sz="1200" i="1" spc="-40" dirty="0">
                <a:solidFill>
                  <a:srgbClr val="A6A6A6"/>
                </a:solidFill>
                <a:latin typeface="Calibri"/>
                <a:cs typeface="Calibri"/>
              </a:rPr>
              <a:t> </a:t>
            </a:r>
            <a:r>
              <a:rPr sz="1200" i="1" spc="-10" dirty="0">
                <a:solidFill>
                  <a:srgbClr val="A6A6A6"/>
                </a:solidFill>
                <a:latin typeface="Calibri"/>
                <a:cs typeface="Calibri"/>
              </a:rPr>
              <a:t>processus</a:t>
            </a:r>
            <a:endParaRPr sz="1200" dirty="0">
              <a:latin typeface="Calibri"/>
              <a:cs typeface="Calibri"/>
            </a:endParaRPr>
          </a:p>
        </p:txBody>
      </p:sp>
      <p:sp>
        <p:nvSpPr>
          <p:cNvPr id="26" name="object 26"/>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5</a:t>
            </a:fld>
            <a:endParaRPr spc="-25" dirty="0"/>
          </a:p>
        </p:txBody>
      </p:sp>
      <p:sp>
        <p:nvSpPr>
          <p:cNvPr id="25"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pic>
        <p:nvPicPr>
          <p:cNvPr id="11" name="object 11"/>
          <p:cNvPicPr/>
          <p:nvPr/>
        </p:nvPicPr>
        <p:blipFill>
          <a:blip r:embed="rId4" cstate="print"/>
          <a:stretch>
            <a:fillRect/>
          </a:stretch>
        </p:blipFill>
        <p:spPr>
          <a:xfrm>
            <a:off x="7037831" y="1667255"/>
            <a:ext cx="4602479" cy="3780535"/>
          </a:xfrm>
          <a:prstGeom prst="rect">
            <a:avLst/>
          </a:prstGeom>
        </p:spPr>
      </p:pic>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6</a:t>
            </a:fld>
            <a:endParaRPr spc="-25" dirty="0"/>
          </a:p>
        </p:txBody>
      </p:sp>
      <p:sp>
        <p:nvSpPr>
          <p:cNvPr id="13" name="object 13"/>
          <p:cNvSpPr txBox="1"/>
          <p:nvPr/>
        </p:nvSpPr>
        <p:spPr>
          <a:xfrm>
            <a:off x="869534" y="2338197"/>
            <a:ext cx="6164580" cy="2215991"/>
          </a:xfrm>
          <a:prstGeom prst="rect">
            <a:avLst/>
          </a:prstGeom>
        </p:spPr>
        <p:txBody>
          <a:bodyPr vert="horz" wrap="square" lIns="0" tIns="132080" rIns="0" bIns="0" rtlCol="0">
            <a:spAutoFit/>
          </a:bodyPr>
          <a:lstStyle/>
          <a:p>
            <a:pPr marL="298450" indent="-285750" algn="just">
              <a:lnSpc>
                <a:spcPct val="100000"/>
              </a:lnSpc>
              <a:spcBef>
                <a:spcPts val="700"/>
              </a:spcBef>
              <a:buFont typeface="Wingdings" panose="05000000000000000000" pitchFamily="2" charset="2"/>
              <a:buChar char="§"/>
            </a:pPr>
            <a:r>
              <a:rPr lang="fr-FR" sz="1600" spc="-10" dirty="0">
                <a:solidFill>
                  <a:srgbClr val="585858"/>
                </a:solidFill>
                <a:latin typeface="Calibri"/>
                <a:cs typeface="Calibri"/>
              </a:rPr>
              <a:t>L</a:t>
            </a:r>
            <a:r>
              <a:rPr sz="1600" spc="-10" dirty="0" smtClean="0">
                <a:solidFill>
                  <a:srgbClr val="585858"/>
                </a:solidFill>
                <a:latin typeface="Calibri"/>
                <a:cs typeface="Calibri"/>
              </a:rPr>
              <a:t>’</a:t>
            </a:r>
            <a:r>
              <a:rPr sz="1600" spc="-10" dirty="0" err="1" smtClean="0">
                <a:solidFill>
                  <a:srgbClr val="585858"/>
                </a:solidFill>
                <a:latin typeface="Calibri"/>
                <a:cs typeface="Calibri"/>
              </a:rPr>
              <a:t>état</a:t>
            </a:r>
            <a:r>
              <a:rPr sz="1600" spc="10" dirty="0" smtClean="0">
                <a:solidFill>
                  <a:srgbClr val="585858"/>
                </a:solidFill>
                <a:latin typeface="Calibri"/>
                <a:cs typeface="Calibri"/>
              </a:rPr>
              <a:t> </a:t>
            </a:r>
            <a:r>
              <a:rPr sz="1600" b="1" spc="-10" dirty="0" smtClean="0">
                <a:solidFill>
                  <a:srgbClr val="585858"/>
                </a:solidFill>
                <a:latin typeface="Calibri"/>
                <a:cs typeface="Calibri"/>
              </a:rPr>
              <a:t>Nouveau</a:t>
            </a:r>
            <a:r>
              <a:rPr lang="fr-FR" sz="1600" b="1" spc="-10" dirty="0" smtClean="0">
                <a:solidFill>
                  <a:srgbClr val="585858"/>
                </a:solidFill>
                <a:latin typeface="Calibri"/>
                <a:cs typeface="Calibri"/>
              </a:rPr>
              <a:t> :</a:t>
            </a:r>
            <a:r>
              <a:rPr lang="fr-FR" sz="1600" dirty="0" smtClean="0">
                <a:latin typeface="Calibri"/>
                <a:cs typeface="Calibri"/>
              </a:rPr>
              <a:t> </a:t>
            </a:r>
            <a:r>
              <a:rPr lang="fr-FR" sz="1600" spc="-30" dirty="0">
                <a:solidFill>
                  <a:srgbClr val="585858"/>
                </a:solidFill>
                <a:latin typeface="Calibri"/>
                <a:cs typeface="Calibri"/>
              </a:rPr>
              <a:t>L</a:t>
            </a:r>
            <a:r>
              <a:rPr sz="1600" dirty="0" smtClean="0">
                <a:solidFill>
                  <a:srgbClr val="585858"/>
                </a:solidFill>
                <a:latin typeface="Calibri"/>
                <a:cs typeface="Calibri"/>
              </a:rPr>
              <a:t>e</a:t>
            </a:r>
            <a:r>
              <a:rPr sz="1600" spc="10" dirty="0" smtClean="0">
                <a:solidFill>
                  <a:srgbClr val="585858"/>
                </a:solidFill>
                <a:latin typeface="Calibri"/>
                <a:cs typeface="Calibri"/>
              </a:rPr>
              <a:t> </a:t>
            </a:r>
            <a:r>
              <a:rPr sz="1600" dirty="0" err="1" smtClean="0">
                <a:solidFill>
                  <a:srgbClr val="585858"/>
                </a:solidFill>
                <a:latin typeface="Calibri"/>
                <a:cs typeface="Calibri"/>
              </a:rPr>
              <a:t>processus</a:t>
            </a:r>
            <a:r>
              <a:rPr sz="1600" spc="5" dirty="0" smtClean="0">
                <a:solidFill>
                  <a:srgbClr val="585858"/>
                </a:solidFill>
                <a:latin typeface="Calibri"/>
                <a:cs typeface="Calibri"/>
              </a:rPr>
              <a:t> </a:t>
            </a:r>
            <a:r>
              <a:rPr sz="1600" dirty="0" err="1" smtClean="0">
                <a:solidFill>
                  <a:srgbClr val="585858"/>
                </a:solidFill>
                <a:latin typeface="Calibri"/>
                <a:cs typeface="Calibri"/>
              </a:rPr>
              <a:t>est</a:t>
            </a:r>
            <a:r>
              <a:rPr sz="1600" dirty="0" smtClean="0">
                <a:solidFill>
                  <a:srgbClr val="585858"/>
                </a:solidFill>
                <a:latin typeface="Calibri"/>
                <a:cs typeface="Calibri"/>
              </a:rPr>
              <a:t> </a:t>
            </a:r>
            <a:r>
              <a:rPr sz="1600" dirty="0" err="1" smtClean="0">
                <a:solidFill>
                  <a:srgbClr val="585858"/>
                </a:solidFill>
                <a:latin typeface="Calibri"/>
                <a:cs typeface="Calibri"/>
              </a:rPr>
              <a:t>en</a:t>
            </a:r>
            <a:r>
              <a:rPr sz="1600" spc="5" dirty="0" smtClean="0">
                <a:solidFill>
                  <a:srgbClr val="585858"/>
                </a:solidFill>
                <a:latin typeface="Calibri"/>
                <a:cs typeface="Calibri"/>
              </a:rPr>
              <a:t> </a:t>
            </a:r>
            <a:r>
              <a:rPr sz="1600" dirty="0" err="1" smtClean="0">
                <a:solidFill>
                  <a:srgbClr val="585858"/>
                </a:solidFill>
                <a:latin typeface="Calibri"/>
                <a:cs typeface="Calibri"/>
              </a:rPr>
              <a:t>cours</a:t>
            </a:r>
            <a:r>
              <a:rPr sz="1600" spc="20" dirty="0" smtClean="0">
                <a:solidFill>
                  <a:srgbClr val="585858"/>
                </a:solidFill>
                <a:latin typeface="Calibri"/>
                <a:cs typeface="Calibri"/>
              </a:rPr>
              <a:t> </a:t>
            </a:r>
            <a:r>
              <a:rPr sz="1600" dirty="0" smtClean="0">
                <a:solidFill>
                  <a:srgbClr val="585858"/>
                </a:solidFill>
                <a:latin typeface="Calibri"/>
                <a:cs typeface="Calibri"/>
              </a:rPr>
              <a:t>de</a:t>
            </a:r>
            <a:r>
              <a:rPr sz="1600" spc="15" dirty="0" smtClean="0">
                <a:solidFill>
                  <a:srgbClr val="585858"/>
                </a:solidFill>
                <a:latin typeface="Calibri"/>
                <a:cs typeface="Calibri"/>
              </a:rPr>
              <a:t> </a:t>
            </a:r>
            <a:r>
              <a:rPr sz="1600" dirty="0" err="1" smtClean="0">
                <a:solidFill>
                  <a:srgbClr val="585858"/>
                </a:solidFill>
                <a:latin typeface="Calibri"/>
                <a:cs typeface="Calibri"/>
              </a:rPr>
              <a:t>création</a:t>
            </a:r>
            <a:r>
              <a:rPr sz="1600" dirty="0" smtClean="0">
                <a:solidFill>
                  <a:srgbClr val="585858"/>
                </a:solidFill>
                <a:latin typeface="Calibri"/>
                <a:cs typeface="Calibri"/>
              </a:rPr>
              <a:t>.</a:t>
            </a:r>
            <a:r>
              <a:rPr sz="1600" spc="15" dirty="0" smtClean="0">
                <a:solidFill>
                  <a:srgbClr val="585858"/>
                </a:solidFill>
                <a:latin typeface="Calibri"/>
                <a:cs typeface="Calibri"/>
              </a:rPr>
              <a:t> </a:t>
            </a:r>
            <a:endParaRPr lang="fr-FR" sz="1600" spc="15" dirty="0" smtClean="0">
              <a:solidFill>
                <a:srgbClr val="585858"/>
              </a:solidFill>
              <a:latin typeface="Calibri"/>
              <a:cs typeface="Calibri"/>
            </a:endParaRPr>
          </a:p>
          <a:p>
            <a:pPr marL="298450" indent="-285750" algn="just">
              <a:lnSpc>
                <a:spcPct val="100000"/>
              </a:lnSpc>
              <a:spcBef>
                <a:spcPts val="700"/>
              </a:spcBef>
              <a:buFont typeface="Wingdings" panose="05000000000000000000" pitchFamily="2" charset="2"/>
              <a:buChar char="§"/>
            </a:pPr>
            <a:r>
              <a:rPr lang="fr-FR" sz="1600" dirty="0">
                <a:solidFill>
                  <a:srgbClr val="585858"/>
                </a:solidFill>
                <a:latin typeface="Calibri"/>
                <a:cs typeface="Calibri"/>
              </a:rPr>
              <a:t>L</a:t>
            </a:r>
            <a:r>
              <a:rPr sz="1600" dirty="0" smtClean="0">
                <a:solidFill>
                  <a:srgbClr val="585858"/>
                </a:solidFill>
                <a:latin typeface="Calibri"/>
                <a:cs typeface="Calibri"/>
              </a:rPr>
              <a:t>’</a:t>
            </a:r>
            <a:r>
              <a:rPr sz="1600" dirty="0" err="1" smtClean="0">
                <a:solidFill>
                  <a:srgbClr val="585858"/>
                </a:solidFill>
                <a:latin typeface="Calibri"/>
                <a:cs typeface="Calibri"/>
              </a:rPr>
              <a:t>état</a:t>
            </a:r>
            <a:r>
              <a:rPr sz="1600" spc="130" dirty="0" smtClean="0">
                <a:solidFill>
                  <a:srgbClr val="585858"/>
                </a:solidFill>
                <a:latin typeface="Calibri"/>
                <a:cs typeface="Calibri"/>
              </a:rPr>
              <a:t> </a:t>
            </a:r>
            <a:r>
              <a:rPr sz="1600" b="1" dirty="0" smtClean="0">
                <a:solidFill>
                  <a:srgbClr val="585858"/>
                </a:solidFill>
                <a:latin typeface="Calibri"/>
                <a:cs typeface="Calibri"/>
              </a:rPr>
              <a:t>Prêt</a:t>
            </a:r>
            <a:r>
              <a:rPr sz="1600" b="1" spc="114" dirty="0" smtClean="0">
                <a:solidFill>
                  <a:srgbClr val="585858"/>
                </a:solidFill>
                <a:latin typeface="Calibri"/>
                <a:cs typeface="Calibri"/>
              </a:rPr>
              <a:t> </a:t>
            </a:r>
            <a:r>
              <a:rPr sz="1600" b="1" dirty="0" smtClean="0">
                <a:solidFill>
                  <a:srgbClr val="585858"/>
                </a:solidFill>
                <a:latin typeface="Calibri"/>
                <a:cs typeface="Calibri"/>
              </a:rPr>
              <a:t>(Ready)</a:t>
            </a:r>
            <a:r>
              <a:rPr lang="fr-FR" sz="1600" b="1" dirty="0" smtClean="0">
                <a:solidFill>
                  <a:srgbClr val="585858"/>
                </a:solidFill>
                <a:latin typeface="Calibri"/>
                <a:cs typeface="Calibri"/>
              </a:rPr>
              <a:t>;</a:t>
            </a:r>
            <a:r>
              <a:rPr sz="1600" b="1" spc="130" dirty="0" smtClean="0">
                <a:solidFill>
                  <a:srgbClr val="585858"/>
                </a:solidFill>
                <a:latin typeface="Calibri"/>
                <a:cs typeface="Calibri"/>
              </a:rPr>
              <a:t> </a:t>
            </a:r>
            <a:r>
              <a:rPr lang="fr-FR" sz="1600" dirty="0" err="1">
                <a:solidFill>
                  <a:srgbClr val="585858"/>
                </a:solidFill>
                <a:latin typeface="Calibri"/>
                <a:cs typeface="Calibri"/>
              </a:rPr>
              <a:t>I</a:t>
            </a:r>
            <a:r>
              <a:rPr sz="1600" dirty="0" smtClean="0">
                <a:solidFill>
                  <a:srgbClr val="585858"/>
                </a:solidFill>
                <a:latin typeface="Calibri"/>
                <a:cs typeface="Calibri"/>
              </a:rPr>
              <a:t>l</a:t>
            </a:r>
            <a:r>
              <a:rPr sz="1600" spc="135" dirty="0" smtClean="0">
                <a:solidFill>
                  <a:srgbClr val="585858"/>
                </a:solidFill>
                <a:latin typeface="Calibri"/>
                <a:cs typeface="Calibri"/>
              </a:rPr>
              <a:t> </a:t>
            </a:r>
            <a:r>
              <a:rPr sz="1600" dirty="0" smtClean="0">
                <a:solidFill>
                  <a:srgbClr val="585858"/>
                </a:solidFill>
                <a:latin typeface="Calibri"/>
                <a:cs typeface="Calibri"/>
              </a:rPr>
              <a:t>attend</a:t>
            </a:r>
            <a:r>
              <a:rPr sz="1600" spc="120" dirty="0" smtClean="0">
                <a:solidFill>
                  <a:srgbClr val="585858"/>
                </a:solidFill>
                <a:latin typeface="Calibri"/>
                <a:cs typeface="Calibri"/>
              </a:rPr>
              <a:t> </a:t>
            </a:r>
            <a:r>
              <a:rPr sz="1600" dirty="0" smtClean="0">
                <a:solidFill>
                  <a:srgbClr val="585858"/>
                </a:solidFill>
                <a:latin typeface="Calibri"/>
                <a:cs typeface="Calibri"/>
              </a:rPr>
              <a:t>d’être</a:t>
            </a:r>
            <a:r>
              <a:rPr sz="1600" spc="150" dirty="0" smtClean="0">
                <a:solidFill>
                  <a:srgbClr val="585858"/>
                </a:solidFill>
                <a:latin typeface="Calibri"/>
                <a:cs typeface="Calibri"/>
              </a:rPr>
              <a:t> </a:t>
            </a:r>
            <a:r>
              <a:rPr sz="1600" dirty="0" err="1" smtClean="0">
                <a:solidFill>
                  <a:srgbClr val="585858"/>
                </a:solidFill>
                <a:latin typeface="Calibri"/>
                <a:cs typeface="Calibri"/>
              </a:rPr>
              <a:t>affecté</a:t>
            </a:r>
            <a:r>
              <a:rPr sz="1600" spc="130" dirty="0" smtClean="0">
                <a:solidFill>
                  <a:srgbClr val="585858"/>
                </a:solidFill>
                <a:latin typeface="Calibri"/>
                <a:cs typeface="Calibri"/>
              </a:rPr>
              <a:t> </a:t>
            </a:r>
            <a:r>
              <a:rPr sz="1600" dirty="0" smtClean="0">
                <a:solidFill>
                  <a:srgbClr val="585858"/>
                </a:solidFill>
                <a:latin typeface="Calibri"/>
                <a:cs typeface="Calibri"/>
              </a:rPr>
              <a:t>à</a:t>
            </a:r>
            <a:r>
              <a:rPr sz="1600" spc="145" dirty="0" smtClean="0">
                <a:solidFill>
                  <a:srgbClr val="585858"/>
                </a:solidFill>
                <a:latin typeface="Calibri"/>
                <a:cs typeface="Calibri"/>
              </a:rPr>
              <a:t> </a:t>
            </a:r>
            <a:r>
              <a:rPr sz="1600" dirty="0" err="1" smtClean="0">
                <a:solidFill>
                  <a:srgbClr val="585858"/>
                </a:solidFill>
                <a:latin typeface="Calibri"/>
                <a:cs typeface="Calibri"/>
              </a:rPr>
              <a:t>une</a:t>
            </a:r>
            <a:r>
              <a:rPr sz="1600" spc="145" dirty="0" smtClean="0">
                <a:solidFill>
                  <a:srgbClr val="585858"/>
                </a:solidFill>
                <a:latin typeface="Calibri"/>
                <a:cs typeface="Calibri"/>
              </a:rPr>
              <a:t> </a:t>
            </a:r>
            <a:r>
              <a:rPr sz="1600" dirty="0" smtClean="0">
                <a:solidFill>
                  <a:srgbClr val="585858"/>
                </a:solidFill>
                <a:latin typeface="Calibri"/>
                <a:cs typeface="Calibri"/>
              </a:rPr>
              <a:t>UC</a:t>
            </a:r>
            <a:r>
              <a:rPr sz="1600" spc="155" dirty="0" smtClean="0">
                <a:solidFill>
                  <a:srgbClr val="585858"/>
                </a:solidFill>
                <a:latin typeface="Calibri"/>
                <a:cs typeface="Calibri"/>
              </a:rPr>
              <a:t> </a:t>
            </a:r>
            <a:r>
              <a:rPr sz="1600" dirty="0" smtClean="0">
                <a:solidFill>
                  <a:srgbClr val="585858"/>
                </a:solidFill>
                <a:latin typeface="Calibri"/>
                <a:cs typeface="Calibri"/>
              </a:rPr>
              <a:t>(</a:t>
            </a:r>
            <a:r>
              <a:rPr sz="1600" dirty="0" err="1" smtClean="0">
                <a:solidFill>
                  <a:srgbClr val="585858"/>
                </a:solidFill>
                <a:latin typeface="Calibri"/>
                <a:cs typeface="Calibri"/>
              </a:rPr>
              <a:t>Unité</a:t>
            </a:r>
            <a:r>
              <a:rPr sz="1600" spc="150" dirty="0" smtClean="0">
                <a:solidFill>
                  <a:srgbClr val="585858"/>
                </a:solidFill>
                <a:latin typeface="Calibri"/>
                <a:cs typeface="Calibri"/>
              </a:rPr>
              <a:t> </a:t>
            </a:r>
            <a:r>
              <a:rPr sz="1600" dirty="0" smtClean="0">
                <a:solidFill>
                  <a:srgbClr val="585858"/>
                </a:solidFill>
                <a:latin typeface="Calibri"/>
                <a:cs typeface="Calibri"/>
              </a:rPr>
              <a:t>de</a:t>
            </a:r>
            <a:r>
              <a:rPr sz="1600" spc="150" dirty="0" smtClean="0">
                <a:solidFill>
                  <a:srgbClr val="585858"/>
                </a:solidFill>
                <a:latin typeface="Calibri"/>
                <a:cs typeface="Calibri"/>
              </a:rPr>
              <a:t> </a:t>
            </a:r>
            <a:r>
              <a:rPr sz="1600" dirty="0" err="1" smtClean="0">
                <a:solidFill>
                  <a:srgbClr val="585858"/>
                </a:solidFill>
                <a:latin typeface="Calibri"/>
                <a:cs typeface="Calibri"/>
              </a:rPr>
              <a:t>Calcul</a:t>
            </a:r>
            <a:r>
              <a:rPr sz="1600" dirty="0" smtClean="0">
                <a:solidFill>
                  <a:srgbClr val="585858"/>
                </a:solidFill>
                <a:latin typeface="Calibri"/>
                <a:cs typeface="Calibri"/>
              </a:rPr>
              <a:t>)</a:t>
            </a:r>
            <a:endParaRPr lang="fr-FR" sz="1600" spc="145" dirty="0">
              <a:solidFill>
                <a:srgbClr val="585858"/>
              </a:solidFill>
              <a:latin typeface="Calibri"/>
              <a:cs typeface="Calibri"/>
            </a:endParaRPr>
          </a:p>
          <a:p>
            <a:pPr marL="298450" indent="-285750" algn="just">
              <a:lnSpc>
                <a:spcPct val="100000"/>
              </a:lnSpc>
              <a:spcBef>
                <a:spcPts val="700"/>
              </a:spcBef>
              <a:buFont typeface="Wingdings" panose="05000000000000000000" pitchFamily="2" charset="2"/>
              <a:buChar char="§"/>
            </a:pPr>
            <a:r>
              <a:rPr lang="fr-FR" sz="1600" dirty="0" smtClean="0">
                <a:solidFill>
                  <a:srgbClr val="585858"/>
                </a:solidFill>
                <a:latin typeface="Calibri"/>
                <a:cs typeface="Calibri"/>
              </a:rPr>
              <a:t>L</a:t>
            </a:r>
            <a:r>
              <a:rPr sz="1600" dirty="0" smtClean="0">
                <a:solidFill>
                  <a:srgbClr val="585858"/>
                </a:solidFill>
                <a:latin typeface="Calibri"/>
                <a:cs typeface="Calibri"/>
              </a:rPr>
              <a:t>’</a:t>
            </a:r>
            <a:r>
              <a:rPr sz="1600" dirty="0" err="1" smtClean="0">
                <a:solidFill>
                  <a:srgbClr val="585858"/>
                </a:solidFill>
                <a:latin typeface="Calibri"/>
                <a:cs typeface="Calibri"/>
              </a:rPr>
              <a:t>état</a:t>
            </a:r>
            <a:r>
              <a:rPr sz="1600" spc="85" dirty="0" smtClean="0">
                <a:solidFill>
                  <a:srgbClr val="585858"/>
                </a:solidFill>
                <a:latin typeface="Calibri"/>
                <a:cs typeface="Calibri"/>
              </a:rPr>
              <a:t> </a:t>
            </a:r>
            <a:r>
              <a:rPr sz="1600" b="1" spc="-25" dirty="0" err="1" smtClean="0">
                <a:solidFill>
                  <a:srgbClr val="585858"/>
                </a:solidFill>
                <a:latin typeface="Calibri"/>
                <a:cs typeface="Calibri"/>
              </a:rPr>
              <a:t>En</a:t>
            </a:r>
            <a:r>
              <a:rPr sz="1600" b="1" spc="-25" dirty="0" smtClean="0">
                <a:solidFill>
                  <a:srgbClr val="585858"/>
                </a:solidFill>
                <a:latin typeface="Calibri"/>
                <a:cs typeface="Calibri"/>
              </a:rPr>
              <a:t> </a:t>
            </a:r>
            <a:r>
              <a:rPr sz="1600" b="1" dirty="0" err="1" smtClean="0">
                <a:solidFill>
                  <a:srgbClr val="585858"/>
                </a:solidFill>
                <a:latin typeface="Calibri"/>
                <a:cs typeface="Calibri"/>
              </a:rPr>
              <a:t>exécution</a:t>
            </a:r>
            <a:r>
              <a:rPr sz="1600" b="1" spc="285" dirty="0" smtClean="0">
                <a:solidFill>
                  <a:srgbClr val="585858"/>
                </a:solidFill>
                <a:latin typeface="Calibri"/>
                <a:cs typeface="Calibri"/>
              </a:rPr>
              <a:t> </a:t>
            </a:r>
            <a:r>
              <a:rPr sz="1600" b="1" dirty="0" smtClean="0">
                <a:solidFill>
                  <a:srgbClr val="585858"/>
                </a:solidFill>
                <a:latin typeface="Calibri"/>
                <a:cs typeface="Calibri"/>
              </a:rPr>
              <a:t>(Running)</a:t>
            </a:r>
            <a:r>
              <a:rPr lang="fr-FR" sz="1600" b="1" spc="285" dirty="0" smtClean="0">
                <a:solidFill>
                  <a:srgbClr val="585858"/>
                </a:solidFill>
                <a:latin typeface="Calibri"/>
                <a:cs typeface="Calibri"/>
              </a:rPr>
              <a:t>: </a:t>
            </a:r>
            <a:r>
              <a:rPr lang="fr-FR" sz="1600" dirty="0" smtClean="0">
                <a:solidFill>
                  <a:srgbClr val="585858"/>
                </a:solidFill>
                <a:latin typeface="Calibri"/>
                <a:cs typeface="Calibri"/>
              </a:rPr>
              <a:t>les</a:t>
            </a:r>
            <a:r>
              <a:rPr sz="1600" spc="295" dirty="0" smtClean="0">
                <a:solidFill>
                  <a:srgbClr val="585858"/>
                </a:solidFill>
                <a:latin typeface="Calibri"/>
                <a:cs typeface="Calibri"/>
              </a:rPr>
              <a:t> </a:t>
            </a:r>
            <a:r>
              <a:rPr sz="1600" dirty="0" smtClean="0">
                <a:solidFill>
                  <a:srgbClr val="585858"/>
                </a:solidFill>
                <a:latin typeface="Calibri"/>
                <a:cs typeface="Calibri"/>
              </a:rPr>
              <a:t>instructions</a:t>
            </a:r>
            <a:r>
              <a:rPr sz="1600" spc="300" dirty="0" smtClean="0">
                <a:solidFill>
                  <a:srgbClr val="585858"/>
                </a:solidFill>
                <a:latin typeface="Calibri"/>
                <a:cs typeface="Calibri"/>
              </a:rPr>
              <a:t> </a:t>
            </a:r>
            <a:r>
              <a:rPr sz="1600" dirty="0" err="1" smtClean="0">
                <a:solidFill>
                  <a:srgbClr val="585858"/>
                </a:solidFill>
                <a:latin typeface="Calibri"/>
                <a:cs typeface="Calibri"/>
              </a:rPr>
              <a:t>sont</a:t>
            </a:r>
            <a:r>
              <a:rPr sz="1600" spc="290" dirty="0" smtClean="0">
                <a:solidFill>
                  <a:srgbClr val="585858"/>
                </a:solidFill>
                <a:latin typeface="Calibri"/>
                <a:cs typeface="Calibri"/>
              </a:rPr>
              <a:t> </a:t>
            </a:r>
            <a:r>
              <a:rPr sz="1600" dirty="0" err="1" smtClean="0">
                <a:solidFill>
                  <a:srgbClr val="585858"/>
                </a:solidFill>
                <a:latin typeface="Calibri"/>
                <a:cs typeface="Calibri"/>
              </a:rPr>
              <a:t>en</a:t>
            </a:r>
            <a:r>
              <a:rPr sz="1600" spc="280" dirty="0" smtClean="0">
                <a:solidFill>
                  <a:srgbClr val="585858"/>
                </a:solidFill>
                <a:latin typeface="Calibri"/>
                <a:cs typeface="Calibri"/>
              </a:rPr>
              <a:t> </a:t>
            </a:r>
            <a:r>
              <a:rPr sz="1600" dirty="0" err="1" smtClean="0">
                <a:solidFill>
                  <a:srgbClr val="585858"/>
                </a:solidFill>
                <a:latin typeface="Calibri"/>
                <a:cs typeface="Calibri"/>
              </a:rPr>
              <a:t>cours</a:t>
            </a:r>
            <a:r>
              <a:rPr sz="1600" spc="295" dirty="0" smtClean="0">
                <a:solidFill>
                  <a:srgbClr val="585858"/>
                </a:solidFill>
                <a:latin typeface="Calibri"/>
                <a:cs typeface="Calibri"/>
              </a:rPr>
              <a:t> </a:t>
            </a:r>
            <a:r>
              <a:rPr sz="1600" dirty="0" smtClean="0">
                <a:solidFill>
                  <a:srgbClr val="585858"/>
                </a:solidFill>
                <a:latin typeface="Calibri"/>
                <a:cs typeface="Calibri"/>
              </a:rPr>
              <a:t>d</a:t>
            </a:r>
            <a:r>
              <a:rPr lang="fr-FR" sz="1600" spc="295" dirty="0" smtClean="0">
                <a:solidFill>
                  <a:srgbClr val="585858"/>
                </a:solidFill>
                <a:latin typeface="Calibri"/>
                <a:cs typeface="Calibri"/>
              </a:rPr>
              <a:t>‘</a:t>
            </a:r>
            <a:r>
              <a:rPr sz="1600" dirty="0" err="1" smtClean="0">
                <a:solidFill>
                  <a:srgbClr val="585858"/>
                </a:solidFill>
                <a:latin typeface="Calibri"/>
                <a:cs typeface="Calibri"/>
              </a:rPr>
              <a:t>exécution</a:t>
            </a:r>
            <a:r>
              <a:rPr sz="1600" dirty="0" smtClean="0">
                <a:solidFill>
                  <a:srgbClr val="585858"/>
                </a:solidFill>
                <a:latin typeface="Calibri"/>
                <a:cs typeface="Calibri"/>
              </a:rPr>
              <a:t>.</a:t>
            </a:r>
            <a:endParaRPr lang="fr-FR" sz="1600" spc="295" dirty="0" smtClean="0">
              <a:solidFill>
                <a:srgbClr val="585858"/>
              </a:solidFill>
              <a:latin typeface="Calibri"/>
              <a:cs typeface="Calibri"/>
            </a:endParaRPr>
          </a:p>
          <a:p>
            <a:pPr marL="298450" indent="-285750" algn="just">
              <a:lnSpc>
                <a:spcPct val="100000"/>
              </a:lnSpc>
              <a:spcBef>
                <a:spcPts val="700"/>
              </a:spcBef>
              <a:buFont typeface="Wingdings" panose="05000000000000000000" pitchFamily="2" charset="2"/>
              <a:buChar char="§"/>
            </a:pPr>
            <a:r>
              <a:rPr lang="fr-FR" sz="1600" dirty="0" smtClean="0">
                <a:solidFill>
                  <a:srgbClr val="585858"/>
                </a:solidFill>
                <a:latin typeface="Calibri"/>
                <a:cs typeface="Calibri"/>
              </a:rPr>
              <a:t>L’état Bloqué </a:t>
            </a:r>
            <a:r>
              <a:rPr lang="fr-FR" sz="1600" b="1" dirty="0" smtClean="0">
                <a:solidFill>
                  <a:srgbClr val="585858"/>
                </a:solidFill>
                <a:latin typeface="Calibri"/>
                <a:cs typeface="Calibri"/>
              </a:rPr>
              <a:t>(</a:t>
            </a:r>
            <a:r>
              <a:rPr lang="fr-FR" sz="1600" b="1" dirty="0" err="1" smtClean="0">
                <a:solidFill>
                  <a:srgbClr val="585858"/>
                </a:solidFill>
                <a:latin typeface="Calibri"/>
                <a:cs typeface="Calibri"/>
              </a:rPr>
              <a:t>Sleep</a:t>
            </a:r>
            <a:r>
              <a:rPr lang="fr-FR" sz="1600" b="1" dirty="0" smtClean="0">
                <a:solidFill>
                  <a:srgbClr val="585858"/>
                </a:solidFill>
                <a:latin typeface="Calibri"/>
                <a:cs typeface="Calibri"/>
              </a:rPr>
              <a:t>)</a:t>
            </a:r>
            <a:r>
              <a:rPr lang="fr-FR" sz="1600" b="1" spc="240" dirty="0" smtClean="0">
                <a:solidFill>
                  <a:srgbClr val="585858"/>
                </a:solidFill>
                <a:latin typeface="Calibri"/>
                <a:cs typeface="Calibri"/>
              </a:rPr>
              <a:t> </a:t>
            </a:r>
            <a:r>
              <a:rPr lang="fr-FR" sz="1600" dirty="0" smtClean="0">
                <a:solidFill>
                  <a:srgbClr val="585858"/>
                </a:solidFill>
                <a:latin typeface="Calibri"/>
                <a:cs typeface="Calibri"/>
              </a:rPr>
              <a:t>: </a:t>
            </a:r>
            <a:r>
              <a:rPr sz="1600" dirty="0" smtClean="0">
                <a:solidFill>
                  <a:srgbClr val="585858"/>
                </a:solidFill>
                <a:latin typeface="Calibri"/>
                <a:cs typeface="Calibri"/>
              </a:rPr>
              <a:t>Un</a:t>
            </a:r>
            <a:r>
              <a:rPr sz="1600" spc="295" dirty="0" smtClean="0">
                <a:solidFill>
                  <a:srgbClr val="585858"/>
                </a:solidFill>
                <a:latin typeface="Calibri"/>
                <a:cs typeface="Calibri"/>
              </a:rPr>
              <a:t> </a:t>
            </a:r>
            <a:r>
              <a:rPr sz="1600" dirty="0" err="1" smtClean="0">
                <a:solidFill>
                  <a:srgbClr val="585858"/>
                </a:solidFill>
                <a:latin typeface="Calibri"/>
                <a:cs typeface="Calibri"/>
              </a:rPr>
              <a:t>processus</a:t>
            </a:r>
            <a:r>
              <a:rPr sz="1600" spc="300" dirty="0" smtClean="0">
                <a:solidFill>
                  <a:srgbClr val="585858"/>
                </a:solidFill>
                <a:latin typeface="Calibri"/>
                <a:cs typeface="Calibri"/>
              </a:rPr>
              <a:t> </a:t>
            </a:r>
            <a:r>
              <a:rPr sz="1600" dirty="0" err="1" smtClean="0">
                <a:solidFill>
                  <a:srgbClr val="585858"/>
                </a:solidFill>
                <a:latin typeface="Calibri"/>
                <a:cs typeface="Calibri"/>
              </a:rPr>
              <a:t>peut</a:t>
            </a:r>
            <a:r>
              <a:rPr sz="1600" spc="290" dirty="0" smtClean="0">
                <a:solidFill>
                  <a:srgbClr val="585858"/>
                </a:solidFill>
                <a:latin typeface="Calibri"/>
                <a:cs typeface="Calibri"/>
              </a:rPr>
              <a:t> </a:t>
            </a:r>
            <a:r>
              <a:rPr sz="1600" spc="-20" dirty="0" err="1" smtClean="0">
                <a:solidFill>
                  <a:srgbClr val="585858"/>
                </a:solidFill>
                <a:latin typeface="Calibri"/>
                <a:cs typeface="Calibri"/>
              </a:rPr>
              <a:t>être</a:t>
            </a:r>
            <a:r>
              <a:rPr sz="1600" spc="-20" dirty="0" smtClean="0">
                <a:solidFill>
                  <a:srgbClr val="585858"/>
                </a:solidFill>
                <a:latin typeface="Calibri"/>
                <a:cs typeface="Calibri"/>
              </a:rPr>
              <a:t> </a:t>
            </a:r>
            <a:r>
              <a:rPr sz="1600" dirty="0" err="1" smtClean="0">
                <a:solidFill>
                  <a:srgbClr val="585858"/>
                </a:solidFill>
                <a:latin typeface="Calibri"/>
                <a:cs typeface="Calibri"/>
              </a:rPr>
              <a:t>interrompu</a:t>
            </a:r>
            <a:r>
              <a:rPr sz="1600" dirty="0" smtClean="0">
                <a:solidFill>
                  <a:srgbClr val="585858"/>
                </a:solidFill>
                <a:latin typeface="Calibri"/>
                <a:cs typeface="Calibri"/>
              </a:rPr>
              <a:t>.</a:t>
            </a:r>
            <a:endParaRPr lang="fr-FR" sz="1600" dirty="0" smtClean="0">
              <a:solidFill>
                <a:srgbClr val="585858"/>
              </a:solidFill>
              <a:latin typeface="Calibri"/>
              <a:cs typeface="Calibri"/>
            </a:endParaRPr>
          </a:p>
          <a:p>
            <a:pPr marL="298450" indent="-285750" algn="just">
              <a:lnSpc>
                <a:spcPct val="100000"/>
              </a:lnSpc>
              <a:spcBef>
                <a:spcPts val="700"/>
              </a:spcBef>
              <a:buFont typeface="Wingdings" panose="05000000000000000000" pitchFamily="2" charset="2"/>
              <a:buChar char="§"/>
            </a:pPr>
            <a:r>
              <a:rPr lang="fr-FR" sz="1600" dirty="0" smtClean="0">
                <a:solidFill>
                  <a:srgbClr val="585858"/>
                </a:solidFill>
                <a:latin typeface="Calibri"/>
                <a:cs typeface="Calibri"/>
              </a:rPr>
              <a:t>L’état Terminé: Le processus</a:t>
            </a:r>
            <a:r>
              <a:rPr lang="fr-FR" sz="1600" spc="145" dirty="0" smtClean="0">
                <a:solidFill>
                  <a:srgbClr val="585858"/>
                </a:solidFill>
                <a:latin typeface="Calibri"/>
                <a:cs typeface="Calibri"/>
              </a:rPr>
              <a:t> </a:t>
            </a:r>
            <a:r>
              <a:rPr lang="fr-FR" sz="1600" dirty="0" smtClean="0">
                <a:solidFill>
                  <a:srgbClr val="585858"/>
                </a:solidFill>
                <a:latin typeface="Calibri"/>
                <a:cs typeface="Calibri"/>
              </a:rPr>
              <a:t>s’achève;</a:t>
            </a:r>
            <a:endParaRPr sz="1600" dirty="0">
              <a:latin typeface="Calibri"/>
              <a:cs typeface="Calibri"/>
            </a:endParaRPr>
          </a:p>
        </p:txBody>
      </p:sp>
      <p:sp>
        <p:nvSpPr>
          <p:cNvPr id="14" name="object 14"/>
          <p:cNvSpPr txBox="1">
            <a:spLocks noGrp="1"/>
          </p:cNvSpPr>
          <p:nvPr>
            <p:ph type="title"/>
          </p:nvPr>
        </p:nvSpPr>
        <p:spPr>
          <a:xfrm>
            <a:off x="263753" y="332308"/>
            <a:ext cx="11664492" cy="702808"/>
          </a:xfrm>
          <a:prstGeom prst="rect">
            <a:avLst/>
          </a:prstGeom>
        </p:spPr>
        <p:txBody>
          <a:bodyPr vert="horz" wrap="square" lIns="0" tIns="147371" rIns="0" bIns="0" rtlCol="0">
            <a:spAutoFit/>
          </a:bodyPr>
          <a:lstStyle/>
          <a:p>
            <a:pPr marL="12700">
              <a:lnSpc>
                <a:spcPct val="100000"/>
              </a:lnSpc>
              <a:spcBef>
                <a:spcPts val="90"/>
              </a:spcBef>
            </a:pPr>
            <a:r>
              <a:rPr lang="fr-FR" dirty="0">
                <a:solidFill>
                  <a:srgbClr val="007842"/>
                </a:solidFill>
              </a:rPr>
              <a:t>04</a:t>
            </a:r>
            <a:r>
              <a:rPr lang="fr-FR" spc="-35" dirty="0">
                <a:solidFill>
                  <a:srgbClr val="007842"/>
                </a:solidFill>
              </a:rPr>
              <a:t> </a:t>
            </a:r>
            <a:r>
              <a:rPr lang="fr-FR" dirty="0">
                <a:solidFill>
                  <a:srgbClr val="007842"/>
                </a:solidFill>
              </a:rPr>
              <a:t>–</a:t>
            </a:r>
            <a:r>
              <a:rPr lang="fr-FR" spc="-20" dirty="0">
                <a:solidFill>
                  <a:srgbClr val="007842"/>
                </a:solidFill>
              </a:rPr>
              <a:t> </a:t>
            </a:r>
            <a:r>
              <a:rPr lang="fr-FR" dirty="0">
                <a:solidFill>
                  <a:srgbClr val="007842"/>
                </a:solidFill>
              </a:rPr>
              <a:t>Gestion des processus </a:t>
            </a:r>
            <a:r>
              <a:rPr lang="fr-FR" dirty="0" smtClean="0">
                <a:solidFill>
                  <a:srgbClr val="007842"/>
                </a:solidFill>
              </a:rPr>
              <a:t/>
            </a:r>
            <a:br>
              <a:rPr lang="fr-FR" dirty="0" smtClean="0">
                <a:solidFill>
                  <a:srgbClr val="007842"/>
                </a:solidFill>
              </a:rPr>
            </a:br>
            <a:r>
              <a:rPr lang="fr-FR" sz="1600" dirty="0" smtClean="0">
                <a:solidFill>
                  <a:srgbClr val="007842"/>
                </a:solidFill>
              </a:rPr>
              <a:t>Etats d’un processus</a:t>
            </a:r>
            <a:endParaRPr sz="1600" dirty="0"/>
          </a:p>
        </p:txBody>
      </p:sp>
      <p:sp>
        <p:nvSpPr>
          <p:cNvPr id="15" name="object 15"/>
          <p:cNvSpPr txBox="1"/>
          <p:nvPr/>
        </p:nvSpPr>
        <p:spPr>
          <a:xfrm>
            <a:off x="8027289" y="5746110"/>
            <a:ext cx="2685415" cy="197490"/>
          </a:xfrm>
          <a:prstGeom prst="rect">
            <a:avLst/>
          </a:prstGeom>
        </p:spPr>
        <p:txBody>
          <a:bodyPr vert="horz" wrap="square" lIns="0" tIns="12700" rIns="0" bIns="0" rtlCol="0">
            <a:spAutoFit/>
          </a:bodyPr>
          <a:lstStyle/>
          <a:p>
            <a:pPr marL="12700">
              <a:lnSpc>
                <a:spcPct val="100000"/>
              </a:lnSpc>
              <a:spcBef>
                <a:spcPts val="100"/>
              </a:spcBef>
            </a:pPr>
            <a:r>
              <a:rPr sz="1200" i="1" dirty="0">
                <a:solidFill>
                  <a:srgbClr val="A6A6A6"/>
                </a:solidFill>
                <a:latin typeface="Calibri"/>
                <a:cs typeface="Calibri"/>
              </a:rPr>
              <a:t>Figure</a:t>
            </a:r>
            <a:r>
              <a:rPr sz="1200" i="1" spc="-15" dirty="0">
                <a:solidFill>
                  <a:srgbClr val="A6A6A6"/>
                </a:solidFill>
                <a:latin typeface="Calibri"/>
                <a:cs typeface="Calibri"/>
              </a:rPr>
              <a:t> </a:t>
            </a:r>
            <a:r>
              <a:rPr sz="1200" i="1" spc="-5" dirty="0" smtClean="0">
                <a:solidFill>
                  <a:srgbClr val="A6A6A6"/>
                </a:solidFill>
                <a:latin typeface="Calibri"/>
                <a:cs typeface="Calibri"/>
              </a:rPr>
              <a:t> </a:t>
            </a:r>
            <a:r>
              <a:rPr sz="1200" i="1" dirty="0">
                <a:solidFill>
                  <a:srgbClr val="A6A6A6"/>
                </a:solidFill>
                <a:latin typeface="Calibri"/>
                <a:cs typeface="Calibri"/>
              </a:rPr>
              <a:t>:</a:t>
            </a:r>
            <a:r>
              <a:rPr sz="1200" i="1" spc="-5" dirty="0">
                <a:solidFill>
                  <a:srgbClr val="A6A6A6"/>
                </a:solidFill>
                <a:latin typeface="Calibri"/>
                <a:cs typeface="Calibri"/>
              </a:rPr>
              <a:t> </a:t>
            </a:r>
            <a:r>
              <a:rPr sz="1200" i="1" dirty="0">
                <a:solidFill>
                  <a:srgbClr val="A6A6A6"/>
                </a:solidFill>
                <a:latin typeface="Calibri"/>
                <a:cs typeface="Calibri"/>
              </a:rPr>
              <a:t>Diagramme</a:t>
            </a:r>
            <a:r>
              <a:rPr sz="1200" i="1" spc="-40" dirty="0">
                <a:solidFill>
                  <a:srgbClr val="A6A6A6"/>
                </a:solidFill>
                <a:latin typeface="Calibri"/>
                <a:cs typeface="Calibri"/>
              </a:rPr>
              <a:t> </a:t>
            </a:r>
            <a:r>
              <a:rPr sz="1200" i="1" spc="-20" dirty="0">
                <a:solidFill>
                  <a:srgbClr val="A6A6A6"/>
                </a:solidFill>
                <a:latin typeface="Calibri"/>
                <a:cs typeface="Calibri"/>
              </a:rPr>
              <a:t>d’état</a:t>
            </a:r>
            <a:r>
              <a:rPr sz="1200" i="1" spc="-35" dirty="0">
                <a:solidFill>
                  <a:srgbClr val="A6A6A6"/>
                </a:solidFill>
                <a:latin typeface="Calibri"/>
                <a:cs typeface="Calibri"/>
              </a:rPr>
              <a:t> </a:t>
            </a:r>
            <a:r>
              <a:rPr sz="1200" i="1" spc="-20" dirty="0">
                <a:solidFill>
                  <a:srgbClr val="A6A6A6"/>
                </a:solidFill>
                <a:latin typeface="Calibri"/>
                <a:cs typeface="Calibri"/>
              </a:rPr>
              <a:t>d’un</a:t>
            </a:r>
            <a:r>
              <a:rPr sz="1200" i="1" spc="-40" dirty="0">
                <a:solidFill>
                  <a:srgbClr val="A6A6A6"/>
                </a:solidFill>
                <a:latin typeface="Calibri"/>
                <a:cs typeface="Calibri"/>
              </a:rPr>
              <a:t> </a:t>
            </a:r>
            <a:r>
              <a:rPr sz="1200" i="1" spc="-10" dirty="0">
                <a:solidFill>
                  <a:srgbClr val="A6A6A6"/>
                </a:solidFill>
                <a:latin typeface="Calibri"/>
                <a:cs typeface="Calibri"/>
              </a:rPr>
              <a:t>processus</a:t>
            </a:r>
            <a:endParaRPr sz="1200" dirty="0">
              <a:latin typeface="Calibri"/>
              <a:cs typeface="Calibri"/>
            </a:endParaRPr>
          </a:p>
        </p:txBody>
      </p:sp>
      <p:sp>
        <p:nvSpPr>
          <p:cNvPr id="16"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pic>
        <p:nvPicPr>
          <p:cNvPr id="11" name="object 11"/>
          <p:cNvPicPr/>
          <p:nvPr/>
        </p:nvPicPr>
        <p:blipFill>
          <a:blip r:embed="rId4" cstate="print"/>
          <a:stretch>
            <a:fillRect/>
          </a:stretch>
        </p:blipFill>
        <p:spPr>
          <a:xfrm>
            <a:off x="7037831" y="1667255"/>
            <a:ext cx="4602479" cy="3780535"/>
          </a:xfrm>
          <a:prstGeom prst="rect">
            <a:avLst/>
          </a:prstGeom>
        </p:spPr>
      </p:pic>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7</a:t>
            </a:fld>
            <a:endParaRPr spc="-25" dirty="0"/>
          </a:p>
        </p:txBody>
      </p:sp>
      <p:sp>
        <p:nvSpPr>
          <p:cNvPr id="13" name="object 13"/>
          <p:cNvSpPr txBox="1"/>
          <p:nvPr/>
        </p:nvSpPr>
        <p:spPr>
          <a:xfrm>
            <a:off x="869534" y="2338197"/>
            <a:ext cx="6164580" cy="2215991"/>
          </a:xfrm>
          <a:prstGeom prst="rect">
            <a:avLst/>
          </a:prstGeom>
        </p:spPr>
        <p:txBody>
          <a:bodyPr vert="horz" wrap="square" lIns="0" tIns="132080" rIns="0" bIns="0" rtlCol="0">
            <a:spAutoFit/>
          </a:bodyPr>
          <a:lstStyle/>
          <a:p>
            <a:pPr marL="298450" indent="-285750" algn="just">
              <a:lnSpc>
                <a:spcPct val="100000"/>
              </a:lnSpc>
              <a:spcBef>
                <a:spcPts val="700"/>
              </a:spcBef>
              <a:buFont typeface="Wingdings" panose="05000000000000000000" pitchFamily="2" charset="2"/>
              <a:buChar char="§"/>
            </a:pPr>
            <a:r>
              <a:rPr lang="fr-FR" sz="1600" spc="-10" dirty="0">
                <a:solidFill>
                  <a:srgbClr val="585858"/>
                </a:solidFill>
                <a:latin typeface="Calibri"/>
                <a:cs typeface="Calibri"/>
              </a:rPr>
              <a:t>L</a:t>
            </a:r>
            <a:r>
              <a:rPr sz="1600" spc="-10" dirty="0" smtClean="0">
                <a:solidFill>
                  <a:srgbClr val="585858"/>
                </a:solidFill>
                <a:latin typeface="Calibri"/>
                <a:cs typeface="Calibri"/>
              </a:rPr>
              <a:t>’</a:t>
            </a:r>
            <a:r>
              <a:rPr sz="1600" spc="-10" dirty="0" err="1" smtClean="0">
                <a:solidFill>
                  <a:srgbClr val="585858"/>
                </a:solidFill>
                <a:latin typeface="Calibri"/>
                <a:cs typeface="Calibri"/>
              </a:rPr>
              <a:t>état</a:t>
            </a:r>
            <a:r>
              <a:rPr sz="1600" spc="10" dirty="0" smtClean="0">
                <a:solidFill>
                  <a:srgbClr val="585858"/>
                </a:solidFill>
                <a:latin typeface="Calibri"/>
                <a:cs typeface="Calibri"/>
              </a:rPr>
              <a:t> </a:t>
            </a:r>
            <a:r>
              <a:rPr sz="1600" b="1" spc="-10" dirty="0" smtClean="0">
                <a:solidFill>
                  <a:srgbClr val="585858"/>
                </a:solidFill>
                <a:latin typeface="Calibri"/>
                <a:cs typeface="Calibri"/>
              </a:rPr>
              <a:t>Nouveau</a:t>
            </a:r>
            <a:r>
              <a:rPr lang="fr-FR" sz="1600" b="1" spc="-10" dirty="0" smtClean="0">
                <a:solidFill>
                  <a:srgbClr val="585858"/>
                </a:solidFill>
                <a:latin typeface="Calibri"/>
                <a:cs typeface="Calibri"/>
              </a:rPr>
              <a:t> :</a:t>
            </a:r>
            <a:r>
              <a:rPr lang="fr-FR" sz="1600" dirty="0" smtClean="0">
                <a:latin typeface="Calibri"/>
                <a:cs typeface="Calibri"/>
              </a:rPr>
              <a:t> </a:t>
            </a:r>
            <a:r>
              <a:rPr lang="fr-FR" sz="1600" spc="-30" dirty="0">
                <a:solidFill>
                  <a:srgbClr val="585858"/>
                </a:solidFill>
                <a:latin typeface="Calibri"/>
                <a:cs typeface="Calibri"/>
              </a:rPr>
              <a:t>L</a:t>
            </a:r>
            <a:r>
              <a:rPr sz="1600" dirty="0" smtClean="0">
                <a:solidFill>
                  <a:srgbClr val="585858"/>
                </a:solidFill>
                <a:latin typeface="Calibri"/>
                <a:cs typeface="Calibri"/>
              </a:rPr>
              <a:t>e</a:t>
            </a:r>
            <a:r>
              <a:rPr sz="1600" spc="10" dirty="0" smtClean="0">
                <a:solidFill>
                  <a:srgbClr val="585858"/>
                </a:solidFill>
                <a:latin typeface="Calibri"/>
                <a:cs typeface="Calibri"/>
              </a:rPr>
              <a:t> </a:t>
            </a:r>
            <a:r>
              <a:rPr sz="1600" dirty="0" err="1" smtClean="0">
                <a:solidFill>
                  <a:srgbClr val="585858"/>
                </a:solidFill>
                <a:latin typeface="Calibri"/>
                <a:cs typeface="Calibri"/>
              </a:rPr>
              <a:t>processus</a:t>
            </a:r>
            <a:r>
              <a:rPr sz="1600" spc="5" dirty="0" smtClean="0">
                <a:solidFill>
                  <a:srgbClr val="585858"/>
                </a:solidFill>
                <a:latin typeface="Calibri"/>
                <a:cs typeface="Calibri"/>
              </a:rPr>
              <a:t> </a:t>
            </a:r>
            <a:r>
              <a:rPr sz="1600" dirty="0" err="1" smtClean="0">
                <a:solidFill>
                  <a:srgbClr val="585858"/>
                </a:solidFill>
                <a:latin typeface="Calibri"/>
                <a:cs typeface="Calibri"/>
              </a:rPr>
              <a:t>est</a:t>
            </a:r>
            <a:r>
              <a:rPr sz="1600" dirty="0" smtClean="0">
                <a:solidFill>
                  <a:srgbClr val="585858"/>
                </a:solidFill>
                <a:latin typeface="Calibri"/>
                <a:cs typeface="Calibri"/>
              </a:rPr>
              <a:t> </a:t>
            </a:r>
            <a:r>
              <a:rPr sz="1600" dirty="0" err="1" smtClean="0">
                <a:solidFill>
                  <a:srgbClr val="585858"/>
                </a:solidFill>
                <a:latin typeface="Calibri"/>
                <a:cs typeface="Calibri"/>
              </a:rPr>
              <a:t>en</a:t>
            </a:r>
            <a:r>
              <a:rPr sz="1600" spc="5" dirty="0" smtClean="0">
                <a:solidFill>
                  <a:srgbClr val="585858"/>
                </a:solidFill>
                <a:latin typeface="Calibri"/>
                <a:cs typeface="Calibri"/>
              </a:rPr>
              <a:t> </a:t>
            </a:r>
            <a:r>
              <a:rPr sz="1600" dirty="0" err="1" smtClean="0">
                <a:solidFill>
                  <a:srgbClr val="585858"/>
                </a:solidFill>
                <a:latin typeface="Calibri"/>
                <a:cs typeface="Calibri"/>
              </a:rPr>
              <a:t>cours</a:t>
            </a:r>
            <a:r>
              <a:rPr sz="1600" spc="20" dirty="0" smtClean="0">
                <a:solidFill>
                  <a:srgbClr val="585858"/>
                </a:solidFill>
                <a:latin typeface="Calibri"/>
                <a:cs typeface="Calibri"/>
              </a:rPr>
              <a:t> </a:t>
            </a:r>
            <a:r>
              <a:rPr sz="1600" dirty="0" smtClean="0">
                <a:solidFill>
                  <a:srgbClr val="585858"/>
                </a:solidFill>
                <a:latin typeface="Calibri"/>
                <a:cs typeface="Calibri"/>
              </a:rPr>
              <a:t>de</a:t>
            </a:r>
            <a:r>
              <a:rPr sz="1600" spc="15" dirty="0" smtClean="0">
                <a:solidFill>
                  <a:srgbClr val="585858"/>
                </a:solidFill>
                <a:latin typeface="Calibri"/>
                <a:cs typeface="Calibri"/>
              </a:rPr>
              <a:t> </a:t>
            </a:r>
            <a:r>
              <a:rPr sz="1600" dirty="0" err="1" smtClean="0">
                <a:solidFill>
                  <a:srgbClr val="585858"/>
                </a:solidFill>
                <a:latin typeface="Calibri"/>
                <a:cs typeface="Calibri"/>
              </a:rPr>
              <a:t>création</a:t>
            </a:r>
            <a:r>
              <a:rPr sz="1600" dirty="0" smtClean="0">
                <a:solidFill>
                  <a:srgbClr val="585858"/>
                </a:solidFill>
                <a:latin typeface="Calibri"/>
                <a:cs typeface="Calibri"/>
              </a:rPr>
              <a:t>.</a:t>
            </a:r>
            <a:r>
              <a:rPr sz="1600" spc="15" dirty="0" smtClean="0">
                <a:solidFill>
                  <a:srgbClr val="585858"/>
                </a:solidFill>
                <a:latin typeface="Calibri"/>
                <a:cs typeface="Calibri"/>
              </a:rPr>
              <a:t> </a:t>
            </a:r>
            <a:endParaRPr lang="fr-FR" sz="1600" spc="15" dirty="0" smtClean="0">
              <a:solidFill>
                <a:srgbClr val="585858"/>
              </a:solidFill>
              <a:latin typeface="Calibri"/>
              <a:cs typeface="Calibri"/>
            </a:endParaRPr>
          </a:p>
          <a:p>
            <a:pPr marL="298450" indent="-285750" algn="just">
              <a:lnSpc>
                <a:spcPct val="100000"/>
              </a:lnSpc>
              <a:spcBef>
                <a:spcPts val="700"/>
              </a:spcBef>
              <a:buFont typeface="Wingdings" panose="05000000000000000000" pitchFamily="2" charset="2"/>
              <a:buChar char="§"/>
            </a:pPr>
            <a:r>
              <a:rPr lang="fr-FR" sz="1600" dirty="0">
                <a:solidFill>
                  <a:srgbClr val="585858"/>
                </a:solidFill>
                <a:latin typeface="Calibri"/>
                <a:cs typeface="Calibri"/>
              </a:rPr>
              <a:t>L</a:t>
            </a:r>
            <a:r>
              <a:rPr sz="1600" dirty="0" smtClean="0">
                <a:solidFill>
                  <a:srgbClr val="585858"/>
                </a:solidFill>
                <a:latin typeface="Calibri"/>
                <a:cs typeface="Calibri"/>
              </a:rPr>
              <a:t>’</a:t>
            </a:r>
            <a:r>
              <a:rPr sz="1600" dirty="0" err="1" smtClean="0">
                <a:solidFill>
                  <a:srgbClr val="585858"/>
                </a:solidFill>
                <a:latin typeface="Calibri"/>
                <a:cs typeface="Calibri"/>
              </a:rPr>
              <a:t>état</a:t>
            </a:r>
            <a:r>
              <a:rPr sz="1600" spc="130" dirty="0" smtClean="0">
                <a:solidFill>
                  <a:srgbClr val="585858"/>
                </a:solidFill>
                <a:latin typeface="Calibri"/>
                <a:cs typeface="Calibri"/>
              </a:rPr>
              <a:t> </a:t>
            </a:r>
            <a:r>
              <a:rPr sz="1600" b="1" dirty="0" smtClean="0">
                <a:solidFill>
                  <a:srgbClr val="585858"/>
                </a:solidFill>
                <a:latin typeface="Calibri"/>
                <a:cs typeface="Calibri"/>
              </a:rPr>
              <a:t>Prêt</a:t>
            </a:r>
            <a:r>
              <a:rPr sz="1600" b="1" spc="114" dirty="0" smtClean="0">
                <a:solidFill>
                  <a:srgbClr val="585858"/>
                </a:solidFill>
                <a:latin typeface="Calibri"/>
                <a:cs typeface="Calibri"/>
              </a:rPr>
              <a:t> </a:t>
            </a:r>
            <a:r>
              <a:rPr sz="1600" b="1" dirty="0" smtClean="0">
                <a:solidFill>
                  <a:srgbClr val="585858"/>
                </a:solidFill>
                <a:latin typeface="Calibri"/>
                <a:cs typeface="Calibri"/>
              </a:rPr>
              <a:t>(Ready)</a:t>
            </a:r>
            <a:r>
              <a:rPr lang="fr-FR" sz="1600" b="1" dirty="0" smtClean="0">
                <a:solidFill>
                  <a:srgbClr val="585858"/>
                </a:solidFill>
                <a:latin typeface="Calibri"/>
                <a:cs typeface="Calibri"/>
              </a:rPr>
              <a:t>;</a:t>
            </a:r>
            <a:r>
              <a:rPr sz="1600" b="1" spc="130" dirty="0" smtClean="0">
                <a:solidFill>
                  <a:srgbClr val="585858"/>
                </a:solidFill>
                <a:latin typeface="Calibri"/>
                <a:cs typeface="Calibri"/>
              </a:rPr>
              <a:t> </a:t>
            </a:r>
            <a:r>
              <a:rPr lang="fr-FR" sz="1600" dirty="0" err="1">
                <a:solidFill>
                  <a:srgbClr val="585858"/>
                </a:solidFill>
                <a:latin typeface="Calibri"/>
                <a:cs typeface="Calibri"/>
              </a:rPr>
              <a:t>I</a:t>
            </a:r>
            <a:r>
              <a:rPr sz="1600" dirty="0" smtClean="0">
                <a:solidFill>
                  <a:srgbClr val="585858"/>
                </a:solidFill>
                <a:latin typeface="Calibri"/>
                <a:cs typeface="Calibri"/>
              </a:rPr>
              <a:t>l</a:t>
            </a:r>
            <a:r>
              <a:rPr sz="1600" spc="135" dirty="0" smtClean="0">
                <a:solidFill>
                  <a:srgbClr val="585858"/>
                </a:solidFill>
                <a:latin typeface="Calibri"/>
                <a:cs typeface="Calibri"/>
              </a:rPr>
              <a:t> </a:t>
            </a:r>
            <a:r>
              <a:rPr sz="1600" dirty="0" smtClean="0">
                <a:solidFill>
                  <a:srgbClr val="585858"/>
                </a:solidFill>
                <a:latin typeface="Calibri"/>
                <a:cs typeface="Calibri"/>
              </a:rPr>
              <a:t>attend</a:t>
            </a:r>
            <a:r>
              <a:rPr sz="1600" spc="120" dirty="0" smtClean="0">
                <a:solidFill>
                  <a:srgbClr val="585858"/>
                </a:solidFill>
                <a:latin typeface="Calibri"/>
                <a:cs typeface="Calibri"/>
              </a:rPr>
              <a:t> </a:t>
            </a:r>
            <a:r>
              <a:rPr sz="1600" dirty="0" smtClean="0">
                <a:solidFill>
                  <a:srgbClr val="585858"/>
                </a:solidFill>
                <a:latin typeface="Calibri"/>
                <a:cs typeface="Calibri"/>
              </a:rPr>
              <a:t>d’être</a:t>
            </a:r>
            <a:r>
              <a:rPr sz="1600" spc="150" dirty="0" smtClean="0">
                <a:solidFill>
                  <a:srgbClr val="585858"/>
                </a:solidFill>
                <a:latin typeface="Calibri"/>
                <a:cs typeface="Calibri"/>
              </a:rPr>
              <a:t> </a:t>
            </a:r>
            <a:r>
              <a:rPr sz="1600" dirty="0" err="1" smtClean="0">
                <a:solidFill>
                  <a:srgbClr val="585858"/>
                </a:solidFill>
                <a:latin typeface="Calibri"/>
                <a:cs typeface="Calibri"/>
              </a:rPr>
              <a:t>affecté</a:t>
            </a:r>
            <a:r>
              <a:rPr sz="1600" spc="130" dirty="0" smtClean="0">
                <a:solidFill>
                  <a:srgbClr val="585858"/>
                </a:solidFill>
                <a:latin typeface="Calibri"/>
                <a:cs typeface="Calibri"/>
              </a:rPr>
              <a:t> </a:t>
            </a:r>
            <a:r>
              <a:rPr sz="1600" dirty="0" smtClean="0">
                <a:solidFill>
                  <a:srgbClr val="585858"/>
                </a:solidFill>
                <a:latin typeface="Calibri"/>
                <a:cs typeface="Calibri"/>
              </a:rPr>
              <a:t>à</a:t>
            </a:r>
            <a:r>
              <a:rPr sz="1600" spc="145" dirty="0" smtClean="0">
                <a:solidFill>
                  <a:srgbClr val="585858"/>
                </a:solidFill>
                <a:latin typeface="Calibri"/>
                <a:cs typeface="Calibri"/>
              </a:rPr>
              <a:t> </a:t>
            </a:r>
            <a:r>
              <a:rPr sz="1600" dirty="0" err="1" smtClean="0">
                <a:solidFill>
                  <a:srgbClr val="585858"/>
                </a:solidFill>
                <a:latin typeface="Calibri"/>
                <a:cs typeface="Calibri"/>
              </a:rPr>
              <a:t>une</a:t>
            </a:r>
            <a:r>
              <a:rPr sz="1600" spc="145" dirty="0" smtClean="0">
                <a:solidFill>
                  <a:srgbClr val="585858"/>
                </a:solidFill>
                <a:latin typeface="Calibri"/>
                <a:cs typeface="Calibri"/>
              </a:rPr>
              <a:t> </a:t>
            </a:r>
            <a:r>
              <a:rPr sz="1600" dirty="0" smtClean="0">
                <a:solidFill>
                  <a:srgbClr val="585858"/>
                </a:solidFill>
                <a:latin typeface="Calibri"/>
                <a:cs typeface="Calibri"/>
              </a:rPr>
              <a:t>UC</a:t>
            </a:r>
            <a:r>
              <a:rPr sz="1600" spc="155" dirty="0" smtClean="0">
                <a:solidFill>
                  <a:srgbClr val="585858"/>
                </a:solidFill>
                <a:latin typeface="Calibri"/>
                <a:cs typeface="Calibri"/>
              </a:rPr>
              <a:t> </a:t>
            </a:r>
            <a:r>
              <a:rPr sz="1600" dirty="0" smtClean="0">
                <a:solidFill>
                  <a:srgbClr val="585858"/>
                </a:solidFill>
                <a:latin typeface="Calibri"/>
                <a:cs typeface="Calibri"/>
              </a:rPr>
              <a:t>(</a:t>
            </a:r>
            <a:r>
              <a:rPr sz="1600" dirty="0" err="1" smtClean="0">
                <a:solidFill>
                  <a:srgbClr val="585858"/>
                </a:solidFill>
                <a:latin typeface="Calibri"/>
                <a:cs typeface="Calibri"/>
              </a:rPr>
              <a:t>Unité</a:t>
            </a:r>
            <a:r>
              <a:rPr sz="1600" spc="150" dirty="0" smtClean="0">
                <a:solidFill>
                  <a:srgbClr val="585858"/>
                </a:solidFill>
                <a:latin typeface="Calibri"/>
                <a:cs typeface="Calibri"/>
              </a:rPr>
              <a:t> </a:t>
            </a:r>
            <a:r>
              <a:rPr sz="1600" dirty="0" smtClean="0">
                <a:solidFill>
                  <a:srgbClr val="585858"/>
                </a:solidFill>
                <a:latin typeface="Calibri"/>
                <a:cs typeface="Calibri"/>
              </a:rPr>
              <a:t>de</a:t>
            </a:r>
            <a:r>
              <a:rPr sz="1600" spc="150" dirty="0" smtClean="0">
                <a:solidFill>
                  <a:srgbClr val="585858"/>
                </a:solidFill>
                <a:latin typeface="Calibri"/>
                <a:cs typeface="Calibri"/>
              </a:rPr>
              <a:t> </a:t>
            </a:r>
            <a:r>
              <a:rPr sz="1600" dirty="0" err="1" smtClean="0">
                <a:solidFill>
                  <a:srgbClr val="585858"/>
                </a:solidFill>
                <a:latin typeface="Calibri"/>
                <a:cs typeface="Calibri"/>
              </a:rPr>
              <a:t>Calcul</a:t>
            </a:r>
            <a:r>
              <a:rPr sz="1600" dirty="0" smtClean="0">
                <a:solidFill>
                  <a:srgbClr val="585858"/>
                </a:solidFill>
                <a:latin typeface="Calibri"/>
                <a:cs typeface="Calibri"/>
              </a:rPr>
              <a:t>)</a:t>
            </a:r>
            <a:endParaRPr lang="fr-FR" sz="1600" spc="145" dirty="0">
              <a:solidFill>
                <a:srgbClr val="585858"/>
              </a:solidFill>
              <a:latin typeface="Calibri"/>
              <a:cs typeface="Calibri"/>
            </a:endParaRPr>
          </a:p>
          <a:p>
            <a:pPr marL="298450" indent="-285750" algn="just">
              <a:lnSpc>
                <a:spcPct val="100000"/>
              </a:lnSpc>
              <a:spcBef>
                <a:spcPts val="700"/>
              </a:spcBef>
              <a:buFont typeface="Wingdings" panose="05000000000000000000" pitchFamily="2" charset="2"/>
              <a:buChar char="§"/>
            </a:pPr>
            <a:r>
              <a:rPr lang="fr-FR" sz="1600" dirty="0" smtClean="0">
                <a:solidFill>
                  <a:srgbClr val="585858"/>
                </a:solidFill>
                <a:latin typeface="Calibri"/>
                <a:cs typeface="Calibri"/>
              </a:rPr>
              <a:t>L</a:t>
            </a:r>
            <a:r>
              <a:rPr sz="1600" dirty="0" smtClean="0">
                <a:solidFill>
                  <a:srgbClr val="585858"/>
                </a:solidFill>
                <a:latin typeface="Calibri"/>
                <a:cs typeface="Calibri"/>
              </a:rPr>
              <a:t>’</a:t>
            </a:r>
            <a:r>
              <a:rPr sz="1600" dirty="0" err="1" smtClean="0">
                <a:solidFill>
                  <a:srgbClr val="585858"/>
                </a:solidFill>
                <a:latin typeface="Calibri"/>
                <a:cs typeface="Calibri"/>
              </a:rPr>
              <a:t>état</a:t>
            </a:r>
            <a:r>
              <a:rPr sz="1600" spc="85" dirty="0" smtClean="0">
                <a:solidFill>
                  <a:srgbClr val="585858"/>
                </a:solidFill>
                <a:latin typeface="Calibri"/>
                <a:cs typeface="Calibri"/>
              </a:rPr>
              <a:t> </a:t>
            </a:r>
            <a:r>
              <a:rPr sz="1600" b="1" spc="-25" dirty="0" err="1" smtClean="0">
                <a:solidFill>
                  <a:srgbClr val="585858"/>
                </a:solidFill>
                <a:latin typeface="Calibri"/>
                <a:cs typeface="Calibri"/>
              </a:rPr>
              <a:t>En</a:t>
            </a:r>
            <a:r>
              <a:rPr sz="1600" b="1" spc="-25" dirty="0" smtClean="0">
                <a:solidFill>
                  <a:srgbClr val="585858"/>
                </a:solidFill>
                <a:latin typeface="Calibri"/>
                <a:cs typeface="Calibri"/>
              </a:rPr>
              <a:t> </a:t>
            </a:r>
            <a:r>
              <a:rPr sz="1600" b="1" dirty="0" err="1" smtClean="0">
                <a:solidFill>
                  <a:srgbClr val="585858"/>
                </a:solidFill>
                <a:latin typeface="Calibri"/>
                <a:cs typeface="Calibri"/>
              </a:rPr>
              <a:t>exécution</a:t>
            </a:r>
            <a:r>
              <a:rPr sz="1600" b="1" spc="285" dirty="0" smtClean="0">
                <a:solidFill>
                  <a:srgbClr val="585858"/>
                </a:solidFill>
                <a:latin typeface="Calibri"/>
                <a:cs typeface="Calibri"/>
              </a:rPr>
              <a:t> </a:t>
            </a:r>
            <a:r>
              <a:rPr sz="1600" b="1" dirty="0" smtClean="0">
                <a:solidFill>
                  <a:srgbClr val="585858"/>
                </a:solidFill>
                <a:latin typeface="Calibri"/>
                <a:cs typeface="Calibri"/>
              </a:rPr>
              <a:t>(Running)</a:t>
            </a:r>
            <a:r>
              <a:rPr lang="fr-FR" sz="1600" b="1" spc="285" dirty="0" smtClean="0">
                <a:solidFill>
                  <a:srgbClr val="585858"/>
                </a:solidFill>
                <a:latin typeface="Calibri"/>
                <a:cs typeface="Calibri"/>
              </a:rPr>
              <a:t>: </a:t>
            </a:r>
            <a:r>
              <a:rPr lang="fr-FR" sz="1600" dirty="0" smtClean="0">
                <a:solidFill>
                  <a:srgbClr val="585858"/>
                </a:solidFill>
                <a:latin typeface="Calibri"/>
                <a:cs typeface="Calibri"/>
              </a:rPr>
              <a:t>les</a:t>
            </a:r>
            <a:r>
              <a:rPr sz="1600" spc="295" dirty="0" smtClean="0">
                <a:solidFill>
                  <a:srgbClr val="585858"/>
                </a:solidFill>
                <a:latin typeface="Calibri"/>
                <a:cs typeface="Calibri"/>
              </a:rPr>
              <a:t> </a:t>
            </a:r>
            <a:r>
              <a:rPr sz="1600" dirty="0" smtClean="0">
                <a:solidFill>
                  <a:srgbClr val="585858"/>
                </a:solidFill>
                <a:latin typeface="Calibri"/>
                <a:cs typeface="Calibri"/>
              </a:rPr>
              <a:t>instructions</a:t>
            </a:r>
            <a:r>
              <a:rPr sz="1600" spc="300" dirty="0" smtClean="0">
                <a:solidFill>
                  <a:srgbClr val="585858"/>
                </a:solidFill>
                <a:latin typeface="Calibri"/>
                <a:cs typeface="Calibri"/>
              </a:rPr>
              <a:t> </a:t>
            </a:r>
            <a:r>
              <a:rPr sz="1600" dirty="0" err="1" smtClean="0">
                <a:solidFill>
                  <a:srgbClr val="585858"/>
                </a:solidFill>
                <a:latin typeface="Calibri"/>
                <a:cs typeface="Calibri"/>
              </a:rPr>
              <a:t>sont</a:t>
            </a:r>
            <a:r>
              <a:rPr sz="1600" spc="290" dirty="0" smtClean="0">
                <a:solidFill>
                  <a:srgbClr val="585858"/>
                </a:solidFill>
                <a:latin typeface="Calibri"/>
                <a:cs typeface="Calibri"/>
              </a:rPr>
              <a:t> </a:t>
            </a:r>
            <a:r>
              <a:rPr sz="1600" dirty="0" err="1" smtClean="0">
                <a:solidFill>
                  <a:srgbClr val="585858"/>
                </a:solidFill>
                <a:latin typeface="Calibri"/>
                <a:cs typeface="Calibri"/>
              </a:rPr>
              <a:t>en</a:t>
            </a:r>
            <a:r>
              <a:rPr sz="1600" spc="280" dirty="0" smtClean="0">
                <a:solidFill>
                  <a:srgbClr val="585858"/>
                </a:solidFill>
                <a:latin typeface="Calibri"/>
                <a:cs typeface="Calibri"/>
              </a:rPr>
              <a:t> </a:t>
            </a:r>
            <a:r>
              <a:rPr sz="1600" dirty="0" err="1" smtClean="0">
                <a:solidFill>
                  <a:srgbClr val="585858"/>
                </a:solidFill>
                <a:latin typeface="Calibri"/>
                <a:cs typeface="Calibri"/>
              </a:rPr>
              <a:t>cours</a:t>
            </a:r>
            <a:r>
              <a:rPr sz="1600" spc="295" dirty="0" smtClean="0">
                <a:solidFill>
                  <a:srgbClr val="585858"/>
                </a:solidFill>
                <a:latin typeface="Calibri"/>
                <a:cs typeface="Calibri"/>
              </a:rPr>
              <a:t> </a:t>
            </a:r>
            <a:r>
              <a:rPr sz="1600" dirty="0" smtClean="0">
                <a:solidFill>
                  <a:srgbClr val="585858"/>
                </a:solidFill>
                <a:latin typeface="Calibri"/>
                <a:cs typeface="Calibri"/>
              </a:rPr>
              <a:t>d</a:t>
            </a:r>
            <a:r>
              <a:rPr lang="fr-FR" sz="1600" spc="295" dirty="0" smtClean="0">
                <a:solidFill>
                  <a:srgbClr val="585858"/>
                </a:solidFill>
                <a:latin typeface="Calibri"/>
                <a:cs typeface="Calibri"/>
              </a:rPr>
              <a:t>‘</a:t>
            </a:r>
            <a:r>
              <a:rPr sz="1600" dirty="0" err="1" smtClean="0">
                <a:solidFill>
                  <a:srgbClr val="585858"/>
                </a:solidFill>
                <a:latin typeface="Calibri"/>
                <a:cs typeface="Calibri"/>
              </a:rPr>
              <a:t>exécution</a:t>
            </a:r>
            <a:r>
              <a:rPr sz="1600" dirty="0" smtClean="0">
                <a:solidFill>
                  <a:srgbClr val="585858"/>
                </a:solidFill>
                <a:latin typeface="Calibri"/>
                <a:cs typeface="Calibri"/>
              </a:rPr>
              <a:t>.</a:t>
            </a:r>
            <a:endParaRPr lang="fr-FR" sz="1600" spc="295" dirty="0" smtClean="0">
              <a:solidFill>
                <a:srgbClr val="585858"/>
              </a:solidFill>
              <a:latin typeface="Calibri"/>
              <a:cs typeface="Calibri"/>
            </a:endParaRPr>
          </a:p>
          <a:p>
            <a:pPr marL="298450" indent="-285750" algn="just">
              <a:lnSpc>
                <a:spcPct val="100000"/>
              </a:lnSpc>
              <a:spcBef>
                <a:spcPts val="700"/>
              </a:spcBef>
              <a:buFont typeface="Wingdings" panose="05000000000000000000" pitchFamily="2" charset="2"/>
              <a:buChar char="§"/>
            </a:pPr>
            <a:r>
              <a:rPr lang="fr-FR" sz="1600" dirty="0" smtClean="0">
                <a:solidFill>
                  <a:srgbClr val="585858"/>
                </a:solidFill>
                <a:latin typeface="Calibri"/>
                <a:cs typeface="Calibri"/>
              </a:rPr>
              <a:t>L’état Bloqué </a:t>
            </a:r>
            <a:r>
              <a:rPr lang="fr-FR" sz="1600" b="1" dirty="0" smtClean="0">
                <a:solidFill>
                  <a:srgbClr val="585858"/>
                </a:solidFill>
                <a:latin typeface="Calibri"/>
                <a:cs typeface="Calibri"/>
              </a:rPr>
              <a:t>(</a:t>
            </a:r>
            <a:r>
              <a:rPr lang="fr-FR" sz="1600" b="1" dirty="0" err="1" smtClean="0">
                <a:solidFill>
                  <a:srgbClr val="585858"/>
                </a:solidFill>
                <a:latin typeface="Calibri"/>
                <a:cs typeface="Calibri"/>
              </a:rPr>
              <a:t>Sleep</a:t>
            </a:r>
            <a:r>
              <a:rPr lang="fr-FR" sz="1600" b="1" dirty="0" smtClean="0">
                <a:solidFill>
                  <a:srgbClr val="585858"/>
                </a:solidFill>
                <a:latin typeface="Calibri"/>
                <a:cs typeface="Calibri"/>
              </a:rPr>
              <a:t>)</a:t>
            </a:r>
            <a:r>
              <a:rPr lang="fr-FR" sz="1600" b="1" spc="240" dirty="0" smtClean="0">
                <a:solidFill>
                  <a:srgbClr val="585858"/>
                </a:solidFill>
                <a:latin typeface="Calibri"/>
                <a:cs typeface="Calibri"/>
              </a:rPr>
              <a:t> </a:t>
            </a:r>
            <a:r>
              <a:rPr lang="fr-FR" sz="1600" dirty="0" smtClean="0">
                <a:solidFill>
                  <a:srgbClr val="585858"/>
                </a:solidFill>
                <a:latin typeface="Calibri"/>
                <a:cs typeface="Calibri"/>
              </a:rPr>
              <a:t>: </a:t>
            </a:r>
            <a:r>
              <a:rPr sz="1600" dirty="0" smtClean="0">
                <a:solidFill>
                  <a:srgbClr val="585858"/>
                </a:solidFill>
                <a:latin typeface="Calibri"/>
                <a:cs typeface="Calibri"/>
              </a:rPr>
              <a:t>Un</a:t>
            </a:r>
            <a:r>
              <a:rPr sz="1600" spc="295" dirty="0" smtClean="0">
                <a:solidFill>
                  <a:srgbClr val="585858"/>
                </a:solidFill>
                <a:latin typeface="Calibri"/>
                <a:cs typeface="Calibri"/>
              </a:rPr>
              <a:t> </a:t>
            </a:r>
            <a:r>
              <a:rPr sz="1600" dirty="0" err="1" smtClean="0">
                <a:solidFill>
                  <a:srgbClr val="585858"/>
                </a:solidFill>
                <a:latin typeface="Calibri"/>
                <a:cs typeface="Calibri"/>
              </a:rPr>
              <a:t>processus</a:t>
            </a:r>
            <a:r>
              <a:rPr sz="1600" spc="300" dirty="0" smtClean="0">
                <a:solidFill>
                  <a:srgbClr val="585858"/>
                </a:solidFill>
                <a:latin typeface="Calibri"/>
                <a:cs typeface="Calibri"/>
              </a:rPr>
              <a:t> </a:t>
            </a:r>
            <a:r>
              <a:rPr sz="1600" dirty="0" err="1" smtClean="0">
                <a:solidFill>
                  <a:srgbClr val="585858"/>
                </a:solidFill>
                <a:latin typeface="Calibri"/>
                <a:cs typeface="Calibri"/>
              </a:rPr>
              <a:t>peut</a:t>
            </a:r>
            <a:r>
              <a:rPr sz="1600" spc="290" dirty="0" smtClean="0">
                <a:solidFill>
                  <a:srgbClr val="585858"/>
                </a:solidFill>
                <a:latin typeface="Calibri"/>
                <a:cs typeface="Calibri"/>
              </a:rPr>
              <a:t> </a:t>
            </a:r>
            <a:r>
              <a:rPr sz="1600" spc="-20" dirty="0" err="1" smtClean="0">
                <a:solidFill>
                  <a:srgbClr val="585858"/>
                </a:solidFill>
                <a:latin typeface="Calibri"/>
                <a:cs typeface="Calibri"/>
              </a:rPr>
              <a:t>être</a:t>
            </a:r>
            <a:r>
              <a:rPr sz="1600" spc="-20" dirty="0" smtClean="0">
                <a:solidFill>
                  <a:srgbClr val="585858"/>
                </a:solidFill>
                <a:latin typeface="Calibri"/>
                <a:cs typeface="Calibri"/>
              </a:rPr>
              <a:t> </a:t>
            </a:r>
            <a:r>
              <a:rPr sz="1600" dirty="0" err="1" smtClean="0">
                <a:solidFill>
                  <a:srgbClr val="585858"/>
                </a:solidFill>
                <a:latin typeface="Calibri"/>
                <a:cs typeface="Calibri"/>
              </a:rPr>
              <a:t>interrompu</a:t>
            </a:r>
            <a:r>
              <a:rPr sz="1600" dirty="0" smtClean="0">
                <a:solidFill>
                  <a:srgbClr val="585858"/>
                </a:solidFill>
                <a:latin typeface="Calibri"/>
                <a:cs typeface="Calibri"/>
              </a:rPr>
              <a:t>.</a:t>
            </a:r>
            <a:endParaRPr lang="fr-FR" sz="1600" dirty="0" smtClean="0">
              <a:solidFill>
                <a:srgbClr val="585858"/>
              </a:solidFill>
              <a:latin typeface="Calibri"/>
              <a:cs typeface="Calibri"/>
            </a:endParaRPr>
          </a:p>
          <a:p>
            <a:pPr marL="298450" indent="-285750" algn="just">
              <a:lnSpc>
                <a:spcPct val="100000"/>
              </a:lnSpc>
              <a:spcBef>
                <a:spcPts val="700"/>
              </a:spcBef>
              <a:buFont typeface="Wingdings" panose="05000000000000000000" pitchFamily="2" charset="2"/>
              <a:buChar char="§"/>
            </a:pPr>
            <a:r>
              <a:rPr lang="fr-FR" sz="1600" dirty="0" smtClean="0">
                <a:solidFill>
                  <a:srgbClr val="585858"/>
                </a:solidFill>
                <a:latin typeface="Calibri"/>
                <a:cs typeface="Calibri"/>
              </a:rPr>
              <a:t>L’état Terminé: Le processus</a:t>
            </a:r>
            <a:r>
              <a:rPr lang="fr-FR" sz="1600" spc="145" dirty="0" smtClean="0">
                <a:solidFill>
                  <a:srgbClr val="585858"/>
                </a:solidFill>
                <a:latin typeface="Calibri"/>
                <a:cs typeface="Calibri"/>
              </a:rPr>
              <a:t> </a:t>
            </a:r>
            <a:r>
              <a:rPr lang="fr-FR" sz="1600" dirty="0" smtClean="0">
                <a:solidFill>
                  <a:srgbClr val="585858"/>
                </a:solidFill>
                <a:latin typeface="Calibri"/>
                <a:cs typeface="Calibri"/>
              </a:rPr>
              <a:t>s’achève;</a:t>
            </a:r>
            <a:endParaRPr sz="1600" dirty="0">
              <a:latin typeface="Calibri"/>
              <a:cs typeface="Calibri"/>
            </a:endParaRPr>
          </a:p>
        </p:txBody>
      </p:sp>
      <p:sp>
        <p:nvSpPr>
          <p:cNvPr id="14" name="object 14"/>
          <p:cNvSpPr txBox="1">
            <a:spLocks noGrp="1"/>
          </p:cNvSpPr>
          <p:nvPr>
            <p:ph type="title"/>
          </p:nvPr>
        </p:nvSpPr>
        <p:spPr>
          <a:xfrm>
            <a:off x="263753" y="332308"/>
            <a:ext cx="11664492" cy="702808"/>
          </a:xfrm>
          <a:prstGeom prst="rect">
            <a:avLst/>
          </a:prstGeom>
        </p:spPr>
        <p:txBody>
          <a:bodyPr vert="horz" wrap="square" lIns="0" tIns="147371" rIns="0" bIns="0" rtlCol="0">
            <a:spAutoFit/>
          </a:bodyPr>
          <a:lstStyle/>
          <a:p>
            <a:pPr marL="12700">
              <a:lnSpc>
                <a:spcPct val="100000"/>
              </a:lnSpc>
              <a:spcBef>
                <a:spcPts val="90"/>
              </a:spcBef>
            </a:pPr>
            <a:r>
              <a:rPr lang="fr-FR" dirty="0">
                <a:solidFill>
                  <a:srgbClr val="007842"/>
                </a:solidFill>
              </a:rPr>
              <a:t>04</a:t>
            </a:r>
            <a:r>
              <a:rPr lang="fr-FR" spc="-35" dirty="0">
                <a:solidFill>
                  <a:srgbClr val="007842"/>
                </a:solidFill>
              </a:rPr>
              <a:t> </a:t>
            </a:r>
            <a:r>
              <a:rPr lang="fr-FR" dirty="0">
                <a:solidFill>
                  <a:srgbClr val="007842"/>
                </a:solidFill>
              </a:rPr>
              <a:t>–</a:t>
            </a:r>
            <a:r>
              <a:rPr lang="fr-FR" spc="-20" dirty="0">
                <a:solidFill>
                  <a:srgbClr val="007842"/>
                </a:solidFill>
              </a:rPr>
              <a:t> </a:t>
            </a:r>
            <a:r>
              <a:rPr lang="fr-FR" dirty="0">
                <a:solidFill>
                  <a:srgbClr val="007842"/>
                </a:solidFill>
              </a:rPr>
              <a:t>Gestion des processus </a:t>
            </a:r>
            <a:r>
              <a:rPr lang="fr-FR" dirty="0" smtClean="0">
                <a:solidFill>
                  <a:srgbClr val="007842"/>
                </a:solidFill>
              </a:rPr>
              <a:t/>
            </a:r>
            <a:br>
              <a:rPr lang="fr-FR" dirty="0" smtClean="0">
                <a:solidFill>
                  <a:srgbClr val="007842"/>
                </a:solidFill>
              </a:rPr>
            </a:br>
            <a:r>
              <a:rPr lang="fr-FR" sz="1600" dirty="0" smtClean="0">
                <a:solidFill>
                  <a:srgbClr val="007842"/>
                </a:solidFill>
              </a:rPr>
              <a:t>Etats d’un processus</a:t>
            </a:r>
            <a:endParaRPr sz="1600" dirty="0"/>
          </a:p>
        </p:txBody>
      </p:sp>
      <p:sp>
        <p:nvSpPr>
          <p:cNvPr id="15" name="object 15"/>
          <p:cNvSpPr txBox="1"/>
          <p:nvPr/>
        </p:nvSpPr>
        <p:spPr>
          <a:xfrm>
            <a:off x="8027289" y="5746110"/>
            <a:ext cx="2685415" cy="197490"/>
          </a:xfrm>
          <a:prstGeom prst="rect">
            <a:avLst/>
          </a:prstGeom>
        </p:spPr>
        <p:txBody>
          <a:bodyPr vert="horz" wrap="square" lIns="0" tIns="12700" rIns="0" bIns="0" rtlCol="0">
            <a:spAutoFit/>
          </a:bodyPr>
          <a:lstStyle/>
          <a:p>
            <a:pPr marL="12700">
              <a:lnSpc>
                <a:spcPct val="100000"/>
              </a:lnSpc>
              <a:spcBef>
                <a:spcPts val="100"/>
              </a:spcBef>
            </a:pPr>
            <a:r>
              <a:rPr sz="1200" i="1" dirty="0">
                <a:solidFill>
                  <a:srgbClr val="A6A6A6"/>
                </a:solidFill>
                <a:latin typeface="Calibri"/>
                <a:cs typeface="Calibri"/>
              </a:rPr>
              <a:t>Figure</a:t>
            </a:r>
            <a:r>
              <a:rPr sz="1200" i="1" spc="-15" dirty="0">
                <a:solidFill>
                  <a:srgbClr val="A6A6A6"/>
                </a:solidFill>
                <a:latin typeface="Calibri"/>
                <a:cs typeface="Calibri"/>
              </a:rPr>
              <a:t> </a:t>
            </a:r>
            <a:r>
              <a:rPr sz="1200" i="1" spc="-5" dirty="0" smtClean="0">
                <a:solidFill>
                  <a:srgbClr val="A6A6A6"/>
                </a:solidFill>
                <a:latin typeface="Calibri"/>
                <a:cs typeface="Calibri"/>
              </a:rPr>
              <a:t> </a:t>
            </a:r>
            <a:r>
              <a:rPr sz="1200" i="1" dirty="0">
                <a:solidFill>
                  <a:srgbClr val="A6A6A6"/>
                </a:solidFill>
                <a:latin typeface="Calibri"/>
                <a:cs typeface="Calibri"/>
              </a:rPr>
              <a:t>:</a:t>
            </a:r>
            <a:r>
              <a:rPr sz="1200" i="1" spc="-5" dirty="0">
                <a:solidFill>
                  <a:srgbClr val="A6A6A6"/>
                </a:solidFill>
                <a:latin typeface="Calibri"/>
                <a:cs typeface="Calibri"/>
              </a:rPr>
              <a:t> </a:t>
            </a:r>
            <a:r>
              <a:rPr sz="1200" i="1" dirty="0">
                <a:solidFill>
                  <a:srgbClr val="A6A6A6"/>
                </a:solidFill>
                <a:latin typeface="Calibri"/>
                <a:cs typeface="Calibri"/>
              </a:rPr>
              <a:t>Diagramme</a:t>
            </a:r>
            <a:r>
              <a:rPr sz="1200" i="1" spc="-40" dirty="0">
                <a:solidFill>
                  <a:srgbClr val="A6A6A6"/>
                </a:solidFill>
                <a:latin typeface="Calibri"/>
                <a:cs typeface="Calibri"/>
              </a:rPr>
              <a:t> </a:t>
            </a:r>
            <a:r>
              <a:rPr sz="1200" i="1" spc="-20" dirty="0">
                <a:solidFill>
                  <a:srgbClr val="A6A6A6"/>
                </a:solidFill>
                <a:latin typeface="Calibri"/>
                <a:cs typeface="Calibri"/>
              </a:rPr>
              <a:t>d’état</a:t>
            </a:r>
            <a:r>
              <a:rPr sz="1200" i="1" spc="-35" dirty="0">
                <a:solidFill>
                  <a:srgbClr val="A6A6A6"/>
                </a:solidFill>
                <a:latin typeface="Calibri"/>
                <a:cs typeface="Calibri"/>
              </a:rPr>
              <a:t> </a:t>
            </a:r>
            <a:r>
              <a:rPr sz="1200" i="1" spc="-20" dirty="0">
                <a:solidFill>
                  <a:srgbClr val="A6A6A6"/>
                </a:solidFill>
                <a:latin typeface="Calibri"/>
                <a:cs typeface="Calibri"/>
              </a:rPr>
              <a:t>d’un</a:t>
            </a:r>
            <a:r>
              <a:rPr sz="1200" i="1" spc="-40" dirty="0">
                <a:solidFill>
                  <a:srgbClr val="A6A6A6"/>
                </a:solidFill>
                <a:latin typeface="Calibri"/>
                <a:cs typeface="Calibri"/>
              </a:rPr>
              <a:t> </a:t>
            </a:r>
            <a:r>
              <a:rPr sz="1200" i="1" spc="-10" dirty="0">
                <a:solidFill>
                  <a:srgbClr val="A6A6A6"/>
                </a:solidFill>
                <a:latin typeface="Calibri"/>
                <a:cs typeface="Calibri"/>
              </a:rPr>
              <a:t>processus</a:t>
            </a:r>
            <a:endParaRPr sz="1200" dirty="0">
              <a:latin typeface="Calibri"/>
              <a:cs typeface="Calibri"/>
            </a:endParaRPr>
          </a:p>
        </p:txBody>
      </p:sp>
      <p:sp>
        <p:nvSpPr>
          <p:cNvPr id="16"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Tree>
    <p:extLst>
      <p:ext uri="{BB962C8B-B14F-4D97-AF65-F5344CB8AC3E}">
        <p14:creationId xmlns:p14="http://schemas.microsoft.com/office/powerpoint/2010/main" val="3608313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1256182" y="5535269"/>
            <a:ext cx="2320925" cy="227626"/>
          </a:xfrm>
          <a:prstGeom prst="rect">
            <a:avLst/>
          </a:prstGeom>
        </p:spPr>
        <p:txBody>
          <a:bodyPr vert="horz" wrap="square" lIns="0" tIns="12065" rIns="0" bIns="0" rtlCol="0">
            <a:spAutoFit/>
          </a:bodyPr>
          <a:lstStyle/>
          <a:p>
            <a:pPr marL="12700">
              <a:lnSpc>
                <a:spcPct val="100000"/>
              </a:lnSpc>
              <a:spcBef>
                <a:spcPts val="95"/>
              </a:spcBef>
            </a:pPr>
            <a:r>
              <a:rPr sz="1400" spc="-20" dirty="0" smtClean="0">
                <a:solidFill>
                  <a:srgbClr val="585858"/>
                </a:solidFill>
                <a:latin typeface="Calibri"/>
                <a:cs typeface="Calibri"/>
              </a:rPr>
              <a:t>.</a:t>
            </a:r>
            <a:endParaRPr sz="1400" dirty="0">
              <a:latin typeface="Calibri"/>
              <a:cs typeface="Calibri"/>
            </a:endParaRPr>
          </a:p>
        </p:txBody>
      </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8</a:t>
            </a:fld>
            <a:endParaRPr spc="-25" dirty="0"/>
          </a:p>
        </p:txBody>
      </p:sp>
      <p:sp>
        <p:nvSpPr>
          <p:cNvPr id="12" name="object 12"/>
          <p:cNvSpPr txBox="1"/>
          <p:nvPr/>
        </p:nvSpPr>
        <p:spPr>
          <a:xfrm>
            <a:off x="798982" y="1602105"/>
            <a:ext cx="10591165" cy="4001737"/>
          </a:xfrm>
          <a:prstGeom prst="rect">
            <a:avLst/>
          </a:prstGeom>
        </p:spPr>
        <p:txBody>
          <a:bodyPr vert="horz" wrap="square" lIns="0" tIns="13335" rIns="0" bIns="0" rtlCol="0">
            <a:spAutoFit/>
          </a:bodyPr>
          <a:lstStyle/>
          <a:p>
            <a:pPr>
              <a:lnSpc>
                <a:spcPct val="100000"/>
              </a:lnSpc>
              <a:spcBef>
                <a:spcPts val="190"/>
              </a:spcBef>
            </a:pPr>
            <a:endParaRPr sz="1600" dirty="0">
              <a:latin typeface="Calibri"/>
              <a:cs typeface="Calibri"/>
            </a:endParaRPr>
          </a:p>
          <a:p>
            <a:pPr marL="12700">
              <a:lnSpc>
                <a:spcPct val="100000"/>
              </a:lnSpc>
            </a:pPr>
            <a:r>
              <a:rPr sz="1600" dirty="0">
                <a:solidFill>
                  <a:srgbClr val="585858"/>
                </a:solidFill>
                <a:latin typeface="Calibri"/>
                <a:cs typeface="Calibri"/>
              </a:rPr>
              <a:t>Afin</a:t>
            </a:r>
            <a:r>
              <a:rPr sz="1600" spc="-10" dirty="0">
                <a:solidFill>
                  <a:srgbClr val="585858"/>
                </a:solidFill>
                <a:latin typeface="Calibri"/>
                <a:cs typeface="Calibri"/>
              </a:rPr>
              <a:t> </a:t>
            </a:r>
            <a:r>
              <a:rPr sz="1600" dirty="0">
                <a:solidFill>
                  <a:srgbClr val="585858"/>
                </a:solidFill>
                <a:latin typeface="Calibri"/>
                <a:cs typeface="Calibri"/>
              </a:rPr>
              <a:t>de</a:t>
            </a:r>
            <a:r>
              <a:rPr sz="1600" spc="-15" dirty="0">
                <a:solidFill>
                  <a:srgbClr val="585858"/>
                </a:solidFill>
                <a:latin typeface="Calibri"/>
                <a:cs typeface="Calibri"/>
              </a:rPr>
              <a:t> </a:t>
            </a:r>
            <a:r>
              <a:rPr sz="1600" dirty="0">
                <a:solidFill>
                  <a:srgbClr val="585858"/>
                </a:solidFill>
                <a:latin typeface="Calibri"/>
                <a:cs typeface="Calibri"/>
              </a:rPr>
              <a:t>gérer les</a:t>
            </a:r>
            <a:r>
              <a:rPr sz="1600" spc="-10" dirty="0">
                <a:solidFill>
                  <a:srgbClr val="585858"/>
                </a:solidFill>
                <a:latin typeface="Calibri"/>
                <a:cs typeface="Calibri"/>
              </a:rPr>
              <a:t> </a:t>
            </a:r>
            <a:r>
              <a:rPr sz="1600" dirty="0">
                <a:solidFill>
                  <a:srgbClr val="585858"/>
                </a:solidFill>
                <a:latin typeface="Calibri"/>
                <a:cs typeface="Calibri"/>
              </a:rPr>
              <a:t>processus, le</a:t>
            </a:r>
            <a:r>
              <a:rPr sz="1600" spc="-15" dirty="0">
                <a:solidFill>
                  <a:srgbClr val="585858"/>
                </a:solidFill>
                <a:latin typeface="Calibri"/>
                <a:cs typeface="Calibri"/>
              </a:rPr>
              <a:t> </a:t>
            </a:r>
            <a:r>
              <a:rPr sz="1600" dirty="0">
                <a:solidFill>
                  <a:srgbClr val="585858"/>
                </a:solidFill>
                <a:latin typeface="Calibri"/>
                <a:cs typeface="Calibri"/>
              </a:rPr>
              <a:t>système</a:t>
            </a:r>
            <a:r>
              <a:rPr sz="1600" spc="5" dirty="0">
                <a:solidFill>
                  <a:srgbClr val="585858"/>
                </a:solidFill>
                <a:latin typeface="Calibri"/>
                <a:cs typeface="Calibri"/>
              </a:rPr>
              <a:t> </a:t>
            </a:r>
            <a:r>
              <a:rPr sz="1600" spc="-20" dirty="0">
                <a:solidFill>
                  <a:srgbClr val="585858"/>
                </a:solidFill>
                <a:latin typeface="Calibri"/>
                <a:cs typeface="Calibri"/>
              </a:rPr>
              <a:t>d’exploitation</a:t>
            </a:r>
            <a:r>
              <a:rPr sz="1600" spc="-25" dirty="0">
                <a:solidFill>
                  <a:srgbClr val="585858"/>
                </a:solidFill>
                <a:latin typeface="Calibri"/>
                <a:cs typeface="Calibri"/>
              </a:rPr>
              <a:t> </a:t>
            </a:r>
            <a:r>
              <a:rPr sz="1600" dirty="0">
                <a:solidFill>
                  <a:srgbClr val="585858"/>
                </a:solidFill>
                <a:latin typeface="Calibri"/>
                <a:cs typeface="Calibri"/>
              </a:rPr>
              <a:t>associe</a:t>
            </a:r>
            <a:r>
              <a:rPr sz="1600" spc="-15" dirty="0">
                <a:solidFill>
                  <a:srgbClr val="585858"/>
                </a:solidFill>
                <a:latin typeface="Calibri"/>
                <a:cs typeface="Calibri"/>
              </a:rPr>
              <a:t> </a:t>
            </a:r>
            <a:r>
              <a:rPr sz="1600" dirty="0">
                <a:solidFill>
                  <a:srgbClr val="585858"/>
                </a:solidFill>
                <a:latin typeface="Calibri"/>
                <a:cs typeface="Calibri"/>
              </a:rPr>
              <a:t>pour</a:t>
            </a:r>
            <a:r>
              <a:rPr sz="1600" spc="-20" dirty="0">
                <a:solidFill>
                  <a:srgbClr val="585858"/>
                </a:solidFill>
                <a:latin typeface="Calibri"/>
                <a:cs typeface="Calibri"/>
              </a:rPr>
              <a:t> </a:t>
            </a:r>
            <a:r>
              <a:rPr sz="1600" dirty="0">
                <a:solidFill>
                  <a:srgbClr val="585858"/>
                </a:solidFill>
                <a:latin typeface="Calibri"/>
                <a:cs typeface="Calibri"/>
              </a:rPr>
              <a:t>chaque</a:t>
            </a:r>
            <a:r>
              <a:rPr sz="1600" spc="10" dirty="0">
                <a:solidFill>
                  <a:srgbClr val="585858"/>
                </a:solidFill>
                <a:latin typeface="Calibri"/>
                <a:cs typeface="Calibri"/>
              </a:rPr>
              <a:t> </a:t>
            </a:r>
            <a:r>
              <a:rPr sz="1600" dirty="0">
                <a:solidFill>
                  <a:srgbClr val="585858"/>
                </a:solidFill>
                <a:latin typeface="Calibri"/>
                <a:cs typeface="Calibri"/>
              </a:rPr>
              <a:t>processus</a:t>
            </a:r>
            <a:r>
              <a:rPr sz="1600" spc="15" dirty="0">
                <a:solidFill>
                  <a:srgbClr val="585858"/>
                </a:solidFill>
                <a:latin typeface="Calibri"/>
                <a:cs typeface="Calibri"/>
              </a:rPr>
              <a:t> </a:t>
            </a:r>
            <a:r>
              <a:rPr sz="1600" dirty="0">
                <a:solidFill>
                  <a:srgbClr val="585858"/>
                </a:solidFill>
                <a:latin typeface="Calibri"/>
                <a:cs typeface="Calibri"/>
              </a:rPr>
              <a:t>un</a:t>
            </a:r>
            <a:r>
              <a:rPr sz="1600" spc="-5" dirty="0">
                <a:solidFill>
                  <a:srgbClr val="585858"/>
                </a:solidFill>
                <a:latin typeface="Calibri"/>
                <a:cs typeface="Calibri"/>
              </a:rPr>
              <a:t> </a:t>
            </a:r>
            <a:r>
              <a:rPr sz="1600" dirty="0">
                <a:solidFill>
                  <a:srgbClr val="585858"/>
                </a:solidFill>
                <a:latin typeface="Calibri"/>
                <a:cs typeface="Calibri"/>
              </a:rPr>
              <a:t>bloc</a:t>
            </a:r>
            <a:r>
              <a:rPr sz="1600" spc="-10" dirty="0">
                <a:solidFill>
                  <a:srgbClr val="585858"/>
                </a:solidFill>
                <a:latin typeface="Calibri"/>
                <a:cs typeface="Calibri"/>
              </a:rPr>
              <a:t> </a:t>
            </a:r>
            <a:r>
              <a:rPr sz="1600" dirty="0">
                <a:solidFill>
                  <a:srgbClr val="585858"/>
                </a:solidFill>
                <a:latin typeface="Calibri"/>
                <a:cs typeface="Calibri"/>
              </a:rPr>
              <a:t>de</a:t>
            </a:r>
            <a:r>
              <a:rPr sz="1600" spc="-15" dirty="0">
                <a:solidFill>
                  <a:srgbClr val="585858"/>
                </a:solidFill>
                <a:latin typeface="Calibri"/>
                <a:cs typeface="Calibri"/>
              </a:rPr>
              <a:t> </a:t>
            </a:r>
            <a:r>
              <a:rPr sz="1600" spc="-10" dirty="0">
                <a:solidFill>
                  <a:srgbClr val="585858"/>
                </a:solidFill>
                <a:latin typeface="Calibri"/>
                <a:cs typeface="Calibri"/>
              </a:rPr>
              <a:t>contrôle</a:t>
            </a:r>
            <a:r>
              <a:rPr sz="1600" spc="-15" dirty="0">
                <a:solidFill>
                  <a:srgbClr val="585858"/>
                </a:solidFill>
                <a:latin typeface="Calibri"/>
                <a:cs typeface="Calibri"/>
              </a:rPr>
              <a:t> </a:t>
            </a:r>
            <a:r>
              <a:rPr sz="1600" dirty="0">
                <a:solidFill>
                  <a:srgbClr val="585858"/>
                </a:solidFill>
                <a:latin typeface="Calibri"/>
                <a:cs typeface="Calibri"/>
              </a:rPr>
              <a:t>appelé</a:t>
            </a:r>
            <a:r>
              <a:rPr sz="1600" spc="-10" dirty="0">
                <a:solidFill>
                  <a:srgbClr val="585858"/>
                </a:solidFill>
                <a:latin typeface="Calibri"/>
                <a:cs typeface="Calibri"/>
              </a:rPr>
              <a:t> </a:t>
            </a:r>
            <a:r>
              <a:rPr sz="1600" dirty="0">
                <a:solidFill>
                  <a:srgbClr val="585858"/>
                </a:solidFill>
                <a:latin typeface="Calibri"/>
                <a:cs typeface="Calibri"/>
              </a:rPr>
              <a:t>en</a:t>
            </a:r>
            <a:r>
              <a:rPr sz="1600" spc="-30" dirty="0">
                <a:solidFill>
                  <a:srgbClr val="585858"/>
                </a:solidFill>
                <a:latin typeface="Calibri"/>
                <a:cs typeface="Calibri"/>
              </a:rPr>
              <a:t> </a:t>
            </a:r>
            <a:r>
              <a:rPr sz="1600" dirty="0">
                <a:solidFill>
                  <a:srgbClr val="585858"/>
                </a:solidFill>
                <a:latin typeface="Calibri"/>
                <a:cs typeface="Calibri"/>
              </a:rPr>
              <a:t>anglais</a:t>
            </a:r>
            <a:r>
              <a:rPr sz="1600" spc="10" dirty="0">
                <a:solidFill>
                  <a:srgbClr val="585858"/>
                </a:solidFill>
                <a:latin typeface="Calibri"/>
                <a:cs typeface="Calibri"/>
              </a:rPr>
              <a:t> </a:t>
            </a:r>
            <a:r>
              <a:rPr sz="1600" dirty="0">
                <a:solidFill>
                  <a:srgbClr val="585858"/>
                </a:solidFill>
                <a:latin typeface="Calibri"/>
                <a:cs typeface="Calibri"/>
              </a:rPr>
              <a:t>Process</a:t>
            </a:r>
            <a:r>
              <a:rPr sz="1600" spc="-5" dirty="0">
                <a:solidFill>
                  <a:srgbClr val="585858"/>
                </a:solidFill>
                <a:latin typeface="Calibri"/>
                <a:cs typeface="Calibri"/>
              </a:rPr>
              <a:t> </a:t>
            </a:r>
            <a:r>
              <a:rPr sz="1600" dirty="0">
                <a:solidFill>
                  <a:srgbClr val="585858"/>
                </a:solidFill>
                <a:latin typeface="Calibri"/>
                <a:cs typeface="Calibri"/>
              </a:rPr>
              <a:t>Control</a:t>
            </a:r>
            <a:r>
              <a:rPr sz="1600" spc="-30" dirty="0">
                <a:solidFill>
                  <a:srgbClr val="585858"/>
                </a:solidFill>
                <a:latin typeface="Calibri"/>
                <a:cs typeface="Calibri"/>
              </a:rPr>
              <a:t> </a:t>
            </a:r>
            <a:r>
              <a:rPr sz="1600" dirty="0">
                <a:solidFill>
                  <a:srgbClr val="585858"/>
                </a:solidFill>
                <a:latin typeface="Calibri"/>
                <a:cs typeface="Calibri"/>
              </a:rPr>
              <a:t>Bloc</a:t>
            </a:r>
            <a:r>
              <a:rPr sz="1600" spc="-5" dirty="0">
                <a:solidFill>
                  <a:srgbClr val="585858"/>
                </a:solidFill>
                <a:latin typeface="Calibri"/>
                <a:cs typeface="Calibri"/>
              </a:rPr>
              <a:t> </a:t>
            </a:r>
            <a:r>
              <a:rPr sz="1600" spc="-25" dirty="0" smtClean="0">
                <a:solidFill>
                  <a:srgbClr val="585858"/>
                </a:solidFill>
                <a:latin typeface="Calibri"/>
                <a:cs typeface="Calibri"/>
              </a:rPr>
              <a:t>et</a:t>
            </a:r>
            <a:r>
              <a:rPr lang="fr-FR" sz="1600" dirty="0">
                <a:latin typeface="Calibri"/>
                <a:cs typeface="Calibri"/>
              </a:rPr>
              <a:t> </a:t>
            </a:r>
            <a:r>
              <a:rPr sz="1600" dirty="0" err="1" smtClean="0">
                <a:solidFill>
                  <a:srgbClr val="585858"/>
                </a:solidFill>
                <a:latin typeface="Calibri"/>
                <a:cs typeface="Calibri"/>
              </a:rPr>
              <a:t>abrévié</a:t>
            </a:r>
            <a:r>
              <a:rPr sz="1600" spc="5" dirty="0" smtClean="0">
                <a:solidFill>
                  <a:srgbClr val="585858"/>
                </a:solidFill>
                <a:latin typeface="Calibri"/>
                <a:cs typeface="Calibri"/>
              </a:rPr>
              <a:t> </a:t>
            </a:r>
            <a:r>
              <a:rPr sz="1600" b="1" dirty="0">
                <a:solidFill>
                  <a:srgbClr val="FF0000"/>
                </a:solidFill>
                <a:latin typeface="Calibri"/>
                <a:cs typeface="Calibri"/>
              </a:rPr>
              <a:t>PCB</a:t>
            </a:r>
            <a:r>
              <a:rPr sz="1600" b="1" spc="-40" dirty="0">
                <a:solidFill>
                  <a:srgbClr val="FF0000"/>
                </a:solidFill>
                <a:latin typeface="Calibri"/>
                <a:cs typeface="Calibri"/>
              </a:rPr>
              <a:t> </a:t>
            </a:r>
            <a:r>
              <a:rPr sz="1600" dirty="0">
                <a:solidFill>
                  <a:srgbClr val="585858"/>
                </a:solidFill>
                <a:latin typeface="Calibri"/>
                <a:cs typeface="Calibri"/>
              </a:rPr>
              <a:t>qui</a:t>
            </a:r>
            <a:r>
              <a:rPr sz="1600" spc="-25" dirty="0">
                <a:solidFill>
                  <a:srgbClr val="585858"/>
                </a:solidFill>
                <a:latin typeface="Calibri"/>
                <a:cs typeface="Calibri"/>
              </a:rPr>
              <a:t> </a:t>
            </a:r>
            <a:r>
              <a:rPr sz="1600" spc="-10" dirty="0">
                <a:solidFill>
                  <a:srgbClr val="585858"/>
                </a:solidFill>
                <a:latin typeface="Calibri"/>
                <a:cs typeface="Calibri"/>
              </a:rPr>
              <a:t>contient</a:t>
            </a:r>
            <a:r>
              <a:rPr sz="1600" spc="5" dirty="0">
                <a:solidFill>
                  <a:srgbClr val="585858"/>
                </a:solidFill>
                <a:latin typeface="Calibri"/>
                <a:cs typeface="Calibri"/>
              </a:rPr>
              <a:t> </a:t>
            </a:r>
            <a:r>
              <a:rPr sz="1600" dirty="0">
                <a:solidFill>
                  <a:srgbClr val="585858"/>
                </a:solidFill>
                <a:latin typeface="Calibri"/>
                <a:cs typeface="Calibri"/>
              </a:rPr>
              <a:t>les</a:t>
            </a:r>
            <a:r>
              <a:rPr sz="1600" spc="-25" dirty="0">
                <a:solidFill>
                  <a:srgbClr val="585858"/>
                </a:solidFill>
                <a:latin typeface="Calibri"/>
                <a:cs typeface="Calibri"/>
              </a:rPr>
              <a:t> </a:t>
            </a:r>
            <a:r>
              <a:rPr sz="1600" spc="-10" dirty="0">
                <a:solidFill>
                  <a:srgbClr val="585858"/>
                </a:solidFill>
                <a:latin typeface="Calibri"/>
                <a:cs typeface="Calibri"/>
              </a:rPr>
              <a:t>informations</a:t>
            </a:r>
            <a:r>
              <a:rPr sz="1600" spc="15" dirty="0">
                <a:solidFill>
                  <a:srgbClr val="585858"/>
                </a:solidFill>
                <a:latin typeface="Calibri"/>
                <a:cs typeface="Calibri"/>
              </a:rPr>
              <a:t> </a:t>
            </a:r>
            <a:r>
              <a:rPr sz="1600" spc="-10" dirty="0">
                <a:solidFill>
                  <a:srgbClr val="585858"/>
                </a:solidFill>
                <a:latin typeface="Calibri"/>
                <a:cs typeface="Calibri"/>
              </a:rPr>
              <a:t>nécessaires</a:t>
            </a:r>
            <a:r>
              <a:rPr sz="1600" dirty="0">
                <a:solidFill>
                  <a:srgbClr val="585858"/>
                </a:solidFill>
                <a:latin typeface="Calibri"/>
                <a:cs typeface="Calibri"/>
              </a:rPr>
              <a:t> sur</a:t>
            </a:r>
            <a:r>
              <a:rPr sz="1600" spc="-35" dirty="0">
                <a:solidFill>
                  <a:srgbClr val="585858"/>
                </a:solidFill>
                <a:latin typeface="Calibri"/>
                <a:cs typeface="Calibri"/>
              </a:rPr>
              <a:t> </a:t>
            </a:r>
            <a:r>
              <a:rPr sz="1600" dirty="0">
                <a:solidFill>
                  <a:srgbClr val="585858"/>
                </a:solidFill>
                <a:latin typeface="Calibri"/>
                <a:cs typeface="Calibri"/>
              </a:rPr>
              <a:t>un</a:t>
            </a:r>
            <a:r>
              <a:rPr sz="1600" spc="-45" dirty="0">
                <a:solidFill>
                  <a:srgbClr val="585858"/>
                </a:solidFill>
                <a:latin typeface="Calibri"/>
                <a:cs typeface="Calibri"/>
              </a:rPr>
              <a:t> </a:t>
            </a:r>
            <a:r>
              <a:rPr sz="1600" spc="-10" dirty="0">
                <a:solidFill>
                  <a:srgbClr val="585858"/>
                </a:solidFill>
                <a:latin typeface="Calibri"/>
                <a:cs typeface="Calibri"/>
              </a:rPr>
              <a:t>processus.</a:t>
            </a:r>
            <a:endParaRPr sz="1600" dirty="0">
              <a:latin typeface="Calibri"/>
              <a:cs typeface="Calibri"/>
            </a:endParaRPr>
          </a:p>
          <a:p>
            <a:pPr marL="12700">
              <a:lnSpc>
                <a:spcPct val="100000"/>
              </a:lnSpc>
              <a:spcBef>
                <a:spcPts val="1680"/>
              </a:spcBef>
            </a:pPr>
            <a:r>
              <a:rPr sz="1600" dirty="0">
                <a:solidFill>
                  <a:srgbClr val="585858"/>
                </a:solidFill>
                <a:latin typeface="Calibri"/>
                <a:cs typeface="Calibri"/>
              </a:rPr>
              <a:t>Le</a:t>
            </a:r>
            <a:r>
              <a:rPr sz="1600" spc="-15" dirty="0">
                <a:solidFill>
                  <a:srgbClr val="585858"/>
                </a:solidFill>
                <a:latin typeface="Calibri"/>
                <a:cs typeface="Calibri"/>
              </a:rPr>
              <a:t> </a:t>
            </a:r>
            <a:r>
              <a:rPr sz="1600" dirty="0">
                <a:solidFill>
                  <a:srgbClr val="585858"/>
                </a:solidFill>
                <a:latin typeface="Calibri"/>
                <a:cs typeface="Calibri"/>
              </a:rPr>
              <a:t>Bloc</a:t>
            </a:r>
            <a:r>
              <a:rPr sz="1600" spc="-45" dirty="0">
                <a:solidFill>
                  <a:srgbClr val="585858"/>
                </a:solidFill>
                <a:latin typeface="Calibri"/>
                <a:cs typeface="Calibri"/>
              </a:rPr>
              <a:t> </a:t>
            </a:r>
            <a:r>
              <a:rPr sz="1600" dirty="0">
                <a:solidFill>
                  <a:srgbClr val="585858"/>
                </a:solidFill>
                <a:latin typeface="Calibri"/>
                <a:cs typeface="Calibri"/>
              </a:rPr>
              <a:t>de</a:t>
            </a:r>
            <a:r>
              <a:rPr sz="1600" spc="-15" dirty="0">
                <a:solidFill>
                  <a:srgbClr val="585858"/>
                </a:solidFill>
                <a:latin typeface="Calibri"/>
                <a:cs typeface="Calibri"/>
              </a:rPr>
              <a:t> </a:t>
            </a:r>
            <a:r>
              <a:rPr sz="1600" spc="-10" dirty="0">
                <a:solidFill>
                  <a:srgbClr val="585858"/>
                </a:solidFill>
                <a:latin typeface="Calibri"/>
                <a:cs typeface="Calibri"/>
              </a:rPr>
              <a:t>contrôle</a:t>
            </a:r>
            <a:r>
              <a:rPr sz="1600" spc="15" dirty="0">
                <a:solidFill>
                  <a:srgbClr val="585858"/>
                </a:solidFill>
                <a:latin typeface="Calibri"/>
                <a:cs typeface="Calibri"/>
              </a:rPr>
              <a:t> </a:t>
            </a:r>
            <a:r>
              <a:rPr sz="1600" dirty="0">
                <a:solidFill>
                  <a:srgbClr val="585858"/>
                </a:solidFill>
                <a:latin typeface="Calibri"/>
                <a:cs typeface="Calibri"/>
              </a:rPr>
              <a:t>de</a:t>
            </a:r>
            <a:r>
              <a:rPr sz="1600" spc="-15" dirty="0">
                <a:solidFill>
                  <a:srgbClr val="585858"/>
                </a:solidFill>
                <a:latin typeface="Calibri"/>
                <a:cs typeface="Calibri"/>
              </a:rPr>
              <a:t> </a:t>
            </a:r>
            <a:r>
              <a:rPr sz="1600" spc="-10" dirty="0">
                <a:solidFill>
                  <a:srgbClr val="585858"/>
                </a:solidFill>
                <a:latin typeface="Calibri"/>
                <a:cs typeface="Calibri"/>
              </a:rPr>
              <a:t>processus</a:t>
            </a:r>
            <a:r>
              <a:rPr sz="1600" dirty="0">
                <a:solidFill>
                  <a:srgbClr val="585858"/>
                </a:solidFill>
                <a:latin typeface="Calibri"/>
                <a:cs typeface="Calibri"/>
              </a:rPr>
              <a:t> comme</a:t>
            </a:r>
            <a:r>
              <a:rPr sz="1600" spc="-55" dirty="0">
                <a:solidFill>
                  <a:srgbClr val="585858"/>
                </a:solidFill>
                <a:latin typeface="Calibri"/>
                <a:cs typeface="Calibri"/>
              </a:rPr>
              <a:t> </a:t>
            </a:r>
            <a:r>
              <a:rPr sz="1600" dirty="0">
                <a:solidFill>
                  <a:srgbClr val="585858"/>
                </a:solidFill>
                <a:latin typeface="Calibri"/>
                <a:cs typeface="Calibri"/>
              </a:rPr>
              <a:t>le</a:t>
            </a:r>
            <a:r>
              <a:rPr sz="1600" spc="-5" dirty="0">
                <a:solidFill>
                  <a:srgbClr val="585858"/>
                </a:solidFill>
                <a:latin typeface="Calibri"/>
                <a:cs typeface="Calibri"/>
              </a:rPr>
              <a:t> </a:t>
            </a:r>
            <a:r>
              <a:rPr sz="1600" spc="-10" dirty="0">
                <a:solidFill>
                  <a:srgbClr val="585858"/>
                </a:solidFill>
                <a:latin typeface="Calibri"/>
                <a:cs typeface="Calibri"/>
              </a:rPr>
              <a:t>montre</a:t>
            </a:r>
            <a:r>
              <a:rPr sz="1600" spc="30" dirty="0">
                <a:solidFill>
                  <a:srgbClr val="585858"/>
                </a:solidFill>
                <a:latin typeface="Calibri"/>
                <a:cs typeface="Calibri"/>
              </a:rPr>
              <a:t> </a:t>
            </a:r>
            <a:r>
              <a:rPr sz="1600" dirty="0">
                <a:solidFill>
                  <a:srgbClr val="585858"/>
                </a:solidFill>
                <a:latin typeface="Calibri"/>
                <a:cs typeface="Calibri"/>
              </a:rPr>
              <a:t>la</a:t>
            </a:r>
            <a:r>
              <a:rPr sz="1600" spc="-30" dirty="0">
                <a:solidFill>
                  <a:srgbClr val="585858"/>
                </a:solidFill>
                <a:latin typeface="Calibri"/>
                <a:cs typeface="Calibri"/>
              </a:rPr>
              <a:t> </a:t>
            </a:r>
            <a:r>
              <a:rPr sz="1600" b="1" dirty="0">
                <a:solidFill>
                  <a:srgbClr val="585858"/>
                </a:solidFill>
                <a:latin typeface="Calibri"/>
                <a:cs typeface="Calibri"/>
              </a:rPr>
              <a:t>Figure</a:t>
            </a:r>
            <a:r>
              <a:rPr sz="1600" b="1" spc="-15" dirty="0">
                <a:solidFill>
                  <a:srgbClr val="585858"/>
                </a:solidFill>
                <a:latin typeface="Calibri"/>
                <a:cs typeface="Calibri"/>
              </a:rPr>
              <a:t> </a:t>
            </a:r>
            <a:r>
              <a:rPr sz="1600" b="1" spc="-45" dirty="0" smtClean="0">
                <a:solidFill>
                  <a:srgbClr val="585858"/>
                </a:solidFill>
                <a:latin typeface="Calibri"/>
                <a:cs typeface="Calibri"/>
              </a:rPr>
              <a:t> </a:t>
            </a:r>
            <a:r>
              <a:rPr sz="1600" dirty="0">
                <a:solidFill>
                  <a:srgbClr val="585858"/>
                </a:solidFill>
                <a:latin typeface="Calibri"/>
                <a:cs typeface="Calibri"/>
              </a:rPr>
              <a:t>est</a:t>
            </a:r>
            <a:r>
              <a:rPr sz="1600" spc="-5" dirty="0">
                <a:solidFill>
                  <a:srgbClr val="585858"/>
                </a:solidFill>
                <a:latin typeface="Calibri"/>
                <a:cs typeface="Calibri"/>
              </a:rPr>
              <a:t> </a:t>
            </a:r>
            <a:r>
              <a:rPr sz="1600" spc="-10" dirty="0">
                <a:solidFill>
                  <a:srgbClr val="585858"/>
                </a:solidFill>
                <a:latin typeface="Calibri"/>
                <a:cs typeface="Calibri"/>
              </a:rPr>
              <a:t>composé</a:t>
            </a:r>
            <a:r>
              <a:rPr sz="1600" spc="-50" dirty="0">
                <a:solidFill>
                  <a:srgbClr val="585858"/>
                </a:solidFill>
                <a:latin typeface="Calibri"/>
                <a:cs typeface="Calibri"/>
              </a:rPr>
              <a:t> </a:t>
            </a:r>
            <a:r>
              <a:rPr sz="1600" spc="-25" dirty="0">
                <a:solidFill>
                  <a:srgbClr val="585858"/>
                </a:solidFill>
                <a:latin typeface="Calibri"/>
                <a:cs typeface="Calibri"/>
              </a:rPr>
              <a:t>de:</a:t>
            </a:r>
            <a:endParaRPr sz="1600" dirty="0">
              <a:latin typeface="Calibri"/>
              <a:cs typeface="Calibri"/>
            </a:endParaRPr>
          </a:p>
          <a:p>
            <a:pPr marL="563245" indent="-93345">
              <a:lnSpc>
                <a:spcPct val="100000"/>
              </a:lnSpc>
              <a:spcBef>
                <a:spcPts val="1680"/>
              </a:spcBef>
              <a:buChar char="-"/>
              <a:tabLst>
                <a:tab pos="563245" algn="l"/>
              </a:tabLst>
            </a:pPr>
            <a:r>
              <a:rPr lang="fr-FR" sz="1600" spc="-25" dirty="0">
                <a:solidFill>
                  <a:srgbClr val="585858"/>
                </a:solidFill>
                <a:latin typeface="Calibri"/>
                <a:cs typeface="Calibri"/>
              </a:rPr>
              <a:t>L</a:t>
            </a:r>
            <a:r>
              <a:rPr sz="1600" spc="-25" dirty="0" smtClean="0">
                <a:solidFill>
                  <a:srgbClr val="585858"/>
                </a:solidFill>
                <a:latin typeface="Calibri"/>
                <a:cs typeface="Calibri"/>
              </a:rPr>
              <a:t>’</a:t>
            </a:r>
            <a:r>
              <a:rPr sz="1600" spc="-25" dirty="0" err="1" smtClean="0">
                <a:solidFill>
                  <a:srgbClr val="585858"/>
                </a:solidFill>
                <a:latin typeface="Calibri"/>
                <a:cs typeface="Calibri"/>
              </a:rPr>
              <a:t>état</a:t>
            </a:r>
            <a:r>
              <a:rPr sz="1600" dirty="0" smtClean="0">
                <a:solidFill>
                  <a:srgbClr val="585858"/>
                </a:solidFill>
                <a:latin typeface="Calibri"/>
                <a:cs typeface="Calibri"/>
              </a:rPr>
              <a:t> </a:t>
            </a:r>
            <a:r>
              <a:rPr sz="1600" dirty="0">
                <a:solidFill>
                  <a:srgbClr val="585858"/>
                </a:solidFill>
                <a:latin typeface="Calibri"/>
                <a:cs typeface="Calibri"/>
              </a:rPr>
              <a:t>du</a:t>
            </a:r>
            <a:r>
              <a:rPr sz="1600" spc="-15" dirty="0">
                <a:solidFill>
                  <a:srgbClr val="585858"/>
                </a:solidFill>
                <a:latin typeface="Calibri"/>
                <a:cs typeface="Calibri"/>
              </a:rPr>
              <a:t> </a:t>
            </a:r>
            <a:r>
              <a:rPr sz="1600" spc="-10" dirty="0">
                <a:solidFill>
                  <a:srgbClr val="585858"/>
                </a:solidFill>
                <a:latin typeface="Calibri"/>
                <a:cs typeface="Calibri"/>
              </a:rPr>
              <a:t>processus</a:t>
            </a:r>
            <a:r>
              <a:rPr sz="1600" spc="-25" dirty="0">
                <a:solidFill>
                  <a:srgbClr val="585858"/>
                </a:solidFill>
                <a:latin typeface="Calibri"/>
                <a:cs typeface="Calibri"/>
              </a:rPr>
              <a:t> </a:t>
            </a:r>
            <a:r>
              <a:rPr sz="1600" dirty="0">
                <a:solidFill>
                  <a:srgbClr val="585858"/>
                </a:solidFill>
                <a:latin typeface="Calibri"/>
                <a:cs typeface="Calibri"/>
              </a:rPr>
              <a:t>:</a:t>
            </a:r>
            <a:r>
              <a:rPr sz="1600" spc="210" dirty="0">
                <a:solidFill>
                  <a:srgbClr val="585858"/>
                </a:solidFill>
                <a:latin typeface="Calibri"/>
                <a:cs typeface="Calibri"/>
              </a:rPr>
              <a:t> </a:t>
            </a:r>
            <a:r>
              <a:rPr sz="1600" spc="-10" dirty="0">
                <a:solidFill>
                  <a:srgbClr val="585858"/>
                </a:solidFill>
                <a:latin typeface="Calibri"/>
                <a:cs typeface="Calibri"/>
              </a:rPr>
              <a:t>nouveau,</a:t>
            </a:r>
            <a:r>
              <a:rPr sz="1600" spc="25" dirty="0">
                <a:solidFill>
                  <a:srgbClr val="585858"/>
                </a:solidFill>
                <a:latin typeface="Calibri"/>
                <a:cs typeface="Calibri"/>
              </a:rPr>
              <a:t> </a:t>
            </a:r>
            <a:r>
              <a:rPr sz="1600" dirty="0">
                <a:solidFill>
                  <a:srgbClr val="585858"/>
                </a:solidFill>
                <a:latin typeface="Calibri"/>
                <a:cs typeface="Calibri"/>
              </a:rPr>
              <a:t>prêt,</a:t>
            </a:r>
            <a:r>
              <a:rPr sz="1600" spc="5" dirty="0">
                <a:solidFill>
                  <a:srgbClr val="585858"/>
                </a:solidFill>
                <a:latin typeface="Calibri"/>
                <a:cs typeface="Calibri"/>
              </a:rPr>
              <a:t> </a:t>
            </a:r>
            <a:r>
              <a:rPr sz="1600" dirty="0">
                <a:solidFill>
                  <a:srgbClr val="585858"/>
                </a:solidFill>
                <a:latin typeface="Calibri"/>
                <a:cs typeface="Calibri"/>
              </a:rPr>
              <a:t>en</a:t>
            </a:r>
            <a:r>
              <a:rPr sz="1600" spc="-50" dirty="0">
                <a:solidFill>
                  <a:srgbClr val="585858"/>
                </a:solidFill>
                <a:latin typeface="Calibri"/>
                <a:cs typeface="Calibri"/>
              </a:rPr>
              <a:t> </a:t>
            </a:r>
            <a:r>
              <a:rPr sz="1600" spc="-10" dirty="0">
                <a:solidFill>
                  <a:srgbClr val="585858"/>
                </a:solidFill>
                <a:latin typeface="Calibri"/>
                <a:cs typeface="Calibri"/>
              </a:rPr>
              <a:t>exécution</a:t>
            </a:r>
            <a:r>
              <a:rPr sz="1600" spc="25" dirty="0">
                <a:solidFill>
                  <a:srgbClr val="585858"/>
                </a:solidFill>
                <a:latin typeface="Calibri"/>
                <a:cs typeface="Calibri"/>
              </a:rPr>
              <a:t> </a:t>
            </a:r>
            <a:r>
              <a:rPr sz="1600" spc="-50" dirty="0">
                <a:solidFill>
                  <a:srgbClr val="585858"/>
                </a:solidFill>
                <a:latin typeface="Calibri"/>
                <a:cs typeface="Calibri"/>
              </a:rPr>
              <a:t>;</a:t>
            </a:r>
            <a:endParaRPr sz="1600" dirty="0">
              <a:latin typeface="Calibri"/>
              <a:cs typeface="Calibri"/>
            </a:endParaRPr>
          </a:p>
          <a:p>
            <a:pPr marL="563245" indent="-93345">
              <a:lnSpc>
                <a:spcPct val="100000"/>
              </a:lnSpc>
              <a:spcBef>
                <a:spcPts val="1685"/>
              </a:spcBef>
              <a:buChar char="-"/>
              <a:tabLst>
                <a:tab pos="563245" algn="l"/>
              </a:tabLst>
            </a:pPr>
            <a:r>
              <a:rPr lang="fr-FR" sz="1600" spc="-10" dirty="0">
                <a:solidFill>
                  <a:srgbClr val="585858"/>
                </a:solidFill>
                <a:latin typeface="Calibri"/>
                <a:cs typeface="Calibri"/>
              </a:rPr>
              <a:t>P</a:t>
            </a:r>
            <a:r>
              <a:rPr sz="1600" spc="-10" dirty="0" err="1" smtClean="0">
                <a:solidFill>
                  <a:srgbClr val="585858"/>
                </a:solidFill>
                <a:latin typeface="Calibri"/>
                <a:cs typeface="Calibri"/>
              </a:rPr>
              <a:t>rochaine</a:t>
            </a:r>
            <a:r>
              <a:rPr sz="1600" spc="-10" dirty="0" smtClean="0">
                <a:solidFill>
                  <a:srgbClr val="585858"/>
                </a:solidFill>
                <a:latin typeface="Calibri"/>
                <a:cs typeface="Calibri"/>
              </a:rPr>
              <a:t> </a:t>
            </a:r>
            <a:r>
              <a:rPr sz="1600" spc="-10" dirty="0">
                <a:solidFill>
                  <a:srgbClr val="585858"/>
                </a:solidFill>
                <a:latin typeface="Calibri"/>
                <a:cs typeface="Calibri"/>
              </a:rPr>
              <a:t>instruction</a:t>
            </a:r>
            <a:r>
              <a:rPr sz="1600" spc="35" dirty="0">
                <a:solidFill>
                  <a:srgbClr val="585858"/>
                </a:solidFill>
                <a:latin typeface="Calibri"/>
                <a:cs typeface="Calibri"/>
              </a:rPr>
              <a:t> </a:t>
            </a:r>
            <a:r>
              <a:rPr sz="1600" dirty="0">
                <a:solidFill>
                  <a:srgbClr val="585858"/>
                </a:solidFill>
                <a:latin typeface="Calibri"/>
                <a:cs typeface="Calibri"/>
              </a:rPr>
              <a:t>à</a:t>
            </a:r>
            <a:r>
              <a:rPr sz="1600" spc="-50" dirty="0">
                <a:solidFill>
                  <a:srgbClr val="585858"/>
                </a:solidFill>
                <a:latin typeface="Calibri"/>
                <a:cs typeface="Calibri"/>
              </a:rPr>
              <a:t> </a:t>
            </a:r>
            <a:r>
              <a:rPr sz="1600" spc="-10" dirty="0">
                <a:solidFill>
                  <a:srgbClr val="585858"/>
                </a:solidFill>
                <a:latin typeface="Calibri"/>
                <a:cs typeface="Calibri"/>
              </a:rPr>
              <a:t>exécuter</a:t>
            </a:r>
            <a:r>
              <a:rPr sz="1600" spc="5" dirty="0">
                <a:solidFill>
                  <a:srgbClr val="585858"/>
                </a:solidFill>
                <a:latin typeface="Calibri"/>
                <a:cs typeface="Calibri"/>
              </a:rPr>
              <a:t> </a:t>
            </a:r>
            <a:r>
              <a:rPr sz="1600" spc="-50" dirty="0">
                <a:solidFill>
                  <a:srgbClr val="585858"/>
                </a:solidFill>
                <a:latin typeface="Calibri"/>
                <a:cs typeface="Calibri"/>
              </a:rPr>
              <a:t>;</a:t>
            </a:r>
            <a:endParaRPr sz="1600" dirty="0">
              <a:latin typeface="Calibri"/>
              <a:cs typeface="Calibri"/>
            </a:endParaRPr>
          </a:p>
          <a:p>
            <a:pPr marL="563245" indent="-93345">
              <a:lnSpc>
                <a:spcPct val="100000"/>
              </a:lnSpc>
              <a:spcBef>
                <a:spcPts val="1680"/>
              </a:spcBef>
              <a:buChar char="-"/>
              <a:tabLst>
                <a:tab pos="563245" algn="l"/>
              </a:tabLst>
            </a:pPr>
            <a:r>
              <a:rPr lang="fr-FR" sz="1600" spc="-10" dirty="0">
                <a:solidFill>
                  <a:srgbClr val="585858"/>
                </a:solidFill>
                <a:latin typeface="Calibri"/>
                <a:cs typeface="Calibri"/>
              </a:rPr>
              <a:t>I</a:t>
            </a:r>
            <a:r>
              <a:rPr sz="1600" spc="-10" dirty="0" err="1" smtClean="0">
                <a:solidFill>
                  <a:srgbClr val="585858"/>
                </a:solidFill>
                <a:latin typeface="Calibri"/>
                <a:cs typeface="Calibri"/>
              </a:rPr>
              <a:t>nformations</a:t>
            </a:r>
            <a:r>
              <a:rPr sz="1600" spc="25" dirty="0" smtClean="0">
                <a:solidFill>
                  <a:srgbClr val="585858"/>
                </a:solidFill>
                <a:latin typeface="Calibri"/>
                <a:cs typeface="Calibri"/>
              </a:rPr>
              <a:t> </a:t>
            </a:r>
            <a:r>
              <a:rPr sz="1600" dirty="0">
                <a:solidFill>
                  <a:srgbClr val="585858"/>
                </a:solidFill>
                <a:latin typeface="Calibri"/>
                <a:cs typeface="Calibri"/>
              </a:rPr>
              <a:t>sur</a:t>
            </a:r>
            <a:r>
              <a:rPr sz="1600" spc="-30" dirty="0">
                <a:solidFill>
                  <a:srgbClr val="585858"/>
                </a:solidFill>
                <a:latin typeface="Calibri"/>
                <a:cs typeface="Calibri"/>
              </a:rPr>
              <a:t> </a:t>
            </a:r>
            <a:r>
              <a:rPr sz="1600" spc="-20" dirty="0">
                <a:solidFill>
                  <a:srgbClr val="585858"/>
                </a:solidFill>
                <a:latin typeface="Calibri"/>
                <a:cs typeface="Calibri"/>
              </a:rPr>
              <a:t>l’ordonnancement</a:t>
            </a:r>
            <a:r>
              <a:rPr sz="1600" spc="55" dirty="0">
                <a:solidFill>
                  <a:srgbClr val="585858"/>
                </a:solidFill>
                <a:latin typeface="Calibri"/>
                <a:cs typeface="Calibri"/>
              </a:rPr>
              <a:t> </a:t>
            </a:r>
            <a:r>
              <a:rPr sz="1600" dirty="0">
                <a:solidFill>
                  <a:srgbClr val="585858"/>
                </a:solidFill>
                <a:latin typeface="Calibri"/>
                <a:cs typeface="Calibri"/>
              </a:rPr>
              <a:t>des</a:t>
            </a:r>
            <a:r>
              <a:rPr sz="1600" spc="-15" dirty="0">
                <a:solidFill>
                  <a:srgbClr val="585858"/>
                </a:solidFill>
                <a:latin typeface="Calibri"/>
                <a:cs typeface="Calibri"/>
              </a:rPr>
              <a:t> </a:t>
            </a:r>
            <a:r>
              <a:rPr sz="1600" spc="-10" dirty="0">
                <a:solidFill>
                  <a:srgbClr val="585858"/>
                </a:solidFill>
                <a:latin typeface="Calibri"/>
                <a:cs typeface="Calibri"/>
              </a:rPr>
              <a:t>processus</a:t>
            </a:r>
            <a:r>
              <a:rPr sz="1600" spc="-20" dirty="0">
                <a:solidFill>
                  <a:srgbClr val="585858"/>
                </a:solidFill>
                <a:latin typeface="Calibri"/>
                <a:cs typeface="Calibri"/>
              </a:rPr>
              <a:t> </a:t>
            </a:r>
            <a:r>
              <a:rPr sz="1600" spc="-50" dirty="0">
                <a:solidFill>
                  <a:srgbClr val="585858"/>
                </a:solidFill>
                <a:latin typeface="Calibri"/>
                <a:cs typeface="Calibri"/>
              </a:rPr>
              <a:t>;</a:t>
            </a:r>
            <a:endParaRPr sz="1600" dirty="0">
              <a:latin typeface="Calibri"/>
              <a:cs typeface="Calibri"/>
            </a:endParaRPr>
          </a:p>
          <a:p>
            <a:pPr marL="563245" indent="-93345">
              <a:lnSpc>
                <a:spcPct val="100000"/>
              </a:lnSpc>
              <a:spcBef>
                <a:spcPts val="1680"/>
              </a:spcBef>
              <a:buChar char="-"/>
              <a:tabLst>
                <a:tab pos="563245" algn="l"/>
              </a:tabLst>
            </a:pPr>
            <a:r>
              <a:rPr lang="fr-FR" sz="1600" spc="-10" dirty="0">
                <a:solidFill>
                  <a:srgbClr val="585858"/>
                </a:solidFill>
                <a:latin typeface="Calibri"/>
                <a:cs typeface="Calibri"/>
              </a:rPr>
              <a:t>I</a:t>
            </a:r>
            <a:r>
              <a:rPr sz="1600" spc="-10" dirty="0" err="1" smtClean="0">
                <a:solidFill>
                  <a:srgbClr val="585858"/>
                </a:solidFill>
                <a:latin typeface="Calibri"/>
                <a:cs typeface="Calibri"/>
              </a:rPr>
              <a:t>nformations</a:t>
            </a:r>
            <a:r>
              <a:rPr sz="1600" dirty="0" smtClean="0">
                <a:solidFill>
                  <a:srgbClr val="585858"/>
                </a:solidFill>
                <a:latin typeface="Calibri"/>
                <a:cs typeface="Calibri"/>
              </a:rPr>
              <a:t> </a:t>
            </a:r>
            <a:r>
              <a:rPr sz="1600" dirty="0">
                <a:solidFill>
                  <a:srgbClr val="585858"/>
                </a:solidFill>
                <a:latin typeface="Calibri"/>
                <a:cs typeface="Calibri"/>
              </a:rPr>
              <a:t>sur</a:t>
            </a:r>
            <a:r>
              <a:rPr sz="1600" spc="-50" dirty="0">
                <a:solidFill>
                  <a:srgbClr val="585858"/>
                </a:solidFill>
                <a:latin typeface="Calibri"/>
                <a:cs typeface="Calibri"/>
              </a:rPr>
              <a:t> </a:t>
            </a:r>
            <a:r>
              <a:rPr sz="1600" dirty="0">
                <a:solidFill>
                  <a:srgbClr val="585858"/>
                </a:solidFill>
                <a:latin typeface="Calibri"/>
                <a:cs typeface="Calibri"/>
              </a:rPr>
              <a:t>la</a:t>
            </a:r>
            <a:r>
              <a:rPr sz="1600" spc="-40" dirty="0">
                <a:solidFill>
                  <a:srgbClr val="585858"/>
                </a:solidFill>
                <a:latin typeface="Calibri"/>
                <a:cs typeface="Calibri"/>
              </a:rPr>
              <a:t> </a:t>
            </a:r>
            <a:r>
              <a:rPr sz="1600" spc="-10" dirty="0">
                <a:solidFill>
                  <a:srgbClr val="585858"/>
                </a:solidFill>
                <a:latin typeface="Calibri"/>
                <a:cs typeface="Calibri"/>
              </a:rPr>
              <a:t>gestion</a:t>
            </a:r>
            <a:r>
              <a:rPr sz="1600" spc="-30" dirty="0">
                <a:solidFill>
                  <a:srgbClr val="585858"/>
                </a:solidFill>
                <a:latin typeface="Calibri"/>
                <a:cs typeface="Calibri"/>
              </a:rPr>
              <a:t> </a:t>
            </a:r>
            <a:r>
              <a:rPr sz="1600" dirty="0" err="1">
                <a:solidFill>
                  <a:srgbClr val="585858"/>
                </a:solidFill>
                <a:latin typeface="Calibri"/>
                <a:cs typeface="Calibri"/>
              </a:rPr>
              <a:t>mémoire</a:t>
            </a:r>
            <a:r>
              <a:rPr sz="1600" spc="-20" dirty="0">
                <a:solidFill>
                  <a:srgbClr val="585858"/>
                </a:solidFill>
                <a:latin typeface="Calibri"/>
                <a:cs typeface="Calibri"/>
              </a:rPr>
              <a:t> </a:t>
            </a:r>
            <a:r>
              <a:rPr sz="1600" spc="-50" dirty="0" smtClean="0">
                <a:solidFill>
                  <a:srgbClr val="585858"/>
                </a:solidFill>
                <a:latin typeface="Calibri"/>
                <a:cs typeface="Calibri"/>
              </a:rPr>
              <a:t>;</a:t>
            </a:r>
            <a:endParaRPr lang="fr-FR" sz="1600" spc="-50" dirty="0" smtClean="0">
              <a:solidFill>
                <a:srgbClr val="585858"/>
              </a:solidFill>
              <a:latin typeface="Calibri"/>
              <a:cs typeface="Calibri"/>
            </a:endParaRPr>
          </a:p>
          <a:p>
            <a:pPr marL="563245" indent="-93345">
              <a:lnSpc>
                <a:spcPct val="100000"/>
              </a:lnSpc>
              <a:spcBef>
                <a:spcPts val="1680"/>
              </a:spcBef>
              <a:buChar char="-"/>
              <a:tabLst>
                <a:tab pos="563245" algn="l"/>
              </a:tabLst>
            </a:pPr>
            <a:r>
              <a:rPr lang="fr-FR" sz="1600" spc="-40" dirty="0" smtClean="0">
                <a:solidFill>
                  <a:srgbClr val="585858"/>
                </a:solidFill>
                <a:latin typeface="Calibri"/>
                <a:cs typeface="Calibri"/>
              </a:rPr>
              <a:t> </a:t>
            </a:r>
            <a:r>
              <a:rPr lang="fr-FR" sz="1600" spc="-10" dirty="0">
                <a:solidFill>
                  <a:srgbClr val="585858"/>
                </a:solidFill>
                <a:latin typeface="Calibri"/>
                <a:cs typeface="Calibri"/>
              </a:rPr>
              <a:t>I</a:t>
            </a:r>
            <a:r>
              <a:rPr lang="fr-FR" sz="1600" spc="-10" dirty="0" smtClean="0">
                <a:solidFill>
                  <a:srgbClr val="585858"/>
                </a:solidFill>
                <a:latin typeface="Calibri"/>
                <a:cs typeface="Calibri"/>
              </a:rPr>
              <a:t>nformations</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sur</a:t>
            </a:r>
            <a:r>
              <a:rPr lang="fr-FR" sz="1600" spc="-35" dirty="0" smtClean="0">
                <a:solidFill>
                  <a:srgbClr val="585858"/>
                </a:solidFill>
                <a:latin typeface="Calibri"/>
                <a:cs typeface="Calibri"/>
              </a:rPr>
              <a:t> </a:t>
            </a:r>
            <a:r>
              <a:rPr lang="fr-FR" sz="1600" spc="-25" dirty="0" smtClean="0">
                <a:solidFill>
                  <a:srgbClr val="585858"/>
                </a:solidFill>
                <a:latin typeface="Calibri"/>
                <a:cs typeface="Calibri"/>
              </a:rPr>
              <a:t>l’état</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des</a:t>
            </a:r>
            <a:r>
              <a:rPr lang="fr-FR" sz="1600" spc="-15" dirty="0" smtClean="0">
                <a:solidFill>
                  <a:srgbClr val="585858"/>
                </a:solidFill>
                <a:latin typeface="Calibri"/>
                <a:cs typeface="Calibri"/>
              </a:rPr>
              <a:t> </a:t>
            </a:r>
            <a:r>
              <a:rPr lang="fr-FR" sz="1600" spc="-20" dirty="0" smtClean="0">
                <a:solidFill>
                  <a:srgbClr val="585858"/>
                </a:solidFill>
                <a:latin typeface="Calibri"/>
                <a:cs typeface="Calibri"/>
              </a:rPr>
              <a:t>E/S</a:t>
            </a:r>
            <a:endParaRPr sz="1600" dirty="0">
              <a:latin typeface="Calibri"/>
              <a:cs typeface="Calibri"/>
            </a:endParaRPr>
          </a:p>
          <a:p>
            <a:pPr marL="563245" indent="-93345">
              <a:lnSpc>
                <a:spcPct val="100000"/>
              </a:lnSpc>
              <a:spcBef>
                <a:spcPts val="1685"/>
              </a:spcBef>
              <a:buChar char="-"/>
              <a:tabLst>
                <a:tab pos="563245" algn="l"/>
              </a:tabLst>
            </a:pPr>
            <a:r>
              <a:rPr lang="fr-FR" sz="1600" spc="-10" dirty="0">
                <a:solidFill>
                  <a:srgbClr val="585858"/>
                </a:solidFill>
                <a:latin typeface="Calibri"/>
                <a:cs typeface="Calibri"/>
              </a:rPr>
              <a:t>I</a:t>
            </a:r>
            <a:r>
              <a:rPr sz="1600" spc="-10" dirty="0" err="1" smtClean="0">
                <a:solidFill>
                  <a:srgbClr val="585858"/>
                </a:solidFill>
                <a:latin typeface="Calibri"/>
                <a:cs typeface="Calibri"/>
              </a:rPr>
              <a:t>nformations</a:t>
            </a:r>
            <a:r>
              <a:rPr sz="1600" spc="-5" dirty="0" smtClean="0">
                <a:solidFill>
                  <a:srgbClr val="585858"/>
                </a:solidFill>
                <a:latin typeface="Calibri"/>
                <a:cs typeface="Calibri"/>
              </a:rPr>
              <a:t> </a:t>
            </a:r>
            <a:r>
              <a:rPr sz="1600" dirty="0">
                <a:solidFill>
                  <a:srgbClr val="585858"/>
                </a:solidFill>
                <a:latin typeface="Calibri"/>
                <a:cs typeface="Calibri"/>
              </a:rPr>
              <a:t>de</a:t>
            </a:r>
            <a:r>
              <a:rPr sz="1600" spc="-45" dirty="0">
                <a:solidFill>
                  <a:srgbClr val="585858"/>
                </a:solidFill>
                <a:latin typeface="Calibri"/>
                <a:cs typeface="Calibri"/>
              </a:rPr>
              <a:t> </a:t>
            </a:r>
            <a:r>
              <a:rPr sz="1600" spc="-10" dirty="0">
                <a:solidFill>
                  <a:srgbClr val="585858"/>
                </a:solidFill>
                <a:latin typeface="Calibri"/>
                <a:cs typeface="Calibri"/>
              </a:rPr>
              <a:t>comptabilisation</a:t>
            </a:r>
            <a:r>
              <a:rPr sz="1600" spc="25" dirty="0">
                <a:solidFill>
                  <a:srgbClr val="585858"/>
                </a:solidFill>
                <a:latin typeface="Calibri"/>
                <a:cs typeface="Calibri"/>
              </a:rPr>
              <a:t> </a:t>
            </a:r>
            <a:r>
              <a:rPr sz="1600" spc="-50" dirty="0">
                <a:solidFill>
                  <a:srgbClr val="585858"/>
                </a:solidFill>
                <a:latin typeface="Calibri"/>
                <a:cs typeface="Calibri"/>
              </a:rPr>
              <a:t>;</a:t>
            </a:r>
            <a:endParaRPr sz="1600" dirty="0">
              <a:latin typeface="Calibri"/>
              <a:cs typeface="Calibri"/>
            </a:endParaRPr>
          </a:p>
        </p:txBody>
      </p:sp>
      <p:sp>
        <p:nvSpPr>
          <p:cNvPr id="13" name="object 13"/>
          <p:cNvSpPr txBox="1">
            <a:spLocks noGrp="1"/>
          </p:cNvSpPr>
          <p:nvPr>
            <p:ph type="title"/>
          </p:nvPr>
        </p:nvSpPr>
        <p:spPr>
          <a:xfrm>
            <a:off x="263753" y="332308"/>
            <a:ext cx="11664492" cy="702808"/>
          </a:xfrm>
          <a:prstGeom prst="rect">
            <a:avLst/>
          </a:prstGeom>
        </p:spPr>
        <p:txBody>
          <a:bodyPr vert="horz" wrap="square" lIns="0" tIns="147371" rIns="0" bIns="0" rtlCol="0">
            <a:spAutoFit/>
          </a:bodyPr>
          <a:lstStyle/>
          <a:p>
            <a:pPr marL="12700">
              <a:lnSpc>
                <a:spcPct val="100000"/>
              </a:lnSpc>
              <a:spcBef>
                <a:spcPts val="90"/>
              </a:spcBef>
            </a:pPr>
            <a:r>
              <a:rPr lang="fr-FR" dirty="0">
                <a:solidFill>
                  <a:srgbClr val="007842"/>
                </a:solidFill>
              </a:rPr>
              <a:t>04</a:t>
            </a:r>
            <a:r>
              <a:rPr lang="fr-FR" spc="-35" dirty="0">
                <a:solidFill>
                  <a:srgbClr val="007842"/>
                </a:solidFill>
              </a:rPr>
              <a:t> </a:t>
            </a:r>
            <a:r>
              <a:rPr lang="fr-FR" dirty="0">
                <a:solidFill>
                  <a:srgbClr val="007842"/>
                </a:solidFill>
              </a:rPr>
              <a:t>–</a:t>
            </a:r>
            <a:r>
              <a:rPr lang="fr-FR" spc="-20" dirty="0">
                <a:solidFill>
                  <a:srgbClr val="007842"/>
                </a:solidFill>
              </a:rPr>
              <a:t> </a:t>
            </a:r>
            <a:r>
              <a:rPr lang="fr-FR" dirty="0">
                <a:solidFill>
                  <a:srgbClr val="007842"/>
                </a:solidFill>
              </a:rPr>
              <a:t>Gestion des processus </a:t>
            </a:r>
            <a:br>
              <a:rPr lang="fr-FR" dirty="0">
                <a:solidFill>
                  <a:srgbClr val="007842"/>
                </a:solidFill>
              </a:rPr>
            </a:br>
            <a:r>
              <a:rPr lang="fr-FR" sz="1600" dirty="0" smtClean="0">
                <a:solidFill>
                  <a:srgbClr val="007842"/>
                </a:solidFill>
              </a:rPr>
              <a:t>Bloc de contrôle de processus</a:t>
            </a:r>
            <a:endParaRPr sz="1600" dirty="0"/>
          </a:p>
        </p:txBody>
      </p:sp>
      <p:graphicFrame>
        <p:nvGraphicFramePr>
          <p:cNvPr id="14" name="object 14"/>
          <p:cNvGraphicFramePr>
            <a:graphicFrameLocks noGrp="1"/>
          </p:cNvGraphicFramePr>
          <p:nvPr>
            <p:extLst>
              <p:ext uri="{D42A27DB-BD31-4B8C-83A1-F6EECF244321}">
                <p14:modId xmlns:p14="http://schemas.microsoft.com/office/powerpoint/2010/main" val="3169520343"/>
              </p:ext>
            </p:extLst>
          </p:nvPr>
        </p:nvGraphicFramePr>
        <p:xfrm>
          <a:off x="7840903" y="2847031"/>
          <a:ext cx="2985770" cy="2593340"/>
        </p:xfrm>
        <a:graphic>
          <a:graphicData uri="http://schemas.openxmlformats.org/drawingml/2006/table">
            <a:tbl>
              <a:tblPr firstRow="1" bandRow="1">
                <a:tableStyleId>{2D5ABB26-0587-4C30-8999-92F81FD0307C}</a:tableStyleId>
              </a:tblPr>
              <a:tblGrid>
                <a:gridCol w="2985770">
                  <a:extLst>
                    <a:ext uri="{9D8B030D-6E8A-4147-A177-3AD203B41FA5}">
                      <a16:colId xmlns:a16="http://schemas.microsoft.com/office/drawing/2014/main" val="20000"/>
                    </a:ext>
                  </a:extLst>
                </a:gridCol>
              </a:tblGrid>
              <a:tr h="370840">
                <a:tc>
                  <a:txBody>
                    <a:bodyPr/>
                    <a:lstStyle/>
                    <a:p>
                      <a:pPr algn="ctr">
                        <a:lnSpc>
                          <a:spcPct val="100000"/>
                        </a:lnSpc>
                        <a:spcBef>
                          <a:spcPts val="290"/>
                        </a:spcBef>
                      </a:pPr>
                      <a:r>
                        <a:rPr sz="1400" spc="-10" dirty="0">
                          <a:latin typeface="Calibri"/>
                          <a:cs typeface="Calibri"/>
                        </a:rPr>
                        <a:t>Identificateur</a:t>
                      </a:r>
                      <a:r>
                        <a:rPr sz="1400" spc="35" dirty="0">
                          <a:latin typeface="Calibri"/>
                          <a:cs typeface="Calibri"/>
                        </a:rPr>
                        <a:t> </a:t>
                      </a:r>
                      <a:r>
                        <a:rPr sz="1400" dirty="0">
                          <a:latin typeface="Calibri"/>
                          <a:cs typeface="Calibri"/>
                        </a:rPr>
                        <a:t>de</a:t>
                      </a:r>
                      <a:r>
                        <a:rPr sz="1400" spc="-35" dirty="0">
                          <a:latin typeface="Calibri"/>
                          <a:cs typeface="Calibri"/>
                        </a:rPr>
                        <a:t> </a:t>
                      </a:r>
                      <a:r>
                        <a:rPr sz="1400" spc="-10" dirty="0">
                          <a:latin typeface="Calibri"/>
                          <a:cs typeface="Calibri"/>
                        </a:rPr>
                        <a:t>processus</a:t>
                      </a:r>
                      <a:endParaRPr sz="1400">
                        <a:latin typeface="Calibri"/>
                        <a:cs typeface="Calibri"/>
                      </a:endParaRPr>
                    </a:p>
                  </a:txBody>
                  <a:tcPr marL="0" marR="0" marT="368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205">
                <a:tc>
                  <a:txBody>
                    <a:bodyPr/>
                    <a:lstStyle/>
                    <a:p>
                      <a:pPr marL="1270" algn="ctr">
                        <a:lnSpc>
                          <a:spcPct val="100000"/>
                        </a:lnSpc>
                        <a:spcBef>
                          <a:spcPts val="290"/>
                        </a:spcBef>
                      </a:pPr>
                      <a:r>
                        <a:rPr sz="1400" spc="-10" dirty="0">
                          <a:latin typeface="Calibri"/>
                          <a:cs typeface="Calibri"/>
                        </a:rPr>
                        <a:t>Etat</a:t>
                      </a:r>
                      <a:r>
                        <a:rPr sz="1400" spc="-15" dirty="0">
                          <a:latin typeface="Calibri"/>
                          <a:cs typeface="Calibri"/>
                        </a:rPr>
                        <a:t> </a:t>
                      </a:r>
                      <a:r>
                        <a:rPr sz="1400" dirty="0">
                          <a:latin typeface="Calibri"/>
                          <a:cs typeface="Calibri"/>
                        </a:rPr>
                        <a:t>du</a:t>
                      </a:r>
                      <a:r>
                        <a:rPr sz="1400" spc="-30" dirty="0">
                          <a:latin typeface="Calibri"/>
                          <a:cs typeface="Calibri"/>
                        </a:rPr>
                        <a:t> </a:t>
                      </a:r>
                      <a:r>
                        <a:rPr sz="1400" spc="-10" dirty="0">
                          <a:latin typeface="Calibri"/>
                          <a:cs typeface="Calibri"/>
                        </a:rPr>
                        <a:t>processus</a:t>
                      </a:r>
                      <a:endParaRPr sz="1400">
                        <a:latin typeface="Calibri"/>
                        <a:cs typeface="Calibri"/>
                      </a:endParaRPr>
                    </a:p>
                  </a:txBody>
                  <a:tcPr marL="0" marR="0" marT="368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205">
                <a:tc>
                  <a:txBody>
                    <a:bodyPr/>
                    <a:lstStyle/>
                    <a:p>
                      <a:pPr marL="3175" algn="ctr">
                        <a:lnSpc>
                          <a:spcPct val="100000"/>
                        </a:lnSpc>
                        <a:spcBef>
                          <a:spcPts val="290"/>
                        </a:spcBef>
                      </a:pPr>
                      <a:r>
                        <a:rPr sz="1400" spc="-10" dirty="0">
                          <a:latin typeface="Calibri"/>
                          <a:cs typeface="Calibri"/>
                        </a:rPr>
                        <a:t>Compteur</a:t>
                      </a:r>
                      <a:r>
                        <a:rPr sz="1400" spc="5" dirty="0">
                          <a:latin typeface="Calibri"/>
                          <a:cs typeface="Calibri"/>
                        </a:rPr>
                        <a:t> </a:t>
                      </a:r>
                      <a:r>
                        <a:rPr sz="1400" spc="-10" dirty="0">
                          <a:latin typeface="Calibri"/>
                          <a:cs typeface="Calibri"/>
                        </a:rPr>
                        <a:t>ordinal</a:t>
                      </a:r>
                      <a:endParaRPr sz="1400">
                        <a:latin typeface="Calibri"/>
                        <a:cs typeface="Calibri"/>
                      </a:endParaRPr>
                    </a:p>
                  </a:txBody>
                  <a:tcPr marL="0" marR="0" marT="368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0205">
                <a:tc>
                  <a:txBody>
                    <a:bodyPr/>
                    <a:lstStyle/>
                    <a:p>
                      <a:pPr algn="ctr">
                        <a:lnSpc>
                          <a:spcPct val="100000"/>
                        </a:lnSpc>
                        <a:spcBef>
                          <a:spcPts val="295"/>
                        </a:spcBef>
                      </a:pPr>
                      <a:r>
                        <a:rPr sz="1400" spc="-10" dirty="0">
                          <a:latin typeface="Calibri"/>
                          <a:cs typeface="Calibri"/>
                        </a:rPr>
                        <a:t>Contexte</a:t>
                      </a:r>
                      <a:r>
                        <a:rPr sz="1400" spc="10" dirty="0">
                          <a:latin typeface="Calibri"/>
                          <a:cs typeface="Calibri"/>
                        </a:rPr>
                        <a:t> </a:t>
                      </a:r>
                      <a:r>
                        <a:rPr sz="1400" spc="-10" dirty="0">
                          <a:latin typeface="Calibri"/>
                          <a:cs typeface="Calibri"/>
                        </a:rPr>
                        <a:t>(Registre,</a:t>
                      </a:r>
                      <a:r>
                        <a:rPr sz="1400" spc="-30" dirty="0">
                          <a:latin typeface="Calibri"/>
                          <a:cs typeface="Calibri"/>
                        </a:rPr>
                        <a:t> </a:t>
                      </a:r>
                      <a:r>
                        <a:rPr sz="1400" spc="-10" dirty="0">
                          <a:latin typeface="Calibri"/>
                          <a:cs typeface="Calibri"/>
                        </a:rPr>
                        <a:t>pointeur</a:t>
                      </a:r>
                      <a:r>
                        <a:rPr sz="1400" spc="-15" dirty="0">
                          <a:latin typeface="Calibri"/>
                          <a:cs typeface="Calibri"/>
                        </a:rPr>
                        <a:t> </a:t>
                      </a:r>
                      <a:r>
                        <a:rPr sz="1400" spc="-10" dirty="0">
                          <a:latin typeface="Calibri"/>
                          <a:cs typeface="Calibri"/>
                        </a:rPr>
                        <a:t>pile..)</a:t>
                      </a:r>
                      <a:endParaRPr sz="1400" dirty="0">
                        <a:latin typeface="Calibri"/>
                        <a:cs typeface="Calibri"/>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70840">
                <a:tc>
                  <a:txBody>
                    <a:bodyPr/>
                    <a:lstStyle/>
                    <a:p>
                      <a:pPr algn="ctr">
                        <a:lnSpc>
                          <a:spcPct val="100000"/>
                        </a:lnSpc>
                        <a:spcBef>
                          <a:spcPts val="295"/>
                        </a:spcBef>
                      </a:pPr>
                      <a:r>
                        <a:rPr sz="1400" spc="-10" dirty="0">
                          <a:latin typeface="Calibri"/>
                          <a:cs typeface="Calibri"/>
                        </a:rPr>
                        <a:t>Informations </a:t>
                      </a:r>
                      <a:r>
                        <a:rPr sz="1400" dirty="0">
                          <a:latin typeface="Calibri"/>
                          <a:cs typeface="Calibri"/>
                        </a:rPr>
                        <a:t>sur</a:t>
                      </a:r>
                      <a:r>
                        <a:rPr sz="1400" spc="-35" dirty="0">
                          <a:latin typeface="Calibri"/>
                          <a:cs typeface="Calibri"/>
                        </a:rPr>
                        <a:t> </a:t>
                      </a:r>
                      <a:r>
                        <a:rPr sz="1400" spc="-10" dirty="0">
                          <a:latin typeface="Calibri"/>
                          <a:cs typeface="Calibri"/>
                        </a:rPr>
                        <a:t>l’ordonnancement</a:t>
                      </a:r>
                      <a:endParaRPr sz="1400">
                        <a:latin typeface="Calibri"/>
                        <a:cs typeface="Calibri"/>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70205">
                <a:tc>
                  <a:txBody>
                    <a:bodyPr/>
                    <a:lstStyle/>
                    <a:p>
                      <a:pPr algn="ctr">
                        <a:lnSpc>
                          <a:spcPct val="100000"/>
                        </a:lnSpc>
                        <a:spcBef>
                          <a:spcPts val="295"/>
                        </a:spcBef>
                      </a:pPr>
                      <a:r>
                        <a:rPr sz="1400" spc="-10" dirty="0">
                          <a:latin typeface="Calibri"/>
                          <a:cs typeface="Calibri"/>
                        </a:rPr>
                        <a:t>Informations</a:t>
                      </a:r>
                      <a:r>
                        <a:rPr sz="1400" spc="-25" dirty="0">
                          <a:latin typeface="Calibri"/>
                          <a:cs typeface="Calibri"/>
                        </a:rPr>
                        <a:t> </a:t>
                      </a:r>
                      <a:r>
                        <a:rPr sz="1400" spc="-10" dirty="0">
                          <a:latin typeface="Calibri"/>
                          <a:cs typeface="Calibri"/>
                        </a:rPr>
                        <a:t>mémoire</a:t>
                      </a:r>
                      <a:endParaRPr sz="1400">
                        <a:latin typeface="Calibri"/>
                        <a:cs typeface="Calibri"/>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370840">
                <a:tc>
                  <a:txBody>
                    <a:bodyPr/>
                    <a:lstStyle/>
                    <a:p>
                      <a:pPr algn="ctr">
                        <a:lnSpc>
                          <a:spcPct val="100000"/>
                        </a:lnSpc>
                        <a:spcBef>
                          <a:spcPts val="295"/>
                        </a:spcBef>
                      </a:pPr>
                      <a:r>
                        <a:rPr sz="1400" spc="-10" dirty="0">
                          <a:latin typeface="Calibri"/>
                          <a:cs typeface="Calibri"/>
                        </a:rPr>
                        <a:t>Informations </a:t>
                      </a:r>
                      <a:r>
                        <a:rPr sz="1400" dirty="0">
                          <a:latin typeface="Calibri"/>
                          <a:cs typeface="Calibri"/>
                        </a:rPr>
                        <a:t>sur</a:t>
                      </a:r>
                      <a:r>
                        <a:rPr sz="1400" spc="-35" dirty="0">
                          <a:latin typeface="Calibri"/>
                          <a:cs typeface="Calibri"/>
                        </a:rPr>
                        <a:t> </a:t>
                      </a:r>
                      <a:r>
                        <a:rPr sz="1400" dirty="0">
                          <a:latin typeface="Calibri"/>
                          <a:cs typeface="Calibri"/>
                        </a:rPr>
                        <a:t>les</a:t>
                      </a:r>
                      <a:r>
                        <a:rPr sz="1400" spc="-20" dirty="0">
                          <a:latin typeface="Calibri"/>
                          <a:cs typeface="Calibri"/>
                        </a:rPr>
                        <a:t> </a:t>
                      </a:r>
                      <a:r>
                        <a:rPr sz="1400" spc="-25" dirty="0">
                          <a:latin typeface="Calibri"/>
                          <a:cs typeface="Calibri"/>
                        </a:rPr>
                        <a:t>E/S</a:t>
                      </a:r>
                      <a:endParaRPr sz="1400" dirty="0">
                        <a:latin typeface="Calibri"/>
                        <a:cs typeface="Calibri"/>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bl>
          </a:graphicData>
        </a:graphic>
      </p:graphicFrame>
      <p:sp>
        <p:nvSpPr>
          <p:cNvPr id="15" name="object 15"/>
          <p:cNvSpPr txBox="1"/>
          <p:nvPr/>
        </p:nvSpPr>
        <p:spPr>
          <a:xfrm>
            <a:off x="7809308" y="5518586"/>
            <a:ext cx="3339465" cy="197490"/>
          </a:xfrm>
          <a:prstGeom prst="rect">
            <a:avLst/>
          </a:prstGeom>
        </p:spPr>
        <p:txBody>
          <a:bodyPr vert="horz" wrap="square" lIns="0" tIns="12700" rIns="0" bIns="0" rtlCol="0">
            <a:spAutoFit/>
          </a:bodyPr>
          <a:lstStyle/>
          <a:p>
            <a:pPr marL="12700">
              <a:lnSpc>
                <a:spcPct val="100000"/>
              </a:lnSpc>
              <a:spcBef>
                <a:spcPts val="100"/>
              </a:spcBef>
            </a:pPr>
            <a:r>
              <a:rPr sz="1200" i="1" dirty="0">
                <a:solidFill>
                  <a:srgbClr val="A6A6A6"/>
                </a:solidFill>
                <a:latin typeface="Calibri"/>
                <a:cs typeface="Calibri"/>
              </a:rPr>
              <a:t>Figure</a:t>
            </a:r>
            <a:r>
              <a:rPr sz="1200" i="1" spc="-20" dirty="0">
                <a:solidFill>
                  <a:srgbClr val="A6A6A6"/>
                </a:solidFill>
                <a:latin typeface="Calibri"/>
                <a:cs typeface="Calibri"/>
              </a:rPr>
              <a:t> </a:t>
            </a:r>
            <a:r>
              <a:rPr sz="1200" i="1" dirty="0" smtClean="0">
                <a:solidFill>
                  <a:srgbClr val="A6A6A6"/>
                </a:solidFill>
                <a:latin typeface="Calibri"/>
                <a:cs typeface="Calibri"/>
              </a:rPr>
              <a:t>: </a:t>
            </a:r>
            <a:r>
              <a:rPr sz="1200" i="1" spc="-10" dirty="0">
                <a:solidFill>
                  <a:srgbClr val="A6A6A6"/>
                </a:solidFill>
                <a:latin typeface="Calibri"/>
                <a:cs typeface="Calibri"/>
              </a:rPr>
              <a:t>Structure</a:t>
            </a:r>
            <a:r>
              <a:rPr sz="1200" i="1" spc="-60" dirty="0">
                <a:solidFill>
                  <a:srgbClr val="A6A6A6"/>
                </a:solidFill>
                <a:latin typeface="Calibri"/>
                <a:cs typeface="Calibri"/>
              </a:rPr>
              <a:t> </a:t>
            </a:r>
            <a:r>
              <a:rPr sz="1200" i="1" spc="-10" dirty="0">
                <a:solidFill>
                  <a:srgbClr val="A6A6A6"/>
                </a:solidFill>
                <a:latin typeface="Calibri"/>
                <a:cs typeface="Calibri"/>
              </a:rPr>
              <a:t>d’un </a:t>
            </a:r>
            <a:r>
              <a:rPr sz="1200" i="1" dirty="0">
                <a:solidFill>
                  <a:srgbClr val="A6A6A6"/>
                </a:solidFill>
                <a:latin typeface="Calibri"/>
                <a:cs typeface="Calibri"/>
              </a:rPr>
              <a:t>Bloc</a:t>
            </a:r>
            <a:r>
              <a:rPr sz="1200" i="1" spc="-5" dirty="0">
                <a:solidFill>
                  <a:srgbClr val="A6A6A6"/>
                </a:solidFill>
                <a:latin typeface="Calibri"/>
                <a:cs typeface="Calibri"/>
              </a:rPr>
              <a:t> </a:t>
            </a:r>
            <a:r>
              <a:rPr sz="1200" i="1" dirty="0">
                <a:solidFill>
                  <a:srgbClr val="A6A6A6"/>
                </a:solidFill>
                <a:latin typeface="Calibri"/>
                <a:cs typeface="Calibri"/>
              </a:rPr>
              <a:t>de</a:t>
            </a:r>
            <a:r>
              <a:rPr sz="1200" i="1" spc="-10" dirty="0">
                <a:solidFill>
                  <a:srgbClr val="A6A6A6"/>
                </a:solidFill>
                <a:latin typeface="Calibri"/>
                <a:cs typeface="Calibri"/>
              </a:rPr>
              <a:t> </a:t>
            </a:r>
            <a:r>
              <a:rPr sz="1200" i="1" dirty="0">
                <a:solidFill>
                  <a:srgbClr val="A6A6A6"/>
                </a:solidFill>
                <a:latin typeface="Calibri"/>
                <a:cs typeface="Calibri"/>
              </a:rPr>
              <a:t>contrôle</a:t>
            </a:r>
            <a:r>
              <a:rPr sz="1200" i="1" spc="-30" dirty="0">
                <a:solidFill>
                  <a:srgbClr val="A6A6A6"/>
                </a:solidFill>
                <a:latin typeface="Calibri"/>
                <a:cs typeface="Calibri"/>
              </a:rPr>
              <a:t> </a:t>
            </a:r>
            <a:r>
              <a:rPr sz="1200" i="1" dirty="0">
                <a:solidFill>
                  <a:srgbClr val="A6A6A6"/>
                </a:solidFill>
                <a:latin typeface="Calibri"/>
                <a:cs typeface="Calibri"/>
              </a:rPr>
              <a:t>de</a:t>
            </a:r>
            <a:r>
              <a:rPr sz="1200" i="1" spc="-10" dirty="0">
                <a:solidFill>
                  <a:srgbClr val="A6A6A6"/>
                </a:solidFill>
                <a:latin typeface="Calibri"/>
                <a:cs typeface="Calibri"/>
              </a:rPr>
              <a:t> processus</a:t>
            </a:r>
            <a:endParaRPr sz="1200" dirty="0">
              <a:latin typeface="Calibri"/>
              <a:cs typeface="Calibri"/>
            </a:endParaRPr>
          </a:p>
        </p:txBody>
      </p:sp>
      <p:sp>
        <p:nvSpPr>
          <p:cNvPr id="16"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grpSp>
        <p:nvGrpSpPr>
          <p:cNvPr id="8" name="object 8"/>
          <p:cNvGrpSpPr/>
          <p:nvPr/>
        </p:nvGrpSpPr>
        <p:grpSpPr>
          <a:xfrm>
            <a:off x="1676400" y="2286000"/>
            <a:ext cx="8991600" cy="3581399"/>
            <a:chOff x="5955538" y="2880106"/>
            <a:chExt cx="5471795" cy="2442210"/>
          </a:xfrm>
        </p:grpSpPr>
        <p:pic>
          <p:nvPicPr>
            <p:cNvPr id="11" name="object 11"/>
            <p:cNvPicPr/>
            <p:nvPr/>
          </p:nvPicPr>
          <p:blipFill>
            <a:blip r:embed="rId4" cstate="print"/>
            <a:stretch>
              <a:fillRect/>
            </a:stretch>
          </p:blipFill>
          <p:spPr>
            <a:xfrm>
              <a:off x="5961888" y="2886456"/>
              <a:ext cx="5458968" cy="2429256"/>
            </a:xfrm>
            <a:prstGeom prst="rect">
              <a:avLst/>
            </a:prstGeom>
          </p:spPr>
        </p:pic>
        <p:sp>
          <p:nvSpPr>
            <p:cNvPr id="12" name="object 12"/>
            <p:cNvSpPr/>
            <p:nvPr/>
          </p:nvSpPr>
          <p:spPr>
            <a:xfrm>
              <a:off x="5955538" y="2880106"/>
              <a:ext cx="5471795" cy="2442210"/>
            </a:xfrm>
            <a:custGeom>
              <a:avLst/>
              <a:gdLst/>
              <a:ahLst/>
              <a:cxnLst/>
              <a:rect l="l" t="t" r="r" b="b"/>
              <a:pathLst>
                <a:path w="5471795" h="2442210">
                  <a:moveTo>
                    <a:pt x="0" y="2441956"/>
                  </a:moveTo>
                  <a:lnTo>
                    <a:pt x="5471668" y="2441956"/>
                  </a:lnTo>
                  <a:lnTo>
                    <a:pt x="5471668" y="0"/>
                  </a:lnTo>
                  <a:lnTo>
                    <a:pt x="0" y="0"/>
                  </a:lnTo>
                  <a:lnTo>
                    <a:pt x="0" y="2441956"/>
                  </a:lnTo>
                  <a:close/>
                </a:path>
              </a:pathLst>
            </a:custGeom>
            <a:ln w="12700">
              <a:solidFill>
                <a:srgbClr val="000000"/>
              </a:solidFill>
            </a:ln>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9</a:t>
            </a:fld>
            <a:endParaRPr spc="-25" dirty="0"/>
          </a:p>
        </p:txBody>
      </p:sp>
      <p:sp>
        <p:nvSpPr>
          <p:cNvPr id="14" name="object 14"/>
          <p:cNvSpPr txBox="1"/>
          <p:nvPr/>
        </p:nvSpPr>
        <p:spPr>
          <a:xfrm>
            <a:off x="748773" y="1734011"/>
            <a:ext cx="10678560" cy="961802"/>
          </a:xfrm>
          <a:prstGeom prst="rect">
            <a:avLst/>
          </a:prstGeom>
        </p:spPr>
        <p:txBody>
          <a:bodyPr vert="horz" wrap="square" lIns="0" tIns="12700" rIns="0" bIns="0" rtlCol="0">
            <a:spAutoFit/>
          </a:bodyPr>
          <a:lstStyle/>
          <a:p>
            <a:pPr marL="12700" marR="5080" algn="just" rtl="0">
              <a:lnSpc>
                <a:spcPct val="150100"/>
              </a:lnSpc>
              <a:spcBef>
                <a:spcPts val="100"/>
              </a:spcBef>
            </a:pPr>
            <a:r>
              <a:rPr lang="fr-FR" sz="1600" dirty="0">
                <a:solidFill>
                  <a:srgbClr val="585858"/>
                </a:solidFill>
                <a:latin typeface="+mn-lt"/>
                <a:cs typeface="Calibri"/>
              </a:rPr>
              <a:t>Le</a:t>
            </a:r>
            <a:r>
              <a:rPr lang="fr-FR" sz="1600" spc="215" dirty="0">
                <a:solidFill>
                  <a:srgbClr val="585858"/>
                </a:solidFill>
                <a:latin typeface="+mn-lt"/>
                <a:cs typeface="Calibri"/>
              </a:rPr>
              <a:t> </a:t>
            </a:r>
            <a:r>
              <a:rPr lang="fr-FR" sz="1600" dirty="0">
                <a:solidFill>
                  <a:srgbClr val="585858"/>
                </a:solidFill>
                <a:latin typeface="+mn-lt"/>
                <a:cs typeface="Calibri"/>
              </a:rPr>
              <a:t>SE</a:t>
            </a:r>
            <a:r>
              <a:rPr lang="fr-FR" sz="1600" spc="210" dirty="0">
                <a:solidFill>
                  <a:srgbClr val="585858"/>
                </a:solidFill>
                <a:latin typeface="+mn-lt"/>
                <a:cs typeface="Calibri"/>
              </a:rPr>
              <a:t>  </a:t>
            </a:r>
            <a:r>
              <a:rPr lang="fr-FR" sz="1600" dirty="0">
                <a:solidFill>
                  <a:srgbClr val="585858"/>
                </a:solidFill>
                <a:latin typeface="+mn-lt"/>
                <a:cs typeface="Calibri"/>
              </a:rPr>
              <a:t>s’occupe</a:t>
            </a:r>
            <a:r>
              <a:rPr lang="fr-FR" sz="1600" spc="225" dirty="0">
                <a:solidFill>
                  <a:srgbClr val="585858"/>
                </a:solidFill>
                <a:latin typeface="+mn-lt"/>
                <a:cs typeface="Calibri"/>
              </a:rPr>
              <a:t> </a:t>
            </a:r>
            <a:r>
              <a:rPr lang="fr-FR" sz="1600" spc="-25" dirty="0">
                <a:solidFill>
                  <a:srgbClr val="585858"/>
                </a:solidFill>
                <a:latin typeface="+mn-lt"/>
                <a:cs typeface="Calibri"/>
              </a:rPr>
              <a:t>de </a:t>
            </a:r>
            <a:r>
              <a:rPr lang="fr-FR" sz="1600" dirty="0">
                <a:solidFill>
                  <a:srgbClr val="585858"/>
                </a:solidFill>
                <a:latin typeface="+mn-lt"/>
                <a:cs typeface="Calibri"/>
              </a:rPr>
              <a:t>sauvegarder</a:t>
            </a:r>
            <a:r>
              <a:rPr lang="fr-FR" sz="1600" spc="10" dirty="0">
                <a:solidFill>
                  <a:srgbClr val="585858"/>
                </a:solidFill>
                <a:latin typeface="+mn-lt"/>
                <a:cs typeface="Calibri"/>
              </a:rPr>
              <a:t> </a:t>
            </a:r>
            <a:r>
              <a:rPr lang="fr-FR" sz="1600" dirty="0">
                <a:solidFill>
                  <a:srgbClr val="585858"/>
                </a:solidFill>
                <a:latin typeface="+mn-lt"/>
                <a:cs typeface="Calibri"/>
              </a:rPr>
              <a:t>et</a:t>
            </a:r>
            <a:r>
              <a:rPr lang="fr-FR" sz="1600" spc="25" dirty="0">
                <a:solidFill>
                  <a:srgbClr val="585858"/>
                </a:solidFill>
                <a:latin typeface="+mn-lt"/>
                <a:cs typeface="Calibri"/>
              </a:rPr>
              <a:t> </a:t>
            </a:r>
            <a:r>
              <a:rPr lang="fr-FR" sz="1600" dirty="0">
                <a:solidFill>
                  <a:srgbClr val="585858"/>
                </a:solidFill>
                <a:latin typeface="+mn-lt"/>
                <a:cs typeface="Calibri"/>
              </a:rPr>
              <a:t>de</a:t>
            </a:r>
            <a:r>
              <a:rPr lang="fr-FR" sz="1600" spc="15" dirty="0">
                <a:solidFill>
                  <a:srgbClr val="585858"/>
                </a:solidFill>
                <a:latin typeface="+mn-lt"/>
                <a:cs typeface="Calibri"/>
              </a:rPr>
              <a:t> </a:t>
            </a:r>
            <a:r>
              <a:rPr lang="fr-FR" sz="1600" dirty="0">
                <a:solidFill>
                  <a:srgbClr val="585858"/>
                </a:solidFill>
                <a:latin typeface="+mn-lt"/>
                <a:cs typeface="Calibri"/>
              </a:rPr>
              <a:t>recharger</a:t>
            </a:r>
            <a:r>
              <a:rPr lang="fr-FR" sz="1600" spc="10" dirty="0">
                <a:solidFill>
                  <a:srgbClr val="585858"/>
                </a:solidFill>
                <a:latin typeface="+mn-lt"/>
                <a:cs typeface="Calibri"/>
              </a:rPr>
              <a:t> </a:t>
            </a:r>
            <a:r>
              <a:rPr lang="fr-FR" sz="1600" dirty="0">
                <a:solidFill>
                  <a:srgbClr val="585858"/>
                </a:solidFill>
                <a:latin typeface="+mn-lt"/>
                <a:cs typeface="Calibri"/>
              </a:rPr>
              <a:t>de</a:t>
            </a:r>
            <a:r>
              <a:rPr lang="fr-FR" sz="1600" spc="20" dirty="0">
                <a:solidFill>
                  <a:srgbClr val="585858"/>
                </a:solidFill>
                <a:latin typeface="+mn-lt"/>
                <a:cs typeface="Calibri"/>
              </a:rPr>
              <a:t> </a:t>
            </a:r>
            <a:r>
              <a:rPr lang="fr-FR" sz="1600" dirty="0">
                <a:solidFill>
                  <a:srgbClr val="585858"/>
                </a:solidFill>
                <a:latin typeface="+mn-lt"/>
                <a:cs typeface="Calibri"/>
              </a:rPr>
              <a:t>l’état</a:t>
            </a:r>
            <a:r>
              <a:rPr lang="fr-FR" sz="1600" spc="20" dirty="0">
                <a:solidFill>
                  <a:srgbClr val="585858"/>
                </a:solidFill>
                <a:latin typeface="+mn-lt"/>
                <a:cs typeface="Calibri"/>
              </a:rPr>
              <a:t> </a:t>
            </a:r>
            <a:r>
              <a:rPr lang="fr-FR" sz="1600" dirty="0">
                <a:solidFill>
                  <a:srgbClr val="585858"/>
                </a:solidFill>
                <a:latin typeface="+mn-lt"/>
                <a:cs typeface="Calibri"/>
              </a:rPr>
              <a:t>des</a:t>
            </a:r>
            <a:r>
              <a:rPr lang="fr-FR" sz="1600" spc="30" dirty="0">
                <a:solidFill>
                  <a:srgbClr val="585858"/>
                </a:solidFill>
                <a:latin typeface="+mn-lt"/>
                <a:cs typeface="Calibri"/>
              </a:rPr>
              <a:t> </a:t>
            </a:r>
            <a:r>
              <a:rPr lang="fr-FR" sz="1600" dirty="0">
                <a:solidFill>
                  <a:srgbClr val="585858"/>
                </a:solidFill>
                <a:latin typeface="+mn-lt"/>
                <a:cs typeface="Calibri"/>
              </a:rPr>
              <a:t>processus</a:t>
            </a:r>
            <a:r>
              <a:rPr lang="fr-FR" sz="1600" spc="30" dirty="0">
                <a:solidFill>
                  <a:srgbClr val="585858"/>
                </a:solidFill>
                <a:latin typeface="+mn-lt"/>
                <a:cs typeface="Calibri"/>
              </a:rPr>
              <a:t> </a:t>
            </a:r>
            <a:r>
              <a:rPr lang="fr-FR" sz="1600" dirty="0">
                <a:solidFill>
                  <a:srgbClr val="585858"/>
                </a:solidFill>
                <a:latin typeface="+mn-lt"/>
                <a:cs typeface="Calibri"/>
              </a:rPr>
              <a:t>ainsi</a:t>
            </a:r>
            <a:r>
              <a:rPr lang="fr-FR" sz="1600" spc="5" dirty="0">
                <a:solidFill>
                  <a:srgbClr val="585858"/>
                </a:solidFill>
                <a:latin typeface="+mn-lt"/>
                <a:cs typeface="Calibri"/>
              </a:rPr>
              <a:t> </a:t>
            </a:r>
            <a:r>
              <a:rPr lang="fr-FR" sz="1600" dirty="0">
                <a:solidFill>
                  <a:srgbClr val="585858"/>
                </a:solidFill>
                <a:latin typeface="+mn-lt"/>
                <a:cs typeface="Calibri"/>
              </a:rPr>
              <a:t>que</a:t>
            </a:r>
            <a:r>
              <a:rPr lang="fr-FR" sz="1600" spc="20" dirty="0">
                <a:solidFill>
                  <a:srgbClr val="585858"/>
                </a:solidFill>
                <a:latin typeface="+mn-lt"/>
                <a:cs typeface="Calibri"/>
              </a:rPr>
              <a:t> </a:t>
            </a:r>
            <a:r>
              <a:rPr lang="fr-FR" sz="1600" dirty="0">
                <a:solidFill>
                  <a:srgbClr val="585858"/>
                </a:solidFill>
                <a:latin typeface="+mn-lt"/>
                <a:cs typeface="Calibri"/>
              </a:rPr>
              <a:t>de</a:t>
            </a:r>
            <a:r>
              <a:rPr lang="fr-FR" sz="1600" spc="40" dirty="0">
                <a:solidFill>
                  <a:srgbClr val="585858"/>
                </a:solidFill>
                <a:latin typeface="+mn-lt"/>
                <a:cs typeface="Calibri"/>
              </a:rPr>
              <a:t> </a:t>
            </a:r>
            <a:r>
              <a:rPr lang="fr-FR" sz="1600" spc="-10" dirty="0">
                <a:solidFill>
                  <a:srgbClr val="585858"/>
                </a:solidFill>
                <a:latin typeface="+mn-lt"/>
                <a:cs typeface="Calibri"/>
              </a:rPr>
              <a:t>l’allocation</a:t>
            </a:r>
            <a:r>
              <a:rPr lang="fr-FR" sz="1600" spc="15" dirty="0">
                <a:solidFill>
                  <a:srgbClr val="585858"/>
                </a:solidFill>
                <a:latin typeface="+mn-lt"/>
                <a:cs typeface="Calibri"/>
              </a:rPr>
              <a:t> </a:t>
            </a:r>
            <a:r>
              <a:rPr lang="fr-FR" sz="1600" spc="-25" dirty="0">
                <a:solidFill>
                  <a:srgbClr val="585858"/>
                </a:solidFill>
                <a:latin typeface="+mn-lt"/>
                <a:cs typeface="Calibri"/>
              </a:rPr>
              <a:t>et </a:t>
            </a:r>
            <a:r>
              <a:rPr lang="fr-FR" sz="1600" dirty="0">
                <a:solidFill>
                  <a:srgbClr val="585858"/>
                </a:solidFill>
                <a:latin typeface="+mn-lt"/>
                <a:cs typeface="Calibri"/>
              </a:rPr>
              <a:t>de</a:t>
            </a:r>
            <a:r>
              <a:rPr lang="fr-FR" sz="1600" spc="-20" dirty="0">
                <a:solidFill>
                  <a:srgbClr val="585858"/>
                </a:solidFill>
                <a:latin typeface="+mn-lt"/>
                <a:cs typeface="Calibri"/>
              </a:rPr>
              <a:t> </a:t>
            </a:r>
            <a:r>
              <a:rPr lang="fr-FR" sz="1600" dirty="0">
                <a:solidFill>
                  <a:srgbClr val="585858"/>
                </a:solidFill>
                <a:latin typeface="+mn-lt"/>
                <a:cs typeface="Calibri"/>
              </a:rPr>
              <a:t>la</a:t>
            </a:r>
            <a:r>
              <a:rPr lang="fr-FR" sz="1600" spc="-40" dirty="0">
                <a:solidFill>
                  <a:srgbClr val="585858"/>
                </a:solidFill>
                <a:latin typeface="+mn-lt"/>
                <a:cs typeface="Calibri"/>
              </a:rPr>
              <a:t> </a:t>
            </a:r>
            <a:r>
              <a:rPr lang="fr-FR" sz="1600" dirty="0">
                <a:solidFill>
                  <a:srgbClr val="585858"/>
                </a:solidFill>
                <a:latin typeface="+mn-lt"/>
                <a:cs typeface="Calibri"/>
              </a:rPr>
              <a:t>libération de</a:t>
            </a:r>
            <a:r>
              <a:rPr lang="fr-FR" sz="1600" spc="-15" dirty="0">
                <a:solidFill>
                  <a:srgbClr val="585858"/>
                </a:solidFill>
                <a:latin typeface="+mn-lt"/>
                <a:cs typeface="Calibri"/>
              </a:rPr>
              <a:t> </a:t>
            </a:r>
            <a:r>
              <a:rPr lang="fr-FR" sz="1600" spc="-10" dirty="0">
                <a:solidFill>
                  <a:srgbClr val="585858"/>
                </a:solidFill>
                <a:latin typeface="+mn-lt"/>
                <a:cs typeface="Calibri"/>
              </a:rPr>
              <a:t>processus</a:t>
            </a:r>
            <a:r>
              <a:rPr lang="fr-FR" sz="1200" spc="-10" dirty="0">
                <a:solidFill>
                  <a:srgbClr val="585858"/>
                </a:solidFill>
                <a:cs typeface="Calibri"/>
              </a:rPr>
              <a:t>.</a:t>
            </a:r>
            <a:endParaRPr lang="fr-FR" sz="1200" dirty="0">
              <a:cs typeface="Calibri"/>
            </a:endParaRPr>
          </a:p>
          <a:p>
            <a:pPr marL="12700" marR="5080" algn="just">
              <a:lnSpc>
                <a:spcPct val="150100"/>
              </a:lnSpc>
              <a:spcBef>
                <a:spcPts val="100"/>
              </a:spcBef>
            </a:pPr>
            <a:endParaRPr lang="fr-FR" sz="1200" dirty="0" smtClean="0">
              <a:latin typeface="Calibri"/>
              <a:cs typeface="Calibri"/>
            </a:endParaRPr>
          </a:p>
          <a:p>
            <a:pPr marL="12700" marR="5080" algn="just">
              <a:lnSpc>
                <a:spcPct val="150100"/>
              </a:lnSpc>
              <a:spcBef>
                <a:spcPts val="100"/>
              </a:spcBef>
            </a:pPr>
            <a:endParaRPr lang="fr-FR" sz="1200" dirty="0" smtClean="0">
              <a:solidFill>
                <a:srgbClr val="585858"/>
              </a:solidFill>
              <a:latin typeface="Calibri"/>
              <a:cs typeface="Calibri"/>
            </a:endParaRPr>
          </a:p>
        </p:txBody>
      </p:sp>
      <p:sp>
        <p:nvSpPr>
          <p:cNvPr id="15" name="object 15"/>
          <p:cNvSpPr txBox="1">
            <a:spLocks noGrp="1"/>
          </p:cNvSpPr>
          <p:nvPr>
            <p:ph type="title"/>
          </p:nvPr>
        </p:nvSpPr>
        <p:spPr>
          <a:xfrm>
            <a:off x="263753" y="332308"/>
            <a:ext cx="11664492" cy="702808"/>
          </a:xfrm>
          <a:prstGeom prst="rect">
            <a:avLst/>
          </a:prstGeom>
        </p:spPr>
        <p:txBody>
          <a:bodyPr vert="horz" wrap="square" lIns="0" tIns="147371" rIns="0" bIns="0" rtlCol="0">
            <a:spAutoFit/>
          </a:bodyPr>
          <a:lstStyle/>
          <a:p>
            <a:pPr marL="12700">
              <a:lnSpc>
                <a:spcPct val="100000"/>
              </a:lnSpc>
              <a:spcBef>
                <a:spcPts val="90"/>
              </a:spcBef>
            </a:pPr>
            <a:r>
              <a:rPr lang="fr-FR" dirty="0">
                <a:solidFill>
                  <a:srgbClr val="007842"/>
                </a:solidFill>
              </a:rPr>
              <a:t>04</a:t>
            </a:r>
            <a:r>
              <a:rPr lang="fr-FR" spc="-35" dirty="0">
                <a:solidFill>
                  <a:srgbClr val="007842"/>
                </a:solidFill>
              </a:rPr>
              <a:t> </a:t>
            </a:r>
            <a:r>
              <a:rPr lang="fr-FR" dirty="0">
                <a:solidFill>
                  <a:srgbClr val="007842"/>
                </a:solidFill>
              </a:rPr>
              <a:t>–</a:t>
            </a:r>
            <a:r>
              <a:rPr lang="fr-FR" spc="-20" dirty="0">
                <a:solidFill>
                  <a:srgbClr val="007842"/>
                </a:solidFill>
              </a:rPr>
              <a:t> </a:t>
            </a:r>
            <a:r>
              <a:rPr lang="fr-FR" dirty="0">
                <a:solidFill>
                  <a:srgbClr val="007842"/>
                </a:solidFill>
              </a:rPr>
              <a:t>Gestion des processus </a:t>
            </a:r>
            <a:r>
              <a:rPr lang="fr-FR" dirty="0" smtClean="0">
                <a:solidFill>
                  <a:srgbClr val="007842"/>
                </a:solidFill>
              </a:rPr>
              <a:t/>
            </a:r>
            <a:br>
              <a:rPr lang="fr-FR" dirty="0" smtClean="0">
                <a:solidFill>
                  <a:srgbClr val="007842"/>
                </a:solidFill>
              </a:rPr>
            </a:br>
            <a:r>
              <a:rPr lang="fr-FR" sz="1600" spc="-10" dirty="0">
                <a:solidFill>
                  <a:srgbClr val="007842"/>
                </a:solidFill>
              </a:rPr>
              <a:t>Scénario d’exécution de deux processus </a:t>
            </a:r>
            <a:endParaRPr sz="1600" dirty="0"/>
          </a:p>
        </p:txBody>
      </p:sp>
      <p:sp>
        <p:nvSpPr>
          <p:cNvPr id="16" name="object 16"/>
          <p:cNvSpPr txBox="1"/>
          <p:nvPr/>
        </p:nvSpPr>
        <p:spPr>
          <a:xfrm>
            <a:off x="4383936" y="5913882"/>
            <a:ext cx="3576320" cy="197490"/>
          </a:xfrm>
          <a:prstGeom prst="rect">
            <a:avLst/>
          </a:prstGeom>
        </p:spPr>
        <p:txBody>
          <a:bodyPr vert="horz" wrap="square" lIns="0" tIns="12700" rIns="0" bIns="0" rtlCol="0">
            <a:spAutoFit/>
          </a:bodyPr>
          <a:lstStyle/>
          <a:p>
            <a:pPr marL="12700">
              <a:lnSpc>
                <a:spcPct val="100000"/>
              </a:lnSpc>
              <a:spcBef>
                <a:spcPts val="100"/>
              </a:spcBef>
            </a:pPr>
            <a:r>
              <a:rPr sz="1200" i="1" dirty="0">
                <a:solidFill>
                  <a:srgbClr val="A6A6A6"/>
                </a:solidFill>
                <a:latin typeface="Calibri"/>
                <a:cs typeface="Calibri"/>
              </a:rPr>
              <a:t>Figure</a:t>
            </a:r>
            <a:r>
              <a:rPr sz="1200" i="1" spc="-20" dirty="0">
                <a:solidFill>
                  <a:srgbClr val="A6A6A6"/>
                </a:solidFill>
                <a:latin typeface="Calibri"/>
                <a:cs typeface="Calibri"/>
              </a:rPr>
              <a:t> </a:t>
            </a:r>
            <a:r>
              <a:rPr sz="1200" i="1" spc="5" dirty="0" smtClean="0">
                <a:solidFill>
                  <a:srgbClr val="A6A6A6"/>
                </a:solidFill>
                <a:latin typeface="Calibri"/>
                <a:cs typeface="Calibri"/>
              </a:rPr>
              <a:t> </a:t>
            </a:r>
            <a:r>
              <a:rPr sz="1200" i="1" dirty="0">
                <a:solidFill>
                  <a:srgbClr val="A6A6A6"/>
                </a:solidFill>
                <a:latin typeface="Calibri"/>
                <a:cs typeface="Calibri"/>
              </a:rPr>
              <a:t>: Scénario</a:t>
            </a:r>
            <a:r>
              <a:rPr sz="1200" i="1" spc="-25" dirty="0">
                <a:solidFill>
                  <a:srgbClr val="A6A6A6"/>
                </a:solidFill>
                <a:latin typeface="Calibri"/>
                <a:cs typeface="Calibri"/>
              </a:rPr>
              <a:t> </a:t>
            </a:r>
            <a:r>
              <a:rPr sz="1200" i="1" spc="-20" dirty="0">
                <a:solidFill>
                  <a:srgbClr val="A6A6A6"/>
                </a:solidFill>
                <a:latin typeface="Calibri"/>
                <a:cs typeface="Calibri"/>
              </a:rPr>
              <a:t>d’exécution</a:t>
            </a:r>
            <a:r>
              <a:rPr sz="1200" i="1" spc="-50" dirty="0">
                <a:solidFill>
                  <a:srgbClr val="A6A6A6"/>
                </a:solidFill>
                <a:latin typeface="Calibri"/>
                <a:cs typeface="Calibri"/>
              </a:rPr>
              <a:t> </a:t>
            </a:r>
            <a:r>
              <a:rPr sz="1200" i="1" dirty="0">
                <a:solidFill>
                  <a:srgbClr val="A6A6A6"/>
                </a:solidFill>
                <a:latin typeface="Calibri"/>
                <a:cs typeface="Calibri"/>
              </a:rPr>
              <a:t>de</a:t>
            </a:r>
            <a:r>
              <a:rPr sz="1200" i="1" spc="-10" dirty="0">
                <a:solidFill>
                  <a:srgbClr val="A6A6A6"/>
                </a:solidFill>
                <a:latin typeface="Calibri"/>
                <a:cs typeface="Calibri"/>
              </a:rPr>
              <a:t> </a:t>
            </a:r>
            <a:r>
              <a:rPr sz="1200" i="1" dirty="0">
                <a:solidFill>
                  <a:srgbClr val="A6A6A6"/>
                </a:solidFill>
                <a:latin typeface="Calibri"/>
                <a:cs typeface="Calibri"/>
              </a:rPr>
              <a:t>deux</a:t>
            </a:r>
            <a:r>
              <a:rPr sz="1200" i="1" spc="-25" dirty="0">
                <a:solidFill>
                  <a:srgbClr val="A6A6A6"/>
                </a:solidFill>
                <a:latin typeface="Calibri"/>
                <a:cs typeface="Calibri"/>
              </a:rPr>
              <a:t> </a:t>
            </a:r>
            <a:r>
              <a:rPr sz="1200" i="1" dirty="0">
                <a:solidFill>
                  <a:srgbClr val="A6A6A6"/>
                </a:solidFill>
                <a:latin typeface="Calibri"/>
                <a:cs typeface="Calibri"/>
              </a:rPr>
              <a:t>processus</a:t>
            </a:r>
            <a:r>
              <a:rPr sz="1200" i="1" spc="-25" dirty="0">
                <a:solidFill>
                  <a:srgbClr val="A6A6A6"/>
                </a:solidFill>
                <a:latin typeface="Calibri"/>
                <a:cs typeface="Calibri"/>
              </a:rPr>
              <a:t> </a:t>
            </a:r>
            <a:r>
              <a:rPr sz="1200" i="1" dirty="0">
                <a:solidFill>
                  <a:srgbClr val="A6A6A6"/>
                </a:solidFill>
                <a:latin typeface="Calibri"/>
                <a:cs typeface="Calibri"/>
              </a:rPr>
              <a:t>P0</a:t>
            </a:r>
            <a:r>
              <a:rPr sz="1200" i="1" spc="5" dirty="0">
                <a:solidFill>
                  <a:srgbClr val="A6A6A6"/>
                </a:solidFill>
                <a:latin typeface="Calibri"/>
                <a:cs typeface="Calibri"/>
              </a:rPr>
              <a:t> </a:t>
            </a:r>
            <a:r>
              <a:rPr sz="1200" i="1" dirty="0">
                <a:solidFill>
                  <a:srgbClr val="A6A6A6"/>
                </a:solidFill>
                <a:latin typeface="Calibri"/>
                <a:cs typeface="Calibri"/>
              </a:rPr>
              <a:t>et </a:t>
            </a:r>
            <a:r>
              <a:rPr sz="1200" i="1" spc="-25" dirty="0">
                <a:solidFill>
                  <a:srgbClr val="A6A6A6"/>
                </a:solidFill>
                <a:latin typeface="Calibri"/>
                <a:cs typeface="Calibri"/>
              </a:rPr>
              <a:t>P1</a:t>
            </a:r>
            <a:endParaRPr sz="1200" dirty="0">
              <a:latin typeface="Calibri"/>
              <a:cs typeface="Calibri"/>
            </a:endParaRPr>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10</a:t>
            </a:fld>
            <a:endParaRPr spc="-25" dirty="0"/>
          </a:p>
        </p:txBody>
      </p:sp>
      <p:sp>
        <p:nvSpPr>
          <p:cNvPr id="14" name="object 14"/>
          <p:cNvSpPr txBox="1"/>
          <p:nvPr/>
        </p:nvSpPr>
        <p:spPr>
          <a:xfrm>
            <a:off x="748773" y="1734011"/>
            <a:ext cx="10678560" cy="5088573"/>
          </a:xfrm>
          <a:prstGeom prst="rect">
            <a:avLst/>
          </a:prstGeom>
        </p:spPr>
        <p:txBody>
          <a:bodyPr vert="horz" wrap="square" lIns="0" tIns="12700" rIns="0" bIns="0" rtlCol="0">
            <a:spAutoFit/>
          </a:bodyPr>
          <a:lstStyle/>
          <a:p>
            <a:pPr marL="12700" marR="5080" algn="just" rtl="0">
              <a:lnSpc>
                <a:spcPct val="150100"/>
              </a:lnSpc>
              <a:spcBef>
                <a:spcPts val="100"/>
              </a:spcBef>
            </a:pPr>
            <a:r>
              <a:rPr lang="fr-FR" sz="1600" dirty="0" smtClean="0">
                <a:solidFill>
                  <a:srgbClr val="585858"/>
                </a:solidFill>
                <a:latin typeface="+mn-lt"/>
                <a:cs typeface="Calibri"/>
              </a:rPr>
              <a:t>Un système d'exploitation (OS) gère les processus pour assurer un fonctionnement efficace et sécurisé du système informatique. Voici les principales techniques utilisées par un OS pour gérer les processus :</a:t>
            </a:r>
          </a:p>
          <a:p>
            <a:pPr marL="298450" marR="5080" indent="-285750" algn="just" rtl="0">
              <a:lnSpc>
                <a:spcPct val="150100"/>
              </a:lnSpc>
              <a:spcBef>
                <a:spcPts val="100"/>
              </a:spcBef>
              <a:buFont typeface="Wingdings" panose="05000000000000000000" pitchFamily="2" charset="2"/>
              <a:buChar char="§"/>
            </a:pPr>
            <a:r>
              <a:rPr lang="fr-FR" sz="1600" b="1" dirty="0" smtClean="0">
                <a:solidFill>
                  <a:srgbClr val="585858"/>
                </a:solidFill>
                <a:latin typeface="+mn-lt"/>
                <a:cs typeface="Calibri"/>
              </a:rPr>
              <a:t>Ordonnancement des processus : </a:t>
            </a:r>
            <a:r>
              <a:rPr lang="fr-FR" sz="1600" dirty="0" smtClean="0">
                <a:solidFill>
                  <a:srgbClr val="585858"/>
                </a:solidFill>
                <a:latin typeface="+mn-lt"/>
                <a:cs typeface="Calibri"/>
              </a:rPr>
              <a:t>L'OS décide quel processus s'exécute à quel moment et pendant combien de temps</a:t>
            </a:r>
          </a:p>
          <a:p>
            <a:pPr marL="298450" marR="5080" indent="-285750" algn="just" rtl="0">
              <a:lnSpc>
                <a:spcPct val="150100"/>
              </a:lnSpc>
              <a:spcBef>
                <a:spcPts val="100"/>
              </a:spcBef>
              <a:buFont typeface="Wingdings" panose="05000000000000000000" pitchFamily="2" charset="2"/>
              <a:buChar char="§"/>
            </a:pPr>
            <a:r>
              <a:rPr lang="fr-FR" sz="1600" b="1" dirty="0" smtClean="0">
                <a:solidFill>
                  <a:srgbClr val="585858"/>
                </a:solidFill>
                <a:latin typeface="+mn-lt"/>
                <a:cs typeface="Calibri"/>
              </a:rPr>
              <a:t>Création et destruction des processus : </a:t>
            </a:r>
            <a:r>
              <a:rPr lang="fr-FR" sz="1600" dirty="0" smtClean="0">
                <a:solidFill>
                  <a:srgbClr val="585858"/>
                </a:solidFill>
                <a:latin typeface="+mn-lt"/>
                <a:cs typeface="Calibri"/>
              </a:rPr>
              <a:t>L'OS fournit des mécanismes pour créer de nouveaux processus et pour terminer ou détruire les processus existants. </a:t>
            </a:r>
            <a:endParaRPr lang="fr-FR" sz="1600" dirty="0">
              <a:solidFill>
                <a:srgbClr val="585858"/>
              </a:solidFill>
              <a:latin typeface="+mn-lt"/>
              <a:cs typeface="Calibri"/>
            </a:endParaRPr>
          </a:p>
          <a:p>
            <a:pPr marL="298450" marR="5080" indent="-285750" algn="just" rtl="0">
              <a:lnSpc>
                <a:spcPct val="150100"/>
              </a:lnSpc>
              <a:spcBef>
                <a:spcPts val="100"/>
              </a:spcBef>
              <a:buFont typeface="Wingdings" panose="05000000000000000000" pitchFamily="2" charset="2"/>
              <a:buChar char="§"/>
            </a:pPr>
            <a:r>
              <a:rPr lang="fr-FR" sz="1600" b="1" dirty="0" smtClean="0">
                <a:solidFill>
                  <a:srgbClr val="585858"/>
                </a:solidFill>
                <a:latin typeface="+mn-lt"/>
                <a:cs typeface="Calibri"/>
              </a:rPr>
              <a:t>Communication entre les processus : </a:t>
            </a:r>
            <a:r>
              <a:rPr lang="fr-FR" sz="1600" dirty="0" smtClean="0">
                <a:solidFill>
                  <a:srgbClr val="585858"/>
                </a:solidFill>
                <a:latin typeface="+mn-lt"/>
                <a:cs typeface="Calibri"/>
              </a:rPr>
              <a:t>L'OS permet aux processus de communiquer entre eux. Cela permet aux processus de coopérer et de coordonner leurs activités.</a:t>
            </a:r>
          </a:p>
          <a:p>
            <a:pPr marL="298450" marR="5080" indent="-285750" algn="just" rtl="0">
              <a:lnSpc>
                <a:spcPct val="150100"/>
              </a:lnSpc>
              <a:spcBef>
                <a:spcPts val="100"/>
              </a:spcBef>
              <a:buFont typeface="Wingdings" panose="05000000000000000000" pitchFamily="2" charset="2"/>
              <a:buChar char="§"/>
            </a:pPr>
            <a:r>
              <a:rPr lang="fr-FR" sz="1600" b="1" dirty="0" smtClean="0">
                <a:solidFill>
                  <a:srgbClr val="585858"/>
                </a:solidFill>
                <a:latin typeface="+mn-lt"/>
                <a:cs typeface="Calibri"/>
              </a:rPr>
              <a:t>Gestion des ressources : </a:t>
            </a:r>
            <a:r>
              <a:rPr lang="fr-FR" sz="1600" dirty="0" smtClean="0">
                <a:solidFill>
                  <a:srgbClr val="585858"/>
                </a:solidFill>
                <a:latin typeface="+mn-lt"/>
                <a:cs typeface="Calibri"/>
              </a:rPr>
              <a:t>L'OS alloue et gère les ressources système telles que le temps CPU, la mémoire, les périphériques d'entrée/sortie, etc., pour garantir que chaque processus dispose des ressources nécessaires à son exécution.</a:t>
            </a:r>
          </a:p>
          <a:p>
            <a:pPr marL="298450" marR="5080" indent="-285750" algn="just" rtl="0">
              <a:lnSpc>
                <a:spcPct val="150100"/>
              </a:lnSpc>
              <a:spcBef>
                <a:spcPts val="100"/>
              </a:spcBef>
              <a:buFont typeface="Wingdings" panose="05000000000000000000" pitchFamily="2" charset="2"/>
              <a:buChar char="§"/>
            </a:pPr>
            <a:r>
              <a:rPr lang="fr-FR" sz="1600" b="1" dirty="0" smtClean="0">
                <a:solidFill>
                  <a:srgbClr val="585858"/>
                </a:solidFill>
                <a:latin typeface="+mn-lt"/>
                <a:cs typeface="Calibri"/>
              </a:rPr>
              <a:t>Protection et isolation des processus : </a:t>
            </a:r>
            <a:r>
              <a:rPr lang="fr-FR" sz="1600" dirty="0" smtClean="0">
                <a:solidFill>
                  <a:srgbClr val="585858"/>
                </a:solidFill>
                <a:latin typeface="+mn-lt"/>
                <a:cs typeface="Calibri"/>
              </a:rPr>
              <a:t>L'OS met en œuvre des mécanismes de protection pour garantir que les processus s'exécutent de manière isolée les uns des autres et pour empêcher qu'un processus n'accède ou ne modifie des ressources ou des données appartenant à un autre processus sans autorisation.</a:t>
            </a:r>
            <a:endParaRPr lang="fr-FR" sz="1200" dirty="0" smtClean="0">
              <a:cs typeface="Calibri"/>
            </a:endParaRPr>
          </a:p>
          <a:p>
            <a:pPr marL="12700" marR="5080" algn="just">
              <a:lnSpc>
                <a:spcPct val="150100"/>
              </a:lnSpc>
              <a:spcBef>
                <a:spcPts val="100"/>
              </a:spcBef>
            </a:pPr>
            <a:endParaRPr lang="fr-FR" sz="1200" dirty="0" smtClean="0">
              <a:latin typeface="Calibri"/>
              <a:cs typeface="Calibri"/>
            </a:endParaRPr>
          </a:p>
          <a:p>
            <a:pPr marL="12700" marR="5080" algn="just">
              <a:lnSpc>
                <a:spcPct val="150100"/>
              </a:lnSpc>
              <a:spcBef>
                <a:spcPts val="100"/>
              </a:spcBef>
            </a:pPr>
            <a:endParaRPr lang="fr-FR" sz="1200" dirty="0" smtClean="0">
              <a:solidFill>
                <a:srgbClr val="585858"/>
              </a:solidFill>
              <a:latin typeface="Calibri"/>
              <a:cs typeface="Calibri"/>
            </a:endParaRPr>
          </a:p>
        </p:txBody>
      </p:sp>
      <p:sp>
        <p:nvSpPr>
          <p:cNvPr id="15" name="object 15"/>
          <p:cNvSpPr txBox="1">
            <a:spLocks noGrp="1"/>
          </p:cNvSpPr>
          <p:nvPr>
            <p:ph type="title"/>
          </p:nvPr>
        </p:nvSpPr>
        <p:spPr>
          <a:xfrm>
            <a:off x="263753" y="332308"/>
            <a:ext cx="11664492" cy="702808"/>
          </a:xfrm>
          <a:prstGeom prst="rect">
            <a:avLst/>
          </a:prstGeom>
        </p:spPr>
        <p:txBody>
          <a:bodyPr vert="horz" wrap="square" lIns="0" tIns="147371" rIns="0" bIns="0" rtlCol="0">
            <a:spAutoFit/>
          </a:bodyPr>
          <a:lstStyle/>
          <a:p>
            <a:pPr marL="12700">
              <a:lnSpc>
                <a:spcPct val="100000"/>
              </a:lnSpc>
              <a:spcBef>
                <a:spcPts val="90"/>
              </a:spcBef>
            </a:pPr>
            <a:r>
              <a:rPr lang="fr-FR" dirty="0">
                <a:solidFill>
                  <a:srgbClr val="007842"/>
                </a:solidFill>
              </a:rPr>
              <a:t>04</a:t>
            </a:r>
            <a:r>
              <a:rPr lang="fr-FR" spc="-35" dirty="0">
                <a:solidFill>
                  <a:srgbClr val="007842"/>
                </a:solidFill>
              </a:rPr>
              <a:t> </a:t>
            </a:r>
            <a:r>
              <a:rPr lang="fr-FR" dirty="0">
                <a:solidFill>
                  <a:srgbClr val="007842"/>
                </a:solidFill>
              </a:rPr>
              <a:t>–</a:t>
            </a:r>
            <a:r>
              <a:rPr lang="fr-FR" spc="-20" dirty="0">
                <a:solidFill>
                  <a:srgbClr val="007842"/>
                </a:solidFill>
              </a:rPr>
              <a:t> </a:t>
            </a:r>
            <a:r>
              <a:rPr lang="fr-FR" dirty="0">
                <a:solidFill>
                  <a:srgbClr val="007842"/>
                </a:solidFill>
              </a:rPr>
              <a:t>Gestion des processus </a:t>
            </a:r>
            <a:r>
              <a:rPr lang="fr-FR" dirty="0" smtClean="0">
                <a:solidFill>
                  <a:srgbClr val="007842"/>
                </a:solidFill>
              </a:rPr>
              <a:t/>
            </a:r>
            <a:br>
              <a:rPr lang="fr-FR" dirty="0" smtClean="0">
                <a:solidFill>
                  <a:srgbClr val="007842"/>
                </a:solidFill>
              </a:rPr>
            </a:br>
            <a:r>
              <a:rPr lang="fr-FR" sz="1600" spc="-10" dirty="0" smtClean="0">
                <a:solidFill>
                  <a:srgbClr val="007842"/>
                </a:solidFill>
              </a:rPr>
              <a:t>Techniques de gestion des processus</a:t>
            </a:r>
            <a:endParaRPr sz="1600" dirty="0"/>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Tree>
    <p:extLst>
      <p:ext uri="{BB962C8B-B14F-4D97-AF65-F5344CB8AC3E}">
        <p14:creationId xmlns:p14="http://schemas.microsoft.com/office/powerpoint/2010/main" val="1199252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11</a:t>
            </a:fld>
            <a:endParaRPr spc="-25" dirty="0"/>
          </a:p>
        </p:txBody>
      </p:sp>
      <p:sp>
        <p:nvSpPr>
          <p:cNvPr id="14" name="object 14"/>
          <p:cNvSpPr txBox="1"/>
          <p:nvPr/>
        </p:nvSpPr>
        <p:spPr>
          <a:xfrm>
            <a:off x="753671" y="1997741"/>
            <a:ext cx="10678560" cy="2859757"/>
          </a:xfrm>
          <a:prstGeom prst="rect">
            <a:avLst/>
          </a:prstGeom>
        </p:spPr>
        <p:txBody>
          <a:bodyPr vert="horz" wrap="square" lIns="0" tIns="12700" rIns="0" bIns="0" rtlCol="0">
            <a:spAutoFit/>
          </a:bodyPr>
          <a:lstStyle/>
          <a:p>
            <a:pPr marL="12700" marR="5080" algn="just" rtl="0">
              <a:lnSpc>
                <a:spcPct val="150100"/>
              </a:lnSpc>
              <a:spcBef>
                <a:spcPts val="100"/>
              </a:spcBef>
            </a:pPr>
            <a:r>
              <a:rPr lang="fr-FR" sz="1600" dirty="0" smtClean="0">
                <a:solidFill>
                  <a:srgbClr val="585858"/>
                </a:solidFill>
                <a:latin typeface="+mn-lt"/>
                <a:cs typeface="Calibri"/>
              </a:rPr>
              <a:t>Les algorithmes d'ordonnancement les plus couramment utilisés sont:</a:t>
            </a:r>
          </a:p>
          <a:p>
            <a:pPr marL="298450" marR="5080" indent="-285750" algn="just" rtl="0">
              <a:lnSpc>
                <a:spcPct val="150100"/>
              </a:lnSpc>
              <a:spcBef>
                <a:spcPts val="100"/>
              </a:spcBef>
              <a:buFont typeface="Wingdings" panose="05000000000000000000" pitchFamily="2" charset="2"/>
              <a:buChar char="§"/>
            </a:pPr>
            <a:r>
              <a:rPr lang="fr-FR" sz="1600" b="1" dirty="0" smtClean="0">
                <a:solidFill>
                  <a:srgbClr val="585858"/>
                </a:solidFill>
                <a:latin typeface="+mn-lt"/>
                <a:cs typeface="Calibri"/>
              </a:rPr>
              <a:t>First Come, First </a:t>
            </a:r>
            <a:r>
              <a:rPr lang="fr-FR" sz="1600" b="1" dirty="0" err="1" smtClean="0">
                <a:solidFill>
                  <a:srgbClr val="585858"/>
                </a:solidFill>
                <a:latin typeface="+mn-lt"/>
                <a:cs typeface="Calibri"/>
              </a:rPr>
              <a:t>Served</a:t>
            </a:r>
            <a:r>
              <a:rPr lang="fr-FR" sz="1600" b="1" dirty="0" smtClean="0">
                <a:solidFill>
                  <a:srgbClr val="585858"/>
                </a:solidFill>
                <a:latin typeface="+mn-lt"/>
                <a:cs typeface="Calibri"/>
              </a:rPr>
              <a:t> (FCFS) : </a:t>
            </a:r>
            <a:r>
              <a:rPr lang="fr-FR" sz="1600" dirty="0" smtClean="0">
                <a:solidFill>
                  <a:srgbClr val="585858"/>
                </a:solidFill>
                <a:latin typeface="+mn-lt"/>
                <a:cs typeface="Calibri"/>
              </a:rPr>
              <a:t>Les processus sont exécutés dans l'ordre où ils ont été reçus par le système d'exploitation.</a:t>
            </a:r>
          </a:p>
          <a:p>
            <a:pPr marL="298450" marR="5080" indent="-285750" algn="just" rtl="0">
              <a:lnSpc>
                <a:spcPct val="150100"/>
              </a:lnSpc>
              <a:spcBef>
                <a:spcPts val="100"/>
              </a:spcBef>
              <a:buFont typeface="Wingdings" panose="05000000000000000000" pitchFamily="2" charset="2"/>
              <a:buChar char="§"/>
            </a:pPr>
            <a:r>
              <a:rPr lang="fr-FR" sz="1600" b="1" dirty="0" err="1" smtClean="0">
                <a:solidFill>
                  <a:srgbClr val="585858"/>
                </a:solidFill>
                <a:latin typeface="+mn-lt"/>
                <a:cs typeface="Calibri"/>
              </a:rPr>
              <a:t>Shortest</a:t>
            </a:r>
            <a:r>
              <a:rPr lang="fr-FR" sz="1600" b="1" dirty="0" smtClean="0">
                <a:solidFill>
                  <a:srgbClr val="585858"/>
                </a:solidFill>
                <a:latin typeface="+mn-lt"/>
                <a:cs typeface="Calibri"/>
              </a:rPr>
              <a:t> Job </a:t>
            </a:r>
            <a:r>
              <a:rPr lang="fr-FR" sz="1600" b="1" dirty="0" err="1" smtClean="0">
                <a:solidFill>
                  <a:srgbClr val="585858"/>
                </a:solidFill>
                <a:latin typeface="+mn-lt"/>
                <a:cs typeface="Calibri"/>
              </a:rPr>
              <a:t>Next</a:t>
            </a:r>
            <a:r>
              <a:rPr lang="fr-FR" sz="1600" b="1" dirty="0" smtClean="0">
                <a:solidFill>
                  <a:srgbClr val="585858"/>
                </a:solidFill>
                <a:latin typeface="+mn-lt"/>
                <a:cs typeface="Calibri"/>
              </a:rPr>
              <a:t> (SJN) ou </a:t>
            </a:r>
            <a:r>
              <a:rPr lang="fr-FR" sz="1600" b="1" dirty="0" err="1" smtClean="0">
                <a:solidFill>
                  <a:srgbClr val="585858"/>
                </a:solidFill>
                <a:latin typeface="+mn-lt"/>
                <a:cs typeface="Calibri"/>
              </a:rPr>
              <a:t>Shortest</a:t>
            </a:r>
            <a:r>
              <a:rPr lang="fr-FR" sz="1600" b="1" dirty="0" smtClean="0">
                <a:solidFill>
                  <a:srgbClr val="585858"/>
                </a:solidFill>
                <a:latin typeface="+mn-lt"/>
                <a:cs typeface="Calibri"/>
              </a:rPr>
              <a:t> Job First (SJF) : </a:t>
            </a:r>
            <a:r>
              <a:rPr lang="fr-FR" sz="1600" dirty="0" smtClean="0">
                <a:solidFill>
                  <a:srgbClr val="585858"/>
                </a:solidFill>
                <a:latin typeface="+mn-lt"/>
                <a:cs typeface="Calibri"/>
              </a:rPr>
              <a:t>Le processus le plus court est exécuté en premier. </a:t>
            </a:r>
          </a:p>
          <a:p>
            <a:pPr marL="298450" marR="5080" indent="-285750" algn="just" rtl="0">
              <a:lnSpc>
                <a:spcPct val="150100"/>
              </a:lnSpc>
              <a:spcBef>
                <a:spcPts val="100"/>
              </a:spcBef>
              <a:buFont typeface="Wingdings" panose="05000000000000000000" pitchFamily="2" charset="2"/>
              <a:buChar char="§"/>
            </a:pPr>
            <a:r>
              <a:rPr lang="fr-FR" sz="1600" b="1" dirty="0" smtClean="0">
                <a:solidFill>
                  <a:srgbClr val="585858"/>
                </a:solidFill>
                <a:latin typeface="+mn-lt"/>
                <a:cs typeface="Calibri"/>
              </a:rPr>
              <a:t>Round Robin (RR) : </a:t>
            </a:r>
            <a:r>
              <a:rPr lang="fr-FR" sz="1600" dirty="0" smtClean="0">
                <a:solidFill>
                  <a:srgbClr val="585858"/>
                </a:solidFill>
                <a:latin typeface="+mn-lt"/>
                <a:cs typeface="Calibri"/>
              </a:rPr>
              <a:t>Chaque processus reçoit un quantum de temps d'exécution.</a:t>
            </a:r>
          </a:p>
          <a:p>
            <a:pPr marL="298450" marR="5080" indent="-285750" algn="just" rtl="0">
              <a:lnSpc>
                <a:spcPct val="150100"/>
              </a:lnSpc>
              <a:spcBef>
                <a:spcPts val="100"/>
              </a:spcBef>
              <a:buFont typeface="Wingdings" panose="05000000000000000000" pitchFamily="2" charset="2"/>
              <a:buChar char="§"/>
            </a:pPr>
            <a:r>
              <a:rPr lang="fr-FR" sz="1600" b="1" dirty="0" smtClean="0">
                <a:solidFill>
                  <a:srgbClr val="585858"/>
                </a:solidFill>
                <a:latin typeface="+mn-lt"/>
                <a:cs typeface="Calibri"/>
              </a:rPr>
              <a:t>Priorité (</a:t>
            </a:r>
            <a:r>
              <a:rPr lang="fr-FR" sz="1600" b="1" dirty="0" err="1" smtClean="0">
                <a:solidFill>
                  <a:srgbClr val="585858"/>
                </a:solidFill>
                <a:latin typeface="+mn-lt"/>
                <a:cs typeface="Calibri"/>
              </a:rPr>
              <a:t>Priority</a:t>
            </a:r>
            <a:r>
              <a:rPr lang="fr-FR" sz="1600" b="1" dirty="0" smtClean="0">
                <a:solidFill>
                  <a:srgbClr val="585858"/>
                </a:solidFill>
                <a:latin typeface="+mn-lt"/>
                <a:cs typeface="Calibri"/>
              </a:rPr>
              <a:t> </a:t>
            </a:r>
            <a:r>
              <a:rPr lang="fr-FR" sz="1600" b="1" dirty="0" err="1" smtClean="0">
                <a:solidFill>
                  <a:srgbClr val="585858"/>
                </a:solidFill>
                <a:latin typeface="+mn-lt"/>
                <a:cs typeface="Calibri"/>
              </a:rPr>
              <a:t>Scheduling</a:t>
            </a:r>
            <a:r>
              <a:rPr lang="fr-FR" sz="1600" b="1" dirty="0" smtClean="0">
                <a:solidFill>
                  <a:srgbClr val="585858"/>
                </a:solidFill>
                <a:latin typeface="+mn-lt"/>
                <a:cs typeface="Calibri"/>
              </a:rPr>
              <a:t>) : </a:t>
            </a:r>
            <a:r>
              <a:rPr lang="fr-FR" sz="1600" dirty="0" smtClean="0">
                <a:solidFill>
                  <a:srgbClr val="585858"/>
                </a:solidFill>
                <a:latin typeface="+mn-lt"/>
                <a:cs typeface="Calibri"/>
              </a:rPr>
              <a:t>Chaque processus se voit attribuer une priorité, et le processus avec la priorité la plus élevée est exécuté en premier.</a:t>
            </a:r>
          </a:p>
          <a:p>
            <a:pPr marL="12700" marR="5080" algn="just">
              <a:lnSpc>
                <a:spcPct val="150100"/>
              </a:lnSpc>
              <a:spcBef>
                <a:spcPts val="100"/>
              </a:spcBef>
            </a:pPr>
            <a:endParaRPr lang="fr-FR" sz="1200" dirty="0" smtClean="0">
              <a:latin typeface="Calibri"/>
              <a:cs typeface="Calibri"/>
            </a:endParaRPr>
          </a:p>
          <a:p>
            <a:pPr marL="12700" marR="5080" algn="just">
              <a:lnSpc>
                <a:spcPct val="150100"/>
              </a:lnSpc>
              <a:spcBef>
                <a:spcPts val="100"/>
              </a:spcBef>
            </a:pPr>
            <a:endParaRPr lang="fr-FR" sz="1200" dirty="0" smtClean="0">
              <a:solidFill>
                <a:srgbClr val="585858"/>
              </a:solidFill>
              <a:latin typeface="Calibri"/>
              <a:cs typeface="Calibri"/>
            </a:endParaRPr>
          </a:p>
        </p:txBody>
      </p:sp>
      <p:sp>
        <p:nvSpPr>
          <p:cNvPr id="15" name="object 15"/>
          <p:cNvSpPr txBox="1">
            <a:spLocks noGrp="1"/>
          </p:cNvSpPr>
          <p:nvPr>
            <p:ph type="title"/>
          </p:nvPr>
        </p:nvSpPr>
        <p:spPr>
          <a:xfrm>
            <a:off x="263753" y="332308"/>
            <a:ext cx="11664492" cy="702808"/>
          </a:xfrm>
          <a:prstGeom prst="rect">
            <a:avLst/>
          </a:prstGeom>
        </p:spPr>
        <p:txBody>
          <a:bodyPr vert="horz" wrap="square" lIns="0" tIns="147371" rIns="0" bIns="0" rtlCol="0">
            <a:spAutoFit/>
          </a:bodyPr>
          <a:lstStyle/>
          <a:p>
            <a:pPr marL="12700">
              <a:lnSpc>
                <a:spcPct val="100000"/>
              </a:lnSpc>
              <a:spcBef>
                <a:spcPts val="90"/>
              </a:spcBef>
            </a:pPr>
            <a:r>
              <a:rPr lang="fr-FR" dirty="0">
                <a:solidFill>
                  <a:srgbClr val="007842"/>
                </a:solidFill>
              </a:rPr>
              <a:t>04</a:t>
            </a:r>
            <a:r>
              <a:rPr lang="fr-FR" spc="-35" dirty="0">
                <a:solidFill>
                  <a:srgbClr val="007842"/>
                </a:solidFill>
              </a:rPr>
              <a:t> </a:t>
            </a:r>
            <a:r>
              <a:rPr lang="fr-FR" dirty="0">
                <a:solidFill>
                  <a:srgbClr val="007842"/>
                </a:solidFill>
              </a:rPr>
              <a:t>–</a:t>
            </a:r>
            <a:r>
              <a:rPr lang="fr-FR" spc="-20" dirty="0">
                <a:solidFill>
                  <a:srgbClr val="007842"/>
                </a:solidFill>
              </a:rPr>
              <a:t> </a:t>
            </a:r>
            <a:r>
              <a:rPr lang="fr-FR" dirty="0">
                <a:solidFill>
                  <a:srgbClr val="007842"/>
                </a:solidFill>
              </a:rPr>
              <a:t>Gestion des processus </a:t>
            </a:r>
            <a:r>
              <a:rPr lang="fr-FR" dirty="0" smtClean="0">
                <a:solidFill>
                  <a:srgbClr val="007842"/>
                </a:solidFill>
              </a:rPr>
              <a:t/>
            </a:r>
            <a:br>
              <a:rPr lang="fr-FR" dirty="0" smtClean="0">
                <a:solidFill>
                  <a:srgbClr val="007842"/>
                </a:solidFill>
              </a:rPr>
            </a:br>
            <a:r>
              <a:rPr lang="fr-FR" sz="1600" spc="-10" dirty="0" smtClean="0">
                <a:solidFill>
                  <a:srgbClr val="007842"/>
                </a:solidFill>
              </a:rPr>
              <a:t>Algorithmes </a:t>
            </a:r>
            <a:r>
              <a:rPr lang="fr-FR" sz="1600" spc="-10" dirty="0">
                <a:solidFill>
                  <a:srgbClr val="007842"/>
                </a:solidFill>
              </a:rPr>
              <a:t>d'ordonnancement </a:t>
            </a:r>
            <a:endParaRPr sz="1600" dirty="0"/>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Tree>
    <p:extLst>
      <p:ext uri="{BB962C8B-B14F-4D97-AF65-F5344CB8AC3E}">
        <p14:creationId xmlns:p14="http://schemas.microsoft.com/office/powerpoint/2010/main" val="20294737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12</a:t>
            </a:fld>
            <a:endParaRPr spc="-25" dirty="0"/>
          </a:p>
        </p:txBody>
      </p:sp>
      <p:sp>
        <p:nvSpPr>
          <p:cNvPr id="14" name="object 14"/>
          <p:cNvSpPr txBox="1"/>
          <p:nvPr/>
        </p:nvSpPr>
        <p:spPr>
          <a:xfrm>
            <a:off x="753671" y="1997741"/>
            <a:ext cx="10678560" cy="2859757"/>
          </a:xfrm>
          <a:prstGeom prst="rect">
            <a:avLst/>
          </a:prstGeom>
        </p:spPr>
        <p:txBody>
          <a:bodyPr vert="horz" wrap="square" lIns="0" tIns="12700" rIns="0" bIns="0" rtlCol="0">
            <a:spAutoFit/>
          </a:bodyPr>
          <a:lstStyle/>
          <a:p>
            <a:pPr marL="12700" marR="5080" algn="just" rtl="0">
              <a:lnSpc>
                <a:spcPct val="150100"/>
              </a:lnSpc>
              <a:spcBef>
                <a:spcPts val="100"/>
              </a:spcBef>
            </a:pPr>
            <a:r>
              <a:rPr lang="fr-FR" sz="1600" dirty="0" smtClean="0">
                <a:solidFill>
                  <a:srgbClr val="585858"/>
                </a:solidFill>
                <a:latin typeface="+mn-lt"/>
                <a:cs typeface="Calibri"/>
              </a:rPr>
              <a:t>Les algorithmes d'ordonnancement les plus couramment utilisés sont:</a:t>
            </a:r>
          </a:p>
          <a:p>
            <a:pPr marL="298450" marR="5080" indent="-285750" algn="just" rtl="0">
              <a:lnSpc>
                <a:spcPct val="150100"/>
              </a:lnSpc>
              <a:spcBef>
                <a:spcPts val="100"/>
              </a:spcBef>
              <a:buFont typeface="Wingdings" panose="05000000000000000000" pitchFamily="2" charset="2"/>
              <a:buChar char="§"/>
            </a:pPr>
            <a:r>
              <a:rPr lang="fr-FR" sz="1600" b="1" dirty="0" smtClean="0">
                <a:solidFill>
                  <a:srgbClr val="585858"/>
                </a:solidFill>
                <a:latin typeface="+mn-lt"/>
                <a:cs typeface="Calibri"/>
              </a:rPr>
              <a:t>First Come, First </a:t>
            </a:r>
            <a:r>
              <a:rPr lang="fr-FR" sz="1600" b="1" dirty="0" err="1" smtClean="0">
                <a:solidFill>
                  <a:srgbClr val="585858"/>
                </a:solidFill>
                <a:latin typeface="+mn-lt"/>
                <a:cs typeface="Calibri"/>
              </a:rPr>
              <a:t>Served</a:t>
            </a:r>
            <a:r>
              <a:rPr lang="fr-FR" sz="1600" b="1" dirty="0" smtClean="0">
                <a:solidFill>
                  <a:srgbClr val="585858"/>
                </a:solidFill>
                <a:latin typeface="+mn-lt"/>
                <a:cs typeface="Calibri"/>
              </a:rPr>
              <a:t> (FCFS) : </a:t>
            </a:r>
            <a:r>
              <a:rPr lang="fr-FR" sz="1600" dirty="0" smtClean="0">
                <a:solidFill>
                  <a:srgbClr val="585858"/>
                </a:solidFill>
                <a:latin typeface="+mn-lt"/>
                <a:cs typeface="Calibri"/>
              </a:rPr>
              <a:t>Les processus sont exécutés dans l'ordre où ils ont été reçus par le système d'exploitation.</a:t>
            </a:r>
          </a:p>
          <a:p>
            <a:pPr marL="298450" marR="5080" indent="-285750" algn="just" rtl="0">
              <a:lnSpc>
                <a:spcPct val="150100"/>
              </a:lnSpc>
              <a:spcBef>
                <a:spcPts val="100"/>
              </a:spcBef>
              <a:buFont typeface="Wingdings" panose="05000000000000000000" pitchFamily="2" charset="2"/>
              <a:buChar char="§"/>
            </a:pPr>
            <a:r>
              <a:rPr lang="fr-FR" sz="1600" b="1" dirty="0" err="1" smtClean="0">
                <a:solidFill>
                  <a:srgbClr val="585858"/>
                </a:solidFill>
                <a:latin typeface="+mn-lt"/>
                <a:cs typeface="Calibri"/>
              </a:rPr>
              <a:t>Shortest</a:t>
            </a:r>
            <a:r>
              <a:rPr lang="fr-FR" sz="1600" b="1" dirty="0" smtClean="0">
                <a:solidFill>
                  <a:srgbClr val="585858"/>
                </a:solidFill>
                <a:latin typeface="+mn-lt"/>
                <a:cs typeface="Calibri"/>
              </a:rPr>
              <a:t> Job </a:t>
            </a:r>
            <a:r>
              <a:rPr lang="fr-FR" sz="1600" b="1" dirty="0" err="1" smtClean="0">
                <a:solidFill>
                  <a:srgbClr val="585858"/>
                </a:solidFill>
                <a:latin typeface="+mn-lt"/>
                <a:cs typeface="Calibri"/>
              </a:rPr>
              <a:t>Next</a:t>
            </a:r>
            <a:r>
              <a:rPr lang="fr-FR" sz="1600" b="1" dirty="0" smtClean="0">
                <a:solidFill>
                  <a:srgbClr val="585858"/>
                </a:solidFill>
                <a:latin typeface="+mn-lt"/>
                <a:cs typeface="Calibri"/>
              </a:rPr>
              <a:t> (SJN) ou </a:t>
            </a:r>
            <a:r>
              <a:rPr lang="fr-FR" sz="1600" b="1" dirty="0" err="1" smtClean="0">
                <a:solidFill>
                  <a:srgbClr val="585858"/>
                </a:solidFill>
                <a:latin typeface="+mn-lt"/>
                <a:cs typeface="Calibri"/>
              </a:rPr>
              <a:t>Shortest</a:t>
            </a:r>
            <a:r>
              <a:rPr lang="fr-FR" sz="1600" b="1" dirty="0" smtClean="0">
                <a:solidFill>
                  <a:srgbClr val="585858"/>
                </a:solidFill>
                <a:latin typeface="+mn-lt"/>
                <a:cs typeface="Calibri"/>
              </a:rPr>
              <a:t> Job First (SJF) : </a:t>
            </a:r>
            <a:r>
              <a:rPr lang="fr-FR" sz="1600" dirty="0" smtClean="0">
                <a:solidFill>
                  <a:srgbClr val="585858"/>
                </a:solidFill>
                <a:latin typeface="+mn-lt"/>
                <a:cs typeface="Calibri"/>
              </a:rPr>
              <a:t>Le processus le plus court est exécuté en premier. </a:t>
            </a:r>
          </a:p>
          <a:p>
            <a:pPr marL="298450" marR="5080" indent="-285750" algn="just" rtl="0">
              <a:lnSpc>
                <a:spcPct val="150100"/>
              </a:lnSpc>
              <a:spcBef>
                <a:spcPts val="100"/>
              </a:spcBef>
              <a:buFont typeface="Wingdings" panose="05000000000000000000" pitchFamily="2" charset="2"/>
              <a:buChar char="§"/>
            </a:pPr>
            <a:r>
              <a:rPr lang="fr-FR" sz="1600" b="1" dirty="0" smtClean="0">
                <a:solidFill>
                  <a:srgbClr val="585858"/>
                </a:solidFill>
                <a:latin typeface="+mn-lt"/>
                <a:cs typeface="Calibri"/>
              </a:rPr>
              <a:t>Round Robin (RR) : </a:t>
            </a:r>
            <a:r>
              <a:rPr lang="fr-FR" sz="1600" dirty="0" smtClean="0">
                <a:solidFill>
                  <a:srgbClr val="585858"/>
                </a:solidFill>
                <a:latin typeface="+mn-lt"/>
                <a:cs typeface="Calibri"/>
              </a:rPr>
              <a:t>Chaque processus reçoit un quantum de temps d'exécution.</a:t>
            </a:r>
          </a:p>
          <a:p>
            <a:pPr marL="298450" marR="5080" indent="-285750" algn="just" rtl="0">
              <a:lnSpc>
                <a:spcPct val="150100"/>
              </a:lnSpc>
              <a:spcBef>
                <a:spcPts val="100"/>
              </a:spcBef>
              <a:buFont typeface="Wingdings" panose="05000000000000000000" pitchFamily="2" charset="2"/>
              <a:buChar char="§"/>
            </a:pPr>
            <a:r>
              <a:rPr lang="fr-FR" sz="1600" b="1" dirty="0" smtClean="0">
                <a:solidFill>
                  <a:srgbClr val="585858"/>
                </a:solidFill>
                <a:latin typeface="+mn-lt"/>
                <a:cs typeface="Calibri"/>
              </a:rPr>
              <a:t>Priorité (</a:t>
            </a:r>
            <a:r>
              <a:rPr lang="fr-FR" sz="1600" b="1" dirty="0" err="1" smtClean="0">
                <a:solidFill>
                  <a:srgbClr val="585858"/>
                </a:solidFill>
                <a:latin typeface="+mn-lt"/>
                <a:cs typeface="Calibri"/>
              </a:rPr>
              <a:t>Priority</a:t>
            </a:r>
            <a:r>
              <a:rPr lang="fr-FR" sz="1600" b="1" dirty="0" smtClean="0">
                <a:solidFill>
                  <a:srgbClr val="585858"/>
                </a:solidFill>
                <a:latin typeface="+mn-lt"/>
                <a:cs typeface="Calibri"/>
              </a:rPr>
              <a:t> </a:t>
            </a:r>
            <a:r>
              <a:rPr lang="fr-FR" sz="1600" b="1" dirty="0" err="1" smtClean="0">
                <a:solidFill>
                  <a:srgbClr val="585858"/>
                </a:solidFill>
                <a:latin typeface="+mn-lt"/>
                <a:cs typeface="Calibri"/>
              </a:rPr>
              <a:t>Scheduling</a:t>
            </a:r>
            <a:r>
              <a:rPr lang="fr-FR" sz="1600" b="1" dirty="0" smtClean="0">
                <a:solidFill>
                  <a:srgbClr val="585858"/>
                </a:solidFill>
                <a:latin typeface="+mn-lt"/>
                <a:cs typeface="Calibri"/>
              </a:rPr>
              <a:t>) : </a:t>
            </a:r>
            <a:r>
              <a:rPr lang="fr-FR" sz="1600" dirty="0" smtClean="0">
                <a:solidFill>
                  <a:srgbClr val="585858"/>
                </a:solidFill>
                <a:latin typeface="+mn-lt"/>
                <a:cs typeface="Calibri"/>
              </a:rPr>
              <a:t>Chaque processus se voit attribuer une priorité, et le processus avec la priorité la plus élevée est exécuté en premier.</a:t>
            </a:r>
          </a:p>
          <a:p>
            <a:pPr marL="12700" marR="5080" algn="just">
              <a:lnSpc>
                <a:spcPct val="150100"/>
              </a:lnSpc>
              <a:spcBef>
                <a:spcPts val="100"/>
              </a:spcBef>
            </a:pPr>
            <a:endParaRPr lang="fr-FR" sz="1200" dirty="0" smtClean="0">
              <a:latin typeface="Calibri"/>
              <a:cs typeface="Calibri"/>
            </a:endParaRPr>
          </a:p>
          <a:p>
            <a:pPr marL="12700" marR="5080" algn="just">
              <a:lnSpc>
                <a:spcPct val="150100"/>
              </a:lnSpc>
              <a:spcBef>
                <a:spcPts val="100"/>
              </a:spcBef>
            </a:pPr>
            <a:endParaRPr lang="fr-FR" sz="1200" dirty="0" smtClean="0">
              <a:solidFill>
                <a:srgbClr val="585858"/>
              </a:solidFill>
              <a:latin typeface="Calibri"/>
              <a:cs typeface="Calibri"/>
            </a:endParaRPr>
          </a:p>
        </p:txBody>
      </p:sp>
      <p:sp>
        <p:nvSpPr>
          <p:cNvPr id="15" name="object 15"/>
          <p:cNvSpPr txBox="1">
            <a:spLocks noGrp="1"/>
          </p:cNvSpPr>
          <p:nvPr>
            <p:ph type="title"/>
          </p:nvPr>
        </p:nvSpPr>
        <p:spPr>
          <a:xfrm>
            <a:off x="263753" y="332308"/>
            <a:ext cx="11664492" cy="702808"/>
          </a:xfrm>
          <a:prstGeom prst="rect">
            <a:avLst/>
          </a:prstGeom>
        </p:spPr>
        <p:txBody>
          <a:bodyPr vert="horz" wrap="square" lIns="0" tIns="147371" rIns="0" bIns="0" rtlCol="0">
            <a:spAutoFit/>
          </a:bodyPr>
          <a:lstStyle/>
          <a:p>
            <a:pPr marL="12700">
              <a:lnSpc>
                <a:spcPct val="100000"/>
              </a:lnSpc>
              <a:spcBef>
                <a:spcPts val="90"/>
              </a:spcBef>
            </a:pPr>
            <a:r>
              <a:rPr lang="fr-FR" dirty="0">
                <a:solidFill>
                  <a:srgbClr val="007842"/>
                </a:solidFill>
              </a:rPr>
              <a:t>04</a:t>
            </a:r>
            <a:r>
              <a:rPr lang="fr-FR" spc="-35" dirty="0">
                <a:solidFill>
                  <a:srgbClr val="007842"/>
                </a:solidFill>
              </a:rPr>
              <a:t> </a:t>
            </a:r>
            <a:r>
              <a:rPr lang="fr-FR" dirty="0">
                <a:solidFill>
                  <a:srgbClr val="007842"/>
                </a:solidFill>
              </a:rPr>
              <a:t>–</a:t>
            </a:r>
            <a:r>
              <a:rPr lang="fr-FR" spc="-20" dirty="0">
                <a:solidFill>
                  <a:srgbClr val="007842"/>
                </a:solidFill>
              </a:rPr>
              <a:t> </a:t>
            </a:r>
            <a:r>
              <a:rPr lang="fr-FR" dirty="0">
                <a:solidFill>
                  <a:srgbClr val="007842"/>
                </a:solidFill>
              </a:rPr>
              <a:t>Gestion des processus </a:t>
            </a:r>
            <a:r>
              <a:rPr lang="fr-FR" dirty="0" smtClean="0">
                <a:solidFill>
                  <a:srgbClr val="007842"/>
                </a:solidFill>
              </a:rPr>
              <a:t/>
            </a:r>
            <a:br>
              <a:rPr lang="fr-FR" dirty="0" smtClean="0">
                <a:solidFill>
                  <a:srgbClr val="007842"/>
                </a:solidFill>
              </a:rPr>
            </a:br>
            <a:r>
              <a:rPr lang="fr-FR" sz="1600" spc="-10" dirty="0" smtClean="0">
                <a:solidFill>
                  <a:srgbClr val="007842"/>
                </a:solidFill>
              </a:rPr>
              <a:t>Algorithmes </a:t>
            </a:r>
            <a:r>
              <a:rPr lang="fr-FR" sz="1600" spc="-10" dirty="0">
                <a:solidFill>
                  <a:srgbClr val="007842"/>
                </a:solidFill>
              </a:rPr>
              <a:t>d'ordonnancement </a:t>
            </a:r>
            <a:endParaRPr sz="1600" dirty="0"/>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Tree>
    <p:extLst>
      <p:ext uri="{BB962C8B-B14F-4D97-AF65-F5344CB8AC3E}">
        <p14:creationId xmlns:p14="http://schemas.microsoft.com/office/powerpoint/2010/main" val="3081617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13</a:t>
            </a:fld>
            <a:endParaRPr spc="-25" dirty="0"/>
          </a:p>
        </p:txBody>
      </p:sp>
      <p:sp>
        <p:nvSpPr>
          <p:cNvPr id="14" name="object 14"/>
          <p:cNvSpPr txBox="1"/>
          <p:nvPr/>
        </p:nvSpPr>
        <p:spPr>
          <a:xfrm>
            <a:off x="753671" y="1464563"/>
            <a:ext cx="10678560" cy="1528624"/>
          </a:xfrm>
          <a:prstGeom prst="rect">
            <a:avLst/>
          </a:prstGeom>
        </p:spPr>
        <p:txBody>
          <a:bodyPr vert="horz" wrap="square" lIns="0" tIns="12700" rIns="0" bIns="0" rtlCol="0">
            <a:spAutoFit/>
          </a:bodyPr>
          <a:lstStyle/>
          <a:p>
            <a:pPr marL="12700" marR="5080" algn="just">
              <a:lnSpc>
                <a:spcPct val="150100"/>
              </a:lnSpc>
              <a:spcBef>
                <a:spcPts val="100"/>
              </a:spcBef>
            </a:pPr>
            <a:r>
              <a:rPr lang="fr-FR" sz="2000" b="1" dirty="0" smtClean="0">
                <a:solidFill>
                  <a:srgbClr val="FFC000"/>
                </a:solidFill>
                <a:latin typeface="Calibri"/>
                <a:cs typeface="Calibri"/>
              </a:rPr>
              <a:t>Exemple</a:t>
            </a:r>
          </a:p>
          <a:p>
            <a:pPr marL="12700" marR="5080" algn="just">
              <a:lnSpc>
                <a:spcPct val="150100"/>
              </a:lnSpc>
              <a:spcBef>
                <a:spcPts val="100"/>
              </a:spcBef>
            </a:pPr>
            <a:r>
              <a:rPr lang="fr-FR" sz="1600" dirty="0" smtClean="0">
                <a:latin typeface="Calibri"/>
                <a:cs typeface="Calibri"/>
              </a:rPr>
              <a:t>Considérez l'ensemble de processus suivant qui arrivent au temps 0ms, avec le temps d’</a:t>
            </a:r>
            <a:r>
              <a:rPr lang="fr-FR" sz="1600" dirty="0">
                <a:latin typeface="Calibri"/>
                <a:cs typeface="Calibri"/>
              </a:rPr>
              <a:t>e</a:t>
            </a:r>
            <a:r>
              <a:rPr lang="fr-FR" sz="1600" dirty="0" smtClean="0">
                <a:latin typeface="Calibri"/>
                <a:cs typeface="Calibri"/>
              </a:rPr>
              <a:t>xécution donné en millisecondes :</a:t>
            </a:r>
          </a:p>
          <a:p>
            <a:pPr marL="12700" marR="5080" algn="just">
              <a:lnSpc>
                <a:spcPct val="150100"/>
              </a:lnSpc>
              <a:spcBef>
                <a:spcPts val="100"/>
              </a:spcBef>
            </a:pPr>
            <a:endParaRPr lang="fr-FR" sz="1600" dirty="0" smtClean="0">
              <a:latin typeface="Calibri"/>
              <a:cs typeface="Calibri"/>
            </a:endParaRPr>
          </a:p>
          <a:p>
            <a:pPr marL="12700" marR="5080" algn="just">
              <a:lnSpc>
                <a:spcPct val="150100"/>
              </a:lnSpc>
              <a:spcBef>
                <a:spcPts val="100"/>
              </a:spcBef>
            </a:pPr>
            <a:endParaRPr lang="fr-FR" sz="1200" dirty="0" smtClean="0">
              <a:solidFill>
                <a:srgbClr val="585858"/>
              </a:solidFill>
              <a:latin typeface="Calibri"/>
              <a:cs typeface="Calibri"/>
            </a:endParaRPr>
          </a:p>
        </p:txBody>
      </p:sp>
      <p:sp>
        <p:nvSpPr>
          <p:cNvPr id="15" name="object 15"/>
          <p:cNvSpPr txBox="1">
            <a:spLocks noGrp="1"/>
          </p:cNvSpPr>
          <p:nvPr>
            <p:ph type="title"/>
          </p:nvPr>
        </p:nvSpPr>
        <p:spPr>
          <a:xfrm>
            <a:off x="263753" y="332308"/>
            <a:ext cx="11664492" cy="702808"/>
          </a:xfrm>
          <a:prstGeom prst="rect">
            <a:avLst/>
          </a:prstGeom>
        </p:spPr>
        <p:txBody>
          <a:bodyPr vert="horz" wrap="square" lIns="0" tIns="147371" rIns="0" bIns="0" rtlCol="0">
            <a:spAutoFit/>
          </a:bodyPr>
          <a:lstStyle/>
          <a:p>
            <a:pPr marL="12700">
              <a:lnSpc>
                <a:spcPct val="100000"/>
              </a:lnSpc>
              <a:spcBef>
                <a:spcPts val="90"/>
              </a:spcBef>
            </a:pPr>
            <a:r>
              <a:rPr lang="fr-FR" dirty="0" smtClean="0">
                <a:solidFill>
                  <a:srgbClr val="007842"/>
                </a:solidFill>
              </a:rPr>
              <a:t>04</a:t>
            </a:r>
            <a:r>
              <a:rPr lang="fr-FR" spc="-35" dirty="0" smtClean="0">
                <a:solidFill>
                  <a:srgbClr val="007842"/>
                </a:solidFill>
              </a:rPr>
              <a:t> </a:t>
            </a:r>
            <a:r>
              <a:rPr lang="fr-FR" dirty="0" smtClean="0">
                <a:solidFill>
                  <a:srgbClr val="007842"/>
                </a:solidFill>
              </a:rPr>
              <a:t>–</a:t>
            </a:r>
            <a:r>
              <a:rPr lang="fr-FR" spc="-20" dirty="0" smtClean="0">
                <a:solidFill>
                  <a:srgbClr val="007842"/>
                </a:solidFill>
              </a:rPr>
              <a:t> </a:t>
            </a:r>
            <a:r>
              <a:rPr lang="fr-FR" dirty="0" smtClean="0">
                <a:solidFill>
                  <a:srgbClr val="007842"/>
                </a:solidFill>
              </a:rPr>
              <a:t>Gestion des processus </a:t>
            </a:r>
            <a:br>
              <a:rPr lang="fr-FR" dirty="0" smtClean="0">
                <a:solidFill>
                  <a:srgbClr val="007842"/>
                </a:solidFill>
              </a:rPr>
            </a:br>
            <a:r>
              <a:rPr lang="fr-FR" sz="1600" spc="-10" dirty="0" smtClean="0">
                <a:solidFill>
                  <a:srgbClr val="007842"/>
                </a:solidFill>
              </a:rPr>
              <a:t>L’</a:t>
            </a:r>
            <a:r>
              <a:rPr lang="fr-FR" sz="1600" spc="-10" dirty="0" err="1" smtClean="0">
                <a:solidFill>
                  <a:srgbClr val="007842"/>
                </a:solidFill>
              </a:rPr>
              <a:t>argorithme</a:t>
            </a:r>
            <a:r>
              <a:rPr lang="fr-FR" sz="1600" spc="-10" dirty="0" smtClean="0">
                <a:solidFill>
                  <a:srgbClr val="007842"/>
                </a:solidFill>
              </a:rPr>
              <a:t> </a:t>
            </a:r>
            <a:r>
              <a:rPr lang="fr-FR" sz="1600" spc="-10" dirty="0">
                <a:solidFill>
                  <a:srgbClr val="007842"/>
                </a:solidFill>
              </a:rPr>
              <a:t>FCFS : Premier arrivé, premier servi </a:t>
            </a:r>
            <a:endParaRPr sz="1600" dirty="0"/>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pic>
        <p:nvPicPr>
          <p:cNvPr id="7" name="Image 6"/>
          <p:cNvPicPr>
            <a:picLocks noChangeAspect="1"/>
          </p:cNvPicPr>
          <p:nvPr/>
        </p:nvPicPr>
        <p:blipFill>
          <a:blip r:embed="rId4"/>
          <a:stretch>
            <a:fillRect/>
          </a:stretch>
        </p:blipFill>
        <p:spPr>
          <a:xfrm>
            <a:off x="915797" y="2412935"/>
            <a:ext cx="10285604" cy="1628775"/>
          </a:xfrm>
          <a:prstGeom prst="rect">
            <a:avLst/>
          </a:prstGeom>
        </p:spPr>
      </p:pic>
      <p:sp>
        <p:nvSpPr>
          <p:cNvPr id="8" name="Rectangle 7"/>
          <p:cNvSpPr/>
          <p:nvPr/>
        </p:nvSpPr>
        <p:spPr>
          <a:xfrm>
            <a:off x="753671" y="4127088"/>
            <a:ext cx="1927131" cy="344069"/>
          </a:xfrm>
          <a:prstGeom prst="rect">
            <a:avLst/>
          </a:prstGeom>
        </p:spPr>
        <p:txBody>
          <a:bodyPr wrap="none">
            <a:spAutoFit/>
          </a:bodyPr>
          <a:lstStyle/>
          <a:p>
            <a:pPr>
              <a:lnSpc>
                <a:spcPct val="107000"/>
              </a:lnSpc>
              <a:spcAft>
                <a:spcPts val="800"/>
              </a:spcAft>
            </a:pPr>
            <a:r>
              <a:rPr lang="fr-FR" sz="1600" dirty="0" smtClean="0">
                <a:solidFill>
                  <a:srgbClr val="0D0D0D"/>
                </a:solidFill>
                <a:effectLst/>
                <a:latin typeface="+mj-lt"/>
                <a:ea typeface="Calibri" panose="020F0502020204030204" pitchFamily="34" charset="0"/>
                <a:cs typeface="Arial" panose="020B0604020202020204" pitchFamily="34" charset="0"/>
              </a:rPr>
              <a:t>Diagramme de Gantt</a:t>
            </a:r>
            <a:endParaRPr lang="fr-FR" sz="1600" dirty="0">
              <a:effectLst/>
              <a:latin typeface="+mj-lt"/>
              <a:ea typeface="Calibri" panose="020F0502020204030204" pitchFamily="34" charset="0"/>
              <a:cs typeface="Arial" panose="020B0604020202020204" pitchFamily="34" charset="0"/>
            </a:endParaRPr>
          </a:p>
        </p:txBody>
      </p:sp>
      <p:pic>
        <p:nvPicPr>
          <p:cNvPr id="13" name="Image 12"/>
          <p:cNvPicPr/>
          <p:nvPr/>
        </p:nvPicPr>
        <p:blipFill>
          <a:blip r:embed="rId5"/>
          <a:stretch>
            <a:fillRect/>
          </a:stretch>
        </p:blipFill>
        <p:spPr>
          <a:xfrm>
            <a:off x="1074547" y="4681581"/>
            <a:ext cx="9898253" cy="988060"/>
          </a:xfrm>
          <a:prstGeom prst="rect">
            <a:avLst/>
          </a:prstGeom>
        </p:spPr>
      </p:pic>
    </p:spTree>
    <p:extLst>
      <p:ext uri="{BB962C8B-B14F-4D97-AF65-F5344CB8AC3E}">
        <p14:creationId xmlns:p14="http://schemas.microsoft.com/office/powerpoint/2010/main" val="2277948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14</a:t>
            </a:fld>
            <a:endParaRPr spc="-25" dirty="0"/>
          </a:p>
        </p:txBody>
      </p:sp>
      <p:sp>
        <p:nvSpPr>
          <p:cNvPr id="14" name="object 14"/>
          <p:cNvSpPr txBox="1"/>
          <p:nvPr/>
        </p:nvSpPr>
        <p:spPr>
          <a:xfrm>
            <a:off x="753671" y="1464563"/>
            <a:ext cx="10678560" cy="1528624"/>
          </a:xfrm>
          <a:prstGeom prst="rect">
            <a:avLst/>
          </a:prstGeom>
        </p:spPr>
        <p:txBody>
          <a:bodyPr vert="horz" wrap="square" lIns="0" tIns="12700" rIns="0" bIns="0" rtlCol="0">
            <a:spAutoFit/>
          </a:bodyPr>
          <a:lstStyle/>
          <a:p>
            <a:pPr marL="12700" marR="5080" algn="just">
              <a:lnSpc>
                <a:spcPct val="150100"/>
              </a:lnSpc>
              <a:spcBef>
                <a:spcPts val="100"/>
              </a:spcBef>
            </a:pPr>
            <a:r>
              <a:rPr lang="fr-FR" sz="2000" b="1" dirty="0" smtClean="0">
                <a:solidFill>
                  <a:srgbClr val="FFC000"/>
                </a:solidFill>
                <a:latin typeface="Calibri"/>
                <a:cs typeface="Calibri"/>
              </a:rPr>
              <a:t>Exemple</a:t>
            </a:r>
          </a:p>
          <a:p>
            <a:pPr marL="12700" marR="5080" algn="just">
              <a:lnSpc>
                <a:spcPct val="150100"/>
              </a:lnSpc>
              <a:spcBef>
                <a:spcPts val="100"/>
              </a:spcBef>
            </a:pPr>
            <a:r>
              <a:rPr lang="fr-FR" sz="1600" dirty="0" smtClean="0">
                <a:latin typeface="Calibri"/>
                <a:cs typeface="Calibri"/>
              </a:rPr>
              <a:t>Considérez l'ensemble de processus suivant qui arrivent au temps 0ms, avec le temps d’</a:t>
            </a:r>
            <a:r>
              <a:rPr lang="fr-FR" sz="1600" dirty="0">
                <a:latin typeface="Calibri"/>
                <a:cs typeface="Calibri"/>
              </a:rPr>
              <a:t>e</a:t>
            </a:r>
            <a:r>
              <a:rPr lang="fr-FR" sz="1600" dirty="0" smtClean="0">
                <a:latin typeface="Calibri"/>
                <a:cs typeface="Calibri"/>
              </a:rPr>
              <a:t>xécution donné en millisecondes :</a:t>
            </a:r>
          </a:p>
          <a:p>
            <a:pPr marL="12700" marR="5080" algn="just">
              <a:lnSpc>
                <a:spcPct val="150100"/>
              </a:lnSpc>
              <a:spcBef>
                <a:spcPts val="100"/>
              </a:spcBef>
            </a:pPr>
            <a:endParaRPr lang="fr-FR" sz="1600" dirty="0" smtClean="0">
              <a:latin typeface="Calibri"/>
              <a:cs typeface="Calibri"/>
            </a:endParaRPr>
          </a:p>
          <a:p>
            <a:pPr marL="12700" marR="5080" algn="just">
              <a:lnSpc>
                <a:spcPct val="150100"/>
              </a:lnSpc>
              <a:spcBef>
                <a:spcPts val="100"/>
              </a:spcBef>
            </a:pPr>
            <a:endParaRPr lang="fr-FR" sz="1200" dirty="0" smtClean="0">
              <a:solidFill>
                <a:srgbClr val="585858"/>
              </a:solidFill>
              <a:latin typeface="Calibri"/>
              <a:cs typeface="Calibri"/>
            </a:endParaRPr>
          </a:p>
        </p:txBody>
      </p:sp>
      <p:sp>
        <p:nvSpPr>
          <p:cNvPr id="15" name="object 15"/>
          <p:cNvSpPr txBox="1">
            <a:spLocks noGrp="1"/>
          </p:cNvSpPr>
          <p:nvPr>
            <p:ph type="title"/>
          </p:nvPr>
        </p:nvSpPr>
        <p:spPr>
          <a:xfrm>
            <a:off x="263753" y="332308"/>
            <a:ext cx="11664492" cy="702808"/>
          </a:xfrm>
          <a:prstGeom prst="rect">
            <a:avLst/>
          </a:prstGeom>
        </p:spPr>
        <p:txBody>
          <a:bodyPr vert="horz" wrap="square" lIns="0" tIns="147371" rIns="0" bIns="0" rtlCol="0">
            <a:spAutoFit/>
          </a:bodyPr>
          <a:lstStyle/>
          <a:p>
            <a:pPr marL="12700">
              <a:lnSpc>
                <a:spcPct val="100000"/>
              </a:lnSpc>
              <a:spcBef>
                <a:spcPts val="90"/>
              </a:spcBef>
            </a:pPr>
            <a:r>
              <a:rPr lang="fr-FR" dirty="0" smtClean="0">
                <a:solidFill>
                  <a:srgbClr val="007842"/>
                </a:solidFill>
              </a:rPr>
              <a:t>04</a:t>
            </a:r>
            <a:r>
              <a:rPr lang="fr-FR" spc="-35" dirty="0" smtClean="0">
                <a:solidFill>
                  <a:srgbClr val="007842"/>
                </a:solidFill>
              </a:rPr>
              <a:t> </a:t>
            </a:r>
            <a:r>
              <a:rPr lang="fr-FR" dirty="0" smtClean="0">
                <a:solidFill>
                  <a:srgbClr val="007842"/>
                </a:solidFill>
              </a:rPr>
              <a:t>–</a:t>
            </a:r>
            <a:r>
              <a:rPr lang="fr-FR" spc="-20" dirty="0" smtClean="0">
                <a:solidFill>
                  <a:srgbClr val="007842"/>
                </a:solidFill>
              </a:rPr>
              <a:t> </a:t>
            </a:r>
            <a:r>
              <a:rPr lang="fr-FR" dirty="0" smtClean="0">
                <a:solidFill>
                  <a:srgbClr val="007842"/>
                </a:solidFill>
              </a:rPr>
              <a:t>Gestion des processus </a:t>
            </a:r>
            <a:br>
              <a:rPr lang="fr-FR" dirty="0" smtClean="0">
                <a:solidFill>
                  <a:srgbClr val="007842"/>
                </a:solidFill>
              </a:rPr>
            </a:br>
            <a:r>
              <a:rPr lang="fr-FR" sz="1600" spc="-10" dirty="0" smtClean="0">
                <a:solidFill>
                  <a:srgbClr val="007842"/>
                </a:solidFill>
              </a:rPr>
              <a:t>L’</a:t>
            </a:r>
            <a:r>
              <a:rPr lang="fr-FR" sz="1600" spc="-10" dirty="0" err="1" smtClean="0">
                <a:solidFill>
                  <a:srgbClr val="007842"/>
                </a:solidFill>
              </a:rPr>
              <a:t>argorithme</a:t>
            </a:r>
            <a:r>
              <a:rPr lang="fr-FR" sz="1600" spc="-10" dirty="0" smtClean="0">
                <a:solidFill>
                  <a:srgbClr val="007842"/>
                </a:solidFill>
              </a:rPr>
              <a:t> </a:t>
            </a:r>
            <a:r>
              <a:rPr lang="fr-FR" sz="1600" spc="-10" dirty="0">
                <a:solidFill>
                  <a:srgbClr val="007842"/>
                </a:solidFill>
              </a:rPr>
              <a:t>FCFS : Premier arrivé, premier servi </a:t>
            </a:r>
            <a:endParaRPr sz="1600" dirty="0"/>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pic>
        <p:nvPicPr>
          <p:cNvPr id="7" name="Image 6"/>
          <p:cNvPicPr>
            <a:picLocks noChangeAspect="1"/>
          </p:cNvPicPr>
          <p:nvPr/>
        </p:nvPicPr>
        <p:blipFill>
          <a:blip r:embed="rId4"/>
          <a:stretch>
            <a:fillRect/>
          </a:stretch>
        </p:blipFill>
        <p:spPr>
          <a:xfrm>
            <a:off x="915797" y="2412935"/>
            <a:ext cx="10285604" cy="1628775"/>
          </a:xfrm>
          <a:prstGeom prst="rect">
            <a:avLst/>
          </a:prstGeom>
        </p:spPr>
      </p:pic>
      <p:sp>
        <p:nvSpPr>
          <p:cNvPr id="8" name="Rectangle 7"/>
          <p:cNvSpPr/>
          <p:nvPr/>
        </p:nvSpPr>
        <p:spPr>
          <a:xfrm>
            <a:off x="753671" y="4127088"/>
            <a:ext cx="1927131" cy="344069"/>
          </a:xfrm>
          <a:prstGeom prst="rect">
            <a:avLst/>
          </a:prstGeom>
        </p:spPr>
        <p:txBody>
          <a:bodyPr wrap="none">
            <a:spAutoFit/>
          </a:bodyPr>
          <a:lstStyle/>
          <a:p>
            <a:pPr>
              <a:lnSpc>
                <a:spcPct val="107000"/>
              </a:lnSpc>
              <a:spcAft>
                <a:spcPts val="800"/>
              </a:spcAft>
            </a:pPr>
            <a:r>
              <a:rPr lang="fr-FR" sz="1600" dirty="0" smtClean="0">
                <a:solidFill>
                  <a:srgbClr val="0D0D0D"/>
                </a:solidFill>
                <a:effectLst/>
                <a:latin typeface="+mj-lt"/>
                <a:ea typeface="Calibri" panose="020F0502020204030204" pitchFamily="34" charset="0"/>
                <a:cs typeface="Arial" panose="020B0604020202020204" pitchFamily="34" charset="0"/>
              </a:rPr>
              <a:t>Diagramme de Gantt</a:t>
            </a:r>
            <a:endParaRPr lang="fr-FR" sz="1600" dirty="0">
              <a:effectLst/>
              <a:latin typeface="+mj-lt"/>
              <a:ea typeface="Calibri" panose="020F0502020204030204" pitchFamily="34" charset="0"/>
              <a:cs typeface="Arial" panose="020B0604020202020204" pitchFamily="34" charset="0"/>
            </a:endParaRPr>
          </a:p>
        </p:txBody>
      </p:sp>
      <p:pic>
        <p:nvPicPr>
          <p:cNvPr id="16" name="Image 15"/>
          <p:cNvPicPr/>
          <p:nvPr/>
        </p:nvPicPr>
        <p:blipFill>
          <a:blip r:embed="rId5"/>
          <a:stretch>
            <a:fillRect/>
          </a:stretch>
        </p:blipFill>
        <p:spPr>
          <a:xfrm>
            <a:off x="1076406" y="4714427"/>
            <a:ext cx="10447730" cy="830580"/>
          </a:xfrm>
          <a:prstGeom prst="rect">
            <a:avLst/>
          </a:prstGeom>
        </p:spPr>
      </p:pic>
    </p:spTree>
    <p:extLst>
      <p:ext uri="{BB962C8B-B14F-4D97-AF65-F5344CB8AC3E}">
        <p14:creationId xmlns:p14="http://schemas.microsoft.com/office/powerpoint/2010/main" val="869838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15</a:t>
            </a:fld>
            <a:endParaRPr spc="-25" dirty="0"/>
          </a:p>
        </p:txBody>
      </p:sp>
      <p:sp>
        <p:nvSpPr>
          <p:cNvPr id="14" name="object 14"/>
          <p:cNvSpPr txBox="1"/>
          <p:nvPr/>
        </p:nvSpPr>
        <p:spPr>
          <a:xfrm>
            <a:off x="753671" y="1464563"/>
            <a:ext cx="10678560" cy="1528624"/>
          </a:xfrm>
          <a:prstGeom prst="rect">
            <a:avLst/>
          </a:prstGeom>
        </p:spPr>
        <p:txBody>
          <a:bodyPr vert="horz" wrap="square" lIns="0" tIns="12700" rIns="0" bIns="0" rtlCol="0">
            <a:spAutoFit/>
          </a:bodyPr>
          <a:lstStyle/>
          <a:p>
            <a:pPr marL="12700" marR="5080" algn="just">
              <a:lnSpc>
                <a:spcPct val="150100"/>
              </a:lnSpc>
              <a:spcBef>
                <a:spcPts val="100"/>
              </a:spcBef>
            </a:pPr>
            <a:r>
              <a:rPr lang="fr-FR" sz="2000" b="1" dirty="0" smtClean="0">
                <a:solidFill>
                  <a:srgbClr val="FFC000"/>
                </a:solidFill>
                <a:latin typeface="Calibri"/>
                <a:cs typeface="Calibri"/>
              </a:rPr>
              <a:t>Exercice</a:t>
            </a:r>
          </a:p>
          <a:p>
            <a:pPr marL="12700" marR="5080" algn="just">
              <a:lnSpc>
                <a:spcPct val="150100"/>
              </a:lnSpc>
              <a:spcBef>
                <a:spcPts val="100"/>
              </a:spcBef>
            </a:pPr>
            <a:r>
              <a:rPr lang="fr-FR" sz="1600" dirty="0" smtClean="0">
                <a:latin typeface="Calibri"/>
                <a:cs typeface="Calibri"/>
              </a:rPr>
              <a:t>Considérez l'ensemble de quatre processus suivants. Le temps d'arrivée et le temps nécessaire pour terminer l'exécution sont donnés dans le tableau suivant. Considérez toutes les valeurs de temps en millisecondes.</a:t>
            </a:r>
          </a:p>
          <a:p>
            <a:pPr marL="12700" marR="5080" algn="just">
              <a:lnSpc>
                <a:spcPct val="150100"/>
              </a:lnSpc>
              <a:spcBef>
                <a:spcPts val="100"/>
              </a:spcBef>
            </a:pPr>
            <a:endParaRPr lang="fr-FR" sz="1200" dirty="0" smtClean="0">
              <a:solidFill>
                <a:srgbClr val="585858"/>
              </a:solidFill>
              <a:latin typeface="Calibri"/>
              <a:cs typeface="Calibri"/>
            </a:endParaRPr>
          </a:p>
        </p:txBody>
      </p:sp>
      <p:sp>
        <p:nvSpPr>
          <p:cNvPr id="15" name="object 15"/>
          <p:cNvSpPr txBox="1">
            <a:spLocks noGrp="1"/>
          </p:cNvSpPr>
          <p:nvPr>
            <p:ph type="title"/>
          </p:nvPr>
        </p:nvSpPr>
        <p:spPr>
          <a:xfrm>
            <a:off x="263753" y="332308"/>
            <a:ext cx="11664492" cy="702808"/>
          </a:xfrm>
          <a:prstGeom prst="rect">
            <a:avLst/>
          </a:prstGeom>
        </p:spPr>
        <p:txBody>
          <a:bodyPr vert="horz" wrap="square" lIns="0" tIns="147371" rIns="0" bIns="0" rtlCol="0">
            <a:spAutoFit/>
          </a:bodyPr>
          <a:lstStyle/>
          <a:p>
            <a:pPr marL="12700">
              <a:lnSpc>
                <a:spcPct val="100000"/>
              </a:lnSpc>
              <a:spcBef>
                <a:spcPts val="90"/>
              </a:spcBef>
            </a:pPr>
            <a:r>
              <a:rPr lang="fr-FR" dirty="0" smtClean="0">
                <a:solidFill>
                  <a:srgbClr val="007842"/>
                </a:solidFill>
              </a:rPr>
              <a:t>04</a:t>
            </a:r>
            <a:r>
              <a:rPr lang="fr-FR" spc="-35" dirty="0" smtClean="0">
                <a:solidFill>
                  <a:srgbClr val="007842"/>
                </a:solidFill>
              </a:rPr>
              <a:t> </a:t>
            </a:r>
            <a:r>
              <a:rPr lang="fr-FR" dirty="0" smtClean="0">
                <a:solidFill>
                  <a:srgbClr val="007842"/>
                </a:solidFill>
              </a:rPr>
              <a:t>–</a:t>
            </a:r>
            <a:r>
              <a:rPr lang="fr-FR" spc="-20" dirty="0" smtClean="0">
                <a:solidFill>
                  <a:srgbClr val="007842"/>
                </a:solidFill>
              </a:rPr>
              <a:t> </a:t>
            </a:r>
            <a:r>
              <a:rPr lang="fr-FR" dirty="0" smtClean="0">
                <a:solidFill>
                  <a:srgbClr val="007842"/>
                </a:solidFill>
              </a:rPr>
              <a:t>Gestion des processus </a:t>
            </a:r>
            <a:br>
              <a:rPr lang="fr-FR" dirty="0" smtClean="0">
                <a:solidFill>
                  <a:srgbClr val="007842"/>
                </a:solidFill>
              </a:rPr>
            </a:br>
            <a:r>
              <a:rPr lang="fr-FR" sz="1600" spc="-10" dirty="0" smtClean="0">
                <a:solidFill>
                  <a:srgbClr val="007842"/>
                </a:solidFill>
              </a:rPr>
              <a:t>L’</a:t>
            </a:r>
            <a:r>
              <a:rPr lang="fr-FR" sz="1600" spc="-10" dirty="0" err="1" smtClean="0">
                <a:solidFill>
                  <a:srgbClr val="007842"/>
                </a:solidFill>
              </a:rPr>
              <a:t>argorithme</a:t>
            </a:r>
            <a:r>
              <a:rPr lang="fr-FR" sz="1600" spc="-10" dirty="0" smtClean="0">
                <a:solidFill>
                  <a:srgbClr val="007842"/>
                </a:solidFill>
              </a:rPr>
              <a:t> </a:t>
            </a:r>
            <a:r>
              <a:rPr lang="fr-FR" sz="1600" spc="-10" dirty="0">
                <a:solidFill>
                  <a:srgbClr val="007842"/>
                </a:solidFill>
              </a:rPr>
              <a:t>FCFS : Premier arrivé, premier servi </a:t>
            </a:r>
            <a:endParaRPr sz="1600" dirty="0"/>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8" name="Rectangle 7"/>
          <p:cNvSpPr/>
          <p:nvPr/>
        </p:nvSpPr>
        <p:spPr>
          <a:xfrm>
            <a:off x="685800" y="4239323"/>
            <a:ext cx="6526146" cy="710131"/>
          </a:xfrm>
          <a:prstGeom prst="rect">
            <a:avLst/>
          </a:prstGeom>
        </p:spPr>
        <p:txBody>
          <a:bodyPr wrap="none">
            <a:spAutoFit/>
          </a:bodyPr>
          <a:lstStyle/>
          <a:p>
            <a:pPr marL="342900" indent="-342900">
              <a:lnSpc>
                <a:spcPct val="107000"/>
              </a:lnSpc>
              <a:spcAft>
                <a:spcPts val="800"/>
              </a:spcAft>
              <a:buFont typeface="+mj-lt"/>
              <a:buAutoNum type="arabicPeriod"/>
            </a:pPr>
            <a:r>
              <a:rPr lang="fr-FR" sz="1600" b="1" dirty="0" smtClean="0">
                <a:solidFill>
                  <a:srgbClr val="FF0000"/>
                </a:solidFill>
                <a:effectLst/>
                <a:latin typeface="+mj-lt"/>
                <a:ea typeface="Calibri" panose="020F0502020204030204" pitchFamily="34" charset="0"/>
                <a:cs typeface="Arial" panose="020B0604020202020204" pitchFamily="34" charset="0"/>
              </a:rPr>
              <a:t>Déterminer le Diagramme de Gantt et renseigner le tableau ci-dessous</a:t>
            </a:r>
          </a:p>
          <a:p>
            <a:pPr marL="342900" indent="-342900">
              <a:lnSpc>
                <a:spcPct val="107000"/>
              </a:lnSpc>
              <a:spcAft>
                <a:spcPts val="800"/>
              </a:spcAft>
              <a:buFont typeface="+mj-lt"/>
              <a:buAutoNum type="arabicPeriod"/>
            </a:pPr>
            <a:r>
              <a:rPr lang="fr-FR" sz="1600" b="1" dirty="0" smtClean="0">
                <a:solidFill>
                  <a:srgbClr val="FF0000"/>
                </a:solidFill>
                <a:effectLst/>
                <a:latin typeface="+mj-lt"/>
                <a:ea typeface="Calibri" panose="020F0502020204030204" pitchFamily="34" charset="0"/>
                <a:cs typeface="Arial" panose="020B0604020202020204" pitchFamily="34" charset="0"/>
              </a:rPr>
              <a:t>Calculer le temps de rotation moyen et le temps d’attente moyen</a:t>
            </a:r>
            <a:endParaRPr lang="fr-FR" sz="1600" b="1" dirty="0">
              <a:solidFill>
                <a:srgbClr val="FF0000"/>
              </a:solidFill>
              <a:effectLst/>
              <a:latin typeface="+mj-lt"/>
              <a:ea typeface="Calibri" panose="020F0502020204030204" pitchFamily="34" charset="0"/>
              <a:cs typeface="Arial" panose="020B0604020202020204" pitchFamily="34" charset="0"/>
            </a:endParaRPr>
          </a:p>
        </p:txBody>
      </p:sp>
      <p:pic>
        <p:nvPicPr>
          <p:cNvPr id="10" name="Image 9"/>
          <p:cNvPicPr>
            <a:picLocks noChangeAspect="1"/>
          </p:cNvPicPr>
          <p:nvPr/>
        </p:nvPicPr>
        <p:blipFill>
          <a:blip r:embed="rId4"/>
          <a:stretch>
            <a:fillRect/>
          </a:stretch>
        </p:blipFill>
        <p:spPr>
          <a:xfrm>
            <a:off x="563688" y="2819401"/>
            <a:ext cx="11058525" cy="1447800"/>
          </a:xfrm>
          <a:prstGeom prst="rect">
            <a:avLst/>
          </a:prstGeom>
        </p:spPr>
      </p:pic>
      <p:pic>
        <p:nvPicPr>
          <p:cNvPr id="11" name="Image 10"/>
          <p:cNvPicPr>
            <a:picLocks noChangeAspect="1"/>
          </p:cNvPicPr>
          <p:nvPr/>
        </p:nvPicPr>
        <p:blipFill>
          <a:blip r:embed="rId5"/>
          <a:stretch>
            <a:fillRect/>
          </a:stretch>
        </p:blipFill>
        <p:spPr>
          <a:xfrm>
            <a:off x="642318" y="5010150"/>
            <a:ext cx="11125200" cy="1543050"/>
          </a:xfrm>
          <a:prstGeom prst="rect">
            <a:avLst/>
          </a:prstGeom>
        </p:spPr>
      </p:pic>
    </p:spTree>
    <p:extLst>
      <p:ext uri="{BB962C8B-B14F-4D97-AF65-F5344CB8AC3E}">
        <p14:creationId xmlns:p14="http://schemas.microsoft.com/office/powerpoint/2010/main" val="13848217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16</a:t>
            </a:fld>
            <a:endParaRPr spc="-25" dirty="0"/>
          </a:p>
        </p:txBody>
      </p:sp>
      <p:sp>
        <p:nvSpPr>
          <p:cNvPr id="14" name="object 14"/>
          <p:cNvSpPr txBox="1"/>
          <p:nvPr/>
        </p:nvSpPr>
        <p:spPr>
          <a:xfrm>
            <a:off x="753671" y="1464563"/>
            <a:ext cx="10678560" cy="735714"/>
          </a:xfrm>
          <a:prstGeom prst="rect">
            <a:avLst/>
          </a:prstGeom>
        </p:spPr>
        <p:txBody>
          <a:bodyPr vert="horz" wrap="square" lIns="0" tIns="12700" rIns="0" bIns="0" rtlCol="0">
            <a:spAutoFit/>
          </a:bodyPr>
          <a:lstStyle/>
          <a:p>
            <a:pPr marL="12700" marR="5080" algn="just">
              <a:lnSpc>
                <a:spcPct val="150100"/>
              </a:lnSpc>
              <a:spcBef>
                <a:spcPts val="100"/>
              </a:spcBef>
            </a:pPr>
            <a:r>
              <a:rPr lang="fr-FR" sz="2000" b="1" dirty="0" smtClean="0">
                <a:solidFill>
                  <a:srgbClr val="FF0000"/>
                </a:solidFill>
                <a:latin typeface="Calibri"/>
                <a:cs typeface="Calibri"/>
              </a:rPr>
              <a:t>Solution</a:t>
            </a:r>
            <a:endParaRPr lang="fr-FR" sz="1600" dirty="0" smtClean="0">
              <a:latin typeface="Calibri"/>
              <a:cs typeface="Calibri"/>
            </a:endParaRPr>
          </a:p>
          <a:p>
            <a:pPr marL="12700" marR="5080" algn="just">
              <a:lnSpc>
                <a:spcPct val="150100"/>
              </a:lnSpc>
              <a:spcBef>
                <a:spcPts val="100"/>
              </a:spcBef>
            </a:pPr>
            <a:endParaRPr lang="fr-FR" sz="1200" dirty="0" smtClean="0">
              <a:solidFill>
                <a:srgbClr val="585858"/>
              </a:solidFill>
              <a:latin typeface="Calibri"/>
              <a:cs typeface="Calibri"/>
            </a:endParaRPr>
          </a:p>
        </p:txBody>
      </p:sp>
      <p:sp>
        <p:nvSpPr>
          <p:cNvPr id="15" name="object 15"/>
          <p:cNvSpPr txBox="1">
            <a:spLocks noGrp="1"/>
          </p:cNvSpPr>
          <p:nvPr>
            <p:ph type="title"/>
          </p:nvPr>
        </p:nvSpPr>
        <p:spPr>
          <a:xfrm>
            <a:off x="263753" y="332308"/>
            <a:ext cx="11664492" cy="702808"/>
          </a:xfrm>
          <a:prstGeom prst="rect">
            <a:avLst/>
          </a:prstGeom>
        </p:spPr>
        <p:txBody>
          <a:bodyPr vert="horz" wrap="square" lIns="0" tIns="147371" rIns="0" bIns="0" rtlCol="0">
            <a:spAutoFit/>
          </a:bodyPr>
          <a:lstStyle/>
          <a:p>
            <a:pPr marL="12700">
              <a:lnSpc>
                <a:spcPct val="100000"/>
              </a:lnSpc>
              <a:spcBef>
                <a:spcPts val="90"/>
              </a:spcBef>
            </a:pPr>
            <a:r>
              <a:rPr lang="fr-FR" dirty="0" smtClean="0">
                <a:solidFill>
                  <a:srgbClr val="007842"/>
                </a:solidFill>
              </a:rPr>
              <a:t>04</a:t>
            </a:r>
            <a:r>
              <a:rPr lang="fr-FR" spc="-35" dirty="0" smtClean="0">
                <a:solidFill>
                  <a:srgbClr val="007842"/>
                </a:solidFill>
              </a:rPr>
              <a:t> </a:t>
            </a:r>
            <a:r>
              <a:rPr lang="fr-FR" dirty="0" smtClean="0">
                <a:solidFill>
                  <a:srgbClr val="007842"/>
                </a:solidFill>
              </a:rPr>
              <a:t>–</a:t>
            </a:r>
            <a:r>
              <a:rPr lang="fr-FR" spc="-20" dirty="0" smtClean="0">
                <a:solidFill>
                  <a:srgbClr val="007842"/>
                </a:solidFill>
              </a:rPr>
              <a:t> </a:t>
            </a:r>
            <a:r>
              <a:rPr lang="fr-FR" dirty="0" smtClean="0">
                <a:solidFill>
                  <a:srgbClr val="007842"/>
                </a:solidFill>
              </a:rPr>
              <a:t>Gestion des processus </a:t>
            </a:r>
            <a:br>
              <a:rPr lang="fr-FR" dirty="0" smtClean="0">
                <a:solidFill>
                  <a:srgbClr val="007842"/>
                </a:solidFill>
              </a:rPr>
            </a:br>
            <a:r>
              <a:rPr lang="fr-FR" sz="1600" spc="-10" dirty="0" smtClean="0">
                <a:solidFill>
                  <a:srgbClr val="007842"/>
                </a:solidFill>
              </a:rPr>
              <a:t>L’</a:t>
            </a:r>
            <a:r>
              <a:rPr lang="fr-FR" sz="1600" spc="-10" dirty="0" err="1" smtClean="0">
                <a:solidFill>
                  <a:srgbClr val="007842"/>
                </a:solidFill>
              </a:rPr>
              <a:t>argorithme</a:t>
            </a:r>
            <a:r>
              <a:rPr lang="fr-FR" sz="1600" spc="-10" dirty="0" smtClean="0">
                <a:solidFill>
                  <a:srgbClr val="007842"/>
                </a:solidFill>
              </a:rPr>
              <a:t> </a:t>
            </a:r>
            <a:r>
              <a:rPr lang="fr-FR" sz="1600" spc="-10" dirty="0">
                <a:solidFill>
                  <a:srgbClr val="007842"/>
                </a:solidFill>
              </a:rPr>
              <a:t>FCFS : Premier arrivé, premier servi </a:t>
            </a:r>
            <a:endParaRPr sz="1600" dirty="0"/>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8" name="Rectangle 7"/>
          <p:cNvSpPr/>
          <p:nvPr/>
        </p:nvSpPr>
        <p:spPr>
          <a:xfrm>
            <a:off x="528445" y="2022375"/>
            <a:ext cx="2010487" cy="355803"/>
          </a:xfrm>
          <a:prstGeom prst="rect">
            <a:avLst/>
          </a:prstGeom>
        </p:spPr>
        <p:txBody>
          <a:bodyPr wrap="none">
            <a:spAutoFit/>
          </a:bodyPr>
          <a:lstStyle/>
          <a:p>
            <a:pPr>
              <a:lnSpc>
                <a:spcPct val="107000"/>
              </a:lnSpc>
              <a:spcAft>
                <a:spcPts val="800"/>
              </a:spcAft>
            </a:pPr>
            <a:r>
              <a:rPr lang="fr-FR" sz="1600" b="1" dirty="0" smtClean="0">
                <a:solidFill>
                  <a:schemeClr val="tx1"/>
                </a:solidFill>
                <a:effectLst/>
                <a:latin typeface="+mj-lt"/>
                <a:ea typeface="Calibri" panose="020F0502020204030204" pitchFamily="34" charset="0"/>
                <a:cs typeface="Arial" panose="020B0604020202020204" pitchFamily="34" charset="0"/>
              </a:rPr>
              <a:t>Diagramme de Gantt</a:t>
            </a:r>
          </a:p>
        </p:txBody>
      </p:sp>
      <p:pic>
        <p:nvPicPr>
          <p:cNvPr id="16" name="Image 15"/>
          <p:cNvPicPr/>
          <p:nvPr/>
        </p:nvPicPr>
        <p:blipFill>
          <a:blip r:embed="rId4"/>
          <a:stretch>
            <a:fillRect/>
          </a:stretch>
        </p:blipFill>
        <p:spPr>
          <a:xfrm>
            <a:off x="609599" y="2413444"/>
            <a:ext cx="10038577" cy="689289"/>
          </a:xfrm>
          <a:prstGeom prst="rect">
            <a:avLst/>
          </a:prstGeom>
        </p:spPr>
      </p:pic>
      <p:pic>
        <p:nvPicPr>
          <p:cNvPr id="7" name="Image 6"/>
          <p:cNvPicPr>
            <a:picLocks noChangeAspect="1"/>
          </p:cNvPicPr>
          <p:nvPr/>
        </p:nvPicPr>
        <p:blipFill>
          <a:blip r:embed="rId5"/>
          <a:stretch>
            <a:fillRect/>
          </a:stretch>
        </p:blipFill>
        <p:spPr>
          <a:xfrm>
            <a:off x="667080" y="3397631"/>
            <a:ext cx="10752530" cy="3437357"/>
          </a:xfrm>
          <a:prstGeom prst="rect">
            <a:avLst/>
          </a:prstGeom>
        </p:spPr>
      </p:pic>
      <p:sp>
        <p:nvSpPr>
          <p:cNvPr id="19" name="Rectangle 18"/>
          <p:cNvSpPr/>
          <p:nvPr/>
        </p:nvSpPr>
        <p:spPr>
          <a:xfrm>
            <a:off x="609600" y="3225597"/>
            <a:ext cx="1181734" cy="344069"/>
          </a:xfrm>
          <a:prstGeom prst="rect">
            <a:avLst/>
          </a:prstGeom>
        </p:spPr>
        <p:txBody>
          <a:bodyPr wrap="none">
            <a:spAutoFit/>
          </a:bodyPr>
          <a:lstStyle/>
          <a:p>
            <a:pPr>
              <a:lnSpc>
                <a:spcPct val="107000"/>
              </a:lnSpc>
              <a:spcAft>
                <a:spcPts val="800"/>
              </a:spcAft>
            </a:pPr>
            <a:r>
              <a:rPr lang="fr-FR" sz="1600" b="1" dirty="0" smtClean="0">
                <a:solidFill>
                  <a:schemeClr val="tx1"/>
                </a:solidFill>
                <a:latin typeface="+mj-lt"/>
                <a:ea typeface="Calibri" panose="020F0502020204030204" pitchFamily="34" charset="0"/>
                <a:cs typeface="Arial" panose="020B0604020202020204" pitchFamily="34" charset="0"/>
              </a:rPr>
              <a:t>Statistiques</a:t>
            </a:r>
            <a:endParaRPr lang="fr-FR" sz="1600" b="1" dirty="0" smtClean="0">
              <a:solidFill>
                <a:schemeClr val="tx1"/>
              </a:solidFill>
              <a:effectLst/>
              <a:latin typeface="+mj-lt"/>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2818930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17</a:t>
            </a:fld>
            <a:endParaRPr spc="-25" dirty="0"/>
          </a:p>
        </p:txBody>
      </p:sp>
      <p:sp>
        <p:nvSpPr>
          <p:cNvPr id="14" name="object 14"/>
          <p:cNvSpPr txBox="1"/>
          <p:nvPr/>
        </p:nvSpPr>
        <p:spPr>
          <a:xfrm>
            <a:off x="753671" y="1464563"/>
            <a:ext cx="10678560" cy="1528624"/>
          </a:xfrm>
          <a:prstGeom prst="rect">
            <a:avLst/>
          </a:prstGeom>
        </p:spPr>
        <p:txBody>
          <a:bodyPr vert="horz" wrap="square" lIns="0" tIns="12700" rIns="0" bIns="0" rtlCol="0">
            <a:spAutoFit/>
          </a:bodyPr>
          <a:lstStyle/>
          <a:p>
            <a:pPr marL="12700" marR="5080" algn="just">
              <a:lnSpc>
                <a:spcPct val="150100"/>
              </a:lnSpc>
              <a:spcBef>
                <a:spcPts val="100"/>
              </a:spcBef>
            </a:pPr>
            <a:r>
              <a:rPr lang="fr-FR" sz="2000" b="1" dirty="0" smtClean="0">
                <a:solidFill>
                  <a:srgbClr val="FFC000"/>
                </a:solidFill>
                <a:latin typeface="Calibri"/>
                <a:cs typeface="Calibri"/>
              </a:rPr>
              <a:t>Exemple</a:t>
            </a:r>
          </a:p>
          <a:p>
            <a:pPr marL="12700" marR="5080" algn="just">
              <a:lnSpc>
                <a:spcPct val="150100"/>
              </a:lnSpc>
              <a:spcBef>
                <a:spcPts val="100"/>
              </a:spcBef>
            </a:pPr>
            <a:r>
              <a:rPr lang="fr-FR" sz="1600" dirty="0" smtClean="0">
                <a:latin typeface="Calibri"/>
                <a:cs typeface="Calibri"/>
              </a:rPr>
              <a:t>Considérez l'ensemble de processus suivant qui arrivent au temps 0ms, avec le temps d’</a:t>
            </a:r>
            <a:r>
              <a:rPr lang="fr-FR" sz="1600" dirty="0">
                <a:latin typeface="Calibri"/>
                <a:cs typeface="Calibri"/>
              </a:rPr>
              <a:t>e</a:t>
            </a:r>
            <a:r>
              <a:rPr lang="fr-FR" sz="1600" dirty="0" smtClean="0">
                <a:latin typeface="Calibri"/>
                <a:cs typeface="Calibri"/>
              </a:rPr>
              <a:t>xécution donné en millisecondes :</a:t>
            </a:r>
          </a:p>
          <a:p>
            <a:pPr marL="12700" marR="5080" algn="just">
              <a:lnSpc>
                <a:spcPct val="150100"/>
              </a:lnSpc>
              <a:spcBef>
                <a:spcPts val="100"/>
              </a:spcBef>
            </a:pPr>
            <a:endParaRPr lang="fr-FR" sz="1600" dirty="0" smtClean="0">
              <a:latin typeface="Calibri"/>
              <a:cs typeface="Calibri"/>
            </a:endParaRPr>
          </a:p>
          <a:p>
            <a:pPr marL="12700" marR="5080" algn="just">
              <a:lnSpc>
                <a:spcPct val="150100"/>
              </a:lnSpc>
              <a:spcBef>
                <a:spcPts val="100"/>
              </a:spcBef>
            </a:pPr>
            <a:endParaRPr lang="fr-FR" sz="1200" dirty="0" smtClean="0">
              <a:solidFill>
                <a:srgbClr val="585858"/>
              </a:solidFill>
              <a:latin typeface="Calibri"/>
              <a:cs typeface="Calibri"/>
            </a:endParaRPr>
          </a:p>
        </p:txBody>
      </p:sp>
      <p:sp>
        <p:nvSpPr>
          <p:cNvPr id="15" name="object 15"/>
          <p:cNvSpPr txBox="1">
            <a:spLocks noGrp="1"/>
          </p:cNvSpPr>
          <p:nvPr>
            <p:ph type="title"/>
          </p:nvPr>
        </p:nvSpPr>
        <p:spPr>
          <a:xfrm>
            <a:off x="263753" y="332308"/>
            <a:ext cx="11664492" cy="702808"/>
          </a:xfrm>
          <a:prstGeom prst="rect">
            <a:avLst/>
          </a:prstGeom>
        </p:spPr>
        <p:txBody>
          <a:bodyPr vert="horz" wrap="square" lIns="0" tIns="147371" rIns="0" bIns="0" rtlCol="0">
            <a:spAutoFit/>
          </a:bodyPr>
          <a:lstStyle/>
          <a:p>
            <a:pPr marL="12700">
              <a:lnSpc>
                <a:spcPct val="100000"/>
              </a:lnSpc>
              <a:spcBef>
                <a:spcPts val="90"/>
              </a:spcBef>
            </a:pPr>
            <a:r>
              <a:rPr lang="fr-FR" dirty="0" smtClean="0">
                <a:solidFill>
                  <a:srgbClr val="007842"/>
                </a:solidFill>
              </a:rPr>
              <a:t>04</a:t>
            </a:r>
            <a:r>
              <a:rPr lang="fr-FR" spc="-35" dirty="0" smtClean="0">
                <a:solidFill>
                  <a:srgbClr val="007842"/>
                </a:solidFill>
              </a:rPr>
              <a:t> </a:t>
            </a:r>
            <a:r>
              <a:rPr lang="fr-FR" dirty="0" smtClean="0">
                <a:solidFill>
                  <a:srgbClr val="007842"/>
                </a:solidFill>
              </a:rPr>
              <a:t>–</a:t>
            </a:r>
            <a:r>
              <a:rPr lang="fr-FR" spc="-20" dirty="0" smtClean="0">
                <a:solidFill>
                  <a:srgbClr val="007842"/>
                </a:solidFill>
              </a:rPr>
              <a:t> </a:t>
            </a:r>
            <a:r>
              <a:rPr lang="fr-FR" dirty="0" smtClean="0">
                <a:solidFill>
                  <a:srgbClr val="007842"/>
                </a:solidFill>
              </a:rPr>
              <a:t>Gestion des processus </a:t>
            </a:r>
            <a:br>
              <a:rPr lang="fr-FR" dirty="0" smtClean="0">
                <a:solidFill>
                  <a:srgbClr val="007842"/>
                </a:solidFill>
              </a:rPr>
            </a:br>
            <a:r>
              <a:rPr lang="fr-FR" sz="1600" spc="-10" dirty="0" err="1" smtClean="0">
                <a:solidFill>
                  <a:srgbClr val="007842"/>
                </a:solidFill>
              </a:rPr>
              <a:t>Shortest</a:t>
            </a:r>
            <a:r>
              <a:rPr lang="fr-FR" sz="1600" spc="-10" dirty="0" smtClean="0">
                <a:solidFill>
                  <a:srgbClr val="007842"/>
                </a:solidFill>
              </a:rPr>
              <a:t> </a:t>
            </a:r>
            <a:r>
              <a:rPr lang="fr-FR" sz="1600" spc="-10" dirty="0">
                <a:solidFill>
                  <a:srgbClr val="007842"/>
                </a:solidFill>
              </a:rPr>
              <a:t>Job First (SJF): (Algorithme du plus court d’abord)</a:t>
            </a:r>
            <a:endParaRPr sz="1600" dirty="0"/>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8" name="Rectangle 7"/>
          <p:cNvSpPr/>
          <p:nvPr/>
        </p:nvSpPr>
        <p:spPr>
          <a:xfrm>
            <a:off x="753671" y="4127088"/>
            <a:ext cx="1927131" cy="344069"/>
          </a:xfrm>
          <a:prstGeom prst="rect">
            <a:avLst/>
          </a:prstGeom>
        </p:spPr>
        <p:txBody>
          <a:bodyPr wrap="none">
            <a:spAutoFit/>
          </a:bodyPr>
          <a:lstStyle/>
          <a:p>
            <a:pPr>
              <a:lnSpc>
                <a:spcPct val="107000"/>
              </a:lnSpc>
              <a:spcAft>
                <a:spcPts val="800"/>
              </a:spcAft>
            </a:pPr>
            <a:r>
              <a:rPr lang="fr-FR" sz="1600" dirty="0" smtClean="0">
                <a:solidFill>
                  <a:srgbClr val="0D0D0D"/>
                </a:solidFill>
                <a:effectLst/>
                <a:latin typeface="+mj-lt"/>
                <a:ea typeface="Calibri" panose="020F0502020204030204" pitchFamily="34" charset="0"/>
                <a:cs typeface="Arial" panose="020B0604020202020204" pitchFamily="34" charset="0"/>
              </a:rPr>
              <a:t>Diagramme de Gantt</a:t>
            </a:r>
            <a:endParaRPr lang="fr-FR" sz="1600" dirty="0">
              <a:effectLst/>
              <a:latin typeface="+mj-lt"/>
              <a:ea typeface="Calibri" panose="020F0502020204030204" pitchFamily="34" charset="0"/>
              <a:cs typeface="Arial" panose="020B0604020202020204" pitchFamily="34" charset="0"/>
            </a:endParaRPr>
          </a:p>
        </p:txBody>
      </p:sp>
      <p:pic>
        <p:nvPicPr>
          <p:cNvPr id="9" name="Image 8"/>
          <p:cNvPicPr>
            <a:picLocks noChangeAspect="1"/>
          </p:cNvPicPr>
          <p:nvPr/>
        </p:nvPicPr>
        <p:blipFill>
          <a:blip r:embed="rId4"/>
          <a:stretch>
            <a:fillRect/>
          </a:stretch>
        </p:blipFill>
        <p:spPr>
          <a:xfrm>
            <a:off x="582902" y="2335154"/>
            <a:ext cx="11106150" cy="1895475"/>
          </a:xfrm>
          <a:prstGeom prst="rect">
            <a:avLst/>
          </a:prstGeom>
        </p:spPr>
      </p:pic>
      <p:pic>
        <p:nvPicPr>
          <p:cNvPr id="16" name="Image 15"/>
          <p:cNvPicPr/>
          <p:nvPr/>
        </p:nvPicPr>
        <p:blipFill>
          <a:blip r:embed="rId5"/>
          <a:stretch>
            <a:fillRect/>
          </a:stretch>
        </p:blipFill>
        <p:spPr>
          <a:xfrm>
            <a:off x="753671" y="4843278"/>
            <a:ext cx="10600129" cy="1042504"/>
          </a:xfrm>
          <a:prstGeom prst="rect">
            <a:avLst/>
          </a:prstGeom>
        </p:spPr>
      </p:pic>
    </p:spTree>
    <p:extLst>
      <p:ext uri="{BB962C8B-B14F-4D97-AF65-F5344CB8AC3E}">
        <p14:creationId xmlns:p14="http://schemas.microsoft.com/office/powerpoint/2010/main" val="1339076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18</a:t>
            </a:fld>
            <a:endParaRPr spc="-25" dirty="0"/>
          </a:p>
        </p:txBody>
      </p:sp>
      <p:sp>
        <p:nvSpPr>
          <p:cNvPr id="14" name="object 14"/>
          <p:cNvSpPr txBox="1"/>
          <p:nvPr/>
        </p:nvSpPr>
        <p:spPr>
          <a:xfrm>
            <a:off x="753671" y="1464563"/>
            <a:ext cx="10678560" cy="1528624"/>
          </a:xfrm>
          <a:prstGeom prst="rect">
            <a:avLst/>
          </a:prstGeom>
        </p:spPr>
        <p:txBody>
          <a:bodyPr vert="horz" wrap="square" lIns="0" tIns="12700" rIns="0" bIns="0" rtlCol="0">
            <a:spAutoFit/>
          </a:bodyPr>
          <a:lstStyle/>
          <a:p>
            <a:pPr marL="12700" marR="5080" algn="just">
              <a:lnSpc>
                <a:spcPct val="150100"/>
              </a:lnSpc>
              <a:spcBef>
                <a:spcPts val="100"/>
              </a:spcBef>
            </a:pPr>
            <a:r>
              <a:rPr lang="fr-FR" sz="2000" b="1" dirty="0" smtClean="0">
                <a:solidFill>
                  <a:srgbClr val="FFC000"/>
                </a:solidFill>
                <a:latin typeface="Calibri"/>
                <a:cs typeface="Calibri"/>
              </a:rPr>
              <a:t>Exemple</a:t>
            </a:r>
          </a:p>
          <a:p>
            <a:pPr marL="12700" marR="5080" algn="just">
              <a:lnSpc>
                <a:spcPct val="150100"/>
              </a:lnSpc>
              <a:spcBef>
                <a:spcPts val="100"/>
              </a:spcBef>
            </a:pPr>
            <a:r>
              <a:rPr lang="fr-FR" sz="1600" b="1" dirty="0" smtClean="0">
                <a:latin typeface="Calibri"/>
                <a:cs typeface="Calibri"/>
              </a:rPr>
              <a:t>Statistiques :</a:t>
            </a:r>
          </a:p>
          <a:p>
            <a:pPr marL="12700" marR="5080" algn="just">
              <a:lnSpc>
                <a:spcPct val="150100"/>
              </a:lnSpc>
              <a:spcBef>
                <a:spcPts val="100"/>
              </a:spcBef>
            </a:pPr>
            <a:endParaRPr lang="fr-FR" sz="1600" dirty="0" smtClean="0">
              <a:latin typeface="Calibri"/>
              <a:cs typeface="Calibri"/>
            </a:endParaRPr>
          </a:p>
          <a:p>
            <a:pPr marL="12700" marR="5080" algn="just">
              <a:lnSpc>
                <a:spcPct val="150100"/>
              </a:lnSpc>
              <a:spcBef>
                <a:spcPts val="100"/>
              </a:spcBef>
            </a:pPr>
            <a:endParaRPr lang="fr-FR" sz="1200" dirty="0" smtClean="0">
              <a:solidFill>
                <a:srgbClr val="585858"/>
              </a:solidFill>
              <a:latin typeface="Calibri"/>
              <a:cs typeface="Calibri"/>
            </a:endParaRPr>
          </a:p>
        </p:txBody>
      </p:sp>
      <p:sp>
        <p:nvSpPr>
          <p:cNvPr id="15" name="object 15"/>
          <p:cNvSpPr txBox="1">
            <a:spLocks noGrp="1"/>
          </p:cNvSpPr>
          <p:nvPr>
            <p:ph type="title"/>
          </p:nvPr>
        </p:nvSpPr>
        <p:spPr>
          <a:xfrm>
            <a:off x="263753" y="332308"/>
            <a:ext cx="11664492" cy="702808"/>
          </a:xfrm>
          <a:prstGeom prst="rect">
            <a:avLst/>
          </a:prstGeom>
        </p:spPr>
        <p:txBody>
          <a:bodyPr vert="horz" wrap="square" lIns="0" tIns="147371" rIns="0" bIns="0" rtlCol="0">
            <a:spAutoFit/>
          </a:bodyPr>
          <a:lstStyle/>
          <a:p>
            <a:pPr marL="12700">
              <a:lnSpc>
                <a:spcPct val="100000"/>
              </a:lnSpc>
              <a:spcBef>
                <a:spcPts val="90"/>
              </a:spcBef>
            </a:pPr>
            <a:r>
              <a:rPr lang="fr-FR" dirty="0" smtClean="0">
                <a:solidFill>
                  <a:srgbClr val="007842"/>
                </a:solidFill>
              </a:rPr>
              <a:t>04</a:t>
            </a:r>
            <a:r>
              <a:rPr lang="fr-FR" spc="-35" dirty="0" smtClean="0">
                <a:solidFill>
                  <a:srgbClr val="007842"/>
                </a:solidFill>
              </a:rPr>
              <a:t> </a:t>
            </a:r>
            <a:r>
              <a:rPr lang="fr-FR" dirty="0" smtClean="0">
                <a:solidFill>
                  <a:srgbClr val="007842"/>
                </a:solidFill>
              </a:rPr>
              <a:t>–</a:t>
            </a:r>
            <a:r>
              <a:rPr lang="fr-FR" spc="-20" dirty="0" smtClean="0">
                <a:solidFill>
                  <a:srgbClr val="007842"/>
                </a:solidFill>
              </a:rPr>
              <a:t> </a:t>
            </a:r>
            <a:r>
              <a:rPr lang="fr-FR" dirty="0" smtClean="0">
                <a:solidFill>
                  <a:srgbClr val="007842"/>
                </a:solidFill>
              </a:rPr>
              <a:t>Gestion des processus </a:t>
            </a:r>
            <a:br>
              <a:rPr lang="fr-FR" dirty="0" smtClean="0">
                <a:solidFill>
                  <a:srgbClr val="007842"/>
                </a:solidFill>
              </a:rPr>
            </a:br>
            <a:r>
              <a:rPr lang="fr-FR" sz="1600" spc="-10" dirty="0" err="1" smtClean="0">
                <a:solidFill>
                  <a:srgbClr val="007842"/>
                </a:solidFill>
              </a:rPr>
              <a:t>Shortest</a:t>
            </a:r>
            <a:r>
              <a:rPr lang="fr-FR" sz="1600" spc="-10" dirty="0" smtClean="0">
                <a:solidFill>
                  <a:srgbClr val="007842"/>
                </a:solidFill>
              </a:rPr>
              <a:t> </a:t>
            </a:r>
            <a:r>
              <a:rPr lang="fr-FR" sz="1600" spc="-10" dirty="0">
                <a:solidFill>
                  <a:srgbClr val="007842"/>
                </a:solidFill>
              </a:rPr>
              <a:t>Job First (SJF): (Algorithme du plus court d’abord)</a:t>
            </a:r>
            <a:endParaRPr sz="1600" dirty="0"/>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8" name="Rectangle 7"/>
          <p:cNvSpPr/>
          <p:nvPr/>
        </p:nvSpPr>
        <p:spPr>
          <a:xfrm>
            <a:off x="759247" y="5486271"/>
            <a:ext cx="1963999" cy="344069"/>
          </a:xfrm>
          <a:prstGeom prst="rect">
            <a:avLst/>
          </a:prstGeom>
        </p:spPr>
        <p:txBody>
          <a:bodyPr wrap="none">
            <a:spAutoFit/>
          </a:bodyPr>
          <a:lstStyle/>
          <a:p>
            <a:pPr>
              <a:lnSpc>
                <a:spcPct val="107000"/>
              </a:lnSpc>
              <a:spcAft>
                <a:spcPts val="800"/>
              </a:spcAft>
            </a:pPr>
            <a:r>
              <a:rPr lang="fr-FR" sz="1600" b="1" dirty="0" smtClean="0">
                <a:solidFill>
                  <a:srgbClr val="0D0D0D"/>
                </a:solidFill>
                <a:effectLst/>
                <a:latin typeface="+mj-lt"/>
                <a:ea typeface="Calibri" panose="020F0502020204030204" pitchFamily="34" charset="0"/>
                <a:cs typeface="Arial" panose="020B0604020202020204" pitchFamily="34" charset="0"/>
              </a:rPr>
              <a:t>Diagramme de Gantt</a:t>
            </a:r>
            <a:endParaRPr lang="fr-FR" sz="1600" b="1" dirty="0">
              <a:effectLst/>
              <a:latin typeface="+mj-lt"/>
              <a:ea typeface="Calibri" panose="020F0502020204030204" pitchFamily="34" charset="0"/>
              <a:cs typeface="Arial" panose="020B0604020202020204" pitchFamily="34" charset="0"/>
            </a:endParaRPr>
          </a:p>
        </p:txBody>
      </p:sp>
      <p:pic>
        <p:nvPicPr>
          <p:cNvPr id="10" name="Image 9"/>
          <p:cNvPicPr>
            <a:picLocks noChangeAspect="1"/>
          </p:cNvPicPr>
          <p:nvPr/>
        </p:nvPicPr>
        <p:blipFill>
          <a:blip r:embed="rId4"/>
          <a:stretch>
            <a:fillRect/>
          </a:stretch>
        </p:blipFill>
        <p:spPr>
          <a:xfrm>
            <a:off x="661504" y="2414463"/>
            <a:ext cx="10374411" cy="3103656"/>
          </a:xfrm>
          <a:prstGeom prst="rect">
            <a:avLst/>
          </a:prstGeom>
        </p:spPr>
      </p:pic>
      <p:pic>
        <p:nvPicPr>
          <p:cNvPr id="19" name="Image 18"/>
          <p:cNvPicPr/>
          <p:nvPr/>
        </p:nvPicPr>
        <p:blipFill>
          <a:blip r:embed="rId5"/>
          <a:stretch>
            <a:fillRect/>
          </a:stretch>
        </p:blipFill>
        <p:spPr>
          <a:xfrm>
            <a:off x="693099" y="5910536"/>
            <a:ext cx="10600129" cy="642993"/>
          </a:xfrm>
          <a:prstGeom prst="rect">
            <a:avLst/>
          </a:prstGeom>
        </p:spPr>
      </p:pic>
    </p:spTree>
    <p:extLst>
      <p:ext uri="{BB962C8B-B14F-4D97-AF65-F5344CB8AC3E}">
        <p14:creationId xmlns:p14="http://schemas.microsoft.com/office/powerpoint/2010/main" val="38625979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19</a:t>
            </a:fld>
            <a:endParaRPr spc="-25" dirty="0"/>
          </a:p>
        </p:txBody>
      </p:sp>
      <p:sp>
        <p:nvSpPr>
          <p:cNvPr id="14" name="object 14"/>
          <p:cNvSpPr txBox="1"/>
          <p:nvPr/>
        </p:nvSpPr>
        <p:spPr>
          <a:xfrm>
            <a:off x="753671" y="1464563"/>
            <a:ext cx="10678560" cy="1528624"/>
          </a:xfrm>
          <a:prstGeom prst="rect">
            <a:avLst/>
          </a:prstGeom>
        </p:spPr>
        <p:txBody>
          <a:bodyPr vert="horz" wrap="square" lIns="0" tIns="12700" rIns="0" bIns="0" rtlCol="0">
            <a:spAutoFit/>
          </a:bodyPr>
          <a:lstStyle/>
          <a:p>
            <a:pPr marL="12700" marR="5080" algn="just">
              <a:lnSpc>
                <a:spcPct val="150100"/>
              </a:lnSpc>
              <a:spcBef>
                <a:spcPts val="100"/>
              </a:spcBef>
            </a:pPr>
            <a:r>
              <a:rPr lang="fr-FR" sz="2000" b="1" dirty="0" smtClean="0">
                <a:solidFill>
                  <a:srgbClr val="FFC000"/>
                </a:solidFill>
                <a:latin typeface="Calibri"/>
                <a:cs typeface="Calibri"/>
              </a:rPr>
              <a:t>Exercice</a:t>
            </a:r>
          </a:p>
          <a:p>
            <a:pPr marL="12700" marR="5080" algn="just">
              <a:lnSpc>
                <a:spcPct val="150100"/>
              </a:lnSpc>
              <a:spcBef>
                <a:spcPts val="100"/>
              </a:spcBef>
            </a:pPr>
            <a:r>
              <a:rPr lang="fr-FR" sz="1600" dirty="0" smtClean="0">
                <a:latin typeface="Calibri"/>
                <a:cs typeface="Calibri"/>
              </a:rPr>
              <a:t>Considérez l'ensemble de quatre processus suivants. Le temps d'arrivée et le temps nécessaire pour terminer l'exécution sont donnés dans le tableau suivant. Considérez toutes les valeurs de temps en millisecondes.</a:t>
            </a:r>
          </a:p>
          <a:p>
            <a:pPr marL="12700" marR="5080" algn="just">
              <a:lnSpc>
                <a:spcPct val="150100"/>
              </a:lnSpc>
              <a:spcBef>
                <a:spcPts val="100"/>
              </a:spcBef>
            </a:pPr>
            <a:endParaRPr lang="fr-FR" sz="1200" dirty="0" smtClean="0">
              <a:solidFill>
                <a:srgbClr val="585858"/>
              </a:solidFill>
              <a:latin typeface="Calibri"/>
              <a:cs typeface="Calibri"/>
            </a:endParaRPr>
          </a:p>
        </p:txBody>
      </p:sp>
      <p:sp>
        <p:nvSpPr>
          <p:cNvPr id="15" name="object 15"/>
          <p:cNvSpPr txBox="1">
            <a:spLocks noGrp="1"/>
          </p:cNvSpPr>
          <p:nvPr>
            <p:ph type="title"/>
          </p:nvPr>
        </p:nvSpPr>
        <p:spPr>
          <a:xfrm>
            <a:off x="263753" y="332308"/>
            <a:ext cx="11664492" cy="702808"/>
          </a:xfrm>
          <a:prstGeom prst="rect">
            <a:avLst/>
          </a:prstGeom>
        </p:spPr>
        <p:txBody>
          <a:bodyPr vert="horz" wrap="square" lIns="0" tIns="147371" rIns="0" bIns="0" rtlCol="0">
            <a:spAutoFit/>
          </a:bodyPr>
          <a:lstStyle/>
          <a:p>
            <a:pPr marL="12700">
              <a:lnSpc>
                <a:spcPct val="100000"/>
              </a:lnSpc>
              <a:spcBef>
                <a:spcPts val="90"/>
              </a:spcBef>
            </a:pPr>
            <a:r>
              <a:rPr lang="fr-FR" dirty="0" smtClean="0">
                <a:solidFill>
                  <a:srgbClr val="007842"/>
                </a:solidFill>
              </a:rPr>
              <a:t>04</a:t>
            </a:r>
            <a:r>
              <a:rPr lang="fr-FR" spc="-35" dirty="0" smtClean="0">
                <a:solidFill>
                  <a:srgbClr val="007842"/>
                </a:solidFill>
              </a:rPr>
              <a:t> </a:t>
            </a:r>
            <a:r>
              <a:rPr lang="fr-FR" dirty="0" smtClean="0">
                <a:solidFill>
                  <a:srgbClr val="007842"/>
                </a:solidFill>
              </a:rPr>
              <a:t>–</a:t>
            </a:r>
            <a:r>
              <a:rPr lang="fr-FR" spc="-20" dirty="0" smtClean="0">
                <a:solidFill>
                  <a:srgbClr val="007842"/>
                </a:solidFill>
              </a:rPr>
              <a:t> </a:t>
            </a:r>
            <a:r>
              <a:rPr lang="fr-FR" dirty="0" smtClean="0">
                <a:solidFill>
                  <a:srgbClr val="007842"/>
                </a:solidFill>
              </a:rPr>
              <a:t>Gestion des processus </a:t>
            </a:r>
            <a:br>
              <a:rPr lang="fr-FR" dirty="0" smtClean="0">
                <a:solidFill>
                  <a:srgbClr val="007842"/>
                </a:solidFill>
              </a:rPr>
            </a:br>
            <a:r>
              <a:rPr lang="fr-FR" sz="1600" spc="-10" dirty="0" err="1">
                <a:solidFill>
                  <a:srgbClr val="007842"/>
                </a:solidFill>
              </a:rPr>
              <a:t>Shortest</a:t>
            </a:r>
            <a:r>
              <a:rPr lang="fr-FR" sz="1600" spc="-10" dirty="0">
                <a:solidFill>
                  <a:srgbClr val="007842"/>
                </a:solidFill>
              </a:rPr>
              <a:t> Job First (SJF): (Algorithme du plus court d’abord)</a:t>
            </a:r>
            <a:endParaRPr sz="1600" dirty="0"/>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8" name="Rectangle 7"/>
          <p:cNvSpPr/>
          <p:nvPr/>
        </p:nvSpPr>
        <p:spPr>
          <a:xfrm>
            <a:off x="685800" y="4239323"/>
            <a:ext cx="6526146" cy="710131"/>
          </a:xfrm>
          <a:prstGeom prst="rect">
            <a:avLst/>
          </a:prstGeom>
        </p:spPr>
        <p:txBody>
          <a:bodyPr wrap="none">
            <a:spAutoFit/>
          </a:bodyPr>
          <a:lstStyle/>
          <a:p>
            <a:pPr marL="342900" indent="-342900">
              <a:lnSpc>
                <a:spcPct val="107000"/>
              </a:lnSpc>
              <a:spcAft>
                <a:spcPts val="800"/>
              </a:spcAft>
              <a:buFont typeface="+mj-lt"/>
              <a:buAutoNum type="arabicPeriod"/>
            </a:pPr>
            <a:r>
              <a:rPr lang="fr-FR" sz="1600" b="1" dirty="0" smtClean="0">
                <a:solidFill>
                  <a:srgbClr val="FF0000"/>
                </a:solidFill>
                <a:effectLst/>
                <a:latin typeface="+mj-lt"/>
                <a:ea typeface="Calibri" panose="020F0502020204030204" pitchFamily="34" charset="0"/>
                <a:cs typeface="Arial" panose="020B0604020202020204" pitchFamily="34" charset="0"/>
              </a:rPr>
              <a:t>Déterminer le Diagramme de Gantt et renseigner le tableau ci-dessous</a:t>
            </a:r>
          </a:p>
          <a:p>
            <a:pPr marL="342900" indent="-342900">
              <a:lnSpc>
                <a:spcPct val="107000"/>
              </a:lnSpc>
              <a:spcAft>
                <a:spcPts val="800"/>
              </a:spcAft>
              <a:buFont typeface="+mj-lt"/>
              <a:buAutoNum type="arabicPeriod"/>
            </a:pPr>
            <a:r>
              <a:rPr lang="fr-FR" sz="1600" b="1" dirty="0" smtClean="0">
                <a:solidFill>
                  <a:srgbClr val="FF0000"/>
                </a:solidFill>
                <a:effectLst/>
                <a:latin typeface="+mj-lt"/>
                <a:ea typeface="Calibri" panose="020F0502020204030204" pitchFamily="34" charset="0"/>
                <a:cs typeface="Arial" panose="020B0604020202020204" pitchFamily="34" charset="0"/>
              </a:rPr>
              <a:t>Calculer le temps de rotation moyen et le temps d’attente moyen</a:t>
            </a:r>
            <a:endParaRPr lang="fr-FR" sz="1600" b="1" dirty="0">
              <a:solidFill>
                <a:srgbClr val="FF0000"/>
              </a:solidFill>
              <a:effectLst/>
              <a:latin typeface="+mj-lt"/>
              <a:ea typeface="Calibri" panose="020F0502020204030204" pitchFamily="34" charset="0"/>
              <a:cs typeface="Arial" panose="020B0604020202020204" pitchFamily="34" charset="0"/>
            </a:endParaRPr>
          </a:p>
        </p:txBody>
      </p:sp>
      <p:pic>
        <p:nvPicPr>
          <p:cNvPr id="11" name="Image 10"/>
          <p:cNvPicPr>
            <a:picLocks noChangeAspect="1"/>
          </p:cNvPicPr>
          <p:nvPr/>
        </p:nvPicPr>
        <p:blipFill>
          <a:blip r:embed="rId4"/>
          <a:stretch>
            <a:fillRect/>
          </a:stretch>
        </p:blipFill>
        <p:spPr>
          <a:xfrm>
            <a:off x="642318" y="5010150"/>
            <a:ext cx="11125200" cy="1543050"/>
          </a:xfrm>
          <a:prstGeom prst="rect">
            <a:avLst/>
          </a:prstGeom>
        </p:spPr>
      </p:pic>
      <p:pic>
        <p:nvPicPr>
          <p:cNvPr id="9" name="Image 8"/>
          <p:cNvPicPr>
            <a:picLocks noChangeAspect="1"/>
          </p:cNvPicPr>
          <p:nvPr/>
        </p:nvPicPr>
        <p:blipFill>
          <a:blip r:embed="rId5"/>
          <a:stretch>
            <a:fillRect/>
          </a:stretch>
        </p:blipFill>
        <p:spPr>
          <a:xfrm>
            <a:off x="753671" y="2699693"/>
            <a:ext cx="10371529" cy="1502646"/>
          </a:xfrm>
          <a:prstGeom prst="rect">
            <a:avLst/>
          </a:prstGeom>
        </p:spPr>
      </p:pic>
    </p:spTree>
    <p:extLst>
      <p:ext uri="{BB962C8B-B14F-4D97-AF65-F5344CB8AC3E}">
        <p14:creationId xmlns:p14="http://schemas.microsoft.com/office/powerpoint/2010/main" val="18821856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20</a:t>
            </a:fld>
            <a:endParaRPr spc="-25" dirty="0"/>
          </a:p>
        </p:txBody>
      </p:sp>
      <p:sp>
        <p:nvSpPr>
          <p:cNvPr id="14" name="object 14"/>
          <p:cNvSpPr txBox="1"/>
          <p:nvPr/>
        </p:nvSpPr>
        <p:spPr>
          <a:xfrm>
            <a:off x="753671" y="1464563"/>
            <a:ext cx="10678560" cy="735714"/>
          </a:xfrm>
          <a:prstGeom prst="rect">
            <a:avLst/>
          </a:prstGeom>
        </p:spPr>
        <p:txBody>
          <a:bodyPr vert="horz" wrap="square" lIns="0" tIns="12700" rIns="0" bIns="0" rtlCol="0">
            <a:spAutoFit/>
          </a:bodyPr>
          <a:lstStyle/>
          <a:p>
            <a:pPr marL="12700" marR="5080" algn="just">
              <a:lnSpc>
                <a:spcPct val="150100"/>
              </a:lnSpc>
              <a:spcBef>
                <a:spcPts val="100"/>
              </a:spcBef>
            </a:pPr>
            <a:r>
              <a:rPr lang="fr-FR" sz="2000" b="1" dirty="0" smtClean="0">
                <a:solidFill>
                  <a:srgbClr val="FF0000"/>
                </a:solidFill>
                <a:latin typeface="Calibri"/>
                <a:cs typeface="Calibri"/>
              </a:rPr>
              <a:t>Solution</a:t>
            </a:r>
            <a:endParaRPr lang="fr-FR" sz="1600" dirty="0" smtClean="0">
              <a:latin typeface="Calibri"/>
              <a:cs typeface="Calibri"/>
            </a:endParaRPr>
          </a:p>
          <a:p>
            <a:pPr marL="12700" marR="5080" algn="just">
              <a:lnSpc>
                <a:spcPct val="150100"/>
              </a:lnSpc>
              <a:spcBef>
                <a:spcPts val="100"/>
              </a:spcBef>
            </a:pPr>
            <a:endParaRPr lang="fr-FR" sz="1200" dirty="0" smtClean="0">
              <a:solidFill>
                <a:srgbClr val="585858"/>
              </a:solidFill>
              <a:latin typeface="Calibri"/>
              <a:cs typeface="Calibri"/>
            </a:endParaRPr>
          </a:p>
        </p:txBody>
      </p:sp>
      <p:sp>
        <p:nvSpPr>
          <p:cNvPr id="15" name="object 15"/>
          <p:cNvSpPr txBox="1">
            <a:spLocks noGrp="1"/>
          </p:cNvSpPr>
          <p:nvPr>
            <p:ph type="title"/>
          </p:nvPr>
        </p:nvSpPr>
        <p:spPr>
          <a:xfrm>
            <a:off x="263753" y="332308"/>
            <a:ext cx="11664492" cy="702808"/>
          </a:xfrm>
          <a:prstGeom prst="rect">
            <a:avLst/>
          </a:prstGeom>
        </p:spPr>
        <p:txBody>
          <a:bodyPr vert="horz" wrap="square" lIns="0" tIns="147371" rIns="0" bIns="0" rtlCol="0">
            <a:spAutoFit/>
          </a:bodyPr>
          <a:lstStyle/>
          <a:p>
            <a:pPr marL="12700">
              <a:lnSpc>
                <a:spcPct val="100000"/>
              </a:lnSpc>
              <a:spcBef>
                <a:spcPts val="90"/>
              </a:spcBef>
            </a:pPr>
            <a:r>
              <a:rPr lang="fr-FR" dirty="0" smtClean="0">
                <a:solidFill>
                  <a:srgbClr val="007842"/>
                </a:solidFill>
              </a:rPr>
              <a:t>04</a:t>
            </a:r>
            <a:r>
              <a:rPr lang="fr-FR" spc="-35" dirty="0" smtClean="0">
                <a:solidFill>
                  <a:srgbClr val="007842"/>
                </a:solidFill>
              </a:rPr>
              <a:t> </a:t>
            </a:r>
            <a:r>
              <a:rPr lang="fr-FR" dirty="0" smtClean="0">
                <a:solidFill>
                  <a:srgbClr val="007842"/>
                </a:solidFill>
              </a:rPr>
              <a:t>–</a:t>
            </a:r>
            <a:r>
              <a:rPr lang="fr-FR" spc="-20" dirty="0" smtClean="0">
                <a:solidFill>
                  <a:srgbClr val="007842"/>
                </a:solidFill>
              </a:rPr>
              <a:t> </a:t>
            </a:r>
            <a:r>
              <a:rPr lang="fr-FR" dirty="0" smtClean="0">
                <a:solidFill>
                  <a:srgbClr val="007842"/>
                </a:solidFill>
              </a:rPr>
              <a:t>Gestion des processus </a:t>
            </a:r>
            <a:br>
              <a:rPr lang="fr-FR" dirty="0" smtClean="0">
                <a:solidFill>
                  <a:srgbClr val="007842"/>
                </a:solidFill>
              </a:rPr>
            </a:br>
            <a:r>
              <a:rPr lang="fr-FR" sz="1600" spc="-10" dirty="0" err="1">
                <a:solidFill>
                  <a:srgbClr val="007842"/>
                </a:solidFill>
              </a:rPr>
              <a:t>Shortest</a:t>
            </a:r>
            <a:r>
              <a:rPr lang="fr-FR" sz="1600" spc="-10" dirty="0">
                <a:solidFill>
                  <a:srgbClr val="007842"/>
                </a:solidFill>
              </a:rPr>
              <a:t> Job First (SJF): (Algorithme du plus court d’abord)</a:t>
            </a:r>
            <a:endParaRPr sz="1600" dirty="0"/>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8" name="Rectangle 7"/>
          <p:cNvSpPr/>
          <p:nvPr/>
        </p:nvSpPr>
        <p:spPr>
          <a:xfrm>
            <a:off x="528445" y="2022375"/>
            <a:ext cx="2010487" cy="355803"/>
          </a:xfrm>
          <a:prstGeom prst="rect">
            <a:avLst/>
          </a:prstGeom>
        </p:spPr>
        <p:txBody>
          <a:bodyPr wrap="none">
            <a:spAutoFit/>
          </a:bodyPr>
          <a:lstStyle/>
          <a:p>
            <a:pPr>
              <a:lnSpc>
                <a:spcPct val="107000"/>
              </a:lnSpc>
              <a:spcAft>
                <a:spcPts val="800"/>
              </a:spcAft>
            </a:pPr>
            <a:r>
              <a:rPr lang="fr-FR" sz="1600" b="1" dirty="0" smtClean="0">
                <a:solidFill>
                  <a:schemeClr val="tx1"/>
                </a:solidFill>
                <a:effectLst/>
                <a:latin typeface="+mj-lt"/>
                <a:ea typeface="Calibri" panose="020F0502020204030204" pitchFamily="34" charset="0"/>
                <a:cs typeface="Arial" panose="020B0604020202020204" pitchFamily="34" charset="0"/>
              </a:rPr>
              <a:t>Diagramme de Gantt</a:t>
            </a:r>
          </a:p>
        </p:txBody>
      </p:sp>
      <p:sp>
        <p:nvSpPr>
          <p:cNvPr id="19" name="Rectangle 18"/>
          <p:cNvSpPr/>
          <p:nvPr/>
        </p:nvSpPr>
        <p:spPr>
          <a:xfrm>
            <a:off x="609600" y="3225597"/>
            <a:ext cx="1181734" cy="344069"/>
          </a:xfrm>
          <a:prstGeom prst="rect">
            <a:avLst/>
          </a:prstGeom>
        </p:spPr>
        <p:txBody>
          <a:bodyPr wrap="none">
            <a:spAutoFit/>
          </a:bodyPr>
          <a:lstStyle/>
          <a:p>
            <a:pPr>
              <a:lnSpc>
                <a:spcPct val="107000"/>
              </a:lnSpc>
              <a:spcAft>
                <a:spcPts val="800"/>
              </a:spcAft>
            </a:pPr>
            <a:r>
              <a:rPr lang="fr-FR" sz="1600" b="1" dirty="0" smtClean="0">
                <a:solidFill>
                  <a:schemeClr val="tx1"/>
                </a:solidFill>
                <a:latin typeface="+mj-lt"/>
                <a:ea typeface="Calibri" panose="020F0502020204030204" pitchFamily="34" charset="0"/>
                <a:cs typeface="Arial" panose="020B0604020202020204" pitchFamily="34" charset="0"/>
              </a:rPr>
              <a:t>Statistiques</a:t>
            </a:r>
            <a:endParaRPr lang="fr-FR" sz="1600" b="1" dirty="0" smtClean="0">
              <a:solidFill>
                <a:schemeClr val="tx1"/>
              </a:solidFill>
              <a:effectLst/>
              <a:latin typeface="+mj-lt"/>
              <a:ea typeface="Calibri" panose="020F0502020204030204" pitchFamily="34" charset="0"/>
              <a:cs typeface="Arial" panose="020B0604020202020204" pitchFamily="34" charset="0"/>
            </a:endParaRPr>
          </a:p>
        </p:txBody>
      </p:sp>
      <p:pic>
        <p:nvPicPr>
          <p:cNvPr id="20" name="Image 19"/>
          <p:cNvPicPr/>
          <p:nvPr/>
        </p:nvPicPr>
        <p:blipFill>
          <a:blip r:embed="rId4"/>
          <a:stretch>
            <a:fillRect/>
          </a:stretch>
        </p:blipFill>
        <p:spPr>
          <a:xfrm>
            <a:off x="609600" y="2323283"/>
            <a:ext cx="10810010" cy="984250"/>
          </a:xfrm>
          <a:prstGeom prst="rect">
            <a:avLst/>
          </a:prstGeom>
        </p:spPr>
      </p:pic>
      <p:pic>
        <p:nvPicPr>
          <p:cNvPr id="9" name="Image 8"/>
          <p:cNvPicPr>
            <a:picLocks noChangeAspect="1"/>
          </p:cNvPicPr>
          <p:nvPr/>
        </p:nvPicPr>
        <p:blipFill>
          <a:blip r:embed="rId5"/>
          <a:stretch>
            <a:fillRect/>
          </a:stretch>
        </p:blipFill>
        <p:spPr>
          <a:xfrm>
            <a:off x="528445" y="3569666"/>
            <a:ext cx="10977755" cy="3232895"/>
          </a:xfrm>
          <a:prstGeom prst="rect">
            <a:avLst/>
          </a:prstGeom>
        </p:spPr>
      </p:pic>
    </p:spTree>
    <p:extLst>
      <p:ext uri="{BB962C8B-B14F-4D97-AF65-F5344CB8AC3E}">
        <p14:creationId xmlns:p14="http://schemas.microsoft.com/office/powerpoint/2010/main" val="20817877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21</a:t>
            </a:fld>
            <a:endParaRPr spc="-25" dirty="0"/>
          </a:p>
        </p:txBody>
      </p:sp>
      <p:sp>
        <p:nvSpPr>
          <p:cNvPr id="14" name="object 14"/>
          <p:cNvSpPr txBox="1"/>
          <p:nvPr/>
        </p:nvSpPr>
        <p:spPr>
          <a:xfrm>
            <a:off x="753671" y="1464563"/>
            <a:ext cx="10678560" cy="1528624"/>
          </a:xfrm>
          <a:prstGeom prst="rect">
            <a:avLst/>
          </a:prstGeom>
        </p:spPr>
        <p:txBody>
          <a:bodyPr vert="horz" wrap="square" lIns="0" tIns="12700" rIns="0" bIns="0" rtlCol="0">
            <a:spAutoFit/>
          </a:bodyPr>
          <a:lstStyle/>
          <a:p>
            <a:pPr marL="12700" marR="5080" algn="just">
              <a:lnSpc>
                <a:spcPct val="150100"/>
              </a:lnSpc>
              <a:spcBef>
                <a:spcPts val="100"/>
              </a:spcBef>
            </a:pPr>
            <a:r>
              <a:rPr lang="fr-FR" sz="2000" b="1" dirty="0" smtClean="0">
                <a:solidFill>
                  <a:srgbClr val="FFC000"/>
                </a:solidFill>
                <a:latin typeface="Calibri"/>
                <a:cs typeface="Calibri"/>
              </a:rPr>
              <a:t>Exemple</a:t>
            </a:r>
          </a:p>
          <a:p>
            <a:pPr marL="12700" marR="5080" algn="just">
              <a:lnSpc>
                <a:spcPct val="150100"/>
              </a:lnSpc>
              <a:spcBef>
                <a:spcPts val="100"/>
              </a:spcBef>
            </a:pPr>
            <a:r>
              <a:rPr lang="fr-FR" sz="1600" dirty="0" smtClean="0">
                <a:latin typeface="Calibri"/>
                <a:cs typeface="Calibri"/>
              </a:rPr>
              <a:t>Considérez l'ensemble de processus suivant qui arrivent au temps 0ms, avec le temps d’</a:t>
            </a:r>
            <a:r>
              <a:rPr lang="fr-FR" sz="1600" dirty="0">
                <a:latin typeface="Calibri"/>
                <a:cs typeface="Calibri"/>
              </a:rPr>
              <a:t>e</a:t>
            </a:r>
            <a:r>
              <a:rPr lang="fr-FR" sz="1600" dirty="0" smtClean="0">
                <a:latin typeface="Calibri"/>
                <a:cs typeface="Calibri"/>
              </a:rPr>
              <a:t>xécution donné en millisecondes :</a:t>
            </a:r>
          </a:p>
          <a:p>
            <a:pPr marL="12700" marR="5080" algn="just">
              <a:lnSpc>
                <a:spcPct val="150100"/>
              </a:lnSpc>
              <a:spcBef>
                <a:spcPts val="100"/>
              </a:spcBef>
            </a:pPr>
            <a:endParaRPr lang="fr-FR" sz="1600" dirty="0" smtClean="0">
              <a:latin typeface="Calibri"/>
              <a:cs typeface="Calibri"/>
            </a:endParaRPr>
          </a:p>
          <a:p>
            <a:pPr marL="12700" marR="5080" algn="just">
              <a:lnSpc>
                <a:spcPct val="150100"/>
              </a:lnSpc>
              <a:spcBef>
                <a:spcPts val="100"/>
              </a:spcBef>
            </a:pPr>
            <a:endParaRPr lang="fr-FR" sz="1200" dirty="0" smtClean="0">
              <a:solidFill>
                <a:srgbClr val="585858"/>
              </a:solidFill>
              <a:latin typeface="Calibri"/>
              <a:cs typeface="Calibri"/>
            </a:endParaRPr>
          </a:p>
        </p:txBody>
      </p:sp>
      <p:sp>
        <p:nvSpPr>
          <p:cNvPr id="15" name="object 15"/>
          <p:cNvSpPr txBox="1">
            <a:spLocks noGrp="1"/>
          </p:cNvSpPr>
          <p:nvPr>
            <p:ph type="title"/>
          </p:nvPr>
        </p:nvSpPr>
        <p:spPr>
          <a:xfrm>
            <a:off x="263753" y="152400"/>
            <a:ext cx="11664492" cy="949029"/>
          </a:xfrm>
          <a:prstGeom prst="rect">
            <a:avLst/>
          </a:prstGeom>
        </p:spPr>
        <p:txBody>
          <a:bodyPr vert="horz" wrap="square" lIns="0" tIns="147371" rIns="0" bIns="0" rtlCol="0">
            <a:spAutoFit/>
          </a:bodyPr>
          <a:lstStyle/>
          <a:p>
            <a:pPr marL="12700">
              <a:lnSpc>
                <a:spcPct val="100000"/>
              </a:lnSpc>
              <a:spcBef>
                <a:spcPts val="90"/>
              </a:spcBef>
            </a:pPr>
            <a:r>
              <a:rPr lang="fr-FR" dirty="0" smtClean="0">
                <a:solidFill>
                  <a:srgbClr val="007842"/>
                </a:solidFill>
              </a:rPr>
              <a:t>04</a:t>
            </a:r>
            <a:r>
              <a:rPr lang="fr-FR" spc="-35" dirty="0" smtClean="0">
                <a:solidFill>
                  <a:srgbClr val="007842"/>
                </a:solidFill>
              </a:rPr>
              <a:t> </a:t>
            </a:r>
            <a:r>
              <a:rPr lang="fr-FR" dirty="0" smtClean="0">
                <a:solidFill>
                  <a:srgbClr val="007842"/>
                </a:solidFill>
              </a:rPr>
              <a:t>–</a:t>
            </a:r>
            <a:r>
              <a:rPr lang="fr-FR" spc="-20" dirty="0" smtClean="0">
                <a:solidFill>
                  <a:srgbClr val="007842"/>
                </a:solidFill>
              </a:rPr>
              <a:t> </a:t>
            </a:r>
            <a:r>
              <a:rPr lang="fr-FR" dirty="0" smtClean="0">
                <a:solidFill>
                  <a:srgbClr val="007842"/>
                </a:solidFill>
              </a:rPr>
              <a:t>Gestion des processus </a:t>
            </a:r>
            <a:br>
              <a:rPr lang="fr-FR" dirty="0" smtClean="0">
                <a:solidFill>
                  <a:srgbClr val="007842"/>
                </a:solidFill>
              </a:rPr>
            </a:br>
            <a:r>
              <a:rPr lang="fr-FR" sz="1600" spc="-10" dirty="0" err="1">
                <a:solidFill>
                  <a:srgbClr val="007842"/>
                </a:solidFill>
              </a:rPr>
              <a:t>Shortest</a:t>
            </a:r>
            <a:r>
              <a:rPr lang="fr-FR" sz="1600" spc="-10" dirty="0">
                <a:solidFill>
                  <a:srgbClr val="007842"/>
                </a:solidFill>
              </a:rPr>
              <a:t> </a:t>
            </a:r>
            <a:r>
              <a:rPr lang="fr-FR" sz="1600" spc="-10" dirty="0" err="1">
                <a:solidFill>
                  <a:srgbClr val="007842"/>
                </a:solidFill>
              </a:rPr>
              <a:t>Remaining</a:t>
            </a:r>
            <a:r>
              <a:rPr lang="fr-FR" sz="1600" spc="-10" dirty="0">
                <a:solidFill>
                  <a:srgbClr val="007842"/>
                </a:solidFill>
              </a:rPr>
              <a:t> Time First/</a:t>
            </a:r>
            <a:r>
              <a:rPr lang="fr-FR" sz="1600" spc="-10" dirty="0" err="1">
                <a:solidFill>
                  <a:srgbClr val="007842"/>
                </a:solidFill>
              </a:rPr>
              <a:t>Next</a:t>
            </a:r>
            <a:r>
              <a:rPr lang="fr-FR" sz="1600" spc="-10" dirty="0">
                <a:solidFill>
                  <a:srgbClr val="007842"/>
                </a:solidFill>
              </a:rPr>
              <a:t> (SRTF - SRTN):</a:t>
            </a:r>
            <a:br>
              <a:rPr lang="fr-FR" sz="1600" spc="-10" dirty="0">
                <a:solidFill>
                  <a:srgbClr val="007842"/>
                </a:solidFill>
              </a:rPr>
            </a:br>
            <a:r>
              <a:rPr lang="fr-FR" sz="1600" spc="-10" dirty="0">
                <a:solidFill>
                  <a:srgbClr val="007842"/>
                </a:solidFill>
              </a:rPr>
              <a:t> Plus court temps d'exécution version </a:t>
            </a:r>
            <a:r>
              <a:rPr lang="fr-FR" sz="1600" spc="-10" dirty="0" smtClean="0">
                <a:solidFill>
                  <a:srgbClr val="007842"/>
                </a:solidFill>
              </a:rPr>
              <a:t>préemptive</a:t>
            </a:r>
            <a:endParaRPr sz="1600" dirty="0"/>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pic>
        <p:nvPicPr>
          <p:cNvPr id="9" name="Image 8"/>
          <p:cNvPicPr>
            <a:picLocks noChangeAspect="1"/>
          </p:cNvPicPr>
          <p:nvPr/>
        </p:nvPicPr>
        <p:blipFill>
          <a:blip r:embed="rId4"/>
          <a:stretch>
            <a:fillRect/>
          </a:stretch>
        </p:blipFill>
        <p:spPr>
          <a:xfrm>
            <a:off x="581025" y="2514600"/>
            <a:ext cx="11029950" cy="1828800"/>
          </a:xfrm>
          <a:prstGeom prst="rect">
            <a:avLst/>
          </a:prstGeom>
        </p:spPr>
      </p:pic>
      <p:sp>
        <p:nvSpPr>
          <p:cNvPr id="16" name="Rectangle 15"/>
          <p:cNvSpPr/>
          <p:nvPr/>
        </p:nvSpPr>
        <p:spPr>
          <a:xfrm>
            <a:off x="753671" y="4456531"/>
            <a:ext cx="1927131" cy="344069"/>
          </a:xfrm>
          <a:prstGeom prst="rect">
            <a:avLst/>
          </a:prstGeom>
        </p:spPr>
        <p:txBody>
          <a:bodyPr wrap="none">
            <a:spAutoFit/>
          </a:bodyPr>
          <a:lstStyle/>
          <a:p>
            <a:pPr>
              <a:lnSpc>
                <a:spcPct val="107000"/>
              </a:lnSpc>
              <a:spcAft>
                <a:spcPts val="800"/>
              </a:spcAft>
            </a:pPr>
            <a:r>
              <a:rPr lang="fr-FR" sz="1600" dirty="0" smtClean="0">
                <a:solidFill>
                  <a:srgbClr val="0D0D0D"/>
                </a:solidFill>
                <a:effectLst/>
                <a:latin typeface="+mj-lt"/>
                <a:ea typeface="Calibri" panose="020F0502020204030204" pitchFamily="34" charset="0"/>
                <a:cs typeface="Arial" panose="020B0604020202020204" pitchFamily="34" charset="0"/>
              </a:rPr>
              <a:t>Diagramme de Gantt</a:t>
            </a:r>
            <a:endParaRPr lang="fr-FR" sz="1600" dirty="0">
              <a:effectLst/>
              <a:latin typeface="+mj-lt"/>
              <a:ea typeface="Calibri" panose="020F0502020204030204" pitchFamily="34" charset="0"/>
              <a:cs typeface="Arial" panose="020B0604020202020204" pitchFamily="34" charset="0"/>
            </a:endParaRPr>
          </a:p>
        </p:txBody>
      </p:sp>
      <p:pic>
        <p:nvPicPr>
          <p:cNvPr id="19" name="Image 18"/>
          <p:cNvPicPr/>
          <p:nvPr/>
        </p:nvPicPr>
        <p:blipFill>
          <a:blip r:embed="rId5"/>
          <a:stretch>
            <a:fillRect/>
          </a:stretch>
        </p:blipFill>
        <p:spPr>
          <a:xfrm>
            <a:off x="592176" y="4913731"/>
            <a:ext cx="10765151" cy="1111094"/>
          </a:xfrm>
          <a:prstGeom prst="rect">
            <a:avLst/>
          </a:prstGeom>
        </p:spPr>
      </p:pic>
    </p:spTree>
    <p:extLst>
      <p:ext uri="{BB962C8B-B14F-4D97-AF65-F5344CB8AC3E}">
        <p14:creationId xmlns:p14="http://schemas.microsoft.com/office/powerpoint/2010/main" val="20797954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22</a:t>
            </a:fld>
            <a:endParaRPr spc="-25" dirty="0"/>
          </a:p>
        </p:txBody>
      </p:sp>
      <p:sp>
        <p:nvSpPr>
          <p:cNvPr id="14" name="object 14"/>
          <p:cNvSpPr txBox="1"/>
          <p:nvPr/>
        </p:nvSpPr>
        <p:spPr>
          <a:xfrm>
            <a:off x="753671" y="1464563"/>
            <a:ext cx="10678560" cy="1528624"/>
          </a:xfrm>
          <a:prstGeom prst="rect">
            <a:avLst/>
          </a:prstGeom>
        </p:spPr>
        <p:txBody>
          <a:bodyPr vert="horz" wrap="square" lIns="0" tIns="12700" rIns="0" bIns="0" rtlCol="0">
            <a:spAutoFit/>
          </a:bodyPr>
          <a:lstStyle/>
          <a:p>
            <a:pPr marL="12700" marR="5080" algn="just">
              <a:lnSpc>
                <a:spcPct val="150100"/>
              </a:lnSpc>
              <a:spcBef>
                <a:spcPts val="100"/>
              </a:spcBef>
            </a:pPr>
            <a:r>
              <a:rPr lang="fr-FR" sz="2000" b="1" dirty="0" smtClean="0">
                <a:solidFill>
                  <a:srgbClr val="FFC000"/>
                </a:solidFill>
                <a:latin typeface="Calibri"/>
                <a:cs typeface="Calibri"/>
              </a:rPr>
              <a:t>Exemple</a:t>
            </a:r>
          </a:p>
          <a:p>
            <a:pPr marL="12700" marR="5080" algn="just">
              <a:lnSpc>
                <a:spcPct val="150100"/>
              </a:lnSpc>
              <a:spcBef>
                <a:spcPts val="100"/>
              </a:spcBef>
            </a:pPr>
            <a:r>
              <a:rPr lang="fr-FR" sz="1600" b="1" dirty="0" smtClean="0">
                <a:latin typeface="Calibri"/>
                <a:cs typeface="Calibri"/>
              </a:rPr>
              <a:t>Statistiques :</a:t>
            </a:r>
          </a:p>
          <a:p>
            <a:pPr marL="12700" marR="5080" algn="just">
              <a:lnSpc>
                <a:spcPct val="150100"/>
              </a:lnSpc>
              <a:spcBef>
                <a:spcPts val="100"/>
              </a:spcBef>
            </a:pPr>
            <a:endParaRPr lang="fr-FR" sz="1600" dirty="0" smtClean="0">
              <a:latin typeface="Calibri"/>
              <a:cs typeface="Calibri"/>
            </a:endParaRPr>
          </a:p>
          <a:p>
            <a:pPr marL="12700" marR="5080" algn="just">
              <a:lnSpc>
                <a:spcPct val="150100"/>
              </a:lnSpc>
              <a:spcBef>
                <a:spcPts val="100"/>
              </a:spcBef>
            </a:pPr>
            <a:endParaRPr lang="fr-FR" sz="1200" dirty="0" smtClean="0">
              <a:solidFill>
                <a:srgbClr val="585858"/>
              </a:solidFill>
              <a:latin typeface="Calibri"/>
              <a:cs typeface="Calibri"/>
            </a:endParaRPr>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8" name="Rectangle 7"/>
          <p:cNvSpPr/>
          <p:nvPr/>
        </p:nvSpPr>
        <p:spPr>
          <a:xfrm>
            <a:off x="759247" y="5486271"/>
            <a:ext cx="1963999" cy="344069"/>
          </a:xfrm>
          <a:prstGeom prst="rect">
            <a:avLst/>
          </a:prstGeom>
        </p:spPr>
        <p:txBody>
          <a:bodyPr wrap="none">
            <a:spAutoFit/>
          </a:bodyPr>
          <a:lstStyle/>
          <a:p>
            <a:pPr>
              <a:lnSpc>
                <a:spcPct val="107000"/>
              </a:lnSpc>
              <a:spcAft>
                <a:spcPts val="800"/>
              </a:spcAft>
            </a:pPr>
            <a:r>
              <a:rPr lang="fr-FR" sz="1600" b="1" dirty="0" smtClean="0">
                <a:solidFill>
                  <a:srgbClr val="0D0D0D"/>
                </a:solidFill>
                <a:effectLst/>
                <a:latin typeface="+mj-lt"/>
                <a:ea typeface="Calibri" panose="020F0502020204030204" pitchFamily="34" charset="0"/>
                <a:cs typeface="Arial" panose="020B0604020202020204" pitchFamily="34" charset="0"/>
              </a:rPr>
              <a:t>Diagramme de Gantt</a:t>
            </a:r>
            <a:endParaRPr lang="fr-FR" sz="1600" b="1" dirty="0">
              <a:effectLst/>
              <a:latin typeface="+mj-lt"/>
              <a:ea typeface="Calibri" panose="020F0502020204030204" pitchFamily="34" charset="0"/>
              <a:cs typeface="Arial" panose="020B0604020202020204" pitchFamily="34" charset="0"/>
            </a:endParaRPr>
          </a:p>
        </p:txBody>
      </p:sp>
      <p:sp>
        <p:nvSpPr>
          <p:cNvPr id="16" name="object 15"/>
          <p:cNvSpPr txBox="1">
            <a:spLocks noGrp="1"/>
          </p:cNvSpPr>
          <p:nvPr>
            <p:ph type="title"/>
          </p:nvPr>
        </p:nvSpPr>
        <p:spPr>
          <a:xfrm>
            <a:off x="263753" y="152400"/>
            <a:ext cx="11664492" cy="949029"/>
          </a:xfrm>
          <a:prstGeom prst="rect">
            <a:avLst/>
          </a:prstGeom>
        </p:spPr>
        <p:txBody>
          <a:bodyPr vert="horz" wrap="square" lIns="0" tIns="147371" rIns="0" bIns="0" rtlCol="0">
            <a:spAutoFit/>
          </a:bodyPr>
          <a:lstStyle/>
          <a:p>
            <a:pPr marL="12700">
              <a:lnSpc>
                <a:spcPct val="100000"/>
              </a:lnSpc>
              <a:spcBef>
                <a:spcPts val="90"/>
              </a:spcBef>
            </a:pPr>
            <a:r>
              <a:rPr lang="fr-FR" dirty="0" smtClean="0">
                <a:solidFill>
                  <a:srgbClr val="007842"/>
                </a:solidFill>
              </a:rPr>
              <a:t>04</a:t>
            </a:r>
            <a:r>
              <a:rPr lang="fr-FR" spc="-35" dirty="0" smtClean="0">
                <a:solidFill>
                  <a:srgbClr val="007842"/>
                </a:solidFill>
              </a:rPr>
              <a:t> </a:t>
            </a:r>
            <a:r>
              <a:rPr lang="fr-FR" dirty="0" smtClean="0">
                <a:solidFill>
                  <a:srgbClr val="007842"/>
                </a:solidFill>
              </a:rPr>
              <a:t>–</a:t>
            </a:r>
            <a:r>
              <a:rPr lang="fr-FR" spc="-20" dirty="0" smtClean="0">
                <a:solidFill>
                  <a:srgbClr val="007842"/>
                </a:solidFill>
              </a:rPr>
              <a:t> </a:t>
            </a:r>
            <a:r>
              <a:rPr lang="fr-FR" dirty="0" smtClean="0">
                <a:solidFill>
                  <a:srgbClr val="007842"/>
                </a:solidFill>
              </a:rPr>
              <a:t>Gestion des processus </a:t>
            </a:r>
            <a:br>
              <a:rPr lang="fr-FR" dirty="0" smtClean="0">
                <a:solidFill>
                  <a:srgbClr val="007842"/>
                </a:solidFill>
              </a:rPr>
            </a:br>
            <a:r>
              <a:rPr lang="fr-FR" sz="1600" spc="-10" dirty="0" err="1">
                <a:solidFill>
                  <a:srgbClr val="007842"/>
                </a:solidFill>
              </a:rPr>
              <a:t>Shortest</a:t>
            </a:r>
            <a:r>
              <a:rPr lang="fr-FR" sz="1600" spc="-10" dirty="0">
                <a:solidFill>
                  <a:srgbClr val="007842"/>
                </a:solidFill>
              </a:rPr>
              <a:t> </a:t>
            </a:r>
            <a:r>
              <a:rPr lang="fr-FR" sz="1600" spc="-10" dirty="0" err="1">
                <a:solidFill>
                  <a:srgbClr val="007842"/>
                </a:solidFill>
              </a:rPr>
              <a:t>Remaining</a:t>
            </a:r>
            <a:r>
              <a:rPr lang="fr-FR" sz="1600" spc="-10" dirty="0">
                <a:solidFill>
                  <a:srgbClr val="007842"/>
                </a:solidFill>
              </a:rPr>
              <a:t> Time First/</a:t>
            </a:r>
            <a:r>
              <a:rPr lang="fr-FR" sz="1600" spc="-10" dirty="0" err="1">
                <a:solidFill>
                  <a:srgbClr val="007842"/>
                </a:solidFill>
              </a:rPr>
              <a:t>Next</a:t>
            </a:r>
            <a:r>
              <a:rPr lang="fr-FR" sz="1600" spc="-10" dirty="0">
                <a:solidFill>
                  <a:srgbClr val="007842"/>
                </a:solidFill>
              </a:rPr>
              <a:t> (SRTF - SRTN):</a:t>
            </a:r>
            <a:br>
              <a:rPr lang="fr-FR" sz="1600" spc="-10" dirty="0">
                <a:solidFill>
                  <a:srgbClr val="007842"/>
                </a:solidFill>
              </a:rPr>
            </a:br>
            <a:r>
              <a:rPr lang="fr-FR" sz="1600" spc="-10" dirty="0">
                <a:solidFill>
                  <a:srgbClr val="007842"/>
                </a:solidFill>
              </a:rPr>
              <a:t> Plus court temps d'exécution version </a:t>
            </a:r>
            <a:r>
              <a:rPr lang="fr-FR" sz="1600" spc="-10" dirty="0" smtClean="0">
                <a:solidFill>
                  <a:srgbClr val="007842"/>
                </a:solidFill>
              </a:rPr>
              <a:t>préemptive</a:t>
            </a:r>
            <a:endParaRPr sz="1600" dirty="0"/>
          </a:p>
        </p:txBody>
      </p:sp>
      <p:pic>
        <p:nvPicPr>
          <p:cNvPr id="9" name="Image 8"/>
          <p:cNvPicPr>
            <a:picLocks noChangeAspect="1"/>
          </p:cNvPicPr>
          <p:nvPr/>
        </p:nvPicPr>
        <p:blipFill>
          <a:blip r:embed="rId4"/>
          <a:stretch>
            <a:fillRect/>
          </a:stretch>
        </p:blipFill>
        <p:spPr>
          <a:xfrm>
            <a:off x="593580" y="2362200"/>
            <a:ext cx="11115675" cy="3058743"/>
          </a:xfrm>
          <a:prstGeom prst="rect">
            <a:avLst/>
          </a:prstGeom>
        </p:spPr>
      </p:pic>
      <p:pic>
        <p:nvPicPr>
          <p:cNvPr id="20" name="Image 19"/>
          <p:cNvPicPr/>
          <p:nvPr/>
        </p:nvPicPr>
        <p:blipFill>
          <a:blip r:embed="rId5"/>
          <a:stretch>
            <a:fillRect/>
          </a:stretch>
        </p:blipFill>
        <p:spPr>
          <a:xfrm>
            <a:off x="530999" y="5895668"/>
            <a:ext cx="10765151" cy="723190"/>
          </a:xfrm>
          <a:prstGeom prst="rect">
            <a:avLst/>
          </a:prstGeom>
        </p:spPr>
      </p:pic>
    </p:spTree>
    <p:extLst>
      <p:ext uri="{BB962C8B-B14F-4D97-AF65-F5344CB8AC3E}">
        <p14:creationId xmlns:p14="http://schemas.microsoft.com/office/powerpoint/2010/main" val="2922667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23</a:t>
            </a:fld>
            <a:endParaRPr spc="-25" dirty="0"/>
          </a:p>
        </p:txBody>
      </p:sp>
      <p:sp>
        <p:nvSpPr>
          <p:cNvPr id="14" name="object 14"/>
          <p:cNvSpPr txBox="1"/>
          <p:nvPr/>
        </p:nvSpPr>
        <p:spPr>
          <a:xfrm>
            <a:off x="753671" y="1464563"/>
            <a:ext cx="10678560" cy="1528624"/>
          </a:xfrm>
          <a:prstGeom prst="rect">
            <a:avLst/>
          </a:prstGeom>
        </p:spPr>
        <p:txBody>
          <a:bodyPr vert="horz" wrap="square" lIns="0" tIns="12700" rIns="0" bIns="0" rtlCol="0">
            <a:spAutoFit/>
          </a:bodyPr>
          <a:lstStyle/>
          <a:p>
            <a:pPr marL="12700" marR="5080" algn="just">
              <a:lnSpc>
                <a:spcPct val="150100"/>
              </a:lnSpc>
              <a:spcBef>
                <a:spcPts val="100"/>
              </a:spcBef>
            </a:pPr>
            <a:r>
              <a:rPr lang="fr-FR" sz="2000" b="1" dirty="0" smtClean="0">
                <a:solidFill>
                  <a:srgbClr val="FFC000"/>
                </a:solidFill>
                <a:latin typeface="Calibri"/>
                <a:cs typeface="Calibri"/>
              </a:rPr>
              <a:t>Exercice</a:t>
            </a:r>
          </a:p>
          <a:p>
            <a:pPr marL="12700" marR="5080" algn="just">
              <a:lnSpc>
                <a:spcPct val="150100"/>
              </a:lnSpc>
              <a:spcBef>
                <a:spcPts val="100"/>
              </a:spcBef>
            </a:pPr>
            <a:r>
              <a:rPr lang="fr-FR" sz="1600" dirty="0" smtClean="0">
                <a:latin typeface="Calibri"/>
                <a:cs typeface="Calibri"/>
              </a:rPr>
              <a:t>Considérez l'ensemble de quatre processus suivants. Le temps d'arrivée et le temps nécessaire pour terminer l'exécution sont donnés dans le tableau suivant. Considérez toutes les valeurs de temps en millisecondes.</a:t>
            </a:r>
          </a:p>
          <a:p>
            <a:pPr marL="12700" marR="5080" algn="just">
              <a:lnSpc>
                <a:spcPct val="150100"/>
              </a:lnSpc>
              <a:spcBef>
                <a:spcPts val="100"/>
              </a:spcBef>
            </a:pPr>
            <a:endParaRPr lang="fr-FR" sz="1200" dirty="0" smtClean="0">
              <a:solidFill>
                <a:srgbClr val="585858"/>
              </a:solidFill>
              <a:latin typeface="Calibri"/>
              <a:cs typeface="Calibri"/>
            </a:endParaRPr>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8" name="Rectangle 7"/>
          <p:cNvSpPr/>
          <p:nvPr/>
        </p:nvSpPr>
        <p:spPr>
          <a:xfrm>
            <a:off x="685800" y="4239323"/>
            <a:ext cx="6526146" cy="710131"/>
          </a:xfrm>
          <a:prstGeom prst="rect">
            <a:avLst/>
          </a:prstGeom>
        </p:spPr>
        <p:txBody>
          <a:bodyPr wrap="none">
            <a:spAutoFit/>
          </a:bodyPr>
          <a:lstStyle/>
          <a:p>
            <a:pPr marL="342900" indent="-342900">
              <a:lnSpc>
                <a:spcPct val="107000"/>
              </a:lnSpc>
              <a:spcAft>
                <a:spcPts val="800"/>
              </a:spcAft>
              <a:buFont typeface="+mj-lt"/>
              <a:buAutoNum type="arabicPeriod"/>
            </a:pPr>
            <a:r>
              <a:rPr lang="fr-FR" sz="1600" b="1" dirty="0" smtClean="0">
                <a:solidFill>
                  <a:srgbClr val="FF0000"/>
                </a:solidFill>
                <a:effectLst/>
                <a:latin typeface="+mj-lt"/>
                <a:ea typeface="Calibri" panose="020F0502020204030204" pitchFamily="34" charset="0"/>
                <a:cs typeface="Arial" panose="020B0604020202020204" pitchFamily="34" charset="0"/>
              </a:rPr>
              <a:t>Déterminer le Diagramme de Gantt et renseigner le tableau ci-dessous</a:t>
            </a:r>
          </a:p>
          <a:p>
            <a:pPr marL="342900" indent="-342900">
              <a:lnSpc>
                <a:spcPct val="107000"/>
              </a:lnSpc>
              <a:spcAft>
                <a:spcPts val="800"/>
              </a:spcAft>
              <a:buFont typeface="+mj-lt"/>
              <a:buAutoNum type="arabicPeriod"/>
            </a:pPr>
            <a:r>
              <a:rPr lang="fr-FR" sz="1600" b="1" dirty="0" smtClean="0">
                <a:solidFill>
                  <a:srgbClr val="FF0000"/>
                </a:solidFill>
                <a:effectLst/>
                <a:latin typeface="+mj-lt"/>
                <a:ea typeface="Calibri" panose="020F0502020204030204" pitchFamily="34" charset="0"/>
                <a:cs typeface="Arial" panose="020B0604020202020204" pitchFamily="34" charset="0"/>
              </a:rPr>
              <a:t>Calculer le temps de rotation moyen et le temps d’attente moyen</a:t>
            </a:r>
            <a:endParaRPr lang="fr-FR" sz="1600" b="1" dirty="0">
              <a:solidFill>
                <a:srgbClr val="FF0000"/>
              </a:solidFill>
              <a:effectLst/>
              <a:latin typeface="+mj-lt"/>
              <a:ea typeface="Calibri" panose="020F0502020204030204" pitchFamily="34" charset="0"/>
              <a:cs typeface="Arial" panose="020B0604020202020204" pitchFamily="34" charset="0"/>
            </a:endParaRPr>
          </a:p>
        </p:txBody>
      </p:sp>
      <p:pic>
        <p:nvPicPr>
          <p:cNvPr id="11" name="Image 10"/>
          <p:cNvPicPr>
            <a:picLocks noChangeAspect="1"/>
          </p:cNvPicPr>
          <p:nvPr/>
        </p:nvPicPr>
        <p:blipFill>
          <a:blip r:embed="rId4"/>
          <a:stretch>
            <a:fillRect/>
          </a:stretch>
        </p:blipFill>
        <p:spPr>
          <a:xfrm>
            <a:off x="642318" y="5010150"/>
            <a:ext cx="11125200" cy="1543050"/>
          </a:xfrm>
          <a:prstGeom prst="rect">
            <a:avLst/>
          </a:prstGeom>
        </p:spPr>
      </p:pic>
      <p:pic>
        <p:nvPicPr>
          <p:cNvPr id="9" name="Image 8"/>
          <p:cNvPicPr>
            <a:picLocks noChangeAspect="1"/>
          </p:cNvPicPr>
          <p:nvPr/>
        </p:nvPicPr>
        <p:blipFill>
          <a:blip r:embed="rId5"/>
          <a:stretch>
            <a:fillRect/>
          </a:stretch>
        </p:blipFill>
        <p:spPr>
          <a:xfrm>
            <a:off x="753671" y="2699693"/>
            <a:ext cx="10371529" cy="1502646"/>
          </a:xfrm>
          <a:prstGeom prst="rect">
            <a:avLst/>
          </a:prstGeom>
        </p:spPr>
      </p:pic>
      <p:sp>
        <p:nvSpPr>
          <p:cNvPr id="16" name="object 15"/>
          <p:cNvSpPr txBox="1">
            <a:spLocks/>
          </p:cNvSpPr>
          <p:nvPr/>
        </p:nvSpPr>
        <p:spPr>
          <a:xfrm>
            <a:off x="263753" y="152400"/>
            <a:ext cx="11664492" cy="949029"/>
          </a:xfrm>
          <a:prstGeom prst="rect">
            <a:avLst/>
          </a:prstGeom>
        </p:spPr>
        <p:txBody>
          <a:bodyPr vert="horz" wrap="square" lIns="0" tIns="147371" rIns="0" bIns="0" rtlCol="0">
            <a:spAutoFit/>
          </a:bodyPr>
          <a:lstStyle>
            <a:lvl1pPr>
              <a:defRPr sz="2000" b="1" i="0">
                <a:solidFill>
                  <a:srgbClr val="585858"/>
                </a:solidFill>
                <a:latin typeface="Calibri"/>
                <a:ea typeface="+mj-ea"/>
                <a:cs typeface="Calibri"/>
              </a:defRPr>
            </a:lvl1pPr>
          </a:lstStyle>
          <a:p>
            <a:pPr marL="12700">
              <a:spcBef>
                <a:spcPts val="90"/>
              </a:spcBef>
            </a:pPr>
            <a:r>
              <a:rPr lang="fr-FR" smtClean="0">
                <a:solidFill>
                  <a:srgbClr val="007842"/>
                </a:solidFill>
              </a:rPr>
              <a:t>04</a:t>
            </a:r>
            <a:r>
              <a:rPr lang="fr-FR" spc="-35" smtClean="0">
                <a:solidFill>
                  <a:srgbClr val="007842"/>
                </a:solidFill>
              </a:rPr>
              <a:t> </a:t>
            </a:r>
            <a:r>
              <a:rPr lang="fr-FR" smtClean="0">
                <a:solidFill>
                  <a:srgbClr val="007842"/>
                </a:solidFill>
              </a:rPr>
              <a:t>–</a:t>
            </a:r>
            <a:r>
              <a:rPr lang="fr-FR" spc="-20" smtClean="0">
                <a:solidFill>
                  <a:srgbClr val="007842"/>
                </a:solidFill>
              </a:rPr>
              <a:t> </a:t>
            </a:r>
            <a:r>
              <a:rPr lang="fr-FR" smtClean="0">
                <a:solidFill>
                  <a:srgbClr val="007842"/>
                </a:solidFill>
              </a:rPr>
              <a:t>Gestion des processus </a:t>
            </a:r>
            <a:br>
              <a:rPr lang="fr-FR" smtClean="0">
                <a:solidFill>
                  <a:srgbClr val="007842"/>
                </a:solidFill>
              </a:rPr>
            </a:br>
            <a:r>
              <a:rPr lang="fr-FR" sz="1600" spc="-10" smtClean="0">
                <a:solidFill>
                  <a:srgbClr val="007842"/>
                </a:solidFill>
              </a:rPr>
              <a:t>Shortest Remaining Time First/Next (SRTF - SRTN):</a:t>
            </a:r>
            <a:br>
              <a:rPr lang="fr-FR" sz="1600" spc="-10" smtClean="0">
                <a:solidFill>
                  <a:srgbClr val="007842"/>
                </a:solidFill>
              </a:rPr>
            </a:br>
            <a:r>
              <a:rPr lang="fr-FR" sz="1600" spc="-10" smtClean="0">
                <a:solidFill>
                  <a:srgbClr val="007842"/>
                </a:solidFill>
              </a:rPr>
              <a:t> Plus court temps d'exécution version préemptive</a:t>
            </a:r>
            <a:endParaRPr lang="fr-FR" sz="1600" dirty="0"/>
          </a:p>
        </p:txBody>
      </p:sp>
    </p:spTree>
    <p:extLst>
      <p:ext uri="{BB962C8B-B14F-4D97-AF65-F5344CB8AC3E}">
        <p14:creationId xmlns:p14="http://schemas.microsoft.com/office/powerpoint/2010/main" val="26860145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24</a:t>
            </a:fld>
            <a:endParaRPr spc="-25" dirty="0"/>
          </a:p>
        </p:txBody>
      </p:sp>
      <p:sp>
        <p:nvSpPr>
          <p:cNvPr id="14" name="object 14"/>
          <p:cNvSpPr txBox="1"/>
          <p:nvPr/>
        </p:nvSpPr>
        <p:spPr>
          <a:xfrm>
            <a:off x="753671" y="1464563"/>
            <a:ext cx="10678560" cy="735714"/>
          </a:xfrm>
          <a:prstGeom prst="rect">
            <a:avLst/>
          </a:prstGeom>
        </p:spPr>
        <p:txBody>
          <a:bodyPr vert="horz" wrap="square" lIns="0" tIns="12700" rIns="0" bIns="0" rtlCol="0">
            <a:spAutoFit/>
          </a:bodyPr>
          <a:lstStyle/>
          <a:p>
            <a:pPr marL="12700" marR="5080" algn="just">
              <a:lnSpc>
                <a:spcPct val="150100"/>
              </a:lnSpc>
              <a:spcBef>
                <a:spcPts val="100"/>
              </a:spcBef>
            </a:pPr>
            <a:r>
              <a:rPr lang="fr-FR" sz="2000" b="1" dirty="0" smtClean="0">
                <a:solidFill>
                  <a:srgbClr val="FF0000"/>
                </a:solidFill>
                <a:latin typeface="Calibri"/>
                <a:cs typeface="Calibri"/>
              </a:rPr>
              <a:t>Solution</a:t>
            </a:r>
            <a:endParaRPr lang="fr-FR" sz="1600" dirty="0" smtClean="0">
              <a:latin typeface="Calibri"/>
              <a:cs typeface="Calibri"/>
            </a:endParaRPr>
          </a:p>
          <a:p>
            <a:pPr marL="12700" marR="5080" algn="just">
              <a:lnSpc>
                <a:spcPct val="150100"/>
              </a:lnSpc>
              <a:spcBef>
                <a:spcPts val="100"/>
              </a:spcBef>
            </a:pPr>
            <a:endParaRPr lang="fr-FR" sz="1200" dirty="0" smtClean="0">
              <a:solidFill>
                <a:srgbClr val="585858"/>
              </a:solidFill>
              <a:latin typeface="Calibri"/>
              <a:cs typeface="Calibri"/>
            </a:endParaRPr>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8" name="Rectangle 7"/>
          <p:cNvSpPr/>
          <p:nvPr/>
        </p:nvSpPr>
        <p:spPr>
          <a:xfrm>
            <a:off x="528445" y="2022375"/>
            <a:ext cx="2010487" cy="355803"/>
          </a:xfrm>
          <a:prstGeom prst="rect">
            <a:avLst/>
          </a:prstGeom>
        </p:spPr>
        <p:txBody>
          <a:bodyPr wrap="none">
            <a:spAutoFit/>
          </a:bodyPr>
          <a:lstStyle/>
          <a:p>
            <a:pPr>
              <a:lnSpc>
                <a:spcPct val="107000"/>
              </a:lnSpc>
              <a:spcAft>
                <a:spcPts val="800"/>
              </a:spcAft>
            </a:pPr>
            <a:r>
              <a:rPr lang="fr-FR" sz="1600" b="1" dirty="0" smtClean="0">
                <a:solidFill>
                  <a:schemeClr val="tx1"/>
                </a:solidFill>
                <a:effectLst/>
                <a:latin typeface="+mj-lt"/>
                <a:ea typeface="Calibri" panose="020F0502020204030204" pitchFamily="34" charset="0"/>
                <a:cs typeface="Arial" panose="020B0604020202020204" pitchFamily="34" charset="0"/>
              </a:rPr>
              <a:t>Diagramme de Gantt</a:t>
            </a:r>
          </a:p>
        </p:txBody>
      </p:sp>
      <p:sp>
        <p:nvSpPr>
          <p:cNvPr id="19" name="Rectangle 18"/>
          <p:cNvSpPr/>
          <p:nvPr/>
        </p:nvSpPr>
        <p:spPr>
          <a:xfrm>
            <a:off x="609600" y="3225597"/>
            <a:ext cx="1181734" cy="344069"/>
          </a:xfrm>
          <a:prstGeom prst="rect">
            <a:avLst/>
          </a:prstGeom>
        </p:spPr>
        <p:txBody>
          <a:bodyPr wrap="none">
            <a:spAutoFit/>
          </a:bodyPr>
          <a:lstStyle/>
          <a:p>
            <a:pPr>
              <a:lnSpc>
                <a:spcPct val="107000"/>
              </a:lnSpc>
              <a:spcAft>
                <a:spcPts val="800"/>
              </a:spcAft>
            </a:pPr>
            <a:r>
              <a:rPr lang="fr-FR" sz="1600" b="1" dirty="0" smtClean="0">
                <a:solidFill>
                  <a:schemeClr val="tx1"/>
                </a:solidFill>
                <a:latin typeface="+mj-lt"/>
                <a:ea typeface="Calibri" panose="020F0502020204030204" pitchFamily="34" charset="0"/>
                <a:cs typeface="Arial" panose="020B0604020202020204" pitchFamily="34" charset="0"/>
              </a:rPr>
              <a:t>Statistiques</a:t>
            </a:r>
            <a:endParaRPr lang="fr-FR" sz="1600" b="1" dirty="0" smtClean="0">
              <a:solidFill>
                <a:schemeClr val="tx1"/>
              </a:solidFill>
              <a:effectLst/>
              <a:latin typeface="+mj-lt"/>
              <a:ea typeface="Calibri" panose="020F0502020204030204" pitchFamily="34" charset="0"/>
              <a:cs typeface="Arial" panose="020B0604020202020204" pitchFamily="34" charset="0"/>
            </a:endParaRPr>
          </a:p>
        </p:txBody>
      </p:sp>
      <p:sp>
        <p:nvSpPr>
          <p:cNvPr id="16" name="object 15"/>
          <p:cNvSpPr txBox="1">
            <a:spLocks noGrp="1"/>
          </p:cNvSpPr>
          <p:nvPr>
            <p:ph type="title"/>
          </p:nvPr>
        </p:nvSpPr>
        <p:spPr>
          <a:xfrm>
            <a:off x="263753" y="152400"/>
            <a:ext cx="11664492" cy="949029"/>
          </a:xfrm>
          <a:prstGeom prst="rect">
            <a:avLst/>
          </a:prstGeom>
        </p:spPr>
        <p:txBody>
          <a:bodyPr vert="horz" wrap="square" lIns="0" tIns="147371" rIns="0" bIns="0" rtlCol="0">
            <a:spAutoFit/>
          </a:bodyPr>
          <a:lstStyle/>
          <a:p>
            <a:pPr marL="12700">
              <a:lnSpc>
                <a:spcPct val="100000"/>
              </a:lnSpc>
              <a:spcBef>
                <a:spcPts val="90"/>
              </a:spcBef>
            </a:pPr>
            <a:r>
              <a:rPr lang="fr-FR" dirty="0" smtClean="0">
                <a:solidFill>
                  <a:srgbClr val="007842"/>
                </a:solidFill>
              </a:rPr>
              <a:t>04</a:t>
            </a:r>
            <a:r>
              <a:rPr lang="fr-FR" spc="-35" dirty="0" smtClean="0">
                <a:solidFill>
                  <a:srgbClr val="007842"/>
                </a:solidFill>
              </a:rPr>
              <a:t> </a:t>
            </a:r>
            <a:r>
              <a:rPr lang="fr-FR" dirty="0" smtClean="0">
                <a:solidFill>
                  <a:srgbClr val="007842"/>
                </a:solidFill>
              </a:rPr>
              <a:t>–</a:t>
            </a:r>
            <a:r>
              <a:rPr lang="fr-FR" spc="-20" dirty="0" smtClean="0">
                <a:solidFill>
                  <a:srgbClr val="007842"/>
                </a:solidFill>
              </a:rPr>
              <a:t> </a:t>
            </a:r>
            <a:r>
              <a:rPr lang="fr-FR" dirty="0" smtClean="0">
                <a:solidFill>
                  <a:srgbClr val="007842"/>
                </a:solidFill>
              </a:rPr>
              <a:t>Gestion des processus </a:t>
            </a:r>
            <a:br>
              <a:rPr lang="fr-FR" dirty="0" smtClean="0">
                <a:solidFill>
                  <a:srgbClr val="007842"/>
                </a:solidFill>
              </a:rPr>
            </a:br>
            <a:r>
              <a:rPr lang="fr-FR" sz="1600" spc="-10" dirty="0" err="1">
                <a:solidFill>
                  <a:srgbClr val="007842"/>
                </a:solidFill>
              </a:rPr>
              <a:t>Shortest</a:t>
            </a:r>
            <a:r>
              <a:rPr lang="fr-FR" sz="1600" spc="-10" dirty="0">
                <a:solidFill>
                  <a:srgbClr val="007842"/>
                </a:solidFill>
              </a:rPr>
              <a:t> </a:t>
            </a:r>
            <a:r>
              <a:rPr lang="fr-FR" sz="1600" spc="-10" dirty="0" err="1">
                <a:solidFill>
                  <a:srgbClr val="007842"/>
                </a:solidFill>
              </a:rPr>
              <a:t>Remaining</a:t>
            </a:r>
            <a:r>
              <a:rPr lang="fr-FR" sz="1600" spc="-10" dirty="0">
                <a:solidFill>
                  <a:srgbClr val="007842"/>
                </a:solidFill>
              </a:rPr>
              <a:t> Time First/</a:t>
            </a:r>
            <a:r>
              <a:rPr lang="fr-FR" sz="1600" spc="-10" dirty="0" err="1">
                <a:solidFill>
                  <a:srgbClr val="007842"/>
                </a:solidFill>
              </a:rPr>
              <a:t>Next</a:t>
            </a:r>
            <a:r>
              <a:rPr lang="fr-FR" sz="1600" spc="-10" dirty="0">
                <a:solidFill>
                  <a:srgbClr val="007842"/>
                </a:solidFill>
              </a:rPr>
              <a:t> (SRTF - SRTN):</a:t>
            </a:r>
            <a:br>
              <a:rPr lang="fr-FR" sz="1600" spc="-10" dirty="0">
                <a:solidFill>
                  <a:srgbClr val="007842"/>
                </a:solidFill>
              </a:rPr>
            </a:br>
            <a:r>
              <a:rPr lang="fr-FR" sz="1600" spc="-10" dirty="0">
                <a:solidFill>
                  <a:srgbClr val="007842"/>
                </a:solidFill>
              </a:rPr>
              <a:t> Plus court temps d'exécution version </a:t>
            </a:r>
            <a:r>
              <a:rPr lang="fr-FR" sz="1600" spc="-10" dirty="0" smtClean="0">
                <a:solidFill>
                  <a:srgbClr val="007842"/>
                </a:solidFill>
              </a:rPr>
              <a:t>préemptive</a:t>
            </a:r>
            <a:endParaRPr sz="1600" dirty="0"/>
          </a:p>
        </p:txBody>
      </p:sp>
      <p:pic>
        <p:nvPicPr>
          <p:cNvPr id="10" name="Image 9"/>
          <p:cNvPicPr>
            <a:picLocks noChangeAspect="1"/>
          </p:cNvPicPr>
          <p:nvPr/>
        </p:nvPicPr>
        <p:blipFill>
          <a:blip r:embed="rId4"/>
          <a:stretch>
            <a:fillRect/>
          </a:stretch>
        </p:blipFill>
        <p:spPr>
          <a:xfrm>
            <a:off x="854772" y="2367242"/>
            <a:ext cx="10325100" cy="909119"/>
          </a:xfrm>
          <a:prstGeom prst="rect">
            <a:avLst/>
          </a:prstGeom>
        </p:spPr>
      </p:pic>
      <p:pic>
        <p:nvPicPr>
          <p:cNvPr id="11" name="Image 10"/>
          <p:cNvPicPr>
            <a:picLocks noChangeAspect="1"/>
          </p:cNvPicPr>
          <p:nvPr/>
        </p:nvPicPr>
        <p:blipFill>
          <a:blip r:embed="rId5"/>
          <a:stretch>
            <a:fillRect/>
          </a:stretch>
        </p:blipFill>
        <p:spPr>
          <a:xfrm>
            <a:off x="1074547" y="3569666"/>
            <a:ext cx="10357684" cy="3212134"/>
          </a:xfrm>
          <a:prstGeom prst="rect">
            <a:avLst/>
          </a:prstGeom>
        </p:spPr>
      </p:pic>
    </p:spTree>
    <p:extLst>
      <p:ext uri="{BB962C8B-B14F-4D97-AF65-F5344CB8AC3E}">
        <p14:creationId xmlns:p14="http://schemas.microsoft.com/office/powerpoint/2010/main" val="33486359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25</a:t>
            </a:fld>
            <a:endParaRPr spc="-25" dirty="0"/>
          </a:p>
        </p:txBody>
      </p:sp>
      <p:sp>
        <p:nvSpPr>
          <p:cNvPr id="14" name="object 14"/>
          <p:cNvSpPr txBox="1"/>
          <p:nvPr/>
        </p:nvSpPr>
        <p:spPr>
          <a:xfrm>
            <a:off x="753671" y="1464563"/>
            <a:ext cx="10678560" cy="1528624"/>
          </a:xfrm>
          <a:prstGeom prst="rect">
            <a:avLst/>
          </a:prstGeom>
        </p:spPr>
        <p:txBody>
          <a:bodyPr vert="horz" wrap="square" lIns="0" tIns="12700" rIns="0" bIns="0" rtlCol="0">
            <a:spAutoFit/>
          </a:bodyPr>
          <a:lstStyle/>
          <a:p>
            <a:pPr marL="12700" marR="5080" algn="just">
              <a:lnSpc>
                <a:spcPct val="150100"/>
              </a:lnSpc>
              <a:spcBef>
                <a:spcPts val="100"/>
              </a:spcBef>
            </a:pPr>
            <a:r>
              <a:rPr lang="fr-FR" sz="2000" b="1" dirty="0" smtClean="0">
                <a:solidFill>
                  <a:srgbClr val="FFC000"/>
                </a:solidFill>
                <a:latin typeface="Calibri"/>
                <a:cs typeface="Calibri"/>
              </a:rPr>
              <a:t>Exemple</a:t>
            </a:r>
          </a:p>
          <a:p>
            <a:pPr marL="12700" marR="5080" algn="just">
              <a:lnSpc>
                <a:spcPct val="150100"/>
              </a:lnSpc>
              <a:spcBef>
                <a:spcPts val="100"/>
              </a:spcBef>
            </a:pPr>
            <a:r>
              <a:rPr lang="fr-FR" sz="1600" dirty="0" smtClean="0">
                <a:latin typeface="Calibri"/>
                <a:cs typeface="Calibri"/>
              </a:rPr>
              <a:t>considérez les quatre processus suivants, avec le temps d’</a:t>
            </a:r>
            <a:r>
              <a:rPr lang="fr-FR" sz="1600" dirty="0" err="1" smtClean="0">
                <a:latin typeface="Calibri"/>
                <a:cs typeface="Calibri"/>
              </a:rPr>
              <a:t>éxecution</a:t>
            </a:r>
            <a:r>
              <a:rPr lang="fr-FR" sz="1600" dirty="0" smtClean="0">
                <a:latin typeface="Calibri"/>
                <a:cs typeface="Calibri"/>
              </a:rPr>
              <a:t> en millisecondes : Quantum = 4 ms:</a:t>
            </a:r>
          </a:p>
          <a:p>
            <a:pPr marL="12700" marR="5080" algn="just">
              <a:lnSpc>
                <a:spcPct val="150100"/>
              </a:lnSpc>
              <a:spcBef>
                <a:spcPts val="100"/>
              </a:spcBef>
            </a:pPr>
            <a:endParaRPr lang="fr-FR" sz="1600" dirty="0" smtClean="0">
              <a:latin typeface="Calibri"/>
              <a:cs typeface="Calibri"/>
            </a:endParaRPr>
          </a:p>
          <a:p>
            <a:pPr marL="12700" marR="5080" algn="just">
              <a:lnSpc>
                <a:spcPct val="150100"/>
              </a:lnSpc>
              <a:spcBef>
                <a:spcPts val="100"/>
              </a:spcBef>
            </a:pPr>
            <a:endParaRPr lang="fr-FR" sz="1200" dirty="0" smtClean="0">
              <a:solidFill>
                <a:srgbClr val="585858"/>
              </a:solidFill>
              <a:latin typeface="Calibri"/>
              <a:cs typeface="Calibri"/>
            </a:endParaRPr>
          </a:p>
        </p:txBody>
      </p:sp>
      <p:sp>
        <p:nvSpPr>
          <p:cNvPr id="15" name="object 15"/>
          <p:cNvSpPr txBox="1">
            <a:spLocks noGrp="1"/>
          </p:cNvSpPr>
          <p:nvPr>
            <p:ph type="title"/>
          </p:nvPr>
        </p:nvSpPr>
        <p:spPr>
          <a:xfrm>
            <a:off x="263753" y="152400"/>
            <a:ext cx="11664492" cy="764363"/>
          </a:xfrm>
          <a:prstGeom prst="rect">
            <a:avLst/>
          </a:prstGeom>
        </p:spPr>
        <p:txBody>
          <a:bodyPr vert="horz" wrap="square" lIns="0" tIns="147371" rIns="0" bIns="0" rtlCol="0">
            <a:spAutoFit/>
          </a:bodyPr>
          <a:lstStyle/>
          <a:p>
            <a:pPr marL="12700">
              <a:lnSpc>
                <a:spcPct val="100000"/>
              </a:lnSpc>
              <a:spcBef>
                <a:spcPts val="90"/>
              </a:spcBef>
            </a:pPr>
            <a:r>
              <a:rPr lang="fr-FR" dirty="0" smtClean="0">
                <a:solidFill>
                  <a:srgbClr val="007842"/>
                </a:solidFill>
              </a:rPr>
              <a:t>04</a:t>
            </a:r>
            <a:r>
              <a:rPr lang="fr-FR" spc="-35" dirty="0" smtClean="0">
                <a:solidFill>
                  <a:srgbClr val="007842"/>
                </a:solidFill>
              </a:rPr>
              <a:t> </a:t>
            </a:r>
            <a:r>
              <a:rPr lang="fr-FR" dirty="0" smtClean="0">
                <a:solidFill>
                  <a:srgbClr val="007842"/>
                </a:solidFill>
              </a:rPr>
              <a:t>–</a:t>
            </a:r>
            <a:r>
              <a:rPr lang="fr-FR" spc="-20" dirty="0" smtClean="0">
                <a:solidFill>
                  <a:srgbClr val="007842"/>
                </a:solidFill>
              </a:rPr>
              <a:t> </a:t>
            </a:r>
            <a:r>
              <a:rPr lang="fr-FR" dirty="0" smtClean="0">
                <a:solidFill>
                  <a:srgbClr val="007842"/>
                </a:solidFill>
              </a:rPr>
              <a:t>Gestion des processus </a:t>
            </a:r>
            <a:br>
              <a:rPr lang="fr-FR" dirty="0" smtClean="0">
                <a:solidFill>
                  <a:srgbClr val="007842"/>
                </a:solidFill>
              </a:rPr>
            </a:br>
            <a:r>
              <a:rPr lang="fr-FR" sz="1600" spc="-10" dirty="0">
                <a:solidFill>
                  <a:srgbClr val="007842"/>
                </a:solidFill>
              </a:rPr>
              <a:t>Algorithme</a:t>
            </a:r>
            <a:r>
              <a:rPr lang="fr-FR" dirty="0" smtClean="0">
                <a:solidFill>
                  <a:srgbClr val="007842"/>
                </a:solidFill>
              </a:rPr>
              <a:t> </a:t>
            </a:r>
            <a:r>
              <a:rPr lang="fr-FR" sz="1600" spc="-10" dirty="0" smtClean="0">
                <a:solidFill>
                  <a:srgbClr val="007842"/>
                </a:solidFill>
              </a:rPr>
              <a:t>Round </a:t>
            </a:r>
            <a:r>
              <a:rPr lang="fr-FR" sz="1600" spc="-10" dirty="0">
                <a:solidFill>
                  <a:srgbClr val="007842"/>
                </a:solidFill>
              </a:rPr>
              <a:t>Robin (RR) </a:t>
            </a:r>
            <a:endParaRPr sz="1600" dirty="0"/>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16" name="Rectangle 15"/>
          <p:cNvSpPr/>
          <p:nvPr/>
        </p:nvSpPr>
        <p:spPr>
          <a:xfrm>
            <a:off x="753671" y="4456531"/>
            <a:ext cx="1927131" cy="344069"/>
          </a:xfrm>
          <a:prstGeom prst="rect">
            <a:avLst/>
          </a:prstGeom>
        </p:spPr>
        <p:txBody>
          <a:bodyPr wrap="none">
            <a:spAutoFit/>
          </a:bodyPr>
          <a:lstStyle/>
          <a:p>
            <a:pPr>
              <a:lnSpc>
                <a:spcPct val="107000"/>
              </a:lnSpc>
              <a:spcAft>
                <a:spcPts val="800"/>
              </a:spcAft>
            </a:pPr>
            <a:r>
              <a:rPr lang="fr-FR" sz="1600" dirty="0" smtClean="0">
                <a:solidFill>
                  <a:srgbClr val="0D0D0D"/>
                </a:solidFill>
                <a:effectLst/>
                <a:latin typeface="+mj-lt"/>
                <a:ea typeface="Calibri" panose="020F0502020204030204" pitchFamily="34" charset="0"/>
                <a:cs typeface="Arial" panose="020B0604020202020204" pitchFamily="34" charset="0"/>
              </a:rPr>
              <a:t>Diagramme de Gantt</a:t>
            </a:r>
            <a:endParaRPr lang="fr-FR" sz="1600" dirty="0">
              <a:effectLst/>
              <a:latin typeface="+mj-lt"/>
              <a:ea typeface="Calibri" panose="020F0502020204030204" pitchFamily="34" charset="0"/>
              <a:cs typeface="Arial" panose="020B0604020202020204" pitchFamily="34" charset="0"/>
            </a:endParaRPr>
          </a:p>
        </p:txBody>
      </p:sp>
      <p:pic>
        <p:nvPicPr>
          <p:cNvPr id="7" name="Image 6"/>
          <p:cNvPicPr>
            <a:picLocks noChangeAspect="1"/>
          </p:cNvPicPr>
          <p:nvPr/>
        </p:nvPicPr>
        <p:blipFill>
          <a:blip r:embed="rId4"/>
          <a:stretch>
            <a:fillRect/>
          </a:stretch>
        </p:blipFill>
        <p:spPr>
          <a:xfrm>
            <a:off x="615137" y="2380107"/>
            <a:ext cx="11172825" cy="1504950"/>
          </a:xfrm>
          <a:prstGeom prst="rect">
            <a:avLst/>
          </a:prstGeom>
        </p:spPr>
      </p:pic>
      <p:pic>
        <p:nvPicPr>
          <p:cNvPr id="20" name="Image 19"/>
          <p:cNvPicPr/>
          <p:nvPr/>
        </p:nvPicPr>
        <p:blipFill>
          <a:blip r:embed="rId5"/>
          <a:stretch>
            <a:fillRect/>
          </a:stretch>
        </p:blipFill>
        <p:spPr>
          <a:xfrm>
            <a:off x="753671" y="4937062"/>
            <a:ext cx="10179761" cy="870024"/>
          </a:xfrm>
          <a:prstGeom prst="rect">
            <a:avLst/>
          </a:prstGeom>
        </p:spPr>
      </p:pic>
    </p:spTree>
    <p:extLst>
      <p:ext uri="{BB962C8B-B14F-4D97-AF65-F5344CB8AC3E}">
        <p14:creationId xmlns:p14="http://schemas.microsoft.com/office/powerpoint/2010/main" val="18069312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26</a:t>
            </a:fld>
            <a:endParaRPr spc="-25" dirty="0"/>
          </a:p>
        </p:txBody>
      </p:sp>
      <p:sp>
        <p:nvSpPr>
          <p:cNvPr id="14" name="object 14"/>
          <p:cNvSpPr txBox="1"/>
          <p:nvPr/>
        </p:nvSpPr>
        <p:spPr>
          <a:xfrm>
            <a:off x="753671" y="1464563"/>
            <a:ext cx="10678560" cy="1528624"/>
          </a:xfrm>
          <a:prstGeom prst="rect">
            <a:avLst/>
          </a:prstGeom>
        </p:spPr>
        <p:txBody>
          <a:bodyPr vert="horz" wrap="square" lIns="0" tIns="12700" rIns="0" bIns="0" rtlCol="0">
            <a:spAutoFit/>
          </a:bodyPr>
          <a:lstStyle/>
          <a:p>
            <a:pPr marL="12700" marR="5080" algn="just">
              <a:lnSpc>
                <a:spcPct val="150100"/>
              </a:lnSpc>
              <a:spcBef>
                <a:spcPts val="100"/>
              </a:spcBef>
            </a:pPr>
            <a:r>
              <a:rPr lang="fr-FR" sz="2000" b="1" dirty="0" smtClean="0">
                <a:solidFill>
                  <a:srgbClr val="FFC000"/>
                </a:solidFill>
                <a:latin typeface="Calibri"/>
                <a:cs typeface="Calibri"/>
              </a:rPr>
              <a:t>Exemple</a:t>
            </a:r>
          </a:p>
          <a:p>
            <a:pPr marL="12700" marR="5080" algn="just">
              <a:lnSpc>
                <a:spcPct val="150100"/>
              </a:lnSpc>
              <a:spcBef>
                <a:spcPts val="100"/>
              </a:spcBef>
            </a:pPr>
            <a:r>
              <a:rPr lang="fr-FR" sz="1600" dirty="0" smtClean="0">
                <a:latin typeface="Calibri"/>
                <a:cs typeface="Calibri"/>
              </a:rPr>
              <a:t>considérez les quatre processus suivants, avec le temps d’</a:t>
            </a:r>
            <a:r>
              <a:rPr lang="fr-FR" sz="1600" dirty="0" err="1" smtClean="0">
                <a:latin typeface="Calibri"/>
                <a:cs typeface="Calibri"/>
              </a:rPr>
              <a:t>éxecution</a:t>
            </a:r>
            <a:r>
              <a:rPr lang="fr-FR" sz="1600" dirty="0" smtClean="0">
                <a:latin typeface="Calibri"/>
                <a:cs typeface="Calibri"/>
              </a:rPr>
              <a:t> en millisecondes : Quantum = 4 ms:</a:t>
            </a:r>
          </a:p>
          <a:p>
            <a:pPr marL="12700" marR="5080" algn="just">
              <a:lnSpc>
                <a:spcPct val="150100"/>
              </a:lnSpc>
              <a:spcBef>
                <a:spcPts val="100"/>
              </a:spcBef>
            </a:pPr>
            <a:endParaRPr lang="fr-FR" sz="1600" dirty="0" smtClean="0">
              <a:latin typeface="Calibri"/>
              <a:cs typeface="Calibri"/>
            </a:endParaRPr>
          </a:p>
          <a:p>
            <a:pPr marL="12700" marR="5080" algn="just">
              <a:lnSpc>
                <a:spcPct val="150100"/>
              </a:lnSpc>
              <a:spcBef>
                <a:spcPts val="100"/>
              </a:spcBef>
            </a:pPr>
            <a:endParaRPr lang="fr-FR" sz="1200" dirty="0" smtClean="0">
              <a:solidFill>
                <a:srgbClr val="585858"/>
              </a:solidFill>
              <a:latin typeface="Calibri"/>
              <a:cs typeface="Calibri"/>
            </a:endParaRPr>
          </a:p>
        </p:txBody>
      </p:sp>
      <p:sp>
        <p:nvSpPr>
          <p:cNvPr id="15" name="object 15"/>
          <p:cNvSpPr txBox="1">
            <a:spLocks noGrp="1"/>
          </p:cNvSpPr>
          <p:nvPr>
            <p:ph type="title"/>
          </p:nvPr>
        </p:nvSpPr>
        <p:spPr>
          <a:xfrm>
            <a:off x="263753" y="152400"/>
            <a:ext cx="11664492" cy="764363"/>
          </a:xfrm>
          <a:prstGeom prst="rect">
            <a:avLst/>
          </a:prstGeom>
        </p:spPr>
        <p:txBody>
          <a:bodyPr vert="horz" wrap="square" lIns="0" tIns="147371" rIns="0" bIns="0" rtlCol="0">
            <a:spAutoFit/>
          </a:bodyPr>
          <a:lstStyle/>
          <a:p>
            <a:pPr marL="12700">
              <a:lnSpc>
                <a:spcPct val="100000"/>
              </a:lnSpc>
              <a:spcBef>
                <a:spcPts val="90"/>
              </a:spcBef>
            </a:pPr>
            <a:r>
              <a:rPr lang="fr-FR" dirty="0" smtClean="0">
                <a:solidFill>
                  <a:srgbClr val="007842"/>
                </a:solidFill>
              </a:rPr>
              <a:t>04</a:t>
            </a:r>
            <a:r>
              <a:rPr lang="fr-FR" spc="-35" dirty="0" smtClean="0">
                <a:solidFill>
                  <a:srgbClr val="007842"/>
                </a:solidFill>
              </a:rPr>
              <a:t> </a:t>
            </a:r>
            <a:r>
              <a:rPr lang="fr-FR" dirty="0" smtClean="0">
                <a:solidFill>
                  <a:srgbClr val="007842"/>
                </a:solidFill>
              </a:rPr>
              <a:t>–</a:t>
            </a:r>
            <a:r>
              <a:rPr lang="fr-FR" spc="-20" dirty="0" smtClean="0">
                <a:solidFill>
                  <a:srgbClr val="007842"/>
                </a:solidFill>
              </a:rPr>
              <a:t> </a:t>
            </a:r>
            <a:r>
              <a:rPr lang="fr-FR" dirty="0" smtClean="0">
                <a:solidFill>
                  <a:srgbClr val="007842"/>
                </a:solidFill>
              </a:rPr>
              <a:t>Gestion des processus </a:t>
            </a:r>
            <a:br>
              <a:rPr lang="fr-FR" dirty="0" smtClean="0">
                <a:solidFill>
                  <a:srgbClr val="007842"/>
                </a:solidFill>
              </a:rPr>
            </a:br>
            <a:r>
              <a:rPr lang="fr-FR" sz="1600" spc="-10" dirty="0">
                <a:solidFill>
                  <a:srgbClr val="007842"/>
                </a:solidFill>
              </a:rPr>
              <a:t>Algorithme</a:t>
            </a:r>
            <a:r>
              <a:rPr lang="fr-FR" dirty="0" smtClean="0">
                <a:solidFill>
                  <a:srgbClr val="007842"/>
                </a:solidFill>
              </a:rPr>
              <a:t> </a:t>
            </a:r>
            <a:r>
              <a:rPr lang="fr-FR" sz="1600" spc="-10" dirty="0" smtClean="0">
                <a:solidFill>
                  <a:srgbClr val="007842"/>
                </a:solidFill>
              </a:rPr>
              <a:t>Round </a:t>
            </a:r>
            <a:r>
              <a:rPr lang="fr-FR" sz="1600" spc="-10" dirty="0">
                <a:solidFill>
                  <a:srgbClr val="007842"/>
                </a:solidFill>
              </a:rPr>
              <a:t>Robin (RR) </a:t>
            </a:r>
            <a:endParaRPr sz="1600" dirty="0"/>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16" name="Rectangle 15"/>
          <p:cNvSpPr/>
          <p:nvPr/>
        </p:nvSpPr>
        <p:spPr>
          <a:xfrm>
            <a:off x="753671" y="4456531"/>
            <a:ext cx="1927131" cy="344069"/>
          </a:xfrm>
          <a:prstGeom prst="rect">
            <a:avLst/>
          </a:prstGeom>
        </p:spPr>
        <p:txBody>
          <a:bodyPr wrap="none">
            <a:spAutoFit/>
          </a:bodyPr>
          <a:lstStyle/>
          <a:p>
            <a:pPr>
              <a:lnSpc>
                <a:spcPct val="107000"/>
              </a:lnSpc>
              <a:spcAft>
                <a:spcPts val="800"/>
              </a:spcAft>
            </a:pPr>
            <a:r>
              <a:rPr lang="fr-FR" sz="1600" dirty="0" smtClean="0">
                <a:solidFill>
                  <a:srgbClr val="0D0D0D"/>
                </a:solidFill>
                <a:effectLst/>
                <a:latin typeface="+mj-lt"/>
                <a:ea typeface="Calibri" panose="020F0502020204030204" pitchFamily="34" charset="0"/>
                <a:cs typeface="Arial" panose="020B0604020202020204" pitchFamily="34" charset="0"/>
              </a:rPr>
              <a:t>Diagramme de Gantt</a:t>
            </a:r>
            <a:endParaRPr lang="fr-FR" sz="1600" dirty="0">
              <a:effectLst/>
              <a:latin typeface="+mj-lt"/>
              <a:ea typeface="Calibri" panose="020F0502020204030204" pitchFamily="34" charset="0"/>
              <a:cs typeface="Arial" panose="020B0604020202020204" pitchFamily="34" charset="0"/>
            </a:endParaRPr>
          </a:p>
        </p:txBody>
      </p:sp>
      <p:pic>
        <p:nvPicPr>
          <p:cNvPr id="7" name="Image 6"/>
          <p:cNvPicPr>
            <a:picLocks noChangeAspect="1"/>
          </p:cNvPicPr>
          <p:nvPr/>
        </p:nvPicPr>
        <p:blipFill>
          <a:blip r:embed="rId4"/>
          <a:stretch>
            <a:fillRect/>
          </a:stretch>
        </p:blipFill>
        <p:spPr>
          <a:xfrm>
            <a:off x="615137" y="2380107"/>
            <a:ext cx="11172825" cy="1504950"/>
          </a:xfrm>
          <a:prstGeom prst="rect">
            <a:avLst/>
          </a:prstGeom>
        </p:spPr>
      </p:pic>
      <p:pic>
        <p:nvPicPr>
          <p:cNvPr id="20" name="Image 19"/>
          <p:cNvPicPr/>
          <p:nvPr/>
        </p:nvPicPr>
        <p:blipFill>
          <a:blip r:embed="rId5"/>
          <a:stretch>
            <a:fillRect/>
          </a:stretch>
        </p:blipFill>
        <p:spPr>
          <a:xfrm>
            <a:off x="753671" y="4937062"/>
            <a:ext cx="10179761" cy="870024"/>
          </a:xfrm>
          <a:prstGeom prst="rect">
            <a:avLst/>
          </a:prstGeom>
        </p:spPr>
      </p:pic>
    </p:spTree>
    <p:extLst>
      <p:ext uri="{BB962C8B-B14F-4D97-AF65-F5344CB8AC3E}">
        <p14:creationId xmlns:p14="http://schemas.microsoft.com/office/powerpoint/2010/main" val="13711068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27</a:t>
            </a:fld>
            <a:endParaRPr spc="-25" dirty="0"/>
          </a:p>
        </p:txBody>
      </p:sp>
      <p:sp>
        <p:nvSpPr>
          <p:cNvPr id="14" name="object 14"/>
          <p:cNvSpPr txBox="1"/>
          <p:nvPr/>
        </p:nvSpPr>
        <p:spPr>
          <a:xfrm>
            <a:off x="753671" y="1464563"/>
            <a:ext cx="10678560" cy="1595309"/>
          </a:xfrm>
          <a:prstGeom prst="rect">
            <a:avLst/>
          </a:prstGeom>
        </p:spPr>
        <p:txBody>
          <a:bodyPr vert="horz" wrap="square" lIns="0" tIns="12700" rIns="0" bIns="0" rtlCol="0">
            <a:spAutoFit/>
          </a:bodyPr>
          <a:lstStyle/>
          <a:p>
            <a:pPr marL="12700" marR="5080" algn="just">
              <a:lnSpc>
                <a:spcPct val="150100"/>
              </a:lnSpc>
              <a:spcBef>
                <a:spcPts val="100"/>
              </a:spcBef>
            </a:pPr>
            <a:r>
              <a:rPr lang="fr-FR" sz="2000" b="1" dirty="0" smtClean="0">
                <a:solidFill>
                  <a:srgbClr val="FFC000"/>
                </a:solidFill>
                <a:latin typeface="Calibri"/>
                <a:cs typeface="Calibri"/>
              </a:rPr>
              <a:t>Exercice</a:t>
            </a:r>
          </a:p>
          <a:p>
            <a:pPr marL="12700" marR="5080" algn="just">
              <a:lnSpc>
                <a:spcPct val="150100"/>
              </a:lnSpc>
              <a:spcBef>
                <a:spcPts val="100"/>
              </a:spcBef>
            </a:pPr>
            <a:r>
              <a:rPr lang="fr-FR" sz="1600" dirty="0" smtClean="0">
                <a:latin typeface="Calibri"/>
                <a:cs typeface="Calibri"/>
              </a:rPr>
              <a:t>Considérez l'ensemble de quatre processus suivants. Le temps d'arrivée et le temps nécessaire pour terminer l'exécution sont donnés dans le tableau suivant. Considérez toutes les valeurs de temps en millisecondes. Considérez que le quantum de temps est de 4 ms, et le coût du basculement vers un autre processus est de 1 ms</a:t>
            </a:r>
            <a:endParaRPr lang="fr-FR" sz="1200" dirty="0" smtClean="0">
              <a:solidFill>
                <a:srgbClr val="585858"/>
              </a:solidFill>
              <a:latin typeface="Calibri"/>
              <a:cs typeface="Calibri"/>
            </a:endParaRPr>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8" name="Rectangle 7"/>
          <p:cNvSpPr/>
          <p:nvPr/>
        </p:nvSpPr>
        <p:spPr>
          <a:xfrm>
            <a:off x="685800" y="4239323"/>
            <a:ext cx="6526146" cy="710131"/>
          </a:xfrm>
          <a:prstGeom prst="rect">
            <a:avLst/>
          </a:prstGeom>
        </p:spPr>
        <p:txBody>
          <a:bodyPr wrap="none">
            <a:spAutoFit/>
          </a:bodyPr>
          <a:lstStyle/>
          <a:p>
            <a:pPr marL="342900" indent="-342900">
              <a:lnSpc>
                <a:spcPct val="107000"/>
              </a:lnSpc>
              <a:spcAft>
                <a:spcPts val="800"/>
              </a:spcAft>
              <a:buFont typeface="+mj-lt"/>
              <a:buAutoNum type="arabicPeriod"/>
            </a:pPr>
            <a:r>
              <a:rPr lang="fr-FR" sz="1600" b="1" dirty="0" smtClean="0">
                <a:solidFill>
                  <a:srgbClr val="FF0000"/>
                </a:solidFill>
                <a:effectLst/>
                <a:latin typeface="+mj-lt"/>
                <a:ea typeface="Calibri" panose="020F0502020204030204" pitchFamily="34" charset="0"/>
                <a:cs typeface="Arial" panose="020B0604020202020204" pitchFamily="34" charset="0"/>
              </a:rPr>
              <a:t>Déterminer le Diagramme de Gantt et renseigner le tableau ci-dessous</a:t>
            </a:r>
          </a:p>
          <a:p>
            <a:pPr marL="342900" indent="-342900">
              <a:lnSpc>
                <a:spcPct val="107000"/>
              </a:lnSpc>
              <a:spcAft>
                <a:spcPts val="800"/>
              </a:spcAft>
              <a:buFont typeface="+mj-lt"/>
              <a:buAutoNum type="arabicPeriod"/>
            </a:pPr>
            <a:r>
              <a:rPr lang="fr-FR" sz="1600" b="1" dirty="0" smtClean="0">
                <a:solidFill>
                  <a:srgbClr val="FF0000"/>
                </a:solidFill>
                <a:effectLst/>
                <a:latin typeface="+mj-lt"/>
                <a:ea typeface="Calibri" panose="020F0502020204030204" pitchFamily="34" charset="0"/>
                <a:cs typeface="Arial" panose="020B0604020202020204" pitchFamily="34" charset="0"/>
              </a:rPr>
              <a:t>Calculer le temps de rotation moyen et le temps d’attente moyen</a:t>
            </a:r>
            <a:endParaRPr lang="fr-FR" sz="1600" b="1" dirty="0">
              <a:solidFill>
                <a:srgbClr val="FF0000"/>
              </a:solidFill>
              <a:effectLst/>
              <a:latin typeface="+mj-lt"/>
              <a:ea typeface="Calibri" panose="020F0502020204030204" pitchFamily="34" charset="0"/>
              <a:cs typeface="Arial" panose="020B0604020202020204" pitchFamily="34" charset="0"/>
            </a:endParaRPr>
          </a:p>
        </p:txBody>
      </p:sp>
      <p:pic>
        <p:nvPicPr>
          <p:cNvPr id="11" name="Image 10"/>
          <p:cNvPicPr>
            <a:picLocks noChangeAspect="1"/>
          </p:cNvPicPr>
          <p:nvPr/>
        </p:nvPicPr>
        <p:blipFill>
          <a:blip r:embed="rId4"/>
          <a:stretch>
            <a:fillRect/>
          </a:stretch>
        </p:blipFill>
        <p:spPr>
          <a:xfrm>
            <a:off x="642318" y="5010150"/>
            <a:ext cx="11125200" cy="1543050"/>
          </a:xfrm>
          <a:prstGeom prst="rect">
            <a:avLst/>
          </a:prstGeom>
        </p:spPr>
      </p:pic>
      <p:pic>
        <p:nvPicPr>
          <p:cNvPr id="9" name="Image 8"/>
          <p:cNvPicPr>
            <a:picLocks noChangeAspect="1"/>
          </p:cNvPicPr>
          <p:nvPr/>
        </p:nvPicPr>
        <p:blipFill>
          <a:blip r:embed="rId5"/>
          <a:stretch>
            <a:fillRect/>
          </a:stretch>
        </p:blipFill>
        <p:spPr>
          <a:xfrm>
            <a:off x="642318" y="3052548"/>
            <a:ext cx="10371529" cy="1194100"/>
          </a:xfrm>
          <a:prstGeom prst="rect">
            <a:avLst/>
          </a:prstGeom>
        </p:spPr>
      </p:pic>
      <p:sp>
        <p:nvSpPr>
          <p:cNvPr id="15" name="object 15"/>
          <p:cNvSpPr txBox="1">
            <a:spLocks noGrp="1"/>
          </p:cNvSpPr>
          <p:nvPr>
            <p:ph type="title"/>
          </p:nvPr>
        </p:nvSpPr>
        <p:spPr>
          <a:xfrm>
            <a:off x="263753" y="152400"/>
            <a:ext cx="11664492" cy="764363"/>
          </a:xfrm>
          <a:prstGeom prst="rect">
            <a:avLst/>
          </a:prstGeom>
        </p:spPr>
        <p:txBody>
          <a:bodyPr vert="horz" wrap="square" lIns="0" tIns="147371" rIns="0" bIns="0" rtlCol="0">
            <a:spAutoFit/>
          </a:bodyPr>
          <a:lstStyle/>
          <a:p>
            <a:pPr marL="12700">
              <a:lnSpc>
                <a:spcPct val="100000"/>
              </a:lnSpc>
              <a:spcBef>
                <a:spcPts val="90"/>
              </a:spcBef>
            </a:pPr>
            <a:r>
              <a:rPr lang="fr-FR" dirty="0" smtClean="0">
                <a:solidFill>
                  <a:srgbClr val="007842"/>
                </a:solidFill>
              </a:rPr>
              <a:t>04</a:t>
            </a:r>
            <a:r>
              <a:rPr lang="fr-FR" spc="-35" dirty="0" smtClean="0">
                <a:solidFill>
                  <a:srgbClr val="007842"/>
                </a:solidFill>
              </a:rPr>
              <a:t> </a:t>
            </a:r>
            <a:r>
              <a:rPr lang="fr-FR" dirty="0" smtClean="0">
                <a:solidFill>
                  <a:srgbClr val="007842"/>
                </a:solidFill>
              </a:rPr>
              <a:t>–</a:t>
            </a:r>
            <a:r>
              <a:rPr lang="fr-FR" spc="-20" dirty="0" smtClean="0">
                <a:solidFill>
                  <a:srgbClr val="007842"/>
                </a:solidFill>
              </a:rPr>
              <a:t> </a:t>
            </a:r>
            <a:r>
              <a:rPr lang="fr-FR" dirty="0" smtClean="0">
                <a:solidFill>
                  <a:srgbClr val="007842"/>
                </a:solidFill>
              </a:rPr>
              <a:t>Gestion des processus </a:t>
            </a:r>
            <a:br>
              <a:rPr lang="fr-FR" dirty="0" smtClean="0">
                <a:solidFill>
                  <a:srgbClr val="007842"/>
                </a:solidFill>
              </a:rPr>
            </a:br>
            <a:r>
              <a:rPr lang="fr-FR" sz="1600" spc="-10" dirty="0">
                <a:solidFill>
                  <a:srgbClr val="007842"/>
                </a:solidFill>
              </a:rPr>
              <a:t>Algorithme</a:t>
            </a:r>
            <a:r>
              <a:rPr lang="fr-FR" dirty="0" smtClean="0">
                <a:solidFill>
                  <a:srgbClr val="007842"/>
                </a:solidFill>
              </a:rPr>
              <a:t> </a:t>
            </a:r>
            <a:r>
              <a:rPr lang="fr-FR" sz="1600" spc="-10" dirty="0" smtClean="0">
                <a:solidFill>
                  <a:srgbClr val="007842"/>
                </a:solidFill>
              </a:rPr>
              <a:t>Round </a:t>
            </a:r>
            <a:r>
              <a:rPr lang="fr-FR" sz="1600" spc="-10" dirty="0">
                <a:solidFill>
                  <a:srgbClr val="007842"/>
                </a:solidFill>
              </a:rPr>
              <a:t>Robin (RR) </a:t>
            </a:r>
            <a:endParaRPr sz="1600" dirty="0"/>
          </a:p>
        </p:txBody>
      </p:sp>
    </p:spTree>
    <p:extLst>
      <p:ext uri="{BB962C8B-B14F-4D97-AF65-F5344CB8AC3E}">
        <p14:creationId xmlns:p14="http://schemas.microsoft.com/office/powerpoint/2010/main" val="2167816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28</a:t>
            </a:fld>
            <a:endParaRPr spc="-25" dirty="0"/>
          </a:p>
        </p:txBody>
      </p:sp>
      <p:sp>
        <p:nvSpPr>
          <p:cNvPr id="14" name="object 14"/>
          <p:cNvSpPr txBox="1"/>
          <p:nvPr/>
        </p:nvSpPr>
        <p:spPr>
          <a:xfrm>
            <a:off x="753671" y="1464563"/>
            <a:ext cx="10678560" cy="735714"/>
          </a:xfrm>
          <a:prstGeom prst="rect">
            <a:avLst/>
          </a:prstGeom>
        </p:spPr>
        <p:txBody>
          <a:bodyPr vert="horz" wrap="square" lIns="0" tIns="12700" rIns="0" bIns="0" rtlCol="0">
            <a:spAutoFit/>
          </a:bodyPr>
          <a:lstStyle/>
          <a:p>
            <a:pPr marL="12700" marR="5080" algn="just">
              <a:lnSpc>
                <a:spcPct val="150100"/>
              </a:lnSpc>
              <a:spcBef>
                <a:spcPts val="100"/>
              </a:spcBef>
            </a:pPr>
            <a:r>
              <a:rPr lang="fr-FR" sz="2000" b="1" dirty="0" smtClean="0">
                <a:solidFill>
                  <a:srgbClr val="FF0000"/>
                </a:solidFill>
                <a:latin typeface="Calibri"/>
                <a:cs typeface="Calibri"/>
              </a:rPr>
              <a:t>Solution</a:t>
            </a:r>
            <a:endParaRPr lang="fr-FR" sz="1600" dirty="0" smtClean="0">
              <a:latin typeface="Calibri"/>
              <a:cs typeface="Calibri"/>
            </a:endParaRPr>
          </a:p>
          <a:p>
            <a:pPr marL="12700" marR="5080" algn="just">
              <a:lnSpc>
                <a:spcPct val="150100"/>
              </a:lnSpc>
              <a:spcBef>
                <a:spcPts val="100"/>
              </a:spcBef>
            </a:pPr>
            <a:endParaRPr lang="fr-FR" sz="1200" dirty="0" smtClean="0">
              <a:solidFill>
                <a:srgbClr val="585858"/>
              </a:solidFill>
              <a:latin typeface="Calibri"/>
              <a:cs typeface="Calibri"/>
            </a:endParaRPr>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8" name="Rectangle 7"/>
          <p:cNvSpPr/>
          <p:nvPr/>
        </p:nvSpPr>
        <p:spPr>
          <a:xfrm>
            <a:off x="528445" y="2022375"/>
            <a:ext cx="2010487" cy="355803"/>
          </a:xfrm>
          <a:prstGeom prst="rect">
            <a:avLst/>
          </a:prstGeom>
        </p:spPr>
        <p:txBody>
          <a:bodyPr wrap="none">
            <a:spAutoFit/>
          </a:bodyPr>
          <a:lstStyle/>
          <a:p>
            <a:pPr>
              <a:lnSpc>
                <a:spcPct val="107000"/>
              </a:lnSpc>
              <a:spcAft>
                <a:spcPts val="800"/>
              </a:spcAft>
            </a:pPr>
            <a:r>
              <a:rPr lang="fr-FR" sz="1600" b="1" dirty="0" smtClean="0">
                <a:solidFill>
                  <a:schemeClr val="tx1"/>
                </a:solidFill>
                <a:effectLst/>
                <a:latin typeface="+mj-lt"/>
                <a:ea typeface="Calibri" panose="020F0502020204030204" pitchFamily="34" charset="0"/>
                <a:cs typeface="Arial" panose="020B0604020202020204" pitchFamily="34" charset="0"/>
              </a:rPr>
              <a:t>Diagramme de Gantt</a:t>
            </a:r>
          </a:p>
        </p:txBody>
      </p:sp>
      <p:sp>
        <p:nvSpPr>
          <p:cNvPr id="19" name="Rectangle 18"/>
          <p:cNvSpPr/>
          <p:nvPr/>
        </p:nvSpPr>
        <p:spPr>
          <a:xfrm>
            <a:off x="609600" y="3225597"/>
            <a:ext cx="1181734" cy="344069"/>
          </a:xfrm>
          <a:prstGeom prst="rect">
            <a:avLst/>
          </a:prstGeom>
        </p:spPr>
        <p:txBody>
          <a:bodyPr wrap="none">
            <a:spAutoFit/>
          </a:bodyPr>
          <a:lstStyle/>
          <a:p>
            <a:pPr>
              <a:lnSpc>
                <a:spcPct val="107000"/>
              </a:lnSpc>
              <a:spcAft>
                <a:spcPts val="800"/>
              </a:spcAft>
            </a:pPr>
            <a:r>
              <a:rPr lang="fr-FR" sz="1600" b="1" dirty="0" smtClean="0">
                <a:solidFill>
                  <a:schemeClr val="tx1"/>
                </a:solidFill>
                <a:latin typeface="+mj-lt"/>
                <a:ea typeface="Calibri" panose="020F0502020204030204" pitchFamily="34" charset="0"/>
                <a:cs typeface="Arial" panose="020B0604020202020204" pitchFamily="34" charset="0"/>
              </a:rPr>
              <a:t>Statistiques</a:t>
            </a:r>
            <a:endParaRPr lang="fr-FR" sz="1600" b="1" dirty="0" smtClean="0">
              <a:solidFill>
                <a:schemeClr val="tx1"/>
              </a:solidFill>
              <a:effectLst/>
              <a:latin typeface="+mj-lt"/>
              <a:ea typeface="Calibri" panose="020F0502020204030204" pitchFamily="34" charset="0"/>
              <a:cs typeface="Arial" panose="020B0604020202020204" pitchFamily="34" charset="0"/>
            </a:endParaRPr>
          </a:p>
        </p:txBody>
      </p:sp>
      <p:sp>
        <p:nvSpPr>
          <p:cNvPr id="16" name="object 15"/>
          <p:cNvSpPr txBox="1">
            <a:spLocks noGrp="1"/>
          </p:cNvSpPr>
          <p:nvPr>
            <p:ph type="title"/>
          </p:nvPr>
        </p:nvSpPr>
        <p:spPr>
          <a:xfrm>
            <a:off x="263753" y="152400"/>
            <a:ext cx="11664492" cy="949029"/>
          </a:xfrm>
          <a:prstGeom prst="rect">
            <a:avLst/>
          </a:prstGeom>
        </p:spPr>
        <p:txBody>
          <a:bodyPr vert="horz" wrap="square" lIns="0" tIns="147371" rIns="0" bIns="0" rtlCol="0">
            <a:spAutoFit/>
          </a:bodyPr>
          <a:lstStyle/>
          <a:p>
            <a:pPr marL="12700">
              <a:lnSpc>
                <a:spcPct val="100000"/>
              </a:lnSpc>
              <a:spcBef>
                <a:spcPts val="90"/>
              </a:spcBef>
            </a:pPr>
            <a:r>
              <a:rPr lang="fr-FR" dirty="0" smtClean="0">
                <a:solidFill>
                  <a:srgbClr val="007842"/>
                </a:solidFill>
              </a:rPr>
              <a:t>04</a:t>
            </a:r>
            <a:r>
              <a:rPr lang="fr-FR" spc="-35" dirty="0" smtClean="0">
                <a:solidFill>
                  <a:srgbClr val="007842"/>
                </a:solidFill>
              </a:rPr>
              <a:t> </a:t>
            </a:r>
            <a:r>
              <a:rPr lang="fr-FR" dirty="0" smtClean="0">
                <a:solidFill>
                  <a:srgbClr val="007842"/>
                </a:solidFill>
              </a:rPr>
              <a:t>–</a:t>
            </a:r>
            <a:r>
              <a:rPr lang="fr-FR" spc="-20" dirty="0" smtClean="0">
                <a:solidFill>
                  <a:srgbClr val="007842"/>
                </a:solidFill>
              </a:rPr>
              <a:t> </a:t>
            </a:r>
            <a:r>
              <a:rPr lang="fr-FR" dirty="0" smtClean="0">
                <a:solidFill>
                  <a:srgbClr val="007842"/>
                </a:solidFill>
              </a:rPr>
              <a:t>Gestion des processus </a:t>
            </a:r>
            <a:br>
              <a:rPr lang="fr-FR" dirty="0" smtClean="0">
                <a:solidFill>
                  <a:srgbClr val="007842"/>
                </a:solidFill>
              </a:rPr>
            </a:br>
            <a:r>
              <a:rPr lang="fr-FR" sz="1600" spc="-10" dirty="0" err="1">
                <a:solidFill>
                  <a:srgbClr val="007842"/>
                </a:solidFill>
              </a:rPr>
              <a:t>Shortest</a:t>
            </a:r>
            <a:r>
              <a:rPr lang="fr-FR" sz="1600" spc="-10" dirty="0">
                <a:solidFill>
                  <a:srgbClr val="007842"/>
                </a:solidFill>
              </a:rPr>
              <a:t> </a:t>
            </a:r>
            <a:r>
              <a:rPr lang="fr-FR" sz="1600" spc="-10" dirty="0" err="1">
                <a:solidFill>
                  <a:srgbClr val="007842"/>
                </a:solidFill>
              </a:rPr>
              <a:t>Remaining</a:t>
            </a:r>
            <a:r>
              <a:rPr lang="fr-FR" sz="1600" spc="-10" dirty="0">
                <a:solidFill>
                  <a:srgbClr val="007842"/>
                </a:solidFill>
              </a:rPr>
              <a:t> Time First/</a:t>
            </a:r>
            <a:r>
              <a:rPr lang="fr-FR" sz="1600" spc="-10" dirty="0" err="1">
                <a:solidFill>
                  <a:srgbClr val="007842"/>
                </a:solidFill>
              </a:rPr>
              <a:t>Next</a:t>
            </a:r>
            <a:r>
              <a:rPr lang="fr-FR" sz="1600" spc="-10" dirty="0">
                <a:solidFill>
                  <a:srgbClr val="007842"/>
                </a:solidFill>
              </a:rPr>
              <a:t> (SRTF - SRTN):</a:t>
            </a:r>
            <a:br>
              <a:rPr lang="fr-FR" sz="1600" spc="-10" dirty="0">
                <a:solidFill>
                  <a:srgbClr val="007842"/>
                </a:solidFill>
              </a:rPr>
            </a:br>
            <a:r>
              <a:rPr lang="fr-FR" sz="1600" spc="-10" dirty="0">
                <a:solidFill>
                  <a:srgbClr val="007842"/>
                </a:solidFill>
              </a:rPr>
              <a:t> Plus court temps d'exécution version </a:t>
            </a:r>
            <a:r>
              <a:rPr lang="fr-FR" sz="1600" spc="-10" dirty="0" smtClean="0">
                <a:solidFill>
                  <a:srgbClr val="007842"/>
                </a:solidFill>
              </a:rPr>
              <a:t>préemptive</a:t>
            </a:r>
            <a:endParaRPr sz="1600" dirty="0"/>
          </a:p>
        </p:txBody>
      </p:sp>
      <p:pic>
        <p:nvPicPr>
          <p:cNvPr id="15" name="Image 14"/>
          <p:cNvPicPr/>
          <p:nvPr/>
        </p:nvPicPr>
        <p:blipFill>
          <a:blip r:embed="rId4"/>
          <a:stretch>
            <a:fillRect/>
          </a:stretch>
        </p:blipFill>
        <p:spPr>
          <a:xfrm>
            <a:off x="914400" y="2410860"/>
            <a:ext cx="9906000" cy="710364"/>
          </a:xfrm>
          <a:prstGeom prst="rect">
            <a:avLst/>
          </a:prstGeom>
        </p:spPr>
      </p:pic>
      <p:pic>
        <p:nvPicPr>
          <p:cNvPr id="7" name="Image 6"/>
          <p:cNvPicPr>
            <a:picLocks noChangeAspect="1"/>
          </p:cNvPicPr>
          <p:nvPr/>
        </p:nvPicPr>
        <p:blipFill>
          <a:blip r:embed="rId5"/>
          <a:stretch>
            <a:fillRect/>
          </a:stretch>
        </p:blipFill>
        <p:spPr>
          <a:xfrm>
            <a:off x="736944" y="3674040"/>
            <a:ext cx="10953750" cy="3049174"/>
          </a:xfrm>
          <a:prstGeom prst="rect">
            <a:avLst/>
          </a:prstGeom>
        </p:spPr>
      </p:pic>
    </p:spTree>
    <p:extLst>
      <p:ext uri="{BB962C8B-B14F-4D97-AF65-F5344CB8AC3E}">
        <p14:creationId xmlns:p14="http://schemas.microsoft.com/office/powerpoint/2010/main" val="6169110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29</a:t>
            </a:fld>
            <a:endParaRPr spc="-25" dirty="0"/>
          </a:p>
        </p:txBody>
      </p:sp>
      <p:sp>
        <p:nvSpPr>
          <p:cNvPr id="14" name="object 14"/>
          <p:cNvSpPr txBox="1"/>
          <p:nvPr/>
        </p:nvSpPr>
        <p:spPr>
          <a:xfrm>
            <a:off x="753671" y="1464563"/>
            <a:ext cx="10678560" cy="1528624"/>
          </a:xfrm>
          <a:prstGeom prst="rect">
            <a:avLst/>
          </a:prstGeom>
        </p:spPr>
        <p:txBody>
          <a:bodyPr vert="horz" wrap="square" lIns="0" tIns="12700" rIns="0" bIns="0" rtlCol="0">
            <a:spAutoFit/>
          </a:bodyPr>
          <a:lstStyle/>
          <a:p>
            <a:pPr marL="12700" marR="5080" algn="just">
              <a:lnSpc>
                <a:spcPct val="150100"/>
              </a:lnSpc>
              <a:spcBef>
                <a:spcPts val="100"/>
              </a:spcBef>
            </a:pPr>
            <a:r>
              <a:rPr lang="fr-FR" sz="2000" b="1" dirty="0" smtClean="0">
                <a:solidFill>
                  <a:srgbClr val="FFC000"/>
                </a:solidFill>
                <a:latin typeface="Calibri"/>
                <a:cs typeface="Calibri"/>
              </a:rPr>
              <a:t>Exemple</a:t>
            </a:r>
          </a:p>
          <a:p>
            <a:pPr marL="12700" marR="5080" algn="just">
              <a:lnSpc>
                <a:spcPct val="150100"/>
              </a:lnSpc>
              <a:spcBef>
                <a:spcPts val="100"/>
              </a:spcBef>
            </a:pPr>
            <a:r>
              <a:rPr lang="fr-FR" sz="1600" dirty="0" smtClean="0">
                <a:latin typeface="Calibri"/>
                <a:cs typeface="Calibri"/>
              </a:rPr>
              <a:t>Considérez l'ensemble de processus suivant, supposé être arrivé au temps 0ms dans l'ordre P1, P2, · · ·, P5, avec le temps d’exécution donné en millisecondes </a:t>
            </a:r>
          </a:p>
          <a:p>
            <a:pPr marL="12700" marR="5080" algn="just">
              <a:lnSpc>
                <a:spcPct val="150100"/>
              </a:lnSpc>
              <a:spcBef>
                <a:spcPts val="100"/>
              </a:spcBef>
            </a:pPr>
            <a:endParaRPr lang="fr-FR" sz="1200" dirty="0" smtClean="0">
              <a:solidFill>
                <a:srgbClr val="585858"/>
              </a:solidFill>
              <a:latin typeface="Calibri"/>
              <a:cs typeface="Calibri"/>
            </a:endParaRPr>
          </a:p>
        </p:txBody>
      </p:sp>
      <p:sp>
        <p:nvSpPr>
          <p:cNvPr id="15" name="object 15"/>
          <p:cNvSpPr txBox="1">
            <a:spLocks noGrp="1"/>
          </p:cNvSpPr>
          <p:nvPr>
            <p:ph type="title"/>
          </p:nvPr>
        </p:nvSpPr>
        <p:spPr>
          <a:xfrm>
            <a:off x="263753" y="152400"/>
            <a:ext cx="11664492" cy="764363"/>
          </a:xfrm>
          <a:prstGeom prst="rect">
            <a:avLst/>
          </a:prstGeom>
        </p:spPr>
        <p:txBody>
          <a:bodyPr vert="horz" wrap="square" lIns="0" tIns="147371" rIns="0" bIns="0" rtlCol="0">
            <a:spAutoFit/>
          </a:bodyPr>
          <a:lstStyle/>
          <a:p>
            <a:pPr marL="12700">
              <a:lnSpc>
                <a:spcPct val="100000"/>
              </a:lnSpc>
              <a:spcBef>
                <a:spcPts val="90"/>
              </a:spcBef>
            </a:pPr>
            <a:r>
              <a:rPr lang="fr-FR" dirty="0" smtClean="0">
                <a:solidFill>
                  <a:srgbClr val="007842"/>
                </a:solidFill>
              </a:rPr>
              <a:t>04</a:t>
            </a:r>
            <a:r>
              <a:rPr lang="fr-FR" spc="-35" dirty="0" smtClean="0">
                <a:solidFill>
                  <a:srgbClr val="007842"/>
                </a:solidFill>
              </a:rPr>
              <a:t> </a:t>
            </a:r>
            <a:r>
              <a:rPr lang="fr-FR" dirty="0" smtClean="0">
                <a:solidFill>
                  <a:srgbClr val="007842"/>
                </a:solidFill>
              </a:rPr>
              <a:t>–</a:t>
            </a:r>
            <a:r>
              <a:rPr lang="fr-FR" spc="-20" dirty="0" smtClean="0">
                <a:solidFill>
                  <a:srgbClr val="007842"/>
                </a:solidFill>
              </a:rPr>
              <a:t> </a:t>
            </a:r>
            <a:r>
              <a:rPr lang="fr-FR" dirty="0" smtClean="0">
                <a:solidFill>
                  <a:srgbClr val="007842"/>
                </a:solidFill>
              </a:rPr>
              <a:t>Gestion des processus </a:t>
            </a:r>
            <a:br>
              <a:rPr lang="fr-FR" dirty="0" smtClean="0">
                <a:solidFill>
                  <a:srgbClr val="007842"/>
                </a:solidFill>
              </a:rPr>
            </a:br>
            <a:r>
              <a:rPr lang="fr-FR" sz="1600" spc="-10" dirty="0">
                <a:solidFill>
                  <a:srgbClr val="007842"/>
                </a:solidFill>
              </a:rPr>
              <a:t>Algorithme</a:t>
            </a:r>
            <a:r>
              <a:rPr lang="fr-FR" dirty="0" smtClean="0">
                <a:solidFill>
                  <a:srgbClr val="007842"/>
                </a:solidFill>
              </a:rPr>
              <a:t> </a:t>
            </a:r>
            <a:r>
              <a:rPr lang="fr-FR" sz="1600" spc="-10" dirty="0" smtClean="0">
                <a:solidFill>
                  <a:srgbClr val="007842"/>
                </a:solidFill>
              </a:rPr>
              <a:t>d’Ordonnancement </a:t>
            </a:r>
            <a:r>
              <a:rPr lang="fr-FR" sz="1600" spc="-10" dirty="0">
                <a:solidFill>
                  <a:srgbClr val="007842"/>
                </a:solidFill>
              </a:rPr>
              <a:t>par priorité </a:t>
            </a:r>
            <a:endParaRPr sz="1600" dirty="0"/>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16" name="Rectangle 15"/>
          <p:cNvSpPr/>
          <p:nvPr/>
        </p:nvSpPr>
        <p:spPr>
          <a:xfrm>
            <a:off x="753671" y="4456531"/>
            <a:ext cx="1927131" cy="344069"/>
          </a:xfrm>
          <a:prstGeom prst="rect">
            <a:avLst/>
          </a:prstGeom>
        </p:spPr>
        <p:txBody>
          <a:bodyPr wrap="none">
            <a:spAutoFit/>
          </a:bodyPr>
          <a:lstStyle/>
          <a:p>
            <a:pPr>
              <a:lnSpc>
                <a:spcPct val="107000"/>
              </a:lnSpc>
              <a:spcAft>
                <a:spcPts val="800"/>
              </a:spcAft>
            </a:pPr>
            <a:r>
              <a:rPr lang="fr-FR" sz="1600" dirty="0" smtClean="0">
                <a:solidFill>
                  <a:srgbClr val="0D0D0D"/>
                </a:solidFill>
                <a:effectLst/>
                <a:latin typeface="+mj-lt"/>
                <a:ea typeface="Calibri" panose="020F0502020204030204" pitchFamily="34" charset="0"/>
                <a:cs typeface="Arial" panose="020B0604020202020204" pitchFamily="34" charset="0"/>
              </a:rPr>
              <a:t>Diagramme de Gantt</a:t>
            </a:r>
            <a:endParaRPr lang="fr-FR" sz="1600" dirty="0">
              <a:effectLst/>
              <a:latin typeface="+mj-lt"/>
              <a:ea typeface="Calibri" panose="020F0502020204030204" pitchFamily="34" charset="0"/>
              <a:cs typeface="Arial" panose="020B0604020202020204" pitchFamily="34" charset="0"/>
            </a:endParaRPr>
          </a:p>
        </p:txBody>
      </p:sp>
      <p:pic>
        <p:nvPicPr>
          <p:cNvPr id="8" name="Image 7"/>
          <p:cNvPicPr>
            <a:picLocks noChangeAspect="1"/>
          </p:cNvPicPr>
          <p:nvPr/>
        </p:nvPicPr>
        <p:blipFill>
          <a:blip r:embed="rId4"/>
          <a:stretch>
            <a:fillRect/>
          </a:stretch>
        </p:blipFill>
        <p:spPr>
          <a:xfrm>
            <a:off x="630363" y="2739401"/>
            <a:ext cx="10925175" cy="1810715"/>
          </a:xfrm>
          <a:prstGeom prst="rect">
            <a:avLst/>
          </a:prstGeom>
        </p:spPr>
      </p:pic>
      <p:pic>
        <p:nvPicPr>
          <p:cNvPr id="19" name="Image 18"/>
          <p:cNvPicPr/>
          <p:nvPr/>
        </p:nvPicPr>
        <p:blipFill>
          <a:blip r:embed="rId5"/>
          <a:stretch>
            <a:fillRect/>
          </a:stretch>
        </p:blipFill>
        <p:spPr>
          <a:xfrm>
            <a:off x="700386" y="5097916"/>
            <a:ext cx="10213030" cy="834390"/>
          </a:xfrm>
          <a:prstGeom prst="rect">
            <a:avLst/>
          </a:prstGeom>
        </p:spPr>
      </p:pic>
    </p:spTree>
    <p:extLst>
      <p:ext uri="{BB962C8B-B14F-4D97-AF65-F5344CB8AC3E}">
        <p14:creationId xmlns:p14="http://schemas.microsoft.com/office/powerpoint/2010/main" val="5150068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30</a:t>
            </a:fld>
            <a:endParaRPr spc="-25" dirty="0"/>
          </a:p>
        </p:txBody>
      </p:sp>
      <p:sp>
        <p:nvSpPr>
          <p:cNvPr id="14" name="object 14"/>
          <p:cNvSpPr txBox="1"/>
          <p:nvPr/>
        </p:nvSpPr>
        <p:spPr>
          <a:xfrm>
            <a:off x="753671" y="1464563"/>
            <a:ext cx="10678560" cy="1528624"/>
          </a:xfrm>
          <a:prstGeom prst="rect">
            <a:avLst/>
          </a:prstGeom>
        </p:spPr>
        <p:txBody>
          <a:bodyPr vert="horz" wrap="square" lIns="0" tIns="12700" rIns="0" bIns="0" rtlCol="0">
            <a:spAutoFit/>
          </a:bodyPr>
          <a:lstStyle/>
          <a:p>
            <a:pPr marL="12700" marR="5080" algn="just">
              <a:lnSpc>
                <a:spcPct val="150100"/>
              </a:lnSpc>
              <a:spcBef>
                <a:spcPts val="100"/>
              </a:spcBef>
            </a:pPr>
            <a:r>
              <a:rPr lang="fr-FR" sz="2000" b="1" dirty="0" smtClean="0">
                <a:solidFill>
                  <a:srgbClr val="FFC000"/>
                </a:solidFill>
                <a:latin typeface="Calibri"/>
                <a:cs typeface="Calibri"/>
              </a:rPr>
              <a:t>Exemple</a:t>
            </a:r>
          </a:p>
          <a:p>
            <a:pPr marL="12700" marR="5080" algn="just">
              <a:lnSpc>
                <a:spcPct val="150100"/>
              </a:lnSpc>
              <a:spcBef>
                <a:spcPts val="100"/>
              </a:spcBef>
            </a:pPr>
            <a:r>
              <a:rPr lang="fr-FR" sz="1600" dirty="0" smtClean="0">
                <a:latin typeface="Calibri"/>
                <a:cs typeface="Calibri"/>
              </a:rPr>
              <a:t>Considérez l'ensemble de processus suivant, supposé être arrivé au temps 0ms dans l'ordre P1, P2, · · ·, P5, avec le temps d’exécution donné en millisecondes </a:t>
            </a:r>
          </a:p>
          <a:p>
            <a:pPr marL="12700" marR="5080" algn="just">
              <a:lnSpc>
                <a:spcPct val="150100"/>
              </a:lnSpc>
              <a:spcBef>
                <a:spcPts val="100"/>
              </a:spcBef>
            </a:pPr>
            <a:endParaRPr lang="fr-FR" sz="1200" dirty="0" smtClean="0">
              <a:solidFill>
                <a:srgbClr val="585858"/>
              </a:solidFill>
              <a:latin typeface="Calibri"/>
              <a:cs typeface="Calibri"/>
            </a:endParaRPr>
          </a:p>
        </p:txBody>
      </p:sp>
      <p:sp>
        <p:nvSpPr>
          <p:cNvPr id="15" name="object 15"/>
          <p:cNvSpPr txBox="1">
            <a:spLocks noGrp="1"/>
          </p:cNvSpPr>
          <p:nvPr>
            <p:ph type="title"/>
          </p:nvPr>
        </p:nvSpPr>
        <p:spPr>
          <a:xfrm>
            <a:off x="263753" y="152400"/>
            <a:ext cx="11664492" cy="764363"/>
          </a:xfrm>
          <a:prstGeom prst="rect">
            <a:avLst/>
          </a:prstGeom>
        </p:spPr>
        <p:txBody>
          <a:bodyPr vert="horz" wrap="square" lIns="0" tIns="147371" rIns="0" bIns="0" rtlCol="0">
            <a:spAutoFit/>
          </a:bodyPr>
          <a:lstStyle/>
          <a:p>
            <a:pPr marL="12700">
              <a:lnSpc>
                <a:spcPct val="100000"/>
              </a:lnSpc>
              <a:spcBef>
                <a:spcPts val="90"/>
              </a:spcBef>
            </a:pPr>
            <a:r>
              <a:rPr lang="fr-FR" dirty="0" smtClean="0">
                <a:solidFill>
                  <a:srgbClr val="007842"/>
                </a:solidFill>
              </a:rPr>
              <a:t>04</a:t>
            </a:r>
            <a:r>
              <a:rPr lang="fr-FR" spc="-35" dirty="0" smtClean="0">
                <a:solidFill>
                  <a:srgbClr val="007842"/>
                </a:solidFill>
              </a:rPr>
              <a:t> </a:t>
            </a:r>
            <a:r>
              <a:rPr lang="fr-FR" dirty="0" smtClean="0">
                <a:solidFill>
                  <a:srgbClr val="007842"/>
                </a:solidFill>
              </a:rPr>
              <a:t>–</a:t>
            </a:r>
            <a:r>
              <a:rPr lang="fr-FR" spc="-20" dirty="0" smtClean="0">
                <a:solidFill>
                  <a:srgbClr val="007842"/>
                </a:solidFill>
              </a:rPr>
              <a:t> </a:t>
            </a:r>
            <a:r>
              <a:rPr lang="fr-FR" dirty="0" smtClean="0">
                <a:solidFill>
                  <a:srgbClr val="007842"/>
                </a:solidFill>
              </a:rPr>
              <a:t>Gestion des processus </a:t>
            </a:r>
            <a:br>
              <a:rPr lang="fr-FR" dirty="0" smtClean="0">
                <a:solidFill>
                  <a:srgbClr val="007842"/>
                </a:solidFill>
              </a:rPr>
            </a:br>
            <a:r>
              <a:rPr lang="fr-FR" sz="1600" spc="-10" dirty="0">
                <a:solidFill>
                  <a:srgbClr val="007842"/>
                </a:solidFill>
              </a:rPr>
              <a:t>Algorithme</a:t>
            </a:r>
            <a:r>
              <a:rPr lang="fr-FR" dirty="0" smtClean="0">
                <a:solidFill>
                  <a:srgbClr val="007842"/>
                </a:solidFill>
              </a:rPr>
              <a:t> </a:t>
            </a:r>
            <a:r>
              <a:rPr lang="fr-FR" sz="1600" spc="-10" dirty="0" smtClean="0">
                <a:solidFill>
                  <a:srgbClr val="007842"/>
                </a:solidFill>
              </a:rPr>
              <a:t>d’Ordonnancement </a:t>
            </a:r>
            <a:r>
              <a:rPr lang="fr-FR" sz="1600" spc="-10" dirty="0">
                <a:solidFill>
                  <a:srgbClr val="007842"/>
                </a:solidFill>
              </a:rPr>
              <a:t>par priorité </a:t>
            </a:r>
            <a:endParaRPr sz="1600" dirty="0"/>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16" name="Rectangle 15"/>
          <p:cNvSpPr/>
          <p:nvPr/>
        </p:nvSpPr>
        <p:spPr>
          <a:xfrm>
            <a:off x="753671" y="4456531"/>
            <a:ext cx="1927131" cy="344069"/>
          </a:xfrm>
          <a:prstGeom prst="rect">
            <a:avLst/>
          </a:prstGeom>
        </p:spPr>
        <p:txBody>
          <a:bodyPr wrap="none">
            <a:spAutoFit/>
          </a:bodyPr>
          <a:lstStyle/>
          <a:p>
            <a:pPr>
              <a:lnSpc>
                <a:spcPct val="107000"/>
              </a:lnSpc>
              <a:spcAft>
                <a:spcPts val="800"/>
              </a:spcAft>
            </a:pPr>
            <a:r>
              <a:rPr lang="fr-FR" sz="1600" dirty="0" smtClean="0">
                <a:solidFill>
                  <a:srgbClr val="0D0D0D"/>
                </a:solidFill>
                <a:effectLst/>
                <a:latin typeface="+mj-lt"/>
                <a:ea typeface="Calibri" panose="020F0502020204030204" pitchFamily="34" charset="0"/>
                <a:cs typeface="Arial" panose="020B0604020202020204" pitchFamily="34" charset="0"/>
              </a:rPr>
              <a:t>Diagramme de Gantt</a:t>
            </a:r>
            <a:endParaRPr lang="fr-FR" sz="1600" dirty="0">
              <a:effectLst/>
              <a:latin typeface="+mj-lt"/>
              <a:ea typeface="Calibri" panose="020F0502020204030204" pitchFamily="34" charset="0"/>
              <a:cs typeface="Arial" panose="020B0604020202020204" pitchFamily="34" charset="0"/>
            </a:endParaRPr>
          </a:p>
        </p:txBody>
      </p:sp>
      <p:pic>
        <p:nvPicPr>
          <p:cNvPr id="8" name="Image 7"/>
          <p:cNvPicPr>
            <a:picLocks noChangeAspect="1"/>
          </p:cNvPicPr>
          <p:nvPr/>
        </p:nvPicPr>
        <p:blipFill>
          <a:blip r:embed="rId4"/>
          <a:stretch>
            <a:fillRect/>
          </a:stretch>
        </p:blipFill>
        <p:spPr>
          <a:xfrm>
            <a:off x="630363" y="2739401"/>
            <a:ext cx="10925175" cy="1810715"/>
          </a:xfrm>
          <a:prstGeom prst="rect">
            <a:avLst/>
          </a:prstGeom>
        </p:spPr>
      </p:pic>
      <p:pic>
        <p:nvPicPr>
          <p:cNvPr id="19" name="Image 18"/>
          <p:cNvPicPr/>
          <p:nvPr/>
        </p:nvPicPr>
        <p:blipFill>
          <a:blip r:embed="rId5"/>
          <a:stretch>
            <a:fillRect/>
          </a:stretch>
        </p:blipFill>
        <p:spPr>
          <a:xfrm>
            <a:off x="700386" y="5097916"/>
            <a:ext cx="10213030" cy="834390"/>
          </a:xfrm>
          <a:prstGeom prst="rect">
            <a:avLst/>
          </a:prstGeom>
        </p:spPr>
      </p:pic>
    </p:spTree>
    <p:extLst>
      <p:ext uri="{BB962C8B-B14F-4D97-AF65-F5344CB8AC3E}">
        <p14:creationId xmlns:p14="http://schemas.microsoft.com/office/powerpoint/2010/main" val="35487669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31</a:t>
            </a:fld>
            <a:endParaRPr spc="-25" dirty="0"/>
          </a:p>
        </p:txBody>
      </p:sp>
      <p:sp>
        <p:nvSpPr>
          <p:cNvPr id="14" name="object 14"/>
          <p:cNvSpPr txBox="1"/>
          <p:nvPr/>
        </p:nvSpPr>
        <p:spPr>
          <a:xfrm>
            <a:off x="753671" y="1295400"/>
            <a:ext cx="10678560" cy="1926425"/>
          </a:xfrm>
          <a:prstGeom prst="rect">
            <a:avLst/>
          </a:prstGeom>
        </p:spPr>
        <p:txBody>
          <a:bodyPr vert="horz" wrap="square" lIns="0" tIns="12700" rIns="0" bIns="0" rtlCol="0">
            <a:spAutoFit/>
          </a:bodyPr>
          <a:lstStyle/>
          <a:p>
            <a:pPr marL="12700" marR="5080" algn="just">
              <a:lnSpc>
                <a:spcPct val="150100"/>
              </a:lnSpc>
              <a:spcBef>
                <a:spcPts val="100"/>
              </a:spcBef>
            </a:pPr>
            <a:r>
              <a:rPr lang="fr-FR" sz="2000" b="1" dirty="0" smtClean="0">
                <a:solidFill>
                  <a:srgbClr val="FFC000"/>
                </a:solidFill>
                <a:latin typeface="Calibri"/>
                <a:cs typeface="Calibri"/>
              </a:rPr>
              <a:t>Exercice</a:t>
            </a:r>
          </a:p>
          <a:p>
            <a:pPr marL="12700" marR="5080" algn="just">
              <a:lnSpc>
                <a:spcPct val="150100"/>
              </a:lnSpc>
              <a:spcBef>
                <a:spcPts val="100"/>
              </a:spcBef>
            </a:pPr>
            <a:r>
              <a:rPr lang="fr-FR" sz="1600" dirty="0" smtClean="0">
                <a:latin typeface="Calibri"/>
                <a:cs typeface="Calibri"/>
              </a:rPr>
              <a:t>Considérez l'ensemble de quatre processus suivants. Le temps d'arrivée et le temps nécessaire pour terminer l'exécution sont donnés dans le tableau suivant. Considérez toutes les valeurs de temps en millisecondes et les petites valeurs de priorité signifient une priorité plus élevée pour un processus.  Initialement, seul le processus P0 est présent et il est autorisé à s'exécuter. Mais, lorsque P0 termine, tous les autres processus sont présents.</a:t>
            </a:r>
            <a:endParaRPr lang="fr-FR" sz="1200" dirty="0" smtClean="0">
              <a:solidFill>
                <a:srgbClr val="585858"/>
              </a:solidFill>
              <a:latin typeface="Calibri"/>
              <a:cs typeface="Calibri"/>
            </a:endParaRPr>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8" name="Rectangle 7"/>
          <p:cNvSpPr/>
          <p:nvPr/>
        </p:nvSpPr>
        <p:spPr>
          <a:xfrm>
            <a:off x="685800" y="4623869"/>
            <a:ext cx="6526146" cy="710131"/>
          </a:xfrm>
          <a:prstGeom prst="rect">
            <a:avLst/>
          </a:prstGeom>
        </p:spPr>
        <p:txBody>
          <a:bodyPr wrap="none">
            <a:spAutoFit/>
          </a:bodyPr>
          <a:lstStyle/>
          <a:p>
            <a:pPr marL="342900" indent="-342900">
              <a:lnSpc>
                <a:spcPct val="107000"/>
              </a:lnSpc>
              <a:spcAft>
                <a:spcPts val="800"/>
              </a:spcAft>
              <a:buFont typeface="+mj-lt"/>
              <a:buAutoNum type="arabicPeriod"/>
            </a:pPr>
            <a:r>
              <a:rPr lang="fr-FR" sz="1600" b="1" dirty="0" smtClean="0">
                <a:solidFill>
                  <a:srgbClr val="FF0000"/>
                </a:solidFill>
                <a:effectLst/>
                <a:latin typeface="+mj-lt"/>
                <a:ea typeface="Calibri" panose="020F0502020204030204" pitchFamily="34" charset="0"/>
                <a:cs typeface="Arial" panose="020B0604020202020204" pitchFamily="34" charset="0"/>
              </a:rPr>
              <a:t>Déterminer le Diagramme de Gantt et renseigner le tableau ci-dessous</a:t>
            </a:r>
          </a:p>
          <a:p>
            <a:pPr marL="342900" indent="-342900">
              <a:lnSpc>
                <a:spcPct val="107000"/>
              </a:lnSpc>
              <a:spcAft>
                <a:spcPts val="800"/>
              </a:spcAft>
              <a:buFont typeface="+mj-lt"/>
              <a:buAutoNum type="arabicPeriod"/>
            </a:pPr>
            <a:r>
              <a:rPr lang="fr-FR" sz="1600" b="1" dirty="0" smtClean="0">
                <a:solidFill>
                  <a:srgbClr val="FF0000"/>
                </a:solidFill>
                <a:effectLst/>
                <a:latin typeface="+mj-lt"/>
                <a:ea typeface="Calibri" panose="020F0502020204030204" pitchFamily="34" charset="0"/>
                <a:cs typeface="Arial" panose="020B0604020202020204" pitchFamily="34" charset="0"/>
              </a:rPr>
              <a:t>Calculer le temps de rotation moyen et le temps d’attente moyen</a:t>
            </a:r>
            <a:endParaRPr lang="fr-FR" sz="1600" b="1" dirty="0">
              <a:solidFill>
                <a:srgbClr val="FF0000"/>
              </a:solidFill>
              <a:effectLst/>
              <a:latin typeface="+mj-lt"/>
              <a:ea typeface="Calibri" panose="020F0502020204030204" pitchFamily="34" charset="0"/>
              <a:cs typeface="Arial" panose="020B0604020202020204" pitchFamily="34" charset="0"/>
            </a:endParaRPr>
          </a:p>
        </p:txBody>
      </p:sp>
      <p:pic>
        <p:nvPicPr>
          <p:cNvPr id="11" name="Image 10"/>
          <p:cNvPicPr>
            <a:picLocks noChangeAspect="1"/>
          </p:cNvPicPr>
          <p:nvPr/>
        </p:nvPicPr>
        <p:blipFill>
          <a:blip r:embed="rId4"/>
          <a:stretch>
            <a:fillRect/>
          </a:stretch>
        </p:blipFill>
        <p:spPr>
          <a:xfrm>
            <a:off x="642318" y="5314950"/>
            <a:ext cx="11125200" cy="1543050"/>
          </a:xfrm>
          <a:prstGeom prst="rect">
            <a:avLst/>
          </a:prstGeom>
        </p:spPr>
      </p:pic>
      <p:sp>
        <p:nvSpPr>
          <p:cNvPr id="16" name="object 15"/>
          <p:cNvSpPr txBox="1">
            <a:spLocks noGrp="1"/>
          </p:cNvSpPr>
          <p:nvPr>
            <p:ph type="title"/>
          </p:nvPr>
        </p:nvSpPr>
        <p:spPr>
          <a:xfrm>
            <a:off x="263753" y="152400"/>
            <a:ext cx="11664492" cy="764363"/>
          </a:xfrm>
          <a:prstGeom prst="rect">
            <a:avLst/>
          </a:prstGeom>
        </p:spPr>
        <p:txBody>
          <a:bodyPr vert="horz" wrap="square" lIns="0" tIns="147371" rIns="0" bIns="0" rtlCol="0">
            <a:spAutoFit/>
          </a:bodyPr>
          <a:lstStyle/>
          <a:p>
            <a:pPr marL="12700">
              <a:lnSpc>
                <a:spcPct val="100000"/>
              </a:lnSpc>
              <a:spcBef>
                <a:spcPts val="90"/>
              </a:spcBef>
            </a:pPr>
            <a:r>
              <a:rPr lang="fr-FR" dirty="0" smtClean="0">
                <a:solidFill>
                  <a:srgbClr val="007842"/>
                </a:solidFill>
              </a:rPr>
              <a:t>04</a:t>
            </a:r>
            <a:r>
              <a:rPr lang="fr-FR" spc="-35" dirty="0" smtClean="0">
                <a:solidFill>
                  <a:srgbClr val="007842"/>
                </a:solidFill>
              </a:rPr>
              <a:t> </a:t>
            </a:r>
            <a:r>
              <a:rPr lang="fr-FR" dirty="0" smtClean="0">
                <a:solidFill>
                  <a:srgbClr val="007842"/>
                </a:solidFill>
              </a:rPr>
              <a:t>–</a:t>
            </a:r>
            <a:r>
              <a:rPr lang="fr-FR" spc="-20" dirty="0" smtClean="0">
                <a:solidFill>
                  <a:srgbClr val="007842"/>
                </a:solidFill>
              </a:rPr>
              <a:t> </a:t>
            </a:r>
            <a:r>
              <a:rPr lang="fr-FR" dirty="0" smtClean="0">
                <a:solidFill>
                  <a:srgbClr val="007842"/>
                </a:solidFill>
              </a:rPr>
              <a:t>Gestion des processus </a:t>
            </a:r>
            <a:br>
              <a:rPr lang="fr-FR" dirty="0" smtClean="0">
                <a:solidFill>
                  <a:srgbClr val="007842"/>
                </a:solidFill>
              </a:rPr>
            </a:br>
            <a:r>
              <a:rPr lang="fr-FR" sz="1600" spc="-10" dirty="0">
                <a:solidFill>
                  <a:srgbClr val="007842"/>
                </a:solidFill>
              </a:rPr>
              <a:t>Algorithme</a:t>
            </a:r>
            <a:r>
              <a:rPr lang="fr-FR" dirty="0" smtClean="0">
                <a:solidFill>
                  <a:srgbClr val="007842"/>
                </a:solidFill>
              </a:rPr>
              <a:t> </a:t>
            </a:r>
            <a:r>
              <a:rPr lang="fr-FR" sz="1600" spc="-10" dirty="0" smtClean="0">
                <a:solidFill>
                  <a:srgbClr val="007842"/>
                </a:solidFill>
              </a:rPr>
              <a:t>d’Ordonnancement </a:t>
            </a:r>
            <a:r>
              <a:rPr lang="fr-FR" sz="1600" spc="-10" dirty="0">
                <a:solidFill>
                  <a:srgbClr val="007842"/>
                </a:solidFill>
              </a:rPr>
              <a:t>par priorité </a:t>
            </a:r>
            <a:endParaRPr sz="1600" dirty="0"/>
          </a:p>
        </p:txBody>
      </p:sp>
      <p:pic>
        <p:nvPicPr>
          <p:cNvPr id="10" name="Image 9"/>
          <p:cNvPicPr>
            <a:picLocks noChangeAspect="1"/>
          </p:cNvPicPr>
          <p:nvPr/>
        </p:nvPicPr>
        <p:blipFill>
          <a:blip r:embed="rId5"/>
          <a:stretch>
            <a:fillRect/>
          </a:stretch>
        </p:blipFill>
        <p:spPr>
          <a:xfrm>
            <a:off x="613249" y="3260040"/>
            <a:ext cx="10887075" cy="1412709"/>
          </a:xfrm>
          <a:prstGeom prst="rect">
            <a:avLst/>
          </a:prstGeom>
        </p:spPr>
      </p:pic>
    </p:spTree>
    <p:extLst>
      <p:ext uri="{BB962C8B-B14F-4D97-AF65-F5344CB8AC3E}">
        <p14:creationId xmlns:p14="http://schemas.microsoft.com/office/powerpoint/2010/main" val="29315085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32</a:t>
            </a:fld>
            <a:endParaRPr spc="-25" dirty="0"/>
          </a:p>
        </p:txBody>
      </p:sp>
      <p:sp>
        <p:nvSpPr>
          <p:cNvPr id="14" name="object 14"/>
          <p:cNvSpPr txBox="1"/>
          <p:nvPr/>
        </p:nvSpPr>
        <p:spPr>
          <a:xfrm>
            <a:off x="753671" y="1464563"/>
            <a:ext cx="10678560" cy="735714"/>
          </a:xfrm>
          <a:prstGeom prst="rect">
            <a:avLst/>
          </a:prstGeom>
        </p:spPr>
        <p:txBody>
          <a:bodyPr vert="horz" wrap="square" lIns="0" tIns="12700" rIns="0" bIns="0" rtlCol="0">
            <a:spAutoFit/>
          </a:bodyPr>
          <a:lstStyle/>
          <a:p>
            <a:pPr marL="12700" marR="5080" algn="just">
              <a:lnSpc>
                <a:spcPct val="150100"/>
              </a:lnSpc>
              <a:spcBef>
                <a:spcPts val="100"/>
              </a:spcBef>
            </a:pPr>
            <a:r>
              <a:rPr lang="fr-FR" sz="2000" b="1" dirty="0" smtClean="0">
                <a:solidFill>
                  <a:srgbClr val="FF0000"/>
                </a:solidFill>
                <a:latin typeface="Calibri"/>
                <a:cs typeface="Calibri"/>
              </a:rPr>
              <a:t>Solution</a:t>
            </a:r>
            <a:endParaRPr lang="fr-FR" sz="1600" dirty="0" smtClean="0">
              <a:latin typeface="Calibri"/>
              <a:cs typeface="Calibri"/>
            </a:endParaRPr>
          </a:p>
          <a:p>
            <a:pPr marL="12700" marR="5080" algn="just">
              <a:lnSpc>
                <a:spcPct val="150100"/>
              </a:lnSpc>
              <a:spcBef>
                <a:spcPts val="100"/>
              </a:spcBef>
            </a:pPr>
            <a:endParaRPr lang="fr-FR" sz="1200" dirty="0" smtClean="0">
              <a:solidFill>
                <a:srgbClr val="585858"/>
              </a:solidFill>
              <a:latin typeface="Calibri"/>
              <a:cs typeface="Calibri"/>
            </a:endParaRPr>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8" name="Rectangle 7"/>
          <p:cNvSpPr/>
          <p:nvPr/>
        </p:nvSpPr>
        <p:spPr>
          <a:xfrm>
            <a:off x="528445" y="2022375"/>
            <a:ext cx="2010487" cy="355803"/>
          </a:xfrm>
          <a:prstGeom prst="rect">
            <a:avLst/>
          </a:prstGeom>
        </p:spPr>
        <p:txBody>
          <a:bodyPr wrap="none">
            <a:spAutoFit/>
          </a:bodyPr>
          <a:lstStyle/>
          <a:p>
            <a:pPr>
              <a:lnSpc>
                <a:spcPct val="107000"/>
              </a:lnSpc>
              <a:spcAft>
                <a:spcPts val="800"/>
              </a:spcAft>
            </a:pPr>
            <a:r>
              <a:rPr lang="fr-FR" sz="1600" b="1" dirty="0" smtClean="0">
                <a:solidFill>
                  <a:schemeClr val="tx1"/>
                </a:solidFill>
                <a:effectLst/>
                <a:latin typeface="+mj-lt"/>
                <a:ea typeface="Calibri" panose="020F0502020204030204" pitchFamily="34" charset="0"/>
                <a:cs typeface="Arial" panose="020B0604020202020204" pitchFamily="34" charset="0"/>
              </a:rPr>
              <a:t>Diagramme de Gantt</a:t>
            </a:r>
          </a:p>
        </p:txBody>
      </p:sp>
      <p:sp>
        <p:nvSpPr>
          <p:cNvPr id="19" name="Rectangle 18"/>
          <p:cNvSpPr/>
          <p:nvPr/>
        </p:nvSpPr>
        <p:spPr>
          <a:xfrm>
            <a:off x="609600" y="3225597"/>
            <a:ext cx="1181734" cy="344069"/>
          </a:xfrm>
          <a:prstGeom prst="rect">
            <a:avLst/>
          </a:prstGeom>
        </p:spPr>
        <p:txBody>
          <a:bodyPr wrap="none">
            <a:spAutoFit/>
          </a:bodyPr>
          <a:lstStyle/>
          <a:p>
            <a:pPr>
              <a:lnSpc>
                <a:spcPct val="107000"/>
              </a:lnSpc>
              <a:spcAft>
                <a:spcPts val="800"/>
              </a:spcAft>
            </a:pPr>
            <a:r>
              <a:rPr lang="fr-FR" sz="1600" b="1" dirty="0" smtClean="0">
                <a:solidFill>
                  <a:schemeClr val="tx1"/>
                </a:solidFill>
                <a:latin typeface="+mj-lt"/>
                <a:ea typeface="Calibri" panose="020F0502020204030204" pitchFamily="34" charset="0"/>
                <a:cs typeface="Arial" panose="020B0604020202020204" pitchFamily="34" charset="0"/>
              </a:rPr>
              <a:t>Statistiques</a:t>
            </a:r>
            <a:endParaRPr lang="fr-FR" sz="1600" b="1" dirty="0" smtClean="0">
              <a:solidFill>
                <a:schemeClr val="tx1"/>
              </a:solidFill>
              <a:effectLst/>
              <a:latin typeface="+mj-lt"/>
              <a:ea typeface="Calibri" panose="020F0502020204030204" pitchFamily="34" charset="0"/>
              <a:cs typeface="Arial" panose="020B0604020202020204" pitchFamily="34" charset="0"/>
            </a:endParaRPr>
          </a:p>
        </p:txBody>
      </p:sp>
      <p:sp>
        <p:nvSpPr>
          <p:cNvPr id="20" name="object 15"/>
          <p:cNvSpPr txBox="1">
            <a:spLocks noGrp="1"/>
          </p:cNvSpPr>
          <p:nvPr>
            <p:ph type="title"/>
          </p:nvPr>
        </p:nvSpPr>
        <p:spPr>
          <a:xfrm>
            <a:off x="263753" y="152400"/>
            <a:ext cx="11664492" cy="764363"/>
          </a:xfrm>
          <a:prstGeom prst="rect">
            <a:avLst/>
          </a:prstGeom>
        </p:spPr>
        <p:txBody>
          <a:bodyPr vert="horz" wrap="square" lIns="0" tIns="147371" rIns="0" bIns="0" rtlCol="0">
            <a:spAutoFit/>
          </a:bodyPr>
          <a:lstStyle/>
          <a:p>
            <a:pPr marL="12700">
              <a:lnSpc>
                <a:spcPct val="100000"/>
              </a:lnSpc>
              <a:spcBef>
                <a:spcPts val="90"/>
              </a:spcBef>
            </a:pPr>
            <a:r>
              <a:rPr lang="fr-FR" dirty="0" smtClean="0">
                <a:solidFill>
                  <a:srgbClr val="007842"/>
                </a:solidFill>
              </a:rPr>
              <a:t>04</a:t>
            </a:r>
            <a:r>
              <a:rPr lang="fr-FR" spc="-35" dirty="0" smtClean="0">
                <a:solidFill>
                  <a:srgbClr val="007842"/>
                </a:solidFill>
              </a:rPr>
              <a:t> </a:t>
            </a:r>
            <a:r>
              <a:rPr lang="fr-FR" dirty="0" smtClean="0">
                <a:solidFill>
                  <a:srgbClr val="007842"/>
                </a:solidFill>
              </a:rPr>
              <a:t>–</a:t>
            </a:r>
            <a:r>
              <a:rPr lang="fr-FR" spc="-20" dirty="0" smtClean="0">
                <a:solidFill>
                  <a:srgbClr val="007842"/>
                </a:solidFill>
              </a:rPr>
              <a:t> </a:t>
            </a:r>
            <a:r>
              <a:rPr lang="fr-FR" dirty="0" smtClean="0">
                <a:solidFill>
                  <a:srgbClr val="007842"/>
                </a:solidFill>
              </a:rPr>
              <a:t>Gestion des processus </a:t>
            </a:r>
            <a:br>
              <a:rPr lang="fr-FR" dirty="0" smtClean="0">
                <a:solidFill>
                  <a:srgbClr val="007842"/>
                </a:solidFill>
              </a:rPr>
            </a:br>
            <a:r>
              <a:rPr lang="fr-FR" sz="1600" spc="-10" dirty="0">
                <a:solidFill>
                  <a:srgbClr val="007842"/>
                </a:solidFill>
              </a:rPr>
              <a:t>Algorithme</a:t>
            </a:r>
            <a:r>
              <a:rPr lang="fr-FR" dirty="0" smtClean="0">
                <a:solidFill>
                  <a:srgbClr val="007842"/>
                </a:solidFill>
              </a:rPr>
              <a:t> </a:t>
            </a:r>
            <a:r>
              <a:rPr lang="fr-FR" sz="1600" spc="-10" dirty="0" smtClean="0">
                <a:solidFill>
                  <a:srgbClr val="007842"/>
                </a:solidFill>
              </a:rPr>
              <a:t>d’Ordonnancement </a:t>
            </a:r>
            <a:r>
              <a:rPr lang="fr-FR" sz="1600" spc="-10" dirty="0">
                <a:solidFill>
                  <a:srgbClr val="007842"/>
                </a:solidFill>
              </a:rPr>
              <a:t>par priorité </a:t>
            </a:r>
            <a:endParaRPr sz="1600" dirty="0"/>
          </a:p>
        </p:txBody>
      </p:sp>
      <p:pic>
        <p:nvPicPr>
          <p:cNvPr id="21" name="Image 20"/>
          <p:cNvPicPr/>
          <p:nvPr/>
        </p:nvPicPr>
        <p:blipFill>
          <a:blip r:embed="rId4"/>
          <a:stretch>
            <a:fillRect/>
          </a:stretch>
        </p:blipFill>
        <p:spPr>
          <a:xfrm>
            <a:off x="753671" y="2333575"/>
            <a:ext cx="10678560" cy="936625"/>
          </a:xfrm>
          <a:prstGeom prst="rect">
            <a:avLst/>
          </a:prstGeom>
        </p:spPr>
      </p:pic>
      <p:pic>
        <p:nvPicPr>
          <p:cNvPr id="10" name="Image 9"/>
          <p:cNvPicPr>
            <a:picLocks noChangeAspect="1"/>
          </p:cNvPicPr>
          <p:nvPr/>
        </p:nvPicPr>
        <p:blipFill>
          <a:blip r:embed="rId5"/>
          <a:stretch>
            <a:fillRect/>
          </a:stretch>
        </p:blipFill>
        <p:spPr>
          <a:xfrm>
            <a:off x="700386" y="3656425"/>
            <a:ext cx="10602039" cy="3049175"/>
          </a:xfrm>
          <a:prstGeom prst="rect">
            <a:avLst/>
          </a:prstGeom>
        </p:spPr>
      </p:pic>
    </p:spTree>
    <p:extLst>
      <p:ext uri="{BB962C8B-B14F-4D97-AF65-F5344CB8AC3E}">
        <p14:creationId xmlns:p14="http://schemas.microsoft.com/office/powerpoint/2010/main" val="33604761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33</a:t>
            </a:fld>
            <a:endParaRPr spc="-25" dirty="0"/>
          </a:p>
        </p:txBody>
      </p:sp>
      <p:sp>
        <p:nvSpPr>
          <p:cNvPr id="14" name="object 14"/>
          <p:cNvSpPr txBox="1"/>
          <p:nvPr/>
        </p:nvSpPr>
        <p:spPr>
          <a:xfrm>
            <a:off x="753671" y="1295400"/>
            <a:ext cx="10678560" cy="1595309"/>
          </a:xfrm>
          <a:prstGeom prst="rect">
            <a:avLst/>
          </a:prstGeom>
        </p:spPr>
        <p:txBody>
          <a:bodyPr vert="horz" wrap="square" lIns="0" tIns="12700" rIns="0" bIns="0" rtlCol="0">
            <a:spAutoFit/>
          </a:bodyPr>
          <a:lstStyle/>
          <a:p>
            <a:pPr marL="12700" marR="5080" algn="just">
              <a:lnSpc>
                <a:spcPct val="150100"/>
              </a:lnSpc>
              <a:spcBef>
                <a:spcPts val="100"/>
              </a:spcBef>
            </a:pPr>
            <a:r>
              <a:rPr lang="fr-FR" sz="2000" b="1" dirty="0" smtClean="0">
                <a:solidFill>
                  <a:srgbClr val="FFC000"/>
                </a:solidFill>
                <a:latin typeface="Calibri"/>
                <a:cs typeface="Calibri"/>
              </a:rPr>
              <a:t>Exercice</a:t>
            </a:r>
          </a:p>
          <a:p>
            <a:pPr marL="12700" marR="5080" algn="just">
              <a:lnSpc>
                <a:spcPct val="150100"/>
              </a:lnSpc>
              <a:spcBef>
                <a:spcPts val="100"/>
              </a:spcBef>
            </a:pPr>
            <a:r>
              <a:rPr lang="fr-FR" sz="1600" dirty="0" smtClean="0">
                <a:latin typeface="Calibri"/>
                <a:cs typeface="Calibri"/>
              </a:rPr>
              <a:t>Considérez l'ensemble de quatre processus suivants. Le temps d'arrivée, le temps nécessaire pour terminer l'exécution et les priorités sont donnés dans le tableau suivant. Considérez toutes les valeurs de temps en millisecondes et une petite valeur de priorité signifie une priorité plus élevée du processus.</a:t>
            </a:r>
            <a:endParaRPr lang="fr-FR" sz="1200" dirty="0" smtClean="0">
              <a:solidFill>
                <a:srgbClr val="585858"/>
              </a:solidFill>
              <a:latin typeface="Calibri"/>
              <a:cs typeface="Calibri"/>
            </a:endParaRPr>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8" name="Rectangle 7"/>
          <p:cNvSpPr/>
          <p:nvPr/>
        </p:nvSpPr>
        <p:spPr>
          <a:xfrm>
            <a:off x="685800" y="4623869"/>
            <a:ext cx="6526146" cy="710131"/>
          </a:xfrm>
          <a:prstGeom prst="rect">
            <a:avLst/>
          </a:prstGeom>
        </p:spPr>
        <p:txBody>
          <a:bodyPr wrap="none">
            <a:spAutoFit/>
          </a:bodyPr>
          <a:lstStyle/>
          <a:p>
            <a:pPr marL="342900" indent="-342900">
              <a:lnSpc>
                <a:spcPct val="107000"/>
              </a:lnSpc>
              <a:spcAft>
                <a:spcPts val="800"/>
              </a:spcAft>
              <a:buFont typeface="+mj-lt"/>
              <a:buAutoNum type="arabicPeriod"/>
            </a:pPr>
            <a:r>
              <a:rPr lang="fr-FR" sz="1600" b="1" dirty="0" smtClean="0">
                <a:solidFill>
                  <a:srgbClr val="FF0000"/>
                </a:solidFill>
                <a:effectLst/>
                <a:latin typeface="+mj-lt"/>
                <a:ea typeface="Calibri" panose="020F0502020204030204" pitchFamily="34" charset="0"/>
                <a:cs typeface="Arial" panose="020B0604020202020204" pitchFamily="34" charset="0"/>
              </a:rPr>
              <a:t>Déterminer le Diagramme de Gantt et renseigner le tableau ci-dessous</a:t>
            </a:r>
          </a:p>
          <a:p>
            <a:pPr marL="342900" indent="-342900">
              <a:lnSpc>
                <a:spcPct val="107000"/>
              </a:lnSpc>
              <a:spcAft>
                <a:spcPts val="800"/>
              </a:spcAft>
              <a:buFont typeface="+mj-lt"/>
              <a:buAutoNum type="arabicPeriod"/>
            </a:pPr>
            <a:r>
              <a:rPr lang="fr-FR" sz="1600" b="1" dirty="0" smtClean="0">
                <a:solidFill>
                  <a:srgbClr val="FF0000"/>
                </a:solidFill>
                <a:effectLst/>
                <a:latin typeface="+mj-lt"/>
                <a:ea typeface="Calibri" panose="020F0502020204030204" pitchFamily="34" charset="0"/>
                <a:cs typeface="Arial" panose="020B0604020202020204" pitchFamily="34" charset="0"/>
              </a:rPr>
              <a:t>Calculer le temps de rotation moyen et le temps d’attente moyen</a:t>
            </a:r>
            <a:endParaRPr lang="fr-FR" sz="1600" b="1" dirty="0">
              <a:solidFill>
                <a:srgbClr val="FF0000"/>
              </a:solidFill>
              <a:effectLst/>
              <a:latin typeface="+mj-lt"/>
              <a:ea typeface="Calibri" panose="020F0502020204030204" pitchFamily="34" charset="0"/>
              <a:cs typeface="Arial" panose="020B0604020202020204" pitchFamily="34" charset="0"/>
            </a:endParaRPr>
          </a:p>
        </p:txBody>
      </p:sp>
      <p:pic>
        <p:nvPicPr>
          <p:cNvPr id="11" name="Image 10"/>
          <p:cNvPicPr>
            <a:picLocks noChangeAspect="1"/>
          </p:cNvPicPr>
          <p:nvPr/>
        </p:nvPicPr>
        <p:blipFill>
          <a:blip r:embed="rId4"/>
          <a:stretch>
            <a:fillRect/>
          </a:stretch>
        </p:blipFill>
        <p:spPr>
          <a:xfrm>
            <a:off x="642318" y="5314950"/>
            <a:ext cx="11125200" cy="1543050"/>
          </a:xfrm>
          <a:prstGeom prst="rect">
            <a:avLst/>
          </a:prstGeom>
        </p:spPr>
      </p:pic>
      <p:sp>
        <p:nvSpPr>
          <p:cNvPr id="16" name="object 15"/>
          <p:cNvSpPr txBox="1">
            <a:spLocks noGrp="1"/>
          </p:cNvSpPr>
          <p:nvPr>
            <p:ph type="title"/>
          </p:nvPr>
        </p:nvSpPr>
        <p:spPr>
          <a:xfrm>
            <a:off x="263753" y="152400"/>
            <a:ext cx="11664492" cy="764363"/>
          </a:xfrm>
          <a:prstGeom prst="rect">
            <a:avLst/>
          </a:prstGeom>
        </p:spPr>
        <p:txBody>
          <a:bodyPr vert="horz" wrap="square" lIns="0" tIns="147371" rIns="0" bIns="0" rtlCol="0">
            <a:spAutoFit/>
          </a:bodyPr>
          <a:lstStyle/>
          <a:p>
            <a:pPr marL="12700">
              <a:lnSpc>
                <a:spcPct val="100000"/>
              </a:lnSpc>
              <a:spcBef>
                <a:spcPts val="90"/>
              </a:spcBef>
            </a:pPr>
            <a:r>
              <a:rPr lang="fr-FR" dirty="0" smtClean="0">
                <a:solidFill>
                  <a:srgbClr val="007842"/>
                </a:solidFill>
              </a:rPr>
              <a:t>04</a:t>
            </a:r>
            <a:r>
              <a:rPr lang="fr-FR" spc="-35" dirty="0" smtClean="0">
                <a:solidFill>
                  <a:srgbClr val="007842"/>
                </a:solidFill>
              </a:rPr>
              <a:t> </a:t>
            </a:r>
            <a:r>
              <a:rPr lang="fr-FR" dirty="0" smtClean="0">
                <a:solidFill>
                  <a:srgbClr val="007842"/>
                </a:solidFill>
              </a:rPr>
              <a:t>–</a:t>
            </a:r>
            <a:r>
              <a:rPr lang="fr-FR" spc="-20" dirty="0" smtClean="0">
                <a:solidFill>
                  <a:srgbClr val="007842"/>
                </a:solidFill>
              </a:rPr>
              <a:t> </a:t>
            </a:r>
            <a:r>
              <a:rPr lang="fr-FR" dirty="0" smtClean="0">
                <a:solidFill>
                  <a:srgbClr val="007842"/>
                </a:solidFill>
              </a:rPr>
              <a:t>Gestion des processus </a:t>
            </a:r>
            <a:br>
              <a:rPr lang="fr-FR" dirty="0" smtClean="0">
                <a:solidFill>
                  <a:srgbClr val="007842"/>
                </a:solidFill>
              </a:rPr>
            </a:br>
            <a:r>
              <a:rPr lang="fr-FR" sz="1600" spc="-10" dirty="0">
                <a:solidFill>
                  <a:srgbClr val="007842"/>
                </a:solidFill>
              </a:rPr>
              <a:t>Algorithme</a:t>
            </a:r>
            <a:r>
              <a:rPr lang="fr-FR" dirty="0" smtClean="0">
                <a:solidFill>
                  <a:srgbClr val="007842"/>
                </a:solidFill>
              </a:rPr>
              <a:t> </a:t>
            </a:r>
            <a:r>
              <a:rPr lang="fr-FR" sz="1600" spc="-10" dirty="0" smtClean="0">
                <a:solidFill>
                  <a:srgbClr val="007842"/>
                </a:solidFill>
              </a:rPr>
              <a:t>d’Ordonnancement </a:t>
            </a:r>
            <a:r>
              <a:rPr lang="fr-FR" sz="1600" spc="-10" dirty="0">
                <a:solidFill>
                  <a:srgbClr val="007842"/>
                </a:solidFill>
              </a:rPr>
              <a:t>par priorité </a:t>
            </a:r>
            <a:endParaRPr sz="1600" dirty="0"/>
          </a:p>
        </p:txBody>
      </p:sp>
      <p:pic>
        <p:nvPicPr>
          <p:cNvPr id="7" name="Image 6"/>
          <p:cNvPicPr>
            <a:picLocks noChangeAspect="1"/>
          </p:cNvPicPr>
          <p:nvPr/>
        </p:nvPicPr>
        <p:blipFill>
          <a:blip r:embed="rId5"/>
          <a:stretch>
            <a:fillRect/>
          </a:stretch>
        </p:blipFill>
        <p:spPr>
          <a:xfrm>
            <a:off x="652346" y="2985094"/>
            <a:ext cx="10934700" cy="1566863"/>
          </a:xfrm>
          <a:prstGeom prst="rect">
            <a:avLst/>
          </a:prstGeom>
        </p:spPr>
      </p:pic>
    </p:spTree>
    <p:extLst>
      <p:ext uri="{BB962C8B-B14F-4D97-AF65-F5344CB8AC3E}">
        <p14:creationId xmlns:p14="http://schemas.microsoft.com/office/powerpoint/2010/main" val="42590499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34</a:t>
            </a:fld>
            <a:endParaRPr spc="-25" dirty="0"/>
          </a:p>
        </p:txBody>
      </p:sp>
      <p:sp>
        <p:nvSpPr>
          <p:cNvPr id="14" name="object 14"/>
          <p:cNvSpPr txBox="1"/>
          <p:nvPr/>
        </p:nvSpPr>
        <p:spPr>
          <a:xfrm>
            <a:off x="753671" y="1464563"/>
            <a:ext cx="10678560" cy="735714"/>
          </a:xfrm>
          <a:prstGeom prst="rect">
            <a:avLst/>
          </a:prstGeom>
        </p:spPr>
        <p:txBody>
          <a:bodyPr vert="horz" wrap="square" lIns="0" tIns="12700" rIns="0" bIns="0" rtlCol="0">
            <a:spAutoFit/>
          </a:bodyPr>
          <a:lstStyle/>
          <a:p>
            <a:pPr marL="12700" marR="5080" algn="just">
              <a:lnSpc>
                <a:spcPct val="150100"/>
              </a:lnSpc>
              <a:spcBef>
                <a:spcPts val="100"/>
              </a:spcBef>
            </a:pPr>
            <a:r>
              <a:rPr lang="fr-FR" sz="2000" b="1" dirty="0" smtClean="0">
                <a:solidFill>
                  <a:srgbClr val="FF0000"/>
                </a:solidFill>
                <a:latin typeface="Calibri"/>
                <a:cs typeface="Calibri"/>
              </a:rPr>
              <a:t>Solution</a:t>
            </a:r>
            <a:endParaRPr lang="fr-FR" sz="1600" dirty="0" smtClean="0">
              <a:latin typeface="Calibri"/>
              <a:cs typeface="Calibri"/>
            </a:endParaRPr>
          </a:p>
          <a:p>
            <a:pPr marL="12700" marR="5080" algn="just">
              <a:lnSpc>
                <a:spcPct val="150100"/>
              </a:lnSpc>
              <a:spcBef>
                <a:spcPts val="100"/>
              </a:spcBef>
            </a:pPr>
            <a:endParaRPr lang="fr-FR" sz="1200" dirty="0" smtClean="0">
              <a:solidFill>
                <a:srgbClr val="585858"/>
              </a:solidFill>
              <a:latin typeface="Calibri"/>
              <a:cs typeface="Calibri"/>
            </a:endParaRPr>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8" name="Rectangle 7"/>
          <p:cNvSpPr/>
          <p:nvPr/>
        </p:nvSpPr>
        <p:spPr>
          <a:xfrm>
            <a:off x="528445" y="2022375"/>
            <a:ext cx="2010487" cy="355803"/>
          </a:xfrm>
          <a:prstGeom prst="rect">
            <a:avLst/>
          </a:prstGeom>
        </p:spPr>
        <p:txBody>
          <a:bodyPr wrap="none">
            <a:spAutoFit/>
          </a:bodyPr>
          <a:lstStyle/>
          <a:p>
            <a:pPr>
              <a:lnSpc>
                <a:spcPct val="107000"/>
              </a:lnSpc>
              <a:spcAft>
                <a:spcPts val="800"/>
              </a:spcAft>
            </a:pPr>
            <a:r>
              <a:rPr lang="fr-FR" sz="1600" b="1" dirty="0" smtClean="0">
                <a:solidFill>
                  <a:schemeClr val="tx1"/>
                </a:solidFill>
                <a:effectLst/>
                <a:latin typeface="+mj-lt"/>
                <a:ea typeface="Calibri" panose="020F0502020204030204" pitchFamily="34" charset="0"/>
                <a:cs typeface="Arial" panose="020B0604020202020204" pitchFamily="34" charset="0"/>
              </a:rPr>
              <a:t>Diagramme de Gantt</a:t>
            </a:r>
          </a:p>
        </p:txBody>
      </p:sp>
      <p:sp>
        <p:nvSpPr>
          <p:cNvPr id="19" name="Rectangle 18"/>
          <p:cNvSpPr/>
          <p:nvPr/>
        </p:nvSpPr>
        <p:spPr>
          <a:xfrm>
            <a:off x="609600" y="3225597"/>
            <a:ext cx="1181734" cy="344069"/>
          </a:xfrm>
          <a:prstGeom prst="rect">
            <a:avLst/>
          </a:prstGeom>
        </p:spPr>
        <p:txBody>
          <a:bodyPr wrap="none">
            <a:spAutoFit/>
          </a:bodyPr>
          <a:lstStyle/>
          <a:p>
            <a:pPr>
              <a:lnSpc>
                <a:spcPct val="107000"/>
              </a:lnSpc>
              <a:spcAft>
                <a:spcPts val="800"/>
              </a:spcAft>
            </a:pPr>
            <a:r>
              <a:rPr lang="fr-FR" sz="1600" b="1" dirty="0" smtClean="0">
                <a:solidFill>
                  <a:schemeClr val="tx1"/>
                </a:solidFill>
                <a:latin typeface="+mj-lt"/>
                <a:ea typeface="Calibri" panose="020F0502020204030204" pitchFamily="34" charset="0"/>
                <a:cs typeface="Arial" panose="020B0604020202020204" pitchFamily="34" charset="0"/>
              </a:rPr>
              <a:t>Statistiques</a:t>
            </a:r>
            <a:endParaRPr lang="fr-FR" sz="1600" b="1" dirty="0" smtClean="0">
              <a:solidFill>
                <a:schemeClr val="tx1"/>
              </a:solidFill>
              <a:effectLst/>
              <a:latin typeface="+mj-lt"/>
              <a:ea typeface="Calibri" panose="020F0502020204030204" pitchFamily="34" charset="0"/>
              <a:cs typeface="Arial" panose="020B0604020202020204" pitchFamily="34" charset="0"/>
            </a:endParaRPr>
          </a:p>
        </p:txBody>
      </p:sp>
      <p:sp>
        <p:nvSpPr>
          <p:cNvPr id="20" name="object 15"/>
          <p:cNvSpPr txBox="1">
            <a:spLocks noGrp="1"/>
          </p:cNvSpPr>
          <p:nvPr>
            <p:ph type="title"/>
          </p:nvPr>
        </p:nvSpPr>
        <p:spPr>
          <a:xfrm>
            <a:off x="263753" y="152400"/>
            <a:ext cx="11664492" cy="764363"/>
          </a:xfrm>
          <a:prstGeom prst="rect">
            <a:avLst/>
          </a:prstGeom>
        </p:spPr>
        <p:txBody>
          <a:bodyPr vert="horz" wrap="square" lIns="0" tIns="147371" rIns="0" bIns="0" rtlCol="0">
            <a:spAutoFit/>
          </a:bodyPr>
          <a:lstStyle/>
          <a:p>
            <a:pPr marL="12700">
              <a:lnSpc>
                <a:spcPct val="100000"/>
              </a:lnSpc>
              <a:spcBef>
                <a:spcPts val="90"/>
              </a:spcBef>
            </a:pPr>
            <a:r>
              <a:rPr lang="fr-FR" dirty="0" smtClean="0">
                <a:solidFill>
                  <a:srgbClr val="007842"/>
                </a:solidFill>
              </a:rPr>
              <a:t>04</a:t>
            </a:r>
            <a:r>
              <a:rPr lang="fr-FR" spc="-35" dirty="0" smtClean="0">
                <a:solidFill>
                  <a:srgbClr val="007842"/>
                </a:solidFill>
              </a:rPr>
              <a:t> </a:t>
            </a:r>
            <a:r>
              <a:rPr lang="fr-FR" dirty="0" smtClean="0">
                <a:solidFill>
                  <a:srgbClr val="007842"/>
                </a:solidFill>
              </a:rPr>
              <a:t>–</a:t>
            </a:r>
            <a:r>
              <a:rPr lang="fr-FR" spc="-20" dirty="0" smtClean="0">
                <a:solidFill>
                  <a:srgbClr val="007842"/>
                </a:solidFill>
              </a:rPr>
              <a:t> </a:t>
            </a:r>
            <a:r>
              <a:rPr lang="fr-FR" dirty="0" smtClean="0">
                <a:solidFill>
                  <a:srgbClr val="007842"/>
                </a:solidFill>
              </a:rPr>
              <a:t>Gestion des processus </a:t>
            </a:r>
            <a:br>
              <a:rPr lang="fr-FR" dirty="0" smtClean="0">
                <a:solidFill>
                  <a:srgbClr val="007842"/>
                </a:solidFill>
              </a:rPr>
            </a:br>
            <a:r>
              <a:rPr lang="fr-FR" sz="1600" spc="-10" dirty="0">
                <a:solidFill>
                  <a:srgbClr val="007842"/>
                </a:solidFill>
              </a:rPr>
              <a:t>Algorithme</a:t>
            </a:r>
            <a:r>
              <a:rPr lang="fr-FR" dirty="0" smtClean="0">
                <a:solidFill>
                  <a:srgbClr val="007842"/>
                </a:solidFill>
              </a:rPr>
              <a:t> </a:t>
            </a:r>
            <a:r>
              <a:rPr lang="fr-FR" sz="1600" spc="-10" dirty="0" smtClean="0">
                <a:solidFill>
                  <a:srgbClr val="007842"/>
                </a:solidFill>
              </a:rPr>
              <a:t>d’Ordonnancement </a:t>
            </a:r>
            <a:r>
              <a:rPr lang="fr-FR" sz="1600" spc="-10" dirty="0">
                <a:solidFill>
                  <a:srgbClr val="007842"/>
                </a:solidFill>
              </a:rPr>
              <a:t>par priorité </a:t>
            </a:r>
            <a:endParaRPr sz="1600" dirty="0"/>
          </a:p>
        </p:txBody>
      </p:sp>
      <p:pic>
        <p:nvPicPr>
          <p:cNvPr id="15" name="Image 14"/>
          <p:cNvPicPr/>
          <p:nvPr/>
        </p:nvPicPr>
        <p:blipFill>
          <a:blip r:embed="rId4"/>
          <a:stretch>
            <a:fillRect/>
          </a:stretch>
        </p:blipFill>
        <p:spPr>
          <a:xfrm>
            <a:off x="700386" y="2347976"/>
            <a:ext cx="10424814" cy="877621"/>
          </a:xfrm>
          <a:prstGeom prst="rect">
            <a:avLst/>
          </a:prstGeom>
        </p:spPr>
      </p:pic>
      <p:pic>
        <p:nvPicPr>
          <p:cNvPr id="16" name="Image 15"/>
          <p:cNvPicPr/>
          <p:nvPr/>
        </p:nvPicPr>
        <p:blipFill>
          <a:blip r:embed="rId5"/>
          <a:stretch>
            <a:fillRect/>
          </a:stretch>
        </p:blipFill>
        <p:spPr>
          <a:xfrm>
            <a:off x="1033225" y="3617137"/>
            <a:ext cx="10371529" cy="1736725"/>
          </a:xfrm>
          <a:prstGeom prst="rect">
            <a:avLst/>
          </a:prstGeom>
        </p:spPr>
      </p:pic>
      <p:pic>
        <p:nvPicPr>
          <p:cNvPr id="22" name="Image 21"/>
          <p:cNvPicPr/>
          <p:nvPr/>
        </p:nvPicPr>
        <p:blipFill>
          <a:blip r:embed="rId6"/>
          <a:stretch>
            <a:fillRect/>
          </a:stretch>
        </p:blipFill>
        <p:spPr>
          <a:xfrm>
            <a:off x="1456489" y="5437814"/>
            <a:ext cx="9525000" cy="866140"/>
          </a:xfrm>
          <a:prstGeom prst="rect">
            <a:avLst/>
          </a:prstGeom>
        </p:spPr>
      </p:pic>
    </p:spTree>
    <p:extLst>
      <p:ext uri="{BB962C8B-B14F-4D97-AF65-F5344CB8AC3E}">
        <p14:creationId xmlns:p14="http://schemas.microsoft.com/office/powerpoint/2010/main" val="20988180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35</a:t>
            </a:fld>
            <a:endParaRPr spc="-25" dirty="0"/>
          </a:p>
        </p:txBody>
      </p:sp>
      <p:sp>
        <p:nvSpPr>
          <p:cNvPr id="14" name="object 14"/>
          <p:cNvSpPr txBox="1"/>
          <p:nvPr/>
        </p:nvSpPr>
        <p:spPr>
          <a:xfrm>
            <a:off x="713396" y="1635643"/>
            <a:ext cx="10678560" cy="5101397"/>
          </a:xfrm>
          <a:prstGeom prst="rect">
            <a:avLst/>
          </a:prstGeom>
        </p:spPr>
        <p:txBody>
          <a:bodyPr vert="horz" wrap="square" lIns="0" tIns="12700" rIns="0" bIns="0" rtlCol="0">
            <a:spAutoFit/>
          </a:bodyPr>
          <a:lstStyle/>
          <a:p>
            <a:pPr marL="12700" marR="5080" algn="just" rtl="0">
              <a:lnSpc>
                <a:spcPct val="150100"/>
              </a:lnSpc>
              <a:spcBef>
                <a:spcPts val="100"/>
              </a:spcBef>
            </a:pPr>
            <a:r>
              <a:rPr lang="fr-FR" sz="1600" dirty="0" smtClean="0">
                <a:solidFill>
                  <a:srgbClr val="585858"/>
                </a:solidFill>
                <a:latin typeface="+mn-lt"/>
                <a:cs typeface="Calibri"/>
              </a:rPr>
              <a:t>Un processus est généralement créé par le système d'exploitation pour exécuter une tâche spécifique;</a:t>
            </a:r>
          </a:p>
          <a:p>
            <a:pPr marL="12700" marR="5080" algn="just" rtl="0">
              <a:lnSpc>
                <a:spcPct val="150100"/>
              </a:lnSpc>
              <a:spcBef>
                <a:spcPts val="100"/>
              </a:spcBef>
            </a:pPr>
            <a:r>
              <a:rPr lang="fr-FR" sz="1600" dirty="0" smtClean="0">
                <a:solidFill>
                  <a:srgbClr val="585858"/>
                </a:solidFill>
                <a:latin typeface="+mn-lt"/>
                <a:cs typeface="Calibri"/>
              </a:rPr>
              <a:t>Voici les étapes typiques pour créer un processus:</a:t>
            </a:r>
          </a:p>
          <a:p>
            <a:pPr marL="298450" marR="5080" indent="-285750" algn="just">
              <a:lnSpc>
                <a:spcPct val="150100"/>
              </a:lnSpc>
              <a:spcBef>
                <a:spcPts val="100"/>
              </a:spcBef>
              <a:buFont typeface="Wingdings" panose="05000000000000000000" pitchFamily="2" charset="2"/>
              <a:buChar char="§"/>
            </a:pPr>
            <a:r>
              <a:rPr lang="fr-FR" sz="1600" b="1" dirty="0" smtClean="0">
                <a:latin typeface="Calibri"/>
                <a:cs typeface="Calibri"/>
              </a:rPr>
              <a:t>Allocation de ressources : </a:t>
            </a:r>
            <a:r>
              <a:rPr lang="fr-FR" sz="1600" dirty="0" smtClean="0">
                <a:latin typeface="Calibri"/>
                <a:cs typeface="Calibri"/>
              </a:rPr>
              <a:t>Lorsqu'un processus est créé, le système d'exploitation alloue les ressources nécessaires à son exécution</a:t>
            </a:r>
          </a:p>
          <a:p>
            <a:pPr marL="298450" marR="5080" indent="-285750" algn="just">
              <a:lnSpc>
                <a:spcPct val="150100"/>
              </a:lnSpc>
              <a:spcBef>
                <a:spcPts val="100"/>
              </a:spcBef>
              <a:buFont typeface="Wingdings" panose="05000000000000000000" pitchFamily="2" charset="2"/>
              <a:buChar char="§"/>
            </a:pPr>
            <a:r>
              <a:rPr lang="fr-FR" sz="1600" b="1" dirty="0" smtClean="0">
                <a:latin typeface="Calibri"/>
                <a:cs typeface="Calibri"/>
              </a:rPr>
              <a:t>Initialisation </a:t>
            </a:r>
            <a:r>
              <a:rPr lang="fr-FR" sz="1600" dirty="0" smtClean="0">
                <a:latin typeface="Calibri"/>
                <a:cs typeface="Calibri"/>
              </a:rPr>
              <a:t>: Le système d'exploitation initialise les structures de données nécessaires pour suivre l'état du processus, telles que le PCB</a:t>
            </a:r>
          </a:p>
          <a:p>
            <a:pPr marL="298450" marR="5080" indent="-285750" algn="just">
              <a:lnSpc>
                <a:spcPct val="150100"/>
              </a:lnSpc>
              <a:spcBef>
                <a:spcPts val="100"/>
              </a:spcBef>
              <a:buFont typeface="Wingdings" panose="05000000000000000000" pitchFamily="2" charset="2"/>
              <a:buChar char="§"/>
            </a:pPr>
            <a:r>
              <a:rPr lang="fr-FR" sz="1600" b="1" dirty="0" smtClean="0">
                <a:latin typeface="Calibri"/>
                <a:cs typeface="Calibri"/>
              </a:rPr>
              <a:t>Détermination du point de départ : </a:t>
            </a:r>
            <a:r>
              <a:rPr lang="fr-FR" sz="1600" dirty="0" smtClean="0">
                <a:latin typeface="Calibri"/>
                <a:cs typeface="Calibri"/>
              </a:rPr>
              <a:t>Le système d'exploitation identifie l'instruction à partir de laquelle le processus doit commencer son exécution. </a:t>
            </a:r>
          </a:p>
          <a:p>
            <a:pPr marL="298450" marR="5080" indent="-285750" algn="just">
              <a:lnSpc>
                <a:spcPct val="150100"/>
              </a:lnSpc>
              <a:spcBef>
                <a:spcPts val="100"/>
              </a:spcBef>
              <a:buFont typeface="Wingdings" panose="05000000000000000000" pitchFamily="2" charset="2"/>
              <a:buChar char="§"/>
            </a:pPr>
            <a:r>
              <a:rPr lang="fr-FR" sz="1600" b="1" dirty="0" smtClean="0">
                <a:latin typeface="Calibri"/>
                <a:cs typeface="Calibri"/>
              </a:rPr>
              <a:t>Chargement en mémoire : </a:t>
            </a:r>
            <a:r>
              <a:rPr lang="fr-FR" sz="1600" dirty="0" smtClean="0">
                <a:latin typeface="Calibri"/>
                <a:cs typeface="Calibri"/>
              </a:rPr>
              <a:t>le système d'exploitation charge le code exécutable du processus en mémoire principale afin qu'il puisse être exécuté.</a:t>
            </a:r>
          </a:p>
          <a:p>
            <a:pPr marL="298450" marR="5080" indent="-285750" algn="just">
              <a:lnSpc>
                <a:spcPct val="150100"/>
              </a:lnSpc>
              <a:spcBef>
                <a:spcPts val="100"/>
              </a:spcBef>
              <a:buFont typeface="Wingdings" panose="05000000000000000000" pitchFamily="2" charset="2"/>
              <a:buChar char="§"/>
            </a:pPr>
            <a:r>
              <a:rPr lang="fr-FR" sz="1600" b="1" dirty="0" smtClean="0">
                <a:latin typeface="Calibri"/>
                <a:cs typeface="Calibri"/>
              </a:rPr>
              <a:t>Démarrage de l'exécution : </a:t>
            </a:r>
            <a:r>
              <a:rPr lang="fr-FR" sz="1600" dirty="0" smtClean="0">
                <a:latin typeface="Calibri"/>
                <a:cs typeface="Calibri"/>
              </a:rPr>
              <a:t>le système d'exploitation démarre l'exécution du processus en exécutant son code à partir du point de départ déterminé.</a:t>
            </a:r>
          </a:p>
          <a:p>
            <a:pPr marL="12700" marR="5080" algn="just">
              <a:lnSpc>
                <a:spcPct val="150100"/>
              </a:lnSpc>
              <a:spcBef>
                <a:spcPts val="100"/>
              </a:spcBef>
            </a:pPr>
            <a:endParaRPr lang="fr-FR" sz="1200" dirty="0" smtClean="0">
              <a:latin typeface="Calibri"/>
              <a:cs typeface="Calibri"/>
            </a:endParaRPr>
          </a:p>
          <a:p>
            <a:pPr marL="12700" marR="5080" algn="just">
              <a:lnSpc>
                <a:spcPct val="150100"/>
              </a:lnSpc>
              <a:spcBef>
                <a:spcPts val="100"/>
              </a:spcBef>
            </a:pPr>
            <a:endParaRPr lang="fr-FR" sz="1200" dirty="0" smtClean="0">
              <a:solidFill>
                <a:srgbClr val="585858"/>
              </a:solidFill>
              <a:latin typeface="Calibri"/>
              <a:cs typeface="Calibri"/>
            </a:endParaRPr>
          </a:p>
        </p:txBody>
      </p:sp>
      <p:sp>
        <p:nvSpPr>
          <p:cNvPr id="15" name="object 15"/>
          <p:cNvSpPr txBox="1">
            <a:spLocks noGrp="1"/>
          </p:cNvSpPr>
          <p:nvPr>
            <p:ph type="title"/>
          </p:nvPr>
        </p:nvSpPr>
        <p:spPr>
          <a:xfrm>
            <a:off x="263753" y="332308"/>
            <a:ext cx="11664492" cy="702808"/>
          </a:xfrm>
          <a:prstGeom prst="rect">
            <a:avLst/>
          </a:prstGeom>
        </p:spPr>
        <p:txBody>
          <a:bodyPr vert="horz" wrap="square" lIns="0" tIns="147371" rIns="0" bIns="0" rtlCol="0">
            <a:spAutoFit/>
          </a:bodyPr>
          <a:lstStyle/>
          <a:p>
            <a:pPr marL="12700">
              <a:lnSpc>
                <a:spcPct val="100000"/>
              </a:lnSpc>
              <a:spcBef>
                <a:spcPts val="90"/>
              </a:spcBef>
            </a:pPr>
            <a:r>
              <a:rPr lang="fr-FR" dirty="0">
                <a:solidFill>
                  <a:srgbClr val="007842"/>
                </a:solidFill>
              </a:rPr>
              <a:t>04</a:t>
            </a:r>
            <a:r>
              <a:rPr lang="fr-FR" spc="-35" dirty="0">
                <a:solidFill>
                  <a:srgbClr val="007842"/>
                </a:solidFill>
              </a:rPr>
              <a:t> </a:t>
            </a:r>
            <a:r>
              <a:rPr lang="fr-FR" dirty="0">
                <a:solidFill>
                  <a:srgbClr val="007842"/>
                </a:solidFill>
              </a:rPr>
              <a:t>–</a:t>
            </a:r>
            <a:r>
              <a:rPr lang="fr-FR" spc="-20" dirty="0">
                <a:solidFill>
                  <a:srgbClr val="007842"/>
                </a:solidFill>
              </a:rPr>
              <a:t> </a:t>
            </a:r>
            <a:r>
              <a:rPr lang="fr-FR" dirty="0">
                <a:solidFill>
                  <a:srgbClr val="007842"/>
                </a:solidFill>
              </a:rPr>
              <a:t>Gestion des processus </a:t>
            </a:r>
            <a:br>
              <a:rPr lang="fr-FR" dirty="0">
                <a:solidFill>
                  <a:srgbClr val="007842"/>
                </a:solidFill>
              </a:rPr>
            </a:br>
            <a:r>
              <a:rPr lang="fr-FR" sz="1600" spc="-10" dirty="0" smtClean="0">
                <a:solidFill>
                  <a:srgbClr val="007842"/>
                </a:solidFill>
              </a:rPr>
              <a:t>Création </a:t>
            </a:r>
            <a:r>
              <a:rPr lang="fr-FR" sz="1600" spc="-10" dirty="0">
                <a:solidFill>
                  <a:srgbClr val="007842"/>
                </a:solidFill>
              </a:rPr>
              <a:t>et destruction des processus</a:t>
            </a:r>
            <a:endParaRPr sz="1600" dirty="0"/>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Tree>
    <p:extLst>
      <p:ext uri="{BB962C8B-B14F-4D97-AF65-F5344CB8AC3E}">
        <p14:creationId xmlns:p14="http://schemas.microsoft.com/office/powerpoint/2010/main" val="12999560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36</a:t>
            </a:fld>
            <a:endParaRPr spc="-25" dirty="0"/>
          </a:p>
        </p:txBody>
      </p:sp>
      <p:sp>
        <p:nvSpPr>
          <p:cNvPr id="14" name="object 14"/>
          <p:cNvSpPr txBox="1"/>
          <p:nvPr/>
        </p:nvSpPr>
        <p:spPr>
          <a:xfrm>
            <a:off x="713396" y="1635643"/>
            <a:ext cx="10678560" cy="5101397"/>
          </a:xfrm>
          <a:prstGeom prst="rect">
            <a:avLst/>
          </a:prstGeom>
        </p:spPr>
        <p:txBody>
          <a:bodyPr vert="horz" wrap="square" lIns="0" tIns="12700" rIns="0" bIns="0" rtlCol="0">
            <a:spAutoFit/>
          </a:bodyPr>
          <a:lstStyle/>
          <a:p>
            <a:pPr marL="12700" marR="5080" algn="just" rtl="0">
              <a:lnSpc>
                <a:spcPct val="150100"/>
              </a:lnSpc>
              <a:spcBef>
                <a:spcPts val="100"/>
              </a:spcBef>
            </a:pPr>
            <a:r>
              <a:rPr lang="fr-FR" sz="1600" dirty="0" smtClean="0">
                <a:solidFill>
                  <a:srgbClr val="585858"/>
                </a:solidFill>
                <a:latin typeface="+mn-lt"/>
                <a:cs typeface="Calibri"/>
              </a:rPr>
              <a:t>Un processus est généralement créé par le système d'exploitation pour exécuter une tâche spécifique;</a:t>
            </a:r>
          </a:p>
          <a:p>
            <a:pPr marL="12700" marR="5080" algn="just" rtl="0">
              <a:lnSpc>
                <a:spcPct val="150100"/>
              </a:lnSpc>
              <a:spcBef>
                <a:spcPts val="100"/>
              </a:spcBef>
            </a:pPr>
            <a:r>
              <a:rPr lang="fr-FR" sz="1600" dirty="0" smtClean="0">
                <a:solidFill>
                  <a:srgbClr val="585858"/>
                </a:solidFill>
                <a:latin typeface="+mn-lt"/>
                <a:cs typeface="Calibri"/>
              </a:rPr>
              <a:t>Voici les étapes typiques pour créer un processus:</a:t>
            </a:r>
          </a:p>
          <a:p>
            <a:pPr marL="298450" marR="5080" indent="-285750" algn="just">
              <a:lnSpc>
                <a:spcPct val="150100"/>
              </a:lnSpc>
              <a:spcBef>
                <a:spcPts val="100"/>
              </a:spcBef>
              <a:buFont typeface="Wingdings" panose="05000000000000000000" pitchFamily="2" charset="2"/>
              <a:buChar char="§"/>
            </a:pPr>
            <a:r>
              <a:rPr lang="fr-FR" sz="1600" b="1" dirty="0" smtClean="0">
                <a:latin typeface="Calibri"/>
                <a:cs typeface="Calibri"/>
              </a:rPr>
              <a:t>Allocation de ressources : </a:t>
            </a:r>
            <a:r>
              <a:rPr lang="fr-FR" sz="1600" dirty="0" smtClean="0">
                <a:latin typeface="Calibri"/>
                <a:cs typeface="Calibri"/>
              </a:rPr>
              <a:t>Lorsqu'un processus est créé, le système d'exploitation alloue les ressources nécessaires à son exécution</a:t>
            </a:r>
          </a:p>
          <a:p>
            <a:pPr marL="298450" marR="5080" indent="-285750" algn="just">
              <a:lnSpc>
                <a:spcPct val="150100"/>
              </a:lnSpc>
              <a:spcBef>
                <a:spcPts val="100"/>
              </a:spcBef>
              <a:buFont typeface="Wingdings" panose="05000000000000000000" pitchFamily="2" charset="2"/>
              <a:buChar char="§"/>
            </a:pPr>
            <a:r>
              <a:rPr lang="fr-FR" sz="1600" b="1" dirty="0" smtClean="0">
                <a:latin typeface="Calibri"/>
                <a:cs typeface="Calibri"/>
              </a:rPr>
              <a:t>Initialisation </a:t>
            </a:r>
            <a:r>
              <a:rPr lang="fr-FR" sz="1600" dirty="0" smtClean="0">
                <a:latin typeface="Calibri"/>
                <a:cs typeface="Calibri"/>
              </a:rPr>
              <a:t>: Le système d'exploitation initialise les structures de données nécessaires pour suivre l'état du processus, telles que le PCB</a:t>
            </a:r>
          </a:p>
          <a:p>
            <a:pPr marL="298450" marR="5080" indent="-285750" algn="just">
              <a:lnSpc>
                <a:spcPct val="150100"/>
              </a:lnSpc>
              <a:spcBef>
                <a:spcPts val="100"/>
              </a:spcBef>
              <a:buFont typeface="Wingdings" panose="05000000000000000000" pitchFamily="2" charset="2"/>
              <a:buChar char="§"/>
            </a:pPr>
            <a:r>
              <a:rPr lang="fr-FR" sz="1600" b="1" dirty="0" smtClean="0">
                <a:latin typeface="Calibri"/>
                <a:cs typeface="Calibri"/>
              </a:rPr>
              <a:t>Détermination du point de départ : </a:t>
            </a:r>
            <a:r>
              <a:rPr lang="fr-FR" sz="1600" dirty="0" smtClean="0">
                <a:latin typeface="Calibri"/>
                <a:cs typeface="Calibri"/>
              </a:rPr>
              <a:t>Le système d'exploitation identifie l'instruction à partir de laquelle le processus doit commencer son exécution. </a:t>
            </a:r>
          </a:p>
          <a:p>
            <a:pPr marL="298450" marR="5080" indent="-285750" algn="just">
              <a:lnSpc>
                <a:spcPct val="150100"/>
              </a:lnSpc>
              <a:spcBef>
                <a:spcPts val="100"/>
              </a:spcBef>
              <a:buFont typeface="Wingdings" panose="05000000000000000000" pitchFamily="2" charset="2"/>
              <a:buChar char="§"/>
            </a:pPr>
            <a:r>
              <a:rPr lang="fr-FR" sz="1600" b="1" dirty="0" smtClean="0">
                <a:latin typeface="Calibri"/>
                <a:cs typeface="Calibri"/>
              </a:rPr>
              <a:t>Chargement en mémoire : </a:t>
            </a:r>
            <a:r>
              <a:rPr lang="fr-FR" sz="1600" dirty="0" smtClean="0">
                <a:latin typeface="Calibri"/>
                <a:cs typeface="Calibri"/>
              </a:rPr>
              <a:t>le système d'exploitation charge le code exécutable du processus en mémoire principale afin qu'il puisse être exécuté.</a:t>
            </a:r>
          </a:p>
          <a:p>
            <a:pPr marL="298450" marR="5080" indent="-285750" algn="just">
              <a:lnSpc>
                <a:spcPct val="150100"/>
              </a:lnSpc>
              <a:spcBef>
                <a:spcPts val="100"/>
              </a:spcBef>
              <a:buFont typeface="Wingdings" panose="05000000000000000000" pitchFamily="2" charset="2"/>
              <a:buChar char="§"/>
            </a:pPr>
            <a:r>
              <a:rPr lang="fr-FR" sz="1600" b="1" dirty="0" smtClean="0">
                <a:latin typeface="Calibri"/>
                <a:cs typeface="Calibri"/>
              </a:rPr>
              <a:t>Démarrage de l'exécution : </a:t>
            </a:r>
            <a:r>
              <a:rPr lang="fr-FR" sz="1600" dirty="0" smtClean="0">
                <a:latin typeface="Calibri"/>
                <a:cs typeface="Calibri"/>
              </a:rPr>
              <a:t>le système d'exploitation démarre l'exécution du processus en exécutant son code à partir du point de départ déterminé.</a:t>
            </a:r>
          </a:p>
          <a:p>
            <a:pPr marL="12700" marR="5080" algn="just">
              <a:lnSpc>
                <a:spcPct val="150100"/>
              </a:lnSpc>
              <a:spcBef>
                <a:spcPts val="100"/>
              </a:spcBef>
            </a:pPr>
            <a:endParaRPr lang="fr-FR" sz="1200" dirty="0" smtClean="0">
              <a:latin typeface="Calibri"/>
              <a:cs typeface="Calibri"/>
            </a:endParaRPr>
          </a:p>
          <a:p>
            <a:pPr marL="12700" marR="5080" algn="just">
              <a:lnSpc>
                <a:spcPct val="150100"/>
              </a:lnSpc>
              <a:spcBef>
                <a:spcPts val="100"/>
              </a:spcBef>
            </a:pPr>
            <a:endParaRPr lang="fr-FR" sz="1200" dirty="0" smtClean="0">
              <a:solidFill>
                <a:srgbClr val="585858"/>
              </a:solidFill>
              <a:latin typeface="Calibri"/>
              <a:cs typeface="Calibri"/>
            </a:endParaRPr>
          </a:p>
        </p:txBody>
      </p:sp>
      <p:sp>
        <p:nvSpPr>
          <p:cNvPr id="15" name="object 15"/>
          <p:cNvSpPr txBox="1">
            <a:spLocks noGrp="1"/>
          </p:cNvSpPr>
          <p:nvPr>
            <p:ph type="title"/>
          </p:nvPr>
        </p:nvSpPr>
        <p:spPr>
          <a:xfrm>
            <a:off x="263753" y="332308"/>
            <a:ext cx="11664492" cy="702808"/>
          </a:xfrm>
          <a:prstGeom prst="rect">
            <a:avLst/>
          </a:prstGeom>
        </p:spPr>
        <p:txBody>
          <a:bodyPr vert="horz" wrap="square" lIns="0" tIns="147371" rIns="0" bIns="0" rtlCol="0">
            <a:spAutoFit/>
          </a:bodyPr>
          <a:lstStyle/>
          <a:p>
            <a:pPr marL="12700">
              <a:lnSpc>
                <a:spcPct val="100000"/>
              </a:lnSpc>
              <a:spcBef>
                <a:spcPts val="90"/>
              </a:spcBef>
            </a:pPr>
            <a:r>
              <a:rPr lang="fr-FR" dirty="0">
                <a:solidFill>
                  <a:srgbClr val="007842"/>
                </a:solidFill>
              </a:rPr>
              <a:t>04</a:t>
            </a:r>
            <a:r>
              <a:rPr lang="fr-FR" spc="-35" dirty="0">
                <a:solidFill>
                  <a:srgbClr val="007842"/>
                </a:solidFill>
              </a:rPr>
              <a:t> </a:t>
            </a:r>
            <a:r>
              <a:rPr lang="fr-FR" dirty="0">
                <a:solidFill>
                  <a:srgbClr val="007842"/>
                </a:solidFill>
              </a:rPr>
              <a:t>–</a:t>
            </a:r>
            <a:r>
              <a:rPr lang="fr-FR" spc="-20" dirty="0">
                <a:solidFill>
                  <a:srgbClr val="007842"/>
                </a:solidFill>
              </a:rPr>
              <a:t> </a:t>
            </a:r>
            <a:r>
              <a:rPr lang="fr-FR" dirty="0">
                <a:solidFill>
                  <a:srgbClr val="007842"/>
                </a:solidFill>
              </a:rPr>
              <a:t>Gestion des processus </a:t>
            </a:r>
            <a:br>
              <a:rPr lang="fr-FR" dirty="0">
                <a:solidFill>
                  <a:srgbClr val="007842"/>
                </a:solidFill>
              </a:rPr>
            </a:br>
            <a:r>
              <a:rPr lang="fr-FR" sz="1600" spc="-10" dirty="0" smtClean="0">
                <a:solidFill>
                  <a:srgbClr val="007842"/>
                </a:solidFill>
              </a:rPr>
              <a:t>Création </a:t>
            </a:r>
            <a:r>
              <a:rPr lang="fr-FR" sz="1600" spc="-10" dirty="0">
                <a:solidFill>
                  <a:srgbClr val="007842"/>
                </a:solidFill>
              </a:rPr>
              <a:t>et destruction des processus</a:t>
            </a:r>
            <a:endParaRPr sz="1600" dirty="0"/>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Tree>
    <p:extLst>
      <p:ext uri="{BB962C8B-B14F-4D97-AF65-F5344CB8AC3E}">
        <p14:creationId xmlns:p14="http://schemas.microsoft.com/office/powerpoint/2010/main" val="34900264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37</a:t>
            </a:fld>
            <a:endParaRPr spc="-25" dirty="0"/>
          </a:p>
        </p:txBody>
      </p:sp>
      <p:sp>
        <p:nvSpPr>
          <p:cNvPr id="14" name="object 14"/>
          <p:cNvSpPr txBox="1"/>
          <p:nvPr/>
        </p:nvSpPr>
        <p:spPr>
          <a:xfrm>
            <a:off x="753671" y="1997741"/>
            <a:ext cx="10678560" cy="4929555"/>
          </a:xfrm>
          <a:prstGeom prst="rect">
            <a:avLst/>
          </a:prstGeom>
        </p:spPr>
        <p:txBody>
          <a:bodyPr vert="horz" wrap="square" lIns="0" tIns="12700" rIns="0" bIns="0" rtlCol="0">
            <a:spAutoFit/>
          </a:bodyPr>
          <a:lstStyle/>
          <a:p>
            <a:pPr marL="12700" marR="5080" algn="just" rtl="0">
              <a:lnSpc>
                <a:spcPct val="150100"/>
              </a:lnSpc>
              <a:spcBef>
                <a:spcPts val="100"/>
              </a:spcBef>
            </a:pPr>
            <a:r>
              <a:rPr lang="fr-FR" sz="1600" dirty="0" smtClean="0">
                <a:solidFill>
                  <a:srgbClr val="585858"/>
                </a:solidFill>
                <a:latin typeface="+mn-lt"/>
                <a:cs typeface="Calibri"/>
              </a:rPr>
              <a:t>Un processus parent peut créer un nouveau processus fils en utilisant un mécanisme de création de processus fourni par le système d'exploitation. </a:t>
            </a:r>
          </a:p>
          <a:p>
            <a:pPr marL="298450" marR="5080" indent="-285750" algn="just" rtl="0">
              <a:lnSpc>
                <a:spcPct val="150100"/>
              </a:lnSpc>
              <a:spcBef>
                <a:spcPts val="100"/>
              </a:spcBef>
              <a:buFont typeface="Wingdings" panose="05000000000000000000" pitchFamily="2" charset="2"/>
              <a:buChar char="§"/>
            </a:pPr>
            <a:r>
              <a:rPr lang="fr-FR" sz="1600" b="1" dirty="0">
                <a:solidFill>
                  <a:srgbClr val="585858"/>
                </a:solidFill>
                <a:latin typeface="+mn-lt"/>
                <a:cs typeface="Calibri"/>
              </a:rPr>
              <a:t>Appel système : </a:t>
            </a:r>
            <a:r>
              <a:rPr lang="fr-FR" sz="1600" dirty="0">
                <a:solidFill>
                  <a:srgbClr val="585858"/>
                </a:solidFill>
                <a:latin typeface="+mn-lt"/>
                <a:cs typeface="Calibri"/>
              </a:rPr>
              <a:t>sur les systèmes UNIX et Linux, l'appel système </a:t>
            </a:r>
            <a:r>
              <a:rPr lang="fr-FR" sz="1600" b="1" dirty="0">
                <a:solidFill>
                  <a:srgbClr val="FF0000"/>
                </a:solidFill>
                <a:latin typeface="+mn-lt"/>
                <a:cs typeface="Calibri"/>
              </a:rPr>
              <a:t>fork(). </a:t>
            </a:r>
            <a:r>
              <a:rPr lang="fr-FR" sz="1600" dirty="0">
                <a:solidFill>
                  <a:srgbClr val="585858"/>
                </a:solidFill>
                <a:latin typeface="+mn-lt"/>
                <a:cs typeface="Calibri"/>
              </a:rPr>
              <a:t>Sur les systèmes Windows, la fonction </a:t>
            </a:r>
            <a:r>
              <a:rPr lang="fr-FR" sz="1600" b="1" dirty="0" err="1">
                <a:solidFill>
                  <a:srgbClr val="FF0000"/>
                </a:solidFill>
                <a:latin typeface="+mn-lt"/>
                <a:cs typeface="Calibri"/>
              </a:rPr>
              <a:t>CreateProcess</a:t>
            </a:r>
            <a:r>
              <a:rPr lang="fr-FR" sz="1600" b="1" dirty="0">
                <a:solidFill>
                  <a:srgbClr val="FF0000"/>
                </a:solidFill>
                <a:latin typeface="+mn-lt"/>
                <a:cs typeface="Calibri"/>
              </a:rPr>
              <a:t>() </a:t>
            </a:r>
            <a:r>
              <a:rPr lang="fr-FR" sz="1600" dirty="0">
                <a:solidFill>
                  <a:srgbClr val="585858"/>
                </a:solidFill>
                <a:latin typeface="+mn-lt"/>
                <a:cs typeface="Calibri"/>
              </a:rPr>
              <a:t>est utilisée à cette </a:t>
            </a:r>
            <a:r>
              <a:rPr lang="fr-FR" sz="1600" dirty="0" smtClean="0">
                <a:solidFill>
                  <a:srgbClr val="585858"/>
                </a:solidFill>
                <a:latin typeface="+mn-lt"/>
                <a:cs typeface="Calibri"/>
              </a:rPr>
              <a:t>fin.</a:t>
            </a:r>
          </a:p>
          <a:p>
            <a:pPr marL="298450" marR="5080" indent="-285750" algn="just" rtl="0">
              <a:lnSpc>
                <a:spcPct val="150100"/>
              </a:lnSpc>
              <a:spcBef>
                <a:spcPts val="100"/>
              </a:spcBef>
              <a:buFont typeface="Wingdings" panose="05000000000000000000" pitchFamily="2" charset="2"/>
              <a:buChar char="§"/>
            </a:pPr>
            <a:r>
              <a:rPr lang="fr-FR" sz="1600" b="1" dirty="0" smtClean="0">
                <a:solidFill>
                  <a:srgbClr val="585858"/>
                </a:solidFill>
                <a:latin typeface="+mn-lt"/>
                <a:cs typeface="Calibri"/>
              </a:rPr>
              <a:t>Duplication </a:t>
            </a:r>
            <a:r>
              <a:rPr lang="fr-FR" sz="1600" b="1" dirty="0">
                <a:solidFill>
                  <a:srgbClr val="585858"/>
                </a:solidFill>
                <a:latin typeface="+mn-lt"/>
                <a:cs typeface="Calibri"/>
              </a:rPr>
              <a:t>du contexte : </a:t>
            </a:r>
            <a:r>
              <a:rPr lang="fr-FR" sz="1600" dirty="0">
                <a:solidFill>
                  <a:srgbClr val="585858"/>
                </a:solidFill>
                <a:latin typeface="+mn-lt"/>
                <a:cs typeface="Calibri"/>
              </a:rPr>
              <a:t>le système d'exploitation duplique le contexte du processus parent dans le nouveau processus </a:t>
            </a:r>
            <a:r>
              <a:rPr lang="fr-FR" sz="1600" dirty="0" smtClean="0">
                <a:solidFill>
                  <a:srgbClr val="585858"/>
                </a:solidFill>
                <a:latin typeface="+mn-lt"/>
                <a:cs typeface="Calibri"/>
              </a:rPr>
              <a:t>fils.</a:t>
            </a:r>
          </a:p>
          <a:p>
            <a:pPr marL="298450" marR="5080" indent="-285750" algn="just" rtl="0">
              <a:lnSpc>
                <a:spcPct val="150100"/>
              </a:lnSpc>
              <a:spcBef>
                <a:spcPts val="100"/>
              </a:spcBef>
              <a:buFont typeface="Wingdings" panose="05000000000000000000" pitchFamily="2" charset="2"/>
              <a:buChar char="§"/>
            </a:pPr>
            <a:r>
              <a:rPr lang="fr-FR" sz="1600" b="1" dirty="0" smtClean="0">
                <a:solidFill>
                  <a:srgbClr val="585858"/>
                </a:solidFill>
                <a:latin typeface="+mn-lt"/>
                <a:cs typeface="Calibri"/>
              </a:rPr>
              <a:t>Modification </a:t>
            </a:r>
            <a:r>
              <a:rPr lang="fr-FR" sz="1600" b="1" dirty="0">
                <a:solidFill>
                  <a:srgbClr val="585858"/>
                </a:solidFill>
                <a:latin typeface="+mn-lt"/>
                <a:cs typeface="Calibri"/>
              </a:rPr>
              <a:t>du contexte du fils : </a:t>
            </a:r>
            <a:r>
              <a:rPr lang="fr-FR" sz="1600" dirty="0" smtClean="0">
                <a:solidFill>
                  <a:srgbClr val="585858"/>
                </a:solidFill>
                <a:latin typeface="+mn-lt"/>
                <a:cs typeface="Calibri"/>
              </a:rPr>
              <a:t>le processus </a:t>
            </a:r>
            <a:r>
              <a:rPr lang="fr-FR" sz="1600" dirty="0">
                <a:solidFill>
                  <a:srgbClr val="585858"/>
                </a:solidFill>
                <a:latin typeface="+mn-lt"/>
                <a:cs typeface="Calibri"/>
              </a:rPr>
              <a:t>fils peut modifier ses propres ressources et exécuter son propre code indépendamment du processus </a:t>
            </a:r>
            <a:r>
              <a:rPr lang="fr-FR" sz="1600" dirty="0" smtClean="0">
                <a:solidFill>
                  <a:srgbClr val="585858"/>
                </a:solidFill>
                <a:latin typeface="+mn-lt"/>
                <a:cs typeface="Calibri"/>
              </a:rPr>
              <a:t>parent.</a:t>
            </a:r>
          </a:p>
          <a:p>
            <a:pPr marL="298450" marR="5080" indent="-285750" algn="just" rtl="0">
              <a:lnSpc>
                <a:spcPct val="150100"/>
              </a:lnSpc>
              <a:spcBef>
                <a:spcPts val="100"/>
              </a:spcBef>
              <a:buFont typeface="Wingdings" panose="05000000000000000000" pitchFamily="2" charset="2"/>
              <a:buChar char="§"/>
            </a:pPr>
            <a:r>
              <a:rPr lang="fr-FR" sz="1600" b="1" dirty="0" smtClean="0">
                <a:solidFill>
                  <a:srgbClr val="585858"/>
                </a:solidFill>
                <a:latin typeface="+mn-lt"/>
                <a:cs typeface="Calibri"/>
              </a:rPr>
              <a:t>Exécution </a:t>
            </a:r>
            <a:r>
              <a:rPr lang="fr-FR" sz="1600" b="1" dirty="0">
                <a:solidFill>
                  <a:srgbClr val="585858"/>
                </a:solidFill>
                <a:latin typeface="+mn-lt"/>
                <a:cs typeface="Calibri"/>
              </a:rPr>
              <a:t>du fils : </a:t>
            </a:r>
            <a:r>
              <a:rPr lang="fr-FR" sz="1600" dirty="0">
                <a:solidFill>
                  <a:srgbClr val="585858"/>
                </a:solidFill>
                <a:latin typeface="+mn-lt"/>
                <a:cs typeface="Calibri"/>
              </a:rPr>
              <a:t>Une fois que le processus fils a été créé et que son contexte a été configuré, il est prêt à être </a:t>
            </a:r>
            <a:r>
              <a:rPr lang="fr-FR" sz="1600" dirty="0" smtClean="0">
                <a:solidFill>
                  <a:srgbClr val="585858"/>
                </a:solidFill>
                <a:latin typeface="+mn-lt"/>
                <a:cs typeface="Calibri"/>
              </a:rPr>
              <a:t>exécuté</a:t>
            </a:r>
          </a:p>
          <a:p>
            <a:pPr marL="298450" marR="5080" indent="-285750" algn="just" rtl="0">
              <a:lnSpc>
                <a:spcPct val="150100"/>
              </a:lnSpc>
              <a:spcBef>
                <a:spcPts val="100"/>
              </a:spcBef>
              <a:buFont typeface="Wingdings" panose="05000000000000000000" pitchFamily="2" charset="2"/>
              <a:buChar char="§"/>
            </a:pPr>
            <a:r>
              <a:rPr lang="fr-FR" sz="1600" b="1" dirty="0" smtClean="0">
                <a:solidFill>
                  <a:srgbClr val="585858"/>
                </a:solidFill>
                <a:latin typeface="+mn-lt"/>
                <a:cs typeface="Calibri"/>
              </a:rPr>
              <a:t>Communication </a:t>
            </a:r>
            <a:r>
              <a:rPr lang="fr-FR" sz="1600" b="1" dirty="0">
                <a:solidFill>
                  <a:srgbClr val="585858"/>
                </a:solidFill>
                <a:latin typeface="+mn-lt"/>
                <a:cs typeface="Calibri"/>
              </a:rPr>
              <a:t>entre le parent et le fils : </a:t>
            </a:r>
            <a:r>
              <a:rPr lang="fr-FR" sz="1600" dirty="0">
                <a:solidFill>
                  <a:srgbClr val="585858"/>
                </a:solidFill>
                <a:latin typeface="+mn-lt"/>
                <a:cs typeface="Calibri"/>
              </a:rPr>
              <a:t>Après la création du processus fils, le processus parent et le processus fils peuvent interagir et communiquer entre eux à l'aide de mécanismes de </a:t>
            </a:r>
            <a:r>
              <a:rPr lang="fr-FR" sz="1600" dirty="0" smtClean="0">
                <a:solidFill>
                  <a:srgbClr val="585858"/>
                </a:solidFill>
                <a:latin typeface="+mn-lt"/>
                <a:cs typeface="Calibri"/>
              </a:rPr>
              <a:t>communication,</a:t>
            </a:r>
            <a:endParaRPr lang="fr-FR" sz="1600" dirty="0">
              <a:solidFill>
                <a:srgbClr val="585858"/>
              </a:solidFill>
              <a:latin typeface="+mn-lt"/>
              <a:cs typeface="Calibri"/>
            </a:endParaRPr>
          </a:p>
          <a:p>
            <a:pPr marL="12700" marR="5080" algn="just" rtl="0">
              <a:lnSpc>
                <a:spcPct val="150100"/>
              </a:lnSpc>
              <a:spcBef>
                <a:spcPts val="100"/>
              </a:spcBef>
            </a:pPr>
            <a:endParaRPr lang="fr-FR" sz="1200" kern="1200" dirty="0" smtClean="0">
              <a:solidFill>
                <a:schemeClr val="tx1"/>
              </a:solidFill>
            </a:endParaRPr>
          </a:p>
          <a:p>
            <a:pPr marL="12700" marR="5080" algn="just" rtl="0">
              <a:lnSpc>
                <a:spcPct val="150100"/>
              </a:lnSpc>
              <a:spcBef>
                <a:spcPts val="100"/>
              </a:spcBef>
            </a:pPr>
            <a:endParaRPr lang="fr-FR" sz="1200" kern="1200" dirty="0" smtClean="0">
              <a:solidFill>
                <a:schemeClr val="tx1"/>
              </a:solidFill>
            </a:endParaRPr>
          </a:p>
          <a:p>
            <a:pPr marL="12700" marR="5080" algn="just" rtl="0">
              <a:lnSpc>
                <a:spcPct val="150100"/>
              </a:lnSpc>
              <a:spcBef>
                <a:spcPts val="100"/>
              </a:spcBef>
            </a:pPr>
            <a:endParaRPr lang="fr-FR" sz="1200" dirty="0" smtClean="0">
              <a:solidFill>
                <a:schemeClr val="tx1"/>
              </a:solidFill>
              <a:latin typeface="Calibri"/>
              <a:cs typeface="Calibri"/>
            </a:endParaRPr>
          </a:p>
          <a:p>
            <a:pPr marL="12700" marR="5080" algn="just">
              <a:lnSpc>
                <a:spcPct val="150100"/>
              </a:lnSpc>
              <a:spcBef>
                <a:spcPts val="100"/>
              </a:spcBef>
            </a:pPr>
            <a:endParaRPr lang="fr-FR" sz="1200" dirty="0" smtClean="0">
              <a:solidFill>
                <a:srgbClr val="585858"/>
              </a:solidFill>
              <a:latin typeface="Calibri"/>
              <a:cs typeface="Calibri"/>
            </a:endParaRPr>
          </a:p>
        </p:txBody>
      </p:sp>
      <p:sp>
        <p:nvSpPr>
          <p:cNvPr id="15" name="object 15"/>
          <p:cNvSpPr txBox="1">
            <a:spLocks noGrp="1"/>
          </p:cNvSpPr>
          <p:nvPr>
            <p:ph type="title"/>
          </p:nvPr>
        </p:nvSpPr>
        <p:spPr>
          <a:xfrm>
            <a:off x="263753" y="332308"/>
            <a:ext cx="11664492" cy="702808"/>
          </a:xfrm>
          <a:prstGeom prst="rect">
            <a:avLst/>
          </a:prstGeom>
        </p:spPr>
        <p:txBody>
          <a:bodyPr vert="horz" wrap="square" lIns="0" tIns="147371" rIns="0" bIns="0" rtlCol="0">
            <a:spAutoFit/>
          </a:bodyPr>
          <a:lstStyle/>
          <a:p>
            <a:pPr marL="12700">
              <a:lnSpc>
                <a:spcPct val="100000"/>
              </a:lnSpc>
              <a:spcBef>
                <a:spcPts val="90"/>
              </a:spcBef>
            </a:pPr>
            <a:r>
              <a:rPr lang="fr-FR" dirty="0">
                <a:solidFill>
                  <a:srgbClr val="007842"/>
                </a:solidFill>
              </a:rPr>
              <a:t>04</a:t>
            </a:r>
            <a:r>
              <a:rPr lang="fr-FR" spc="-35" dirty="0">
                <a:solidFill>
                  <a:srgbClr val="007842"/>
                </a:solidFill>
              </a:rPr>
              <a:t> </a:t>
            </a:r>
            <a:r>
              <a:rPr lang="fr-FR" dirty="0">
                <a:solidFill>
                  <a:srgbClr val="007842"/>
                </a:solidFill>
              </a:rPr>
              <a:t>–</a:t>
            </a:r>
            <a:r>
              <a:rPr lang="fr-FR" spc="-20" dirty="0">
                <a:solidFill>
                  <a:srgbClr val="007842"/>
                </a:solidFill>
              </a:rPr>
              <a:t> </a:t>
            </a:r>
            <a:r>
              <a:rPr lang="fr-FR" dirty="0">
                <a:solidFill>
                  <a:srgbClr val="007842"/>
                </a:solidFill>
              </a:rPr>
              <a:t>Gestion des processus </a:t>
            </a:r>
            <a:br>
              <a:rPr lang="fr-FR" dirty="0">
                <a:solidFill>
                  <a:srgbClr val="007842"/>
                </a:solidFill>
              </a:rPr>
            </a:br>
            <a:r>
              <a:rPr lang="fr-FR" sz="1600" spc="-10" dirty="0" smtClean="0">
                <a:solidFill>
                  <a:srgbClr val="007842"/>
                </a:solidFill>
              </a:rPr>
              <a:t>Création </a:t>
            </a:r>
            <a:r>
              <a:rPr lang="fr-FR" sz="1600" spc="-10" dirty="0">
                <a:solidFill>
                  <a:srgbClr val="007842"/>
                </a:solidFill>
              </a:rPr>
              <a:t>et destruction des processus</a:t>
            </a:r>
            <a:endParaRPr sz="1600" dirty="0"/>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Tree>
    <p:extLst>
      <p:ext uri="{BB962C8B-B14F-4D97-AF65-F5344CB8AC3E}">
        <p14:creationId xmlns:p14="http://schemas.microsoft.com/office/powerpoint/2010/main" val="37701831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38</a:t>
            </a:fld>
            <a:endParaRPr spc="-25" dirty="0"/>
          </a:p>
        </p:txBody>
      </p:sp>
      <p:sp>
        <p:nvSpPr>
          <p:cNvPr id="14" name="object 14"/>
          <p:cNvSpPr txBox="1"/>
          <p:nvPr/>
        </p:nvSpPr>
        <p:spPr>
          <a:xfrm>
            <a:off x="753671" y="1600200"/>
            <a:ext cx="10678560" cy="1726114"/>
          </a:xfrm>
          <a:prstGeom prst="rect">
            <a:avLst/>
          </a:prstGeom>
        </p:spPr>
        <p:txBody>
          <a:bodyPr vert="horz" wrap="square" lIns="0" tIns="12700" rIns="0" bIns="0" rtlCol="0">
            <a:spAutoFit/>
          </a:bodyPr>
          <a:lstStyle/>
          <a:p>
            <a:pPr marL="12700" marR="5080" algn="just" rtl="0">
              <a:lnSpc>
                <a:spcPct val="150100"/>
              </a:lnSpc>
              <a:spcBef>
                <a:spcPts val="100"/>
              </a:spcBef>
            </a:pPr>
            <a:r>
              <a:rPr lang="fr-FR" b="1" kern="1200" dirty="0" smtClean="0">
                <a:solidFill>
                  <a:srgbClr val="FFC000"/>
                </a:solidFill>
                <a:latin typeface="+mn-lt"/>
              </a:rPr>
              <a:t>Exemple de code utilisant Fork()</a:t>
            </a:r>
          </a:p>
          <a:p>
            <a:pPr marL="12700" marR="5080" algn="just" rtl="0">
              <a:lnSpc>
                <a:spcPct val="150100"/>
              </a:lnSpc>
              <a:spcBef>
                <a:spcPts val="100"/>
              </a:spcBef>
            </a:pPr>
            <a:endParaRPr lang="fr-FR" b="1" kern="1200" dirty="0" smtClean="0">
              <a:solidFill>
                <a:srgbClr val="FFC000"/>
              </a:solidFill>
              <a:latin typeface="+mn-lt"/>
            </a:endParaRPr>
          </a:p>
          <a:p>
            <a:pPr marL="12700" marR="5080" algn="just" rtl="0">
              <a:lnSpc>
                <a:spcPct val="150100"/>
              </a:lnSpc>
              <a:spcBef>
                <a:spcPts val="100"/>
              </a:spcBef>
            </a:pPr>
            <a:endParaRPr lang="fr-FR" sz="1200" kern="1200" dirty="0" smtClean="0">
              <a:solidFill>
                <a:schemeClr val="tx1"/>
              </a:solidFill>
            </a:endParaRPr>
          </a:p>
          <a:p>
            <a:pPr marL="12700" marR="5080" algn="just" rtl="0">
              <a:lnSpc>
                <a:spcPct val="150100"/>
              </a:lnSpc>
              <a:spcBef>
                <a:spcPts val="100"/>
              </a:spcBef>
            </a:pPr>
            <a:endParaRPr lang="fr-FR" sz="1200" dirty="0" smtClean="0">
              <a:solidFill>
                <a:schemeClr val="tx1"/>
              </a:solidFill>
              <a:latin typeface="Calibri"/>
              <a:cs typeface="Calibri"/>
            </a:endParaRPr>
          </a:p>
          <a:p>
            <a:pPr marL="12700" marR="5080" algn="just">
              <a:lnSpc>
                <a:spcPct val="150100"/>
              </a:lnSpc>
              <a:spcBef>
                <a:spcPts val="100"/>
              </a:spcBef>
            </a:pPr>
            <a:endParaRPr lang="fr-FR" sz="1200" dirty="0" smtClean="0">
              <a:solidFill>
                <a:srgbClr val="585858"/>
              </a:solidFill>
              <a:latin typeface="Calibri"/>
              <a:cs typeface="Calibri"/>
            </a:endParaRPr>
          </a:p>
        </p:txBody>
      </p:sp>
      <p:sp>
        <p:nvSpPr>
          <p:cNvPr id="15" name="object 15"/>
          <p:cNvSpPr txBox="1">
            <a:spLocks noGrp="1"/>
          </p:cNvSpPr>
          <p:nvPr>
            <p:ph type="title"/>
          </p:nvPr>
        </p:nvSpPr>
        <p:spPr>
          <a:xfrm>
            <a:off x="263753" y="332308"/>
            <a:ext cx="11664492" cy="702808"/>
          </a:xfrm>
          <a:prstGeom prst="rect">
            <a:avLst/>
          </a:prstGeom>
        </p:spPr>
        <p:txBody>
          <a:bodyPr vert="horz" wrap="square" lIns="0" tIns="147371" rIns="0" bIns="0" rtlCol="0">
            <a:spAutoFit/>
          </a:bodyPr>
          <a:lstStyle/>
          <a:p>
            <a:pPr marL="12700">
              <a:lnSpc>
                <a:spcPct val="100000"/>
              </a:lnSpc>
              <a:spcBef>
                <a:spcPts val="90"/>
              </a:spcBef>
            </a:pPr>
            <a:r>
              <a:rPr lang="fr-FR" dirty="0">
                <a:solidFill>
                  <a:srgbClr val="007842"/>
                </a:solidFill>
              </a:rPr>
              <a:t>04</a:t>
            </a:r>
            <a:r>
              <a:rPr lang="fr-FR" spc="-35" dirty="0">
                <a:solidFill>
                  <a:srgbClr val="007842"/>
                </a:solidFill>
              </a:rPr>
              <a:t> </a:t>
            </a:r>
            <a:r>
              <a:rPr lang="fr-FR" dirty="0">
                <a:solidFill>
                  <a:srgbClr val="007842"/>
                </a:solidFill>
              </a:rPr>
              <a:t>–</a:t>
            </a:r>
            <a:r>
              <a:rPr lang="fr-FR" spc="-20" dirty="0">
                <a:solidFill>
                  <a:srgbClr val="007842"/>
                </a:solidFill>
              </a:rPr>
              <a:t> </a:t>
            </a:r>
            <a:r>
              <a:rPr lang="fr-FR" dirty="0">
                <a:solidFill>
                  <a:srgbClr val="007842"/>
                </a:solidFill>
              </a:rPr>
              <a:t>Gestion des processus </a:t>
            </a:r>
            <a:br>
              <a:rPr lang="fr-FR" dirty="0">
                <a:solidFill>
                  <a:srgbClr val="007842"/>
                </a:solidFill>
              </a:rPr>
            </a:br>
            <a:r>
              <a:rPr lang="fr-FR" sz="1600" spc="-10" dirty="0" smtClean="0">
                <a:solidFill>
                  <a:srgbClr val="007842"/>
                </a:solidFill>
              </a:rPr>
              <a:t>Création </a:t>
            </a:r>
            <a:r>
              <a:rPr lang="fr-FR" sz="1600" spc="-10" dirty="0">
                <a:solidFill>
                  <a:srgbClr val="007842"/>
                </a:solidFill>
              </a:rPr>
              <a:t>et destruction des processus</a:t>
            </a:r>
            <a:endParaRPr sz="1600" dirty="0"/>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pic>
        <p:nvPicPr>
          <p:cNvPr id="11" name="Image 10"/>
          <p:cNvPicPr/>
          <p:nvPr/>
        </p:nvPicPr>
        <p:blipFill>
          <a:blip r:embed="rId4"/>
          <a:stretch>
            <a:fillRect/>
          </a:stretch>
        </p:blipFill>
        <p:spPr>
          <a:xfrm>
            <a:off x="1752600" y="2333483"/>
            <a:ext cx="6858000" cy="2086117"/>
          </a:xfrm>
          <a:prstGeom prst="rect">
            <a:avLst/>
          </a:prstGeom>
        </p:spPr>
      </p:pic>
      <p:sp>
        <p:nvSpPr>
          <p:cNvPr id="12" name="object 14"/>
          <p:cNvSpPr txBox="1"/>
          <p:nvPr/>
        </p:nvSpPr>
        <p:spPr>
          <a:xfrm>
            <a:off x="753671" y="4576330"/>
            <a:ext cx="10678560" cy="2154436"/>
          </a:xfrm>
          <a:prstGeom prst="rect">
            <a:avLst/>
          </a:prstGeom>
        </p:spPr>
        <p:txBody>
          <a:bodyPr vert="horz" wrap="square" lIns="0" tIns="12700" rIns="0" bIns="0" rtlCol="0">
            <a:spAutoFit/>
          </a:bodyPr>
          <a:lstStyle/>
          <a:p>
            <a:pPr marL="12700" marR="5080" algn="just" rtl="0">
              <a:lnSpc>
                <a:spcPct val="150100"/>
              </a:lnSpc>
              <a:spcBef>
                <a:spcPts val="100"/>
              </a:spcBef>
            </a:pPr>
            <a:r>
              <a:rPr lang="fr-FR" b="1" kern="1200" dirty="0" smtClean="0">
                <a:solidFill>
                  <a:srgbClr val="FF0000"/>
                </a:solidFill>
                <a:latin typeface="+mn-lt"/>
              </a:rPr>
              <a:t>Résultat</a:t>
            </a:r>
          </a:p>
          <a:p>
            <a:pPr marL="12700" marR="5080" algn="just" rtl="0">
              <a:lnSpc>
                <a:spcPct val="150100"/>
              </a:lnSpc>
              <a:spcBef>
                <a:spcPts val="100"/>
              </a:spcBef>
            </a:pPr>
            <a:endParaRPr lang="fr-FR" b="1" kern="1200" dirty="0" smtClean="0">
              <a:solidFill>
                <a:srgbClr val="FF0000"/>
              </a:solidFill>
              <a:latin typeface="+mn-lt"/>
            </a:endParaRPr>
          </a:p>
          <a:p>
            <a:pPr marL="12700" marR="5080" algn="just" rtl="0">
              <a:lnSpc>
                <a:spcPct val="150100"/>
              </a:lnSpc>
              <a:spcBef>
                <a:spcPts val="100"/>
              </a:spcBef>
            </a:pPr>
            <a:endParaRPr lang="fr-FR" b="1" kern="1200" dirty="0" smtClean="0">
              <a:solidFill>
                <a:srgbClr val="FFC000"/>
              </a:solidFill>
              <a:latin typeface="+mn-lt"/>
            </a:endParaRPr>
          </a:p>
          <a:p>
            <a:pPr marL="12700" marR="5080" algn="just" rtl="0">
              <a:lnSpc>
                <a:spcPct val="150100"/>
              </a:lnSpc>
              <a:spcBef>
                <a:spcPts val="100"/>
              </a:spcBef>
            </a:pPr>
            <a:endParaRPr lang="fr-FR" sz="1200" kern="1200" dirty="0" smtClean="0">
              <a:solidFill>
                <a:schemeClr val="tx1"/>
              </a:solidFill>
            </a:endParaRPr>
          </a:p>
          <a:p>
            <a:pPr marL="12700" marR="5080" algn="just" rtl="0">
              <a:lnSpc>
                <a:spcPct val="150100"/>
              </a:lnSpc>
              <a:spcBef>
                <a:spcPts val="100"/>
              </a:spcBef>
            </a:pPr>
            <a:endParaRPr lang="fr-FR" sz="1200" dirty="0" smtClean="0">
              <a:solidFill>
                <a:schemeClr val="tx1"/>
              </a:solidFill>
              <a:latin typeface="Calibri"/>
              <a:cs typeface="Calibri"/>
            </a:endParaRPr>
          </a:p>
          <a:p>
            <a:pPr marL="12700" marR="5080" algn="just">
              <a:lnSpc>
                <a:spcPct val="150100"/>
              </a:lnSpc>
              <a:spcBef>
                <a:spcPts val="100"/>
              </a:spcBef>
            </a:pPr>
            <a:endParaRPr lang="fr-FR" sz="1200" dirty="0" smtClean="0">
              <a:solidFill>
                <a:srgbClr val="585858"/>
              </a:solidFill>
              <a:latin typeface="Calibri"/>
              <a:cs typeface="Calibri"/>
            </a:endParaRPr>
          </a:p>
        </p:txBody>
      </p:sp>
      <p:pic>
        <p:nvPicPr>
          <p:cNvPr id="13" name="Image 12"/>
          <p:cNvPicPr/>
          <p:nvPr/>
        </p:nvPicPr>
        <p:blipFill>
          <a:blip r:embed="rId5"/>
          <a:stretch>
            <a:fillRect/>
          </a:stretch>
        </p:blipFill>
        <p:spPr>
          <a:xfrm>
            <a:off x="2895600" y="5152883"/>
            <a:ext cx="4648200" cy="1254249"/>
          </a:xfrm>
          <a:prstGeom prst="rect">
            <a:avLst/>
          </a:prstGeom>
        </p:spPr>
      </p:pic>
    </p:spTree>
    <p:extLst>
      <p:ext uri="{BB962C8B-B14F-4D97-AF65-F5344CB8AC3E}">
        <p14:creationId xmlns:p14="http://schemas.microsoft.com/office/powerpoint/2010/main" val="18632973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39</a:t>
            </a:fld>
            <a:endParaRPr spc="-25" dirty="0"/>
          </a:p>
        </p:txBody>
      </p:sp>
      <p:sp>
        <p:nvSpPr>
          <p:cNvPr id="14" name="object 14"/>
          <p:cNvSpPr txBox="1"/>
          <p:nvPr/>
        </p:nvSpPr>
        <p:spPr>
          <a:xfrm>
            <a:off x="753671" y="1395302"/>
            <a:ext cx="10678560" cy="1726114"/>
          </a:xfrm>
          <a:prstGeom prst="rect">
            <a:avLst/>
          </a:prstGeom>
        </p:spPr>
        <p:txBody>
          <a:bodyPr vert="horz" wrap="square" lIns="0" tIns="12700" rIns="0" bIns="0" rtlCol="0">
            <a:spAutoFit/>
          </a:bodyPr>
          <a:lstStyle/>
          <a:p>
            <a:pPr marL="12700" marR="5080" algn="just" rtl="0">
              <a:lnSpc>
                <a:spcPct val="150100"/>
              </a:lnSpc>
              <a:spcBef>
                <a:spcPts val="100"/>
              </a:spcBef>
            </a:pPr>
            <a:r>
              <a:rPr lang="fr-FR" b="1" kern="1200" dirty="0" smtClean="0">
                <a:solidFill>
                  <a:srgbClr val="FFC000"/>
                </a:solidFill>
                <a:latin typeface="+mn-lt"/>
              </a:rPr>
              <a:t>Exemple de code utilisant Fork()</a:t>
            </a:r>
          </a:p>
          <a:p>
            <a:pPr marL="12700" marR="5080" algn="just" rtl="0">
              <a:lnSpc>
                <a:spcPct val="150100"/>
              </a:lnSpc>
              <a:spcBef>
                <a:spcPts val="100"/>
              </a:spcBef>
            </a:pPr>
            <a:endParaRPr lang="fr-FR" b="1" kern="1200" dirty="0" smtClean="0">
              <a:solidFill>
                <a:srgbClr val="FFC000"/>
              </a:solidFill>
              <a:latin typeface="+mn-lt"/>
            </a:endParaRPr>
          </a:p>
          <a:p>
            <a:pPr marL="12700" marR="5080" algn="just" rtl="0">
              <a:lnSpc>
                <a:spcPct val="150100"/>
              </a:lnSpc>
              <a:spcBef>
                <a:spcPts val="100"/>
              </a:spcBef>
            </a:pPr>
            <a:endParaRPr lang="fr-FR" sz="1200" kern="1200" dirty="0" smtClean="0">
              <a:solidFill>
                <a:schemeClr val="tx1"/>
              </a:solidFill>
            </a:endParaRPr>
          </a:p>
          <a:p>
            <a:pPr marL="12700" marR="5080" algn="just" rtl="0">
              <a:lnSpc>
                <a:spcPct val="150100"/>
              </a:lnSpc>
              <a:spcBef>
                <a:spcPts val="100"/>
              </a:spcBef>
            </a:pPr>
            <a:endParaRPr lang="fr-FR" sz="1200" dirty="0" smtClean="0">
              <a:solidFill>
                <a:schemeClr val="tx1"/>
              </a:solidFill>
              <a:latin typeface="Calibri"/>
              <a:cs typeface="Calibri"/>
            </a:endParaRPr>
          </a:p>
          <a:p>
            <a:pPr marL="12700" marR="5080" algn="just">
              <a:lnSpc>
                <a:spcPct val="150100"/>
              </a:lnSpc>
              <a:spcBef>
                <a:spcPts val="100"/>
              </a:spcBef>
            </a:pPr>
            <a:endParaRPr lang="fr-FR" sz="1200" dirty="0" smtClean="0">
              <a:solidFill>
                <a:srgbClr val="585858"/>
              </a:solidFill>
              <a:latin typeface="Calibri"/>
              <a:cs typeface="Calibri"/>
            </a:endParaRPr>
          </a:p>
        </p:txBody>
      </p:sp>
      <p:sp>
        <p:nvSpPr>
          <p:cNvPr id="15" name="object 15"/>
          <p:cNvSpPr txBox="1">
            <a:spLocks noGrp="1"/>
          </p:cNvSpPr>
          <p:nvPr>
            <p:ph type="title"/>
          </p:nvPr>
        </p:nvSpPr>
        <p:spPr>
          <a:xfrm>
            <a:off x="263753" y="332308"/>
            <a:ext cx="11664492" cy="702808"/>
          </a:xfrm>
          <a:prstGeom prst="rect">
            <a:avLst/>
          </a:prstGeom>
        </p:spPr>
        <p:txBody>
          <a:bodyPr vert="horz" wrap="square" lIns="0" tIns="147371" rIns="0" bIns="0" rtlCol="0">
            <a:spAutoFit/>
          </a:bodyPr>
          <a:lstStyle/>
          <a:p>
            <a:pPr marL="12700">
              <a:lnSpc>
                <a:spcPct val="100000"/>
              </a:lnSpc>
              <a:spcBef>
                <a:spcPts val="90"/>
              </a:spcBef>
            </a:pPr>
            <a:r>
              <a:rPr lang="fr-FR" dirty="0">
                <a:solidFill>
                  <a:srgbClr val="007842"/>
                </a:solidFill>
              </a:rPr>
              <a:t>04</a:t>
            </a:r>
            <a:r>
              <a:rPr lang="fr-FR" spc="-35" dirty="0">
                <a:solidFill>
                  <a:srgbClr val="007842"/>
                </a:solidFill>
              </a:rPr>
              <a:t> </a:t>
            </a:r>
            <a:r>
              <a:rPr lang="fr-FR" dirty="0">
                <a:solidFill>
                  <a:srgbClr val="007842"/>
                </a:solidFill>
              </a:rPr>
              <a:t>–</a:t>
            </a:r>
            <a:r>
              <a:rPr lang="fr-FR" spc="-20" dirty="0">
                <a:solidFill>
                  <a:srgbClr val="007842"/>
                </a:solidFill>
              </a:rPr>
              <a:t> </a:t>
            </a:r>
            <a:r>
              <a:rPr lang="fr-FR" dirty="0">
                <a:solidFill>
                  <a:srgbClr val="007842"/>
                </a:solidFill>
              </a:rPr>
              <a:t>Gestion des processus </a:t>
            </a:r>
            <a:br>
              <a:rPr lang="fr-FR" dirty="0">
                <a:solidFill>
                  <a:srgbClr val="007842"/>
                </a:solidFill>
              </a:rPr>
            </a:br>
            <a:r>
              <a:rPr lang="fr-FR" sz="1600" spc="-10" dirty="0" smtClean="0">
                <a:solidFill>
                  <a:srgbClr val="007842"/>
                </a:solidFill>
              </a:rPr>
              <a:t>Création </a:t>
            </a:r>
            <a:r>
              <a:rPr lang="fr-FR" sz="1600" spc="-10" dirty="0">
                <a:solidFill>
                  <a:srgbClr val="007842"/>
                </a:solidFill>
              </a:rPr>
              <a:t>et destruction des processus</a:t>
            </a:r>
            <a:endParaRPr sz="1600" dirty="0"/>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pic>
        <p:nvPicPr>
          <p:cNvPr id="16" name="Image 15"/>
          <p:cNvPicPr/>
          <p:nvPr/>
        </p:nvPicPr>
        <p:blipFill>
          <a:blip r:embed="rId4"/>
          <a:stretch>
            <a:fillRect/>
          </a:stretch>
        </p:blipFill>
        <p:spPr>
          <a:xfrm>
            <a:off x="1600200" y="1828800"/>
            <a:ext cx="9372600" cy="4790041"/>
          </a:xfrm>
          <a:prstGeom prst="rect">
            <a:avLst/>
          </a:prstGeom>
        </p:spPr>
      </p:pic>
    </p:spTree>
    <p:extLst>
      <p:ext uri="{BB962C8B-B14F-4D97-AF65-F5344CB8AC3E}">
        <p14:creationId xmlns:p14="http://schemas.microsoft.com/office/powerpoint/2010/main" val="37408596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9460" cy="6855459"/>
            <a:chOff x="0" y="17"/>
            <a:chExt cx="12189460" cy="6855459"/>
          </a:xfrm>
        </p:grpSpPr>
        <p:pic>
          <p:nvPicPr>
            <p:cNvPr id="3" name="object 3"/>
            <p:cNvPicPr/>
            <p:nvPr/>
          </p:nvPicPr>
          <p:blipFill>
            <a:blip r:embed="rId3" cstate="print"/>
            <a:stretch>
              <a:fillRect/>
            </a:stretch>
          </p:blipFill>
          <p:spPr>
            <a:xfrm>
              <a:off x="3048" y="17"/>
              <a:ext cx="12185903" cy="6855206"/>
            </a:xfrm>
            <a:prstGeom prst="rect">
              <a:avLst/>
            </a:prstGeom>
          </p:spPr>
        </p:pic>
        <p:sp>
          <p:nvSpPr>
            <p:cNvPr id="4" name="object 4"/>
            <p:cNvSpPr/>
            <p:nvPr/>
          </p:nvSpPr>
          <p:spPr>
            <a:xfrm>
              <a:off x="537972" y="1461515"/>
              <a:ext cx="11119485" cy="5148580"/>
            </a:xfrm>
            <a:custGeom>
              <a:avLst/>
              <a:gdLst/>
              <a:ahLst/>
              <a:cxnLst/>
              <a:rect l="l" t="t" r="r" b="b"/>
              <a:pathLst>
                <a:path w="11119485" h="5148580">
                  <a:moveTo>
                    <a:pt x="11119104" y="0"/>
                  </a:moveTo>
                  <a:lnTo>
                    <a:pt x="0" y="0"/>
                  </a:lnTo>
                  <a:lnTo>
                    <a:pt x="0" y="5148072"/>
                  </a:lnTo>
                  <a:lnTo>
                    <a:pt x="11119104" y="5148072"/>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1515"/>
              <a:ext cx="11119485" cy="5148580"/>
            </a:xfrm>
            <a:custGeom>
              <a:avLst/>
              <a:gdLst/>
              <a:ahLst/>
              <a:cxnLst/>
              <a:rect l="l" t="t" r="r" b="b"/>
              <a:pathLst>
                <a:path w="11119485" h="5148580">
                  <a:moveTo>
                    <a:pt x="0" y="5148072"/>
                  </a:moveTo>
                  <a:lnTo>
                    <a:pt x="11119104" y="5148072"/>
                  </a:lnTo>
                  <a:lnTo>
                    <a:pt x="11119104" y="0"/>
                  </a:lnTo>
                  <a:lnTo>
                    <a:pt x="0" y="0"/>
                  </a:lnTo>
                  <a:lnTo>
                    <a:pt x="0" y="5148072"/>
                  </a:lnTo>
                  <a:close/>
                </a:path>
              </a:pathLst>
            </a:custGeom>
            <a:ln w="9525">
              <a:solidFill>
                <a:srgbClr val="F8CCAC"/>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FF7800"/>
            </a:solidFill>
          </p:spPr>
          <p:txBody>
            <a:bodyPr wrap="square" lIns="0" tIns="0" rIns="0" bIns="0" rtlCol="0"/>
            <a:lstStyle/>
            <a:p>
              <a:endParaRPr/>
            </a:p>
          </p:txBody>
        </p:sp>
      </p:grpSp>
      <p:sp>
        <p:nvSpPr>
          <p:cNvPr id="11" name="object 11"/>
          <p:cNvSpPr txBox="1">
            <a:spLocks noGrp="1"/>
          </p:cNvSpPr>
          <p:nvPr>
            <p:ph type="title"/>
          </p:nvPr>
        </p:nvSpPr>
        <p:spPr>
          <a:xfrm>
            <a:off x="263753" y="332308"/>
            <a:ext cx="11664492" cy="699089"/>
          </a:xfrm>
          <a:prstGeom prst="rect">
            <a:avLst/>
          </a:prstGeom>
        </p:spPr>
        <p:txBody>
          <a:bodyPr vert="horz" wrap="square" lIns="0" tIns="143688" rIns="0" bIns="0" rtlCol="0">
            <a:spAutoFit/>
          </a:bodyPr>
          <a:lstStyle/>
          <a:p>
            <a:pPr marL="17780">
              <a:lnSpc>
                <a:spcPct val="100000"/>
              </a:lnSpc>
              <a:spcBef>
                <a:spcPts val="90"/>
              </a:spcBef>
            </a:pPr>
            <a:r>
              <a:rPr lang="fr-FR" dirty="0">
                <a:solidFill>
                  <a:srgbClr val="FF7800"/>
                </a:solidFill>
              </a:rPr>
              <a:t>04 – Gestion des processus </a:t>
            </a:r>
            <a:r>
              <a:rPr lang="fr-FR" dirty="0" smtClean="0">
                <a:solidFill>
                  <a:srgbClr val="FF7800"/>
                </a:solidFill>
              </a:rPr>
              <a:t/>
            </a:r>
            <a:br>
              <a:rPr lang="fr-FR" dirty="0" smtClean="0">
                <a:solidFill>
                  <a:srgbClr val="FF7800"/>
                </a:solidFill>
              </a:rPr>
            </a:br>
            <a:r>
              <a:rPr lang="fr-FR" sz="1600" dirty="0" smtClean="0">
                <a:solidFill>
                  <a:srgbClr val="FF7800"/>
                </a:solidFill>
              </a:rPr>
              <a:t>Gestion</a:t>
            </a:r>
            <a:r>
              <a:rPr lang="fr-FR" sz="1600" spc="-50" dirty="0" smtClean="0">
                <a:solidFill>
                  <a:srgbClr val="FF7800"/>
                </a:solidFill>
              </a:rPr>
              <a:t> </a:t>
            </a:r>
            <a:r>
              <a:rPr lang="fr-FR" sz="1600" dirty="0" smtClean="0">
                <a:solidFill>
                  <a:srgbClr val="FF7800"/>
                </a:solidFill>
              </a:rPr>
              <a:t>des</a:t>
            </a:r>
            <a:r>
              <a:rPr lang="fr-FR" sz="1600" spc="-40" dirty="0" smtClean="0">
                <a:solidFill>
                  <a:srgbClr val="FF7800"/>
                </a:solidFill>
              </a:rPr>
              <a:t> </a:t>
            </a:r>
            <a:r>
              <a:rPr lang="fr-FR" sz="1600" dirty="0" smtClean="0">
                <a:solidFill>
                  <a:srgbClr val="FF7800"/>
                </a:solidFill>
              </a:rPr>
              <a:t>processus</a:t>
            </a:r>
            <a:r>
              <a:rPr lang="fr-FR" sz="1600" spc="-65" dirty="0" smtClean="0">
                <a:solidFill>
                  <a:srgbClr val="FF7800"/>
                </a:solidFill>
              </a:rPr>
              <a:t> </a:t>
            </a:r>
            <a:r>
              <a:rPr lang="fr-FR" sz="1600" dirty="0" smtClean="0">
                <a:solidFill>
                  <a:srgbClr val="FF7800"/>
                </a:solidFill>
              </a:rPr>
              <a:t>sous</a:t>
            </a:r>
            <a:r>
              <a:rPr lang="fr-FR" sz="1600" spc="-40" dirty="0" smtClean="0">
                <a:solidFill>
                  <a:srgbClr val="FF7800"/>
                </a:solidFill>
              </a:rPr>
              <a:t> </a:t>
            </a:r>
            <a:r>
              <a:rPr lang="fr-FR" sz="1600" spc="-10" dirty="0" smtClean="0">
                <a:solidFill>
                  <a:srgbClr val="FF7800"/>
                </a:solidFill>
              </a:rPr>
              <a:t>Windows</a:t>
            </a:r>
            <a:endParaRPr lang="fr-FR" sz="1600" dirty="0"/>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40</a:t>
            </a:fld>
            <a:endParaRPr spc="-25" dirty="0"/>
          </a:p>
        </p:txBody>
      </p:sp>
      <p:sp>
        <p:nvSpPr>
          <p:cNvPr id="12" name="object 12"/>
          <p:cNvSpPr txBox="1"/>
          <p:nvPr/>
        </p:nvSpPr>
        <p:spPr>
          <a:xfrm>
            <a:off x="712206" y="1653257"/>
            <a:ext cx="10540365" cy="3444533"/>
          </a:xfrm>
          <a:prstGeom prst="rect">
            <a:avLst/>
          </a:prstGeom>
        </p:spPr>
        <p:txBody>
          <a:bodyPr vert="horz" wrap="square" lIns="0" tIns="12700" rIns="0" bIns="0" rtlCol="0">
            <a:spAutoFit/>
          </a:bodyPr>
          <a:lstStyle/>
          <a:p>
            <a:pPr>
              <a:lnSpc>
                <a:spcPct val="100000"/>
              </a:lnSpc>
              <a:spcBef>
                <a:spcPts val="1435"/>
              </a:spcBef>
            </a:pPr>
            <a:endParaRPr sz="1600" dirty="0">
              <a:latin typeface="Calibri"/>
              <a:cs typeface="Calibri"/>
            </a:endParaRPr>
          </a:p>
          <a:p>
            <a:pPr marL="12700" marR="8890">
              <a:lnSpc>
                <a:spcPct val="150000"/>
              </a:lnSpc>
              <a:spcBef>
                <a:spcPts val="605"/>
              </a:spcBef>
            </a:pPr>
            <a:r>
              <a:rPr sz="1600" dirty="0" smtClean="0">
                <a:solidFill>
                  <a:srgbClr val="585858"/>
                </a:solidFill>
                <a:latin typeface="Calibri"/>
                <a:cs typeface="Calibri"/>
              </a:rPr>
              <a:t>La</a:t>
            </a:r>
            <a:r>
              <a:rPr sz="1600" spc="75" dirty="0" smtClean="0">
                <a:solidFill>
                  <a:srgbClr val="585858"/>
                </a:solidFill>
                <a:latin typeface="Calibri"/>
                <a:cs typeface="Calibri"/>
              </a:rPr>
              <a:t> </a:t>
            </a:r>
            <a:r>
              <a:rPr sz="1600" dirty="0">
                <a:solidFill>
                  <a:srgbClr val="585858"/>
                </a:solidFill>
                <a:latin typeface="Calibri"/>
                <a:cs typeface="Calibri"/>
              </a:rPr>
              <a:t>bonne</a:t>
            </a:r>
            <a:r>
              <a:rPr sz="1600" spc="75" dirty="0">
                <a:solidFill>
                  <a:srgbClr val="585858"/>
                </a:solidFill>
                <a:latin typeface="Calibri"/>
                <a:cs typeface="Calibri"/>
              </a:rPr>
              <a:t> </a:t>
            </a:r>
            <a:r>
              <a:rPr sz="1600" dirty="0">
                <a:solidFill>
                  <a:srgbClr val="585858"/>
                </a:solidFill>
                <a:latin typeface="Calibri"/>
                <a:cs typeface="Calibri"/>
              </a:rPr>
              <a:t>gestion</a:t>
            </a:r>
            <a:r>
              <a:rPr sz="1600" spc="105" dirty="0">
                <a:solidFill>
                  <a:srgbClr val="585858"/>
                </a:solidFill>
                <a:latin typeface="Calibri"/>
                <a:cs typeface="Calibri"/>
              </a:rPr>
              <a:t> </a:t>
            </a:r>
            <a:r>
              <a:rPr sz="1600" dirty="0">
                <a:solidFill>
                  <a:srgbClr val="585858"/>
                </a:solidFill>
                <a:latin typeface="Calibri"/>
                <a:cs typeface="Calibri"/>
              </a:rPr>
              <a:t>des</a:t>
            </a:r>
            <a:r>
              <a:rPr sz="1600" spc="90" dirty="0">
                <a:solidFill>
                  <a:srgbClr val="585858"/>
                </a:solidFill>
                <a:latin typeface="Calibri"/>
                <a:cs typeface="Calibri"/>
              </a:rPr>
              <a:t> </a:t>
            </a:r>
            <a:r>
              <a:rPr sz="1600" dirty="0">
                <a:solidFill>
                  <a:srgbClr val="585858"/>
                </a:solidFill>
                <a:latin typeface="Calibri"/>
                <a:cs typeface="Calibri"/>
              </a:rPr>
              <a:t>processus</a:t>
            </a:r>
            <a:r>
              <a:rPr sz="1600" spc="90" dirty="0">
                <a:solidFill>
                  <a:srgbClr val="585858"/>
                </a:solidFill>
                <a:latin typeface="Calibri"/>
                <a:cs typeface="Calibri"/>
              </a:rPr>
              <a:t> </a:t>
            </a:r>
            <a:r>
              <a:rPr sz="1600" dirty="0">
                <a:solidFill>
                  <a:srgbClr val="585858"/>
                </a:solidFill>
                <a:latin typeface="Calibri"/>
                <a:cs typeface="Calibri"/>
              </a:rPr>
              <a:t>dans</a:t>
            </a:r>
            <a:r>
              <a:rPr sz="1600" spc="80" dirty="0">
                <a:solidFill>
                  <a:srgbClr val="585858"/>
                </a:solidFill>
                <a:latin typeface="Calibri"/>
                <a:cs typeface="Calibri"/>
              </a:rPr>
              <a:t> </a:t>
            </a:r>
            <a:r>
              <a:rPr sz="1600" dirty="0">
                <a:solidFill>
                  <a:srgbClr val="585858"/>
                </a:solidFill>
                <a:latin typeface="Calibri"/>
                <a:cs typeface="Calibri"/>
              </a:rPr>
              <a:t>notre</a:t>
            </a:r>
            <a:r>
              <a:rPr sz="1600" spc="110" dirty="0">
                <a:solidFill>
                  <a:srgbClr val="585858"/>
                </a:solidFill>
                <a:latin typeface="Calibri"/>
                <a:cs typeface="Calibri"/>
              </a:rPr>
              <a:t> </a:t>
            </a:r>
            <a:r>
              <a:rPr sz="1600" spc="-10" dirty="0">
                <a:solidFill>
                  <a:srgbClr val="585858"/>
                </a:solidFill>
                <a:latin typeface="Calibri"/>
                <a:cs typeface="Calibri"/>
              </a:rPr>
              <a:t>ordinateur,</a:t>
            </a:r>
            <a:r>
              <a:rPr sz="1600" spc="70" dirty="0">
                <a:solidFill>
                  <a:srgbClr val="585858"/>
                </a:solidFill>
                <a:latin typeface="Calibri"/>
                <a:cs typeface="Calibri"/>
              </a:rPr>
              <a:t> </a:t>
            </a:r>
            <a:r>
              <a:rPr sz="1600" dirty="0">
                <a:solidFill>
                  <a:srgbClr val="585858"/>
                </a:solidFill>
                <a:latin typeface="Calibri"/>
                <a:cs typeface="Calibri"/>
              </a:rPr>
              <a:t>nous</a:t>
            </a:r>
            <a:r>
              <a:rPr sz="1600" spc="85" dirty="0">
                <a:solidFill>
                  <a:srgbClr val="585858"/>
                </a:solidFill>
                <a:latin typeface="Calibri"/>
                <a:cs typeface="Calibri"/>
              </a:rPr>
              <a:t> </a:t>
            </a:r>
            <a:r>
              <a:rPr sz="1600" dirty="0">
                <a:solidFill>
                  <a:srgbClr val="585858"/>
                </a:solidFill>
                <a:latin typeface="Calibri"/>
                <a:cs typeface="Calibri"/>
              </a:rPr>
              <a:t>permet</a:t>
            </a:r>
            <a:r>
              <a:rPr sz="1600" spc="90" dirty="0">
                <a:solidFill>
                  <a:srgbClr val="585858"/>
                </a:solidFill>
                <a:latin typeface="Calibri"/>
                <a:cs typeface="Calibri"/>
              </a:rPr>
              <a:t> </a:t>
            </a:r>
            <a:r>
              <a:rPr sz="1600" dirty="0">
                <a:solidFill>
                  <a:srgbClr val="585858"/>
                </a:solidFill>
                <a:latin typeface="Calibri"/>
                <a:cs typeface="Calibri"/>
              </a:rPr>
              <a:t>non</a:t>
            </a:r>
            <a:r>
              <a:rPr sz="1600" spc="70" dirty="0">
                <a:solidFill>
                  <a:srgbClr val="585858"/>
                </a:solidFill>
                <a:latin typeface="Calibri"/>
                <a:cs typeface="Calibri"/>
              </a:rPr>
              <a:t> </a:t>
            </a:r>
            <a:r>
              <a:rPr sz="1600" dirty="0">
                <a:solidFill>
                  <a:srgbClr val="585858"/>
                </a:solidFill>
                <a:latin typeface="Calibri"/>
                <a:cs typeface="Calibri"/>
              </a:rPr>
              <a:t>seulement</a:t>
            </a:r>
            <a:r>
              <a:rPr sz="1600" spc="85" dirty="0">
                <a:solidFill>
                  <a:srgbClr val="585858"/>
                </a:solidFill>
                <a:latin typeface="Calibri"/>
                <a:cs typeface="Calibri"/>
              </a:rPr>
              <a:t> </a:t>
            </a:r>
            <a:r>
              <a:rPr sz="1600" dirty="0">
                <a:solidFill>
                  <a:srgbClr val="585858"/>
                </a:solidFill>
                <a:latin typeface="Calibri"/>
                <a:cs typeface="Calibri"/>
              </a:rPr>
              <a:t>de</a:t>
            </a:r>
            <a:r>
              <a:rPr sz="1600" spc="75" dirty="0">
                <a:solidFill>
                  <a:srgbClr val="585858"/>
                </a:solidFill>
                <a:latin typeface="Calibri"/>
                <a:cs typeface="Calibri"/>
              </a:rPr>
              <a:t> </a:t>
            </a:r>
            <a:r>
              <a:rPr sz="1600" dirty="0">
                <a:solidFill>
                  <a:srgbClr val="585858"/>
                </a:solidFill>
                <a:latin typeface="Calibri"/>
                <a:cs typeface="Calibri"/>
              </a:rPr>
              <a:t>gagner</a:t>
            </a:r>
            <a:r>
              <a:rPr sz="1600" spc="75" dirty="0">
                <a:solidFill>
                  <a:srgbClr val="585858"/>
                </a:solidFill>
                <a:latin typeface="Calibri"/>
                <a:cs typeface="Calibri"/>
              </a:rPr>
              <a:t> </a:t>
            </a:r>
            <a:r>
              <a:rPr sz="1600" dirty="0">
                <a:solidFill>
                  <a:srgbClr val="585858"/>
                </a:solidFill>
                <a:latin typeface="Calibri"/>
                <a:cs typeface="Calibri"/>
              </a:rPr>
              <a:t>en</a:t>
            </a:r>
            <a:r>
              <a:rPr sz="1600" spc="70" dirty="0">
                <a:solidFill>
                  <a:srgbClr val="585858"/>
                </a:solidFill>
                <a:latin typeface="Calibri"/>
                <a:cs typeface="Calibri"/>
              </a:rPr>
              <a:t> </a:t>
            </a:r>
            <a:r>
              <a:rPr sz="1600" dirty="0">
                <a:solidFill>
                  <a:srgbClr val="585858"/>
                </a:solidFill>
                <a:latin typeface="Calibri"/>
                <a:cs typeface="Calibri"/>
              </a:rPr>
              <a:t>sécurité</a:t>
            </a:r>
            <a:r>
              <a:rPr sz="1600" spc="105" dirty="0">
                <a:solidFill>
                  <a:srgbClr val="585858"/>
                </a:solidFill>
                <a:latin typeface="Calibri"/>
                <a:cs typeface="Calibri"/>
              </a:rPr>
              <a:t> </a:t>
            </a:r>
            <a:r>
              <a:rPr sz="1600" dirty="0">
                <a:solidFill>
                  <a:srgbClr val="585858"/>
                </a:solidFill>
                <a:latin typeface="Calibri"/>
                <a:cs typeface="Calibri"/>
              </a:rPr>
              <a:t>sur</a:t>
            </a:r>
            <a:r>
              <a:rPr sz="1600" spc="65" dirty="0">
                <a:solidFill>
                  <a:srgbClr val="585858"/>
                </a:solidFill>
                <a:latin typeface="Calibri"/>
                <a:cs typeface="Calibri"/>
              </a:rPr>
              <a:t> </a:t>
            </a:r>
            <a:r>
              <a:rPr sz="1600" dirty="0">
                <a:solidFill>
                  <a:srgbClr val="585858"/>
                </a:solidFill>
                <a:latin typeface="Calibri"/>
                <a:cs typeface="Calibri"/>
              </a:rPr>
              <a:t>un</a:t>
            </a:r>
            <a:r>
              <a:rPr sz="1600" spc="95" dirty="0">
                <a:solidFill>
                  <a:srgbClr val="585858"/>
                </a:solidFill>
                <a:latin typeface="Calibri"/>
                <a:cs typeface="Calibri"/>
              </a:rPr>
              <a:t> </a:t>
            </a:r>
            <a:r>
              <a:rPr sz="1600" spc="-10" dirty="0">
                <a:solidFill>
                  <a:srgbClr val="585858"/>
                </a:solidFill>
                <a:latin typeface="Calibri"/>
                <a:cs typeface="Calibri"/>
              </a:rPr>
              <a:t>ordinateur,</a:t>
            </a:r>
            <a:r>
              <a:rPr sz="1600" spc="90" dirty="0">
                <a:solidFill>
                  <a:srgbClr val="585858"/>
                </a:solidFill>
                <a:latin typeface="Calibri"/>
                <a:cs typeface="Calibri"/>
              </a:rPr>
              <a:t> </a:t>
            </a:r>
            <a:r>
              <a:rPr sz="1600" dirty="0">
                <a:solidFill>
                  <a:srgbClr val="585858"/>
                </a:solidFill>
                <a:latin typeface="Calibri"/>
                <a:cs typeface="Calibri"/>
              </a:rPr>
              <a:t>mais</a:t>
            </a:r>
            <a:r>
              <a:rPr sz="1600" spc="85" dirty="0">
                <a:solidFill>
                  <a:srgbClr val="585858"/>
                </a:solidFill>
                <a:latin typeface="Calibri"/>
                <a:cs typeface="Calibri"/>
              </a:rPr>
              <a:t> </a:t>
            </a:r>
            <a:r>
              <a:rPr sz="1600" dirty="0">
                <a:solidFill>
                  <a:srgbClr val="585858"/>
                </a:solidFill>
                <a:latin typeface="Calibri"/>
                <a:cs typeface="Calibri"/>
              </a:rPr>
              <a:t>aussi</a:t>
            </a:r>
            <a:r>
              <a:rPr sz="1600" spc="85" dirty="0">
                <a:solidFill>
                  <a:srgbClr val="585858"/>
                </a:solidFill>
                <a:latin typeface="Calibri"/>
                <a:cs typeface="Calibri"/>
              </a:rPr>
              <a:t> </a:t>
            </a:r>
            <a:r>
              <a:rPr sz="1600" dirty="0">
                <a:solidFill>
                  <a:srgbClr val="585858"/>
                </a:solidFill>
                <a:latin typeface="Calibri"/>
                <a:cs typeface="Calibri"/>
              </a:rPr>
              <a:t>en</a:t>
            </a:r>
            <a:r>
              <a:rPr sz="1600" spc="75" dirty="0">
                <a:solidFill>
                  <a:srgbClr val="585858"/>
                </a:solidFill>
                <a:latin typeface="Calibri"/>
                <a:cs typeface="Calibri"/>
              </a:rPr>
              <a:t> </a:t>
            </a:r>
            <a:r>
              <a:rPr sz="1600" dirty="0">
                <a:solidFill>
                  <a:srgbClr val="585858"/>
                </a:solidFill>
                <a:latin typeface="Calibri"/>
                <a:cs typeface="Calibri"/>
              </a:rPr>
              <a:t>performance.</a:t>
            </a:r>
            <a:r>
              <a:rPr sz="1600" spc="80" dirty="0">
                <a:solidFill>
                  <a:srgbClr val="585858"/>
                </a:solidFill>
                <a:latin typeface="Calibri"/>
                <a:cs typeface="Calibri"/>
              </a:rPr>
              <a:t> </a:t>
            </a:r>
            <a:r>
              <a:rPr sz="1600" dirty="0">
                <a:solidFill>
                  <a:srgbClr val="585858"/>
                </a:solidFill>
                <a:latin typeface="Calibri"/>
                <a:cs typeface="Calibri"/>
              </a:rPr>
              <a:t>Il</a:t>
            </a:r>
            <a:r>
              <a:rPr sz="1600" spc="70" dirty="0">
                <a:solidFill>
                  <a:srgbClr val="585858"/>
                </a:solidFill>
                <a:latin typeface="Calibri"/>
                <a:cs typeface="Calibri"/>
              </a:rPr>
              <a:t> </a:t>
            </a:r>
            <a:r>
              <a:rPr sz="1600" dirty="0">
                <a:solidFill>
                  <a:srgbClr val="585858"/>
                </a:solidFill>
                <a:latin typeface="Calibri"/>
                <a:cs typeface="Calibri"/>
              </a:rPr>
              <a:t>existe</a:t>
            </a:r>
            <a:r>
              <a:rPr sz="1600" spc="80" dirty="0">
                <a:solidFill>
                  <a:srgbClr val="585858"/>
                </a:solidFill>
                <a:latin typeface="Calibri"/>
                <a:cs typeface="Calibri"/>
              </a:rPr>
              <a:t> </a:t>
            </a:r>
            <a:r>
              <a:rPr sz="1600" spc="-25" dirty="0">
                <a:solidFill>
                  <a:srgbClr val="585858"/>
                </a:solidFill>
                <a:latin typeface="Calibri"/>
                <a:cs typeface="Calibri"/>
              </a:rPr>
              <a:t>des </a:t>
            </a:r>
            <a:r>
              <a:rPr sz="1600" dirty="0">
                <a:solidFill>
                  <a:srgbClr val="585858"/>
                </a:solidFill>
                <a:latin typeface="Calibri"/>
                <a:cs typeface="Calibri"/>
              </a:rPr>
              <a:t>logiciels</a:t>
            </a:r>
            <a:r>
              <a:rPr sz="1600" spc="10" dirty="0">
                <a:solidFill>
                  <a:srgbClr val="585858"/>
                </a:solidFill>
                <a:latin typeface="Calibri"/>
                <a:cs typeface="Calibri"/>
              </a:rPr>
              <a:t> </a:t>
            </a:r>
            <a:r>
              <a:rPr sz="1600" dirty="0">
                <a:solidFill>
                  <a:srgbClr val="585858"/>
                </a:solidFill>
                <a:latin typeface="Calibri"/>
                <a:cs typeface="Calibri"/>
              </a:rPr>
              <a:t>et</a:t>
            </a:r>
            <a:r>
              <a:rPr sz="1600" spc="-35" dirty="0">
                <a:solidFill>
                  <a:srgbClr val="585858"/>
                </a:solidFill>
                <a:latin typeface="Calibri"/>
                <a:cs typeface="Calibri"/>
              </a:rPr>
              <a:t> </a:t>
            </a:r>
            <a:r>
              <a:rPr sz="1600" dirty="0">
                <a:solidFill>
                  <a:srgbClr val="585858"/>
                </a:solidFill>
                <a:latin typeface="Calibri"/>
                <a:cs typeface="Calibri"/>
              </a:rPr>
              <a:t>même</a:t>
            </a:r>
            <a:r>
              <a:rPr sz="1600" spc="-15" dirty="0">
                <a:solidFill>
                  <a:srgbClr val="585858"/>
                </a:solidFill>
                <a:latin typeface="Calibri"/>
                <a:cs typeface="Calibri"/>
              </a:rPr>
              <a:t> </a:t>
            </a:r>
            <a:r>
              <a:rPr sz="1600" dirty="0">
                <a:solidFill>
                  <a:srgbClr val="585858"/>
                </a:solidFill>
                <a:latin typeface="Calibri"/>
                <a:cs typeface="Calibri"/>
              </a:rPr>
              <a:t>des</a:t>
            </a:r>
            <a:r>
              <a:rPr sz="1600" spc="-25" dirty="0">
                <a:solidFill>
                  <a:srgbClr val="585858"/>
                </a:solidFill>
                <a:latin typeface="Calibri"/>
                <a:cs typeface="Calibri"/>
              </a:rPr>
              <a:t> </a:t>
            </a:r>
            <a:r>
              <a:rPr sz="1600" dirty="0">
                <a:solidFill>
                  <a:srgbClr val="585858"/>
                </a:solidFill>
                <a:latin typeface="Calibri"/>
                <a:cs typeface="Calibri"/>
              </a:rPr>
              <a:t>sites</a:t>
            </a:r>
            <a:r>
              <a:rPr sz="1600" spc="-5" dirty="0">
                <a:solidFill>
                  <a:srgbClr val="585858"/>
                </a:solidFill>
                <a:latin typeface="Calibri"/>
                <a:cs typeface="Calibri"/>
              </a:rPr>
              <a:t> </a:t>
            </a:r>
            <a:r>
              <a:rPr sz="1600" dirty="0">
                <a:solidFill>
                  <a:srgbClr val="585858"/>
                </a:solidFill>
                <a:latin typeface="Calibri"/>
                <a:cs typeface="Calibri"/>
              </a:rPr>
              <a:t>qui</a:t>
            </a:r>
            <a:r>
              <a:rPr sz="1600" spc="-25" dirty="0">
                <a:solidFill>
                  <a:srgbClr val="585858"/>
                </a:solidFill>
                <a:latin typeface="Calibri"/>
                <a:cs typeface="Calibri"/>
              </a:rPr>
              <a:t> </a:t>
            </a:r>
            <a:r>
              <a:rPr sz="1600" spc="-10" dirty="0">
                <a:solidFill>
                  <a:srgbClr val="585858"/>
                </a:solidFill>
                <a:latin typeface="Calibri"/>
                <a:cs typeface="Calibri"/>
              </a:rPr>
              <a:t>permettent</a:t>
            </a:r>
            <a:r>
              <a:rPr sz="1600" spc="-35" dirty="0">
                <a:solidFill>
                  <a:srgbClr val="585858"/>
                </a:solidFill>
                <a:latin typeface="Calibri"/>
                <a:cs typeface="Calibri"/>
              </a:rPr>
              <a:t> </a:t>
            </a:r>
            <a:r>
              <a:rPr sz="1600" spc="-10" dirty="0">
                <a:solidFill>
                  <a:srgbClr val="585858"/>
                </a:solidFill>
                <a:latin typeface="Calibri"/>
                <a:cs typeface="Calibri"/>
              </a:rPr>
              <a:t>l’identification</a:t>
            </a:r>
            <a:r>
              <a:rPr sz="1600" dirty="0">
                <a:solidFill>
                  <a:srgbClr val="585858"/>
                </a:solidFill>
                <a:latin typeface="Calibri"/>
                <a:cs typeface="Calibri"/>
              </a:rPr>
              <a:t> de</a:t>
            </a:r>
            <a:r>
              <a:rPr sz="1600" spc="-15" dirty="0">
                <a:solidFill>
                  <a:srgbClr val="585858"/>
                </a:solidFill>
                <a:latin typeface="Calibri"/>
                <a:cs typeface="Calibri"/>
              </a:rPr>
              <a:t> </a:t>
            </a:r>
            <a:r>
              <a:rPr sz="1600" dirty="0">
                <a:solidFill>
                  <a:srgbClr val="585858"/>
                </a:solidFill>
                <a:latin typeface="Calibri"/>
                <a:cs typeface="Calibri"/>
              </a:rPr>
              <a:t>processus</a:t>
            </a:r>
            <a:r>
              <a:rPr sz="1600" spc="-5" dirty="0">
                <a:solidFill>
                  <a:srgbClr val="585858"/>
                </a:solidFill>
                <a:latin typeface="Calibri"/>
                <a:cs typeface="Calibri"/>
              </a:rPr>
              <a:t> </a:t>
            </a:r>
            <a:r>
              <a:rPr sz="1600" dirty="0">
                <a:solidFill>
                  <a:srgbClr val="585858"/>
                </a:solidFill>
                <a:latin typeface="Calibri"/>
                <a:cs typeface="Calibri"/>
              </a:rPr>
              <a:t>inutiles</a:t>
            </a:r>
            <a:r>
              <a:rPr sz="1600" spc="-5" dirty="0">
                <a:solidFill>
                  <a:srgbClr val="585858"/>
                </a:solidFill>
                <a:latin typeface="Calibri"/>
                <a:cs typeface="Calibri"/>
              </a:rPr>
              <a:t> </a:t>
            </a:r>
            <a:r>
              <a:rPr sz="1600" dirty="0">
                <a:solidFill>
                  <a:srgbClr val="585858"/>
                </a:solidFill>
                <a:latin typeface="Calibri"/>
                <a:cs typeface="Calibri"/>
              </a:rPr>
              <a:t>et</a:t>
            </a:r>
            <a:r>
              <a:rPr sz="1600" spc="-35" dirty="0">
                <a:solidFill>
                  <a:srgbClr val="585858"/>
                </a:solidFill>
                <a:latin typeface="Calibri"/>
                <a:cs typeface="Calibri"/>
              </a:rPr>
              <a:t> </a:t>
            </a:r>
            <a:r>
              <a:rPr sz="1600" spc="-10" dirty="0">
                <a:solidFill>
                  <a:srgbClr val="585858"/>
                </a:solidFill>
                <a:latin typeface="Calibri"/>
                <a:cs typeface="Calibri"/>
              </a:rPr>
              <a:t>dangereux.</a:t>
            </a:r>
            <a:endParaRPr sz="1600" dirty="0">
              <a:latin typeface="Calibri"/>
              <a:cs typeface="Calibri"/>
            </a:endParaRPr>
          </a:p>
          <a:p>
            <a:pPr marL="12700" marR="6350">
              <a:lnSpc>
                <a:spcPct val="150000"/>
              </a:lnSpc>
              <a:spcBef>
                <a:spcPts val="605"/>
              </a:spcBef>
            </a:pPr>
            <a:r>
              <a:rPr sz="1600" dirty="0">
                <a:solidFill>
                  <a:srgbClr val="585858"/>
                </a:solidFill>
                <a:latin typeface="Calibri"/>
                <a:cs typeface="Calibri"/>
              </a:rPr>
              <a:t>Microsoft</a:t>
            </a:r>
            <a:r>
              <a:rPr sz="1600" spc="25" dirty="0">
                <a:solidFill>
                  <a:srgbClr val="585858"/>
                </a:solidFill>
                <a:latin typeface="Calibri"/>
                <a:cs typeface="Calibri"/>
              </a:rPr>
              <a:t> </a:t>
            </a:r>
            <a:r>
              <a:rPr sz="1600" dirty="0">
                <a:solidFill>
                  <a:srgbClr val="585858"/>
                </a:solidFill>
                <a:latin typeface="Calibri"/>
                <a:cs typeface="Calibri"/>
              </a:rPr>
              <a:t>Windows</a:t>
            </a:r>
            <a:r>
              <a:rPr sz="1600" spc="30" dirty="0">
                <a:solidFill>
                  <a:srgbClr val="585858"/>
                </a:solidFill>
                <a:latin typeface="Calibri"/>
                <a:cs typeface="Calibri"/>
              </a:rPr>
              <a:t> </a:t>
            </a:r>
            <a:r>
              <a:rPr sz="1600" spc="-10" dirty="0">
                <a:solidFill>
                  <a:srgbClr val="585858"/>
                </a:solidFill>
                <a:latin typeface="Calibri"/>
                <a:cs typeface="Calibri"/>
              </a:rPr>
              <a:t>exécute</a:t>
            </a:r>
            <a:r>
              <a:rPr sz="1600" spc="25" dirty="0">
                <a:solidFill>
                  <a:srgbClr val="585858"/>
                </a:solidFill>
                <a:latin typeface="Calibri"/>
                <a:cs typeface="Calibri"/>
              </a:rPr>
              <a:t> </a:t>
            </a:r>
            <a:r>
              <a:rPr sz="1600" dirty="0">
                <a:solidFill>
                  <a:srgbClr val="585858"/>
                </a:solidFill>
                <a:latin typeface="Calibri"/>
                <a:cs typeface="Calibri"/>
              </a:rPr>
              <a:t>également</a:t>
            </a:r>
            <a:r>
              <a:rPr sz="1600" spc="25" dirty="0">
                <a:solidFill>
                  <a:srgbClr val="585858"/>
                </a:solidFill>
                <a:latin typeface="Calibri"/>
                <a:cs typeface="Calibri"/>
              </a:rPr>
              <a:t> </a:t>
            </a:r>
            <a:r>
              <a:rPr sz="1600" dirty="0">
                <a:solidFill>
                  <a:srgbClr val="585858"/>
                </a:solidFill>
                <a:latin typeface="Calibri"/>
                <a:cs typeface="Calibri"/>
              </a:rPr>
              <a:t>un</a:t>
            </a:r>
            <a:r>
              <a:rPr sz="1600" spc="20" dirty="0">
                <a:solidFill>
                  <a:srgbClr val="585858"/>
                </a:solidFill>
                <a:latin typeface="Calibri"/>
                <a:cs typeface="Calibri"/>
              </a:rPr>
              <a:t> </a:t>
            </a:r>
            <a:r>
              <a:rPr sz="1600" dirty="0">
                <a:solidFill>
                  <a:srgbClr val="585858"/>
                </a:solidFill>
                <a:latin typeface="Calibri"/>
                <a:cs typeface="Calibri"/>
              </a:rPr>
              <a:t>bon</a:t>
            </a:r>
            <a:r>
              <a:rPr sz="1600" spc="15" dirty="0">
                <a:solidFill>
                  <a:srgbClr val="585858"/>
                </a:solidFill>
                <a:latin typeface="Calibri"/>
                <a:cs typeface="Calibri"/>
              </a:rPr>
              <a:t> </a:t>
            </a:r>
            <a:r>
              <a:rPr sz="1600" dirty="0">
                <a:solidFill>
                  <a:srgbClr val="585858"/>
                </a:solidFill>
                <a:latin typeface="Calibri"/>
                <a:cs typeface="Calibri"/>
              </a:rPr>
              <a:t>nombre</a:t>
            </a:r>
            <a:r>
              <a:rPr sz="1600" spc="25" dirty="0">
                <a:solidFill>
                  <a:srgbClr val="585858"/>
                </a:solidFill>
                <a:latin typeface="Calibri"/>
                <a:cs typeface="Calibri"/>
              </a:rPr>
              <a:t> </a:t>
            </a:r>
            <a:r>
              <a:rPr sz="1600" dirty="0">
                <a:solidFill>
                  <a:srgbClr val="585858"/>
                </a:solidFill>
                <a:latin typeface="Calibri"/>
                <a:cs typeface="Calibri"/>
              </a:rPr>
              <a:t>de</a:t>
            </a:r>
            <a:r>
              <a:rPr sz="1600" spc="50" dirty="0">
                <a:solidFill>
                  <a:srgbClr val="585858"/>
                </a:solidFill>
                <a:latin typeface="Calibri"/>
                <a:cs typeface="Calibri"/>
              </a:rPr>
              <a:t> </a:t>
            </a:r>
            <a:r>
              <a:rPr sz="1600" dirty="0">
                <a:solidFill>
                  <a:srgbClr val="585858"/>
                </a:solidFill>
                <a:latin typeface="Calibri"/>
                <a:cs typeface="Calibri"/>
              </a:rPr>
              <a:t>processus</a:t>
            </a:r>
            <a:r>
              <a:rPr sz="1600" spc="35" dirty="0">
                <a:solidFill>
                  <a:srgbClr val="585858"/>
                </a:solidFill>
                <a:latin typeface="Calibri"/>
                <a:cs typeface="Calibri"/>
              </a:rPr>
              <a:t> </a:t>
            </a:r>
            <a:r>
              <a:rPr sz="1600" dirty="0">
                <a:solidFill>
                  <a:srgbClr val="585858"/>
                </a:solidFill>
                <a:latin typeface="Calibri"/>
                <a:cs typeface="Calibri"/>
              </a:rPr>
              <a:t>critique</a:t>
            </a:r>
            <a:r>
              <a:rPr sz="1600" spc="25" dirty="0">
                <a:solidFill>
                  <a:srgbClr val="585858"/>
                </a:solidFill>
                <a:latin typeface="Calibri"/>
                <a:cs typeface="Calibri"/>
              </a:rPr>
              <a:t> </a:t>
            </a:r>
            <a:r>
              <a:rPr sz="1600" dirty="0">
                <a:solidFill>
                  <a:srgbClr val="585858"/>
                </a:solidFill>
                <a:latin typeface="Calibri"/>
                <a:cs typeface="Calibri"/>
              </a:rPr>
              <a:t>qui</a:t>
            </a:r>
            <a:r>
              <a:rPr sz="1600" spc="15" dirty="0">
                <a:solidFill>
                  <a:srgbClr val="585858"/>
                </a:solidFill>
                <a:latin typeface="Calibri"/>
                <a:cs typeface="Calibri"/>
              </a:rPr>
              <a:t> </a:t>
            </a:r>
            <a:r>
              <a:rPr sz="1600" spc="-10" dirty="0">
                <a:solidFill>
                  <a:srgbClr val="585858"/>
                </a:solidFill>
                <a:latin typeface="Calibri"/>
                <a:cs typeface="Calibri"/>
              </a:rPr>
              <a:t>s’exécutent</a:t>
            </a:r>
            <a:r>
              <a:rPr sz="1600" spc="35" dirty="0">
                <a:solidFill>
                  <a:srgbClr val="585858"/>
                </a:solidFill>
                <a:latin typeface="Calibri"/>
                <a:cs typeface="Calibri"/>
              </a:rPr>
              <a:t> </a:t>
            </a:r>
            <a:r>
              <a:rPr sz="1600" dirty="0">
                <a:solidFill>
                  <a:srgbClr val="585858"/>
                </a:solidFill>
                <a:latin typeface="Calibri"/>
                <a:cs typeface="Calibri"/>
              </a:rPr>
              <a:t>en</a:t>
            </a:r>
            <a:r>
              <a:rPr sz="1600" spc="15" dirty="0">
                <a:solidFill>
                  <a:srgbClr val="585858"/>
                </a:solidFill>
                <a:latin typeface="Calibri"/>
                <a:cs typeface="Calibri"/>
              </a:rPr>
              <a:t> </a:t>
            </a:r>
            <a:r>
              <a:rPr sz="1600" dirty="0">
                <a:solidFill>
                  <a:srgbClr val="585858"/>
                </a:solidFill>
                <a:latin typeface="Calibri"/>
                <a:cs typeface="Calibri"/>
              </a:rPr>
              <a:t>permanence</a:t>
            </a:r>
            <a:r>
              <a:rPr sz="1600" spc="30" dirty="0">
                <a:solidFill>
                  <a:srgbClr val="585858"/>
                </a:solidFill>
                <a:latin typeface="Calibri"/>
                <a:cs typeface="Calibri"/>
              </a:rPr>
              <a:t> </a:t>
            </a:r>
            <a:r>
              <a:rPr sz="1600" dirty="0">
                <a:solidFill>
                  <a:srgbClr val="585858"/>
                </a:solidFill>
                <a:latin typeface="Calibri"/>
                <a:cs typeface="Calibri"/>
              </a:rPr>
              <a:t>afin</a:t>
            </a:r>
            <a:r>
              <a:rPr sz="1600" spc="15" dirty="0">
                <a:solidFill>
                  <a:srgbClr val="585858"/>
                </a:solidFill>
                <a:latin typeface="Calibri"/>
                <a:cs typeface="Calibri"/>
              </a:rPr>
              <a:t> </a:t>
            </a:r>
            <a:r>
              <a:rPr sz="1600" spc="-10" dirty="0">
                <a:solidFill>
                  <a:srgbClr val="585858"/>
                </a:solidFill>
                <a:latin typeface="Calibri"/>
                <a:cs typeface="Calibri"/>
              </a:rPr>
              <a:t>d’assurer</a:t>
            </a:r>
            <a:r>
              <a:rPr sz="1600" spc="40" dirty="0">
                <a:solidFill>
                  <a:srgbClr val="585858"/>
                </a:solidFill>
                <a:latin typeface="Calibri"/>
                <a:cs typeface="Calibri"/>
              </a:rPr>
              <a:t> </a:t>
            </a:r>
            <a:r>
              <a:rPr sz="1600" dirty="0">
                <a:solidFill>
                  <a:srgbClr val="585858"/>
                </a:solidFill>
                <a:latin typeface="Calibri"/>
                <a:cs typeface="Calibri"/>
              </a:rPr>
              <a:t>le</a:t>
            </a:r>
            <a:r>
              <a:rPr sz="1600" spc="25" dirty="0">
                <a:solidFill>
                  <a:srgbClr val="585858"/>
                </a:solidFill>
                <a:latin typeface="Calibri"/>
                <a:cs typeface="Calibri"/>
              </a:rPr>
              <a:t> </a:t>
            </a:r>
            <a:r>
              <a:rPr sz="1600" dirty="0">
                <a:solidFill>
                  <a:srgbClr val="585858"/>
                </a:solidFill>
                <a:latin typeface="Calibri"/>
                <a:cs typeface="Calibri"/>
              </a:rPr>
              <a:t>bon</a:t>
            </a:r>
            <a:r>
              <a:rPr sz="1600" spc="15" dirty="0">
                <a:solidFill>
                  <a:srgbClr val="585858"/>
                </a:solidFill>
                <a:latin typeface="Calibri"/>
                <a:cs typeface="Calibri"/>
              </a:rPr>
              <a:t> </a:t>
            </a:r>
            <a:r>
              <a:rPr sz="1600" dirty="0">
                <a:solidFill>
                  <a:srgbClr val="585858"/>
                </a:solidFill>
                <a:latin typeface="Calibri"/>
                <a:cs typeface="Calibri"/>
              </a:rPr>
              <a:t>fonctionnement</a:t>
            </a:r>
            <a:r>
              <a:rPr sz="1600" spc="35" dirty="0">
                <a:solidFill>
                  <a:srgbClr val="585858"/>
                </a:solidFill>
                <a:latin typeface="Calibri"/>
                <a:cs typeface="Calibri"/>
              </a:rPr>
              <a:t> </a:t>
            </a:r>
            <a:r>
              <a:rPr sz="1600" dirty="0">
                <a:solidFill>
                  <a:srgbClr val="585858"/>
                </a:solidFill>
                <a:latin typeface="Calibri"/>
                <a:cs typeface="Calibri"/>
              </a:rPr>
              <a:t>de</a:t>
            </a:r>
            <a:r>
              <a:rPr sz="1600" spc="25" dirty="0">
                <a:solidFill>
                  <a:srgbClr val="585858"/>
                </a:solidFill>
                <a:latin typeface="Calibri"/>
                <a:cs typeface="Calibri"/>
              </a:rPr>
              <a:t> </a:t>
            </a:r>
            <a:r>
              <a:rPr sz="1600" dirty="0">
                <a:solidFill>
                  <a:srgbClr val="585858"/>
                </a:solidFill>
                <a:latin typeface="Calibri"/>
                <a:cs typeface="Calibri"/>
              </a:rPr>
              <a:t>la</a:t>
            </a:r>
            <a:r>
              <a:rPr sz="1600" spc="25" dirty="0">
                <a:solidFill>
                  <a:srgbClr val="585858"/>
                </a:solidFill>
                <a:latin typeface="Calibri"/>
                <a:cs typeface="Calibri"/>
              </a:rPr>
              <a:t> </a:t>
            </a:r>
            <a:r>
              <a:rPr sz="1600" dirty="0">
                <a:solidFill>
                  <a:srgbClr val="585858"/>
                </a:solidFill>
                <a:latin typeface="Calibri"/>
                <a:cs typeface="Calibri"/>
              </a:rPr>
              <a:t>machine</a:t>
            </a:r>
            <a:r>
              <a:rPr sz="1600" spc="30" dirty="0">
                <a:solidFill>
                  <a:srgbClr val="585858"/>
                </a:solidFill>
                <a:latin typeface="Calibri"/>
                <a:cs typeface="Calibri"/>
              </a:rPr>
              <a:t> </a:t>
            </a:r>
            <a:r>
              <a:rPr sz="1600" dirty="0">
                <a:solidFill>
                  <a:srgbClr val="585858"/>
                </a:solidFill>
                <a:latin typeface="Calibri"/>
                <a:cs typeface="Calibri"/>
              </a:rPr>
              <a:t>et</a:t>
            </a:r>
            <a:r>
              <a:rPr sz="1600" spc="30" dirty="0">
                <a:solidFill>
                  <a:srgbClr val="585858"/>
                </a:solidFill>
                <a:latin typeface="Calibri"/>
                <a:cs typeface="Calibri"/>
              </a:rPr>
              <a:t> </a:t>
            </a:r>
            <a:r>
              <a:rPr sz="1600" spc="-25" dirty="0">
                <a:solidFill>
                  <a:srgbClr val="585858"/>
                </a:solidFill>
                <a:latin typeface="Calibri"/>
                <a:cs typeface="Calibri"/>
              </a:rPr>
              <a:t>qui </a:t>
            </a:r>
            <a:r>
              <a:rPr sz="1600" spc="-10" dirty="0">
                <a:solidFill>
                  <a:srgbClr val="585858"/>
                </a:solidFill>
                <a:latin typeface="Calibri"/>
                <a:cs typeface="Calibri"/>
              </a:rPr>
              <a:t>permettent</a:t>
            </a:r>
            <a:r>
              <a:rPr sz="1600" spc="-30" dirty="0">
                <a:solidFill>
                  <a:srgbClr val="585858"/>
                </a:solidFill>
                <a:latin typeface="Calibri"/>
                <a:cs typeface="Calibri"/>
              </a:rPr>
              <a:t> </a:t>
            </a:r>
            <a:r>
              <a:rPr sz="1600" spc="-10" dirty="0">
                <a:solidFill>
                  <a:srgbClr val="585858"/>
                </a:solidFill>
                <a:latin typeface="Calibri"/>
                <a:cs typeface="Calibri"/>
              </a:rPr>
              <a:t>l’accès</a:t>
            </a:r>
            <a:r>
              <a:rPr sz="1600" spc="20" dirty="0">
                <a:solidFill>
                  <a:srgbClr val="585858"/>
                </a:solidFill>
                <a:latin typeface="Calibri"/>
                <a:cs typeface="Calibri"/>
              </a:rPr>
              <a:t> </a:t>
            </a:r>
            <a:r>
              <a:rPr sz="1600" dirty="0">
                <a:solidFill>
                  <a:srgbClr val="585858"/>
                </a:solidFill>
                <a:latin typeface="Calibri"/>
                <a:cs typeface="Calibri"/>
              </a:rPr>
              <a:t>à</a:t>
            </a:r>
            <a:r>
              <a:rPr sz="1600" spc="-15" dirty="0">
                <a:solidFill>
                  <a:srgbClr val="585858"/>
                </a:solidFill>
                <a:latin typeface="Calibri"/>
                <a:cs typeface="Calibri"/>
              </a:rPr>
              <a:t> </a:t>
            </a:r>
            <a:r>
              <a:rPr sz="1600" spc="-10" dirty="0">
                <a:solidFill>
                  <a:srgbClr val="585858"/>
                </a:solidFill>
                <a:latin typeface="Calibri"/>
                <a:cs typeface="Calibri"/>
              </a:rPr>
              <a:t>internet</a:t>
            </a:r>
            <a:r>
              <a:rPr sz="1600" spc="-25" dirty="0">
                <a:solidFill>
                  <a:srgbClr val="585858"/>
                </a:solidFill>
                <a:latin typeface="Calibri"/>
                <a:cs typeface="Calibri"/>
              </a:rPr>
              <a:t> </a:t>
            </a:r>
            <a:r>
              <a:rPr sz="1600" dirty="0">
                <a:solidFill>
                  <a:srgbClr val="585858"/>
                </a:solidFill>
                <a:latin typeface="Calibri"/>
                <a:cs typeface="Calibri"/>
              </a:rPr>
              <a:t>ainsi</a:t>
            </a:r>
            <a:r>
              <a:rPr sz="1600" spc="-20" dirty="0">
                <a:solidFill>
                  <a:srgbClr val="585858"/>
                </a:solidFill>
                <a:latin typeface="Calibri"/>
                <a:cs typeface="Calibri"/>
              </a:rPr>
              <a:t> qu’à</a:t>
            </a:r>
            <a:r>
              <a:rPr sz="1600" spc="-15" dirty="0">
                <a:solidFill>
                  <a:srgbClr val="585858"/>
                </a:solidFill>
                <a:latin typeface="Calibri"/>
                <a:cs typeface="Calibri"/>
              </a:rPr>
              <a:t> </a:t>
            </a:r>
            <a:r>
              <a:rPr sz="1600" dirty="0">
                <a:solidFill>
                  <a:srgbClr val="585858"/>
                </a:solidFill>
                <a:latin typeface="Calibri"/>
                <a:cs typeface="Calibri"/>
              </a:rPr>
              <a:t>vos</a:t>
            </a:r>
            <a:r>
              <a:rPr sz="1600" spc="-25" dirty="0">
                <a:solidFill>
                  <a:srgbClr val="585858"/>
                </a:solidFill>
                <a:latin typeface="Calibri"/>
                <a:cs typeface="Calibri"/>
              </a:rPr>
              <a:t> </a:t>
            </a:r>
            <a:r>
              <a:rPr sz="1600" spc="-10" dirty="0">
                <a:solidFill>
                  <a:srgbClr val="585858"/>
                </a:solidFill>
                <a:latin typeface="Calibri"/>
                <a:cs typeface="Calibri"/>
              </a:rPr>
              <a:t>périphériques.</a:t>
            </a:r>
            <a:endParaRPr sz="1600" dirty="0">
              <a:latin typeface="Calibri"/>
              <a:cs typeface="Calibri"/>
            </a:endParaRPr>
          </a:p>
          <a:p>
            <a:pPr marL="12700" marR="5080">
              <a:lnSpc>
                <a:spcPct val="150000"/>
              </a:lnSpc>
              <a:spcBef>
                <a:spcPts val="605"/>
              </a:spcBef>
            </a:pPr>
            <a:r>
              <a:rPr sz="1600" dirty="0" smtClean="0">
                <a:solidFill>
                  <a:srgbClr val="585858"/>
                </a:solidFill>
                <a:latin typeface="Calibri"/>
                <a:cs typeface="Calibri"/>
              </a:rPr>
              <a:t>Microsoft</a:t>
            </a:r>
            <a:r>
              <a:rPr sz="1600" spc="35" dirty="0" smtClean="0">
                <a:solidFill>
                  <a:srgbClr val="585858"/>
                </a:solidFill>
                <a:latin typeface="Calibri"/>
                <a:cs typeface="Calibri"/>
              </a:rPr>
              <a:t> </a:t>
            </a:r>
            <a:r>
              <a:rPr sz="1600" dirty="0">
                <a:solidFill>
                  <a:srgbClr val="585858"/>
                </a:solidFill>
                <a:latin typeface="Calibri"/>
                <a:cs typeface="Calibri"/>
              </a:rPr>
              <a:t>Windows</a:t>
            </a:r>
            <a:r>
              <a:rPr sz="1600" spc="50" dirty="0">
                <a:solidFill>
                  <a:srgbClr val="585858"/>
                </a:solidFill>
                <a:latin typeface="Calibri"/>
                <a:cs typeface="Calibri"/>
              </a:rPr>
              <a:t> </a:t>
            </a:r>
            <a:r>
              <a:rPr sz="1600" dirty="0">
                <a:solidFill>
                  <a:srgbClr val="585858"/>
                </a:solidFill>
                <a:latin typeface="Calibri"/>
                <a:cs typeface="Calibri"/>
              </a:rPr>
              <a:t>offre</a:t>
            </a:r>
            <a:r>
              <a:rPr sz="1600" spc="35" dirty="0">
                <a:solidFill>
                  <a:srgbClr val="585858"/>
                </a:solidFill>
                <a:latin typeface="Calibri"/>
                <a:cs typeface="Calibri"/>
              </a:rPr>
              <a:t> </a:t>
            </a:r>
            <a:r>
              <a:rPr sz="1600" dirty="0">
                <a:solidFill>
                  <a:srgbClr val="585858"/>
                </a:solidFill>
                <a:latin typeface="Calibri"/>
                <a:cs typeface="Calibri"/>
              </a:rPr>
              <a:t>un</a:t>
            </a:r>
            <a:r>
              <a:rPr sz="1600" spc="45" dirty="0">
                <a:solidFill>
                  <a:srgbClr val="585858"/>
                </a:solidFill>
                <a:latin typeface="Calibri"/>
                <a:cs typeface="Calibri"/>
              </a:rPr>
              <a:t> </a:t>
            </a:r>
            <a:r>
              <a:rPr sz="1600" dirty="0">
                <a:solidFill>
                  <a:srgbClr val="585858"/>
                </a:solidFill>
                <a:latin typeface="Calibri"/>
                <a:cs typeface="Calibri"/>
              </a:rPr>
              <a:t>outil</a:t>
            </a:r>
            <a:r>
              <a:rPr sz="1600" spc="45" dirty="0">
                <a:solidFill>
                  <a:srgbClr val="585858"/>
                </a:solidFill>
                <a:latin typeface="Calibri"/>
                <a:cs typeface="Calibri"/>
              </a:rPr>
              <a:t> </a:t>
            </a:r>
            <a:r>
              <a:rPr sz="1600" dirty="0">
                <a:solidFill>
                  <a:srgbClr val="585858"/>
                </a:solidFill>
                <a:latin typeface="Calibri"/>
                <a:cs typeface="Calibri"/>
              </a:rPr>
              <a:t>qui</a:t>
            </a:r>
            <a:r>
              <a:rPr sz="1600" spc="40" dirty="0">
                <a:solidFill>
                  <a:srgbClr val="585858"/>
                </a:solidFill>
                <a:latin typeface="Calibri"/>
                <a:cs typeface="Calibri"/>
              </a:rPr>
              <a:t> </a:t>
            </a:r>
            <a:r>
              <a:rPr sz="1600" dirty="0">
                <a:solidFill>
                  <a:srgbClr val="585858"/>
                </a:solidFill>
                <a:latin typeface="Calibri"/>
                <a:cs typeface="Calibri"/>
              </a:rPr>
              <a:t>permet</a:t>
            </a:r>
            <a:r>
              <a:rPr sz="1600" spc="55" dirty="0">
                <a:solidFill>
                  <a:srgbClr val="585858"/>
                </a:solidFill>
                <a:latin typeface="Calibri"/>
                <a:cs typeface="Calibri"/>
              </a:rPr>
              <a:t> </a:t>
            </a:r>
            <a:r>
              <a:rPr sz="1600" dirty="0">
                <a:solidFill>
                  <a:srgbClr val="585858"/>
                </a:solidFill>
                <a:latin typeface="Calibri"/>
                <a:cs typeface="Calibri"/>
              </a:rPr>
              <a:t>la</a:t>
            </a:r>
            <a:r>
              <a:rPr sz="1600" spc="30" dirty="0">
                <a:solidFill>
                  <a:srgbClr val="585858"/>
                </a:solidFill>
                <a:latin typeface="Calibri"/>
                <a:cs typeface="Calibri"/>
              </a:rPr>
              <a:t> </a:t>
            </a:r>
            <a:r>
              <a:rPr sz="1600" dirty="0">
                <a:solidFill>
                  <a:srgbClr val="585858"/>
                </a:solidFill>
                <a:latin typeface="Calibri"/>
                <a:cs typeface="Calibri"/>
              </a:rPr>
              <a:t>consultation</a:t>
            </a:r>
            <a:r>
              <a:rPr sz="1600" spc="50" dirty="0">
                <a:solidFill>
                  <a:srgbClr val="585858"/>
                </a:solidFill>
                <a:latin typeface="Calibri"/>
                <a:cs typeface="Calibri"/>
              </a:rPr>
              <a:t> </a:t>
            </a:r>
            <a:r>
              <a:rPr sz="1600" dirty="0">
                <a:solidFill>
                  <a:srgbClr val="585858"/>
                </a:solidFill>
                <a:latin typeface="Calibri"/>
                <a:cs typeface="Calibri"/>
              </a:rPr>
              <a:t>des</a:t>
            </a:r>
            <a:r>
              <a:rPr sz="1600" spc="40" dirty="0">
                <a:solidFill>
                  <a:srgbClr val="585858"/>
                </a:solidFill>
                <a:latin typeface="Calibri"/>
                <a:cs typeface="Calibri"/>
              </a:rPr>
              <a:t> </a:t>
            </a:r>
            <a:r>
              <a:rPr sz="1600" dirty="0">
                <a:solidFill>
                  <a:srgbClr val="585858"/>
                </a:solidFill>
                <a:latin typeface="Calibri"/>
                <a:cs typeface="Calibri"/>
              </a:rPr>
              <a:t>processus</a:t>
            </a:r>
            <a:r>
              <a:rPr sz="1600" spc="45" dirty="0">
                <a:solidFill>
                  <a:srgbClr val="585858"/>
                </a:solidFill>
                <a:latin typeface="Calibri"/>
                <a:cs typeface="Calibri"/>
              </a:rPr>
              <a:t> </a:t>
            </a:r>
            <a:r>
              <a:rPr sz="1600" dirty="0">
                <a:solidFill>
                  <a:srgbClr val="585858"/>
                </a:solidFill>
                <a:latin typeface="Calibri"/>
                <a:cs typeface="Calibri"/>
              </a:rPr>
              <a:t>qui</a:t>
            </a:r>
            <a:r>
              <a:rPr sz="1600" spc="20" dirty="0">
                <a:solidFill>
                  <a:srgbClr val="585858"/>
                </a:solidFill>
                <a:latin typeface="Calibri"/>
                <a:cs typeface="Calibri"/>
              </a:rPr>
              <a:t> </a:t>
            </a:r>
            <a:r>
              <a:rPr sz="1600" spc="-10" dirty="0">
                <a:solidFill>
                  <a:srgbClr val="585858"/>
                </a:solidFill>
                <a:latin typeface="Calibri"/>
                <a:cs typeface="Calibri"/>
              </a:rPr>
              <a:t>s’exécutent</a:t>
            </a:r>
            <a:r>
              <a:rPr sz="1600" spc="40" dirty="0">
                <a:solidFill>
                  <a:srgbClr val="585858"/>
                </a:solidFill>
                <a:latin typeface="Calibri"/>
                <a:cs typeface="Calibri"/>
              </a:rPr>
              <a:t> </a:t>
            </a:r>
            <a:r>
              <a:rPr sz="1600" dirty="0">
                <a:solidFill>
                  <a:srgbClr val="585858"/>
                </a:solidFill>
                <a:latin typeface="Calibri"/>
                <a:cs typeface="Calibri"/>
              </a:rPr>
              <a:t>dans</a:t>
            </a:r>
            <a:r>
              <a:rPr sz="1600" spc="40" dirty="0">
                <a:solidFill>
                  <a:srgbClr val="585858"/>
                </a:solidFill>
                <a:latin typeface="Calibri"/>
                <a:cs typeface="Calibri"/>
              </a:rPr>
              <a:t> </a:t>
            </a:r>
            <a:r>
              <a:rPr sz="1600" dirty="0">
                <a:solidFill>
                  <a:srgbClr val="585858"/>
                </a:solidFill>
                <a:latin typeface="Calibri"/>
                <a:cs typeface="Calibri"/>
              </a:rPr>
              <a:t>votre</a:t>
            </a:r>
            <a:r>
              <a:rPr sz="1600" spc="55" dirty="0">
                <a:solidFill>
                  <a:srgbClr val="585858"/>
                </a:solidFill>
                <a:latin typeface="Calibri"/>
                <a:cs typeface="Calibri"/>
              </a:rPr>
              <a:t> </a:t>
            </a:r>
            <a:r>
              <a:rPr sz="1600" dirty="0">
                <a:solidFill>
                  <a:srgbClr val="585858"/>
                </a:solidFill>
                <a:latin typeface="Calibri"/>
                <a:cs typeface="Calibri"/>
              </a:rPr>
              <a:t>ordinateur</a:t>
            </a:r>
            <a:r>
              <a:rPr sz="1600" spc="20" dirty="0">
                <a:solidFill>
                  <a:srgbClr val="585858"/>
                </a:solidFill>
                <a:latin typeface="Calibri"/>
                <a:cs typeface="Calibri"/>
              </a:rPr>
              <a:t> </a:t>
            </a:r>
            <a:r>
              <a:rPr sz="1600" dirty="0">
                <a:solidFill>
                  <a:srgbClr val="585858"/>
                </a:solidFill>
                <a:latin typeface="Calibri"/>
                <a:cs typeface="Calibri"/>
              </a:rPr>
              <a:t>à</a:t>
            </a:r>
            <a:r>
              <a:rPr sz="1600" spc="50" dirty="0">
                <a:solidFill>
                  <a:srgbClr val="585858"/>
                </a:solidFill>
                <a:latin typeface="Calibri"/>
                <a:cs typeface="Calibri"/>
              </a:rPr>
              <a:t> </a:t>
            </a:r>
            <a:r>
              <a:rPr sz="1600" dirty="0">
                <a:solidFill>
                  <a:srgbClr val="585858"/>
                </a:solidFill>
                <a:latin typeface="Calibri"/>
                <a:cs typeface="Calibri"/>
              </a:rPr>
              <a:t>un</a:t>
            </a:r>
            <a:r>
              <a:rPr sz="1600" spc="45" dirty="0">
                <a:solidFill>
                  <a:srgbClr val="585858"/>
                </a:solidFill>
                <a:latin typeface="Calibri"/>
                <a:cs typeface="Calibri"/>
              </a:rPr>
              <a:t> </a:t>
            </a:r>
            <a:r>
              <a:rPr sz="1600" dirty="0">
                <a:solidFill>
                  <a:srgbClr val="585858"/>
                </a:solidFill>
                <a:latin typeface="Calibri"/>
                <a:cs typeface="Calibri"/>
              </a:rPr>
              <a:t>moment</a:t>
            </a:r>
            <a:r>
              <a:rPr sz="1600" spc="35" dirty="0">
                <a:solidFill>
                  <a:srgbClr val="585858"/>
                </a:solidFill>
                <a:latin typeface="Calibri"/>
                <a:cs typeface="Calibri"/>
              </a:rPr>
              <a:t> </a:t>
            </a:r>
            <a:r>
              <a:rPr sz="1600" dirty="0">
                <a:solidFill>
                  <a:srgbClr val="585858"/>
                </a:solidFill>
                <a:latin typeface="Calibri"/>
                <a:cs typeface="Calibri"/>
              </a:rPr>
              <a:t>donné.</a:t>
            </a:r>
            <a:r>
              <a:rPr sz="1600" spc="35" dirty="0">
                <a:solidFill>
                  <a:srgbClr val="585858"/>
                </a:solidFill>
                <a:latin typeface="Calibri"/>
                <a:cs typeface="Calibri"/>
              </a:rPr>
              <a:t> </a:t>
            </a:r>
            <a:r>
              <a:rPr sz="1600" dirty="0">
                <a:solidFill>
                  <a:srgbClr val="585858"/>
                </a:solidFill>
                <a:latin typeface="Calibri"/>
                <a:cs typeface="Calibri"/>
              </a:rPr>
              <a:t>Il</a:t>
            </a:r>
            <a:r>
              <a:rPr sz="1600" spc="20" dirty="0">
                <a:solidFill>
                  <a:srgbClr val="585858"/>
                </a:solidFill>
                <a:latin typeface="Calibri"/>
                <a:cs typeface="Calibri"/>
              </a:rPr>
              <a:t> </a:t>
            </a:r>
            <a:r>
              <a:rPr sz="1600" dirty="0">
                <a:solidFill>
                  <a:srgbClr val="585858"/>
                </a:solidFill>
                <a:latin typeface="Calibri"/>
                <a:cs typeface="Calibri"/>
              </a:rPr>
              <a:t>permet</a:t>
            </a:r>
            <a:r>
              <a:rPr sz="1600" spc="40" dirty="0">
                <a:solidFill>
                  <a:srgbClr val="585858"/>
                </a:solidFill>
                <a:latin typeface="Calibri"/>
                <a:cs typeface="Calibri"/>
              </a:rPr>
              <a:t> </a:t>
            </a:r>
            <a:r>
              <a:rPr sz="1600" dirty="0">
                <a:solidFill>
                  <a:srgbClr val="585858"/>
                </a:solidFill>
                <a:latin typeface="Calibri"/>
                <a:cs typeface="Calibri"/>
              </a:rPr>
              <a:t>de</a:t>
            </a:r>
            <a:r>
              <a:rPr sz="1600" spc="30" dirty="0">
                <a:solidFill>
                  <a:srgbClr val="585858"/>
                </a:solidFill>
                <a:latin typeface="Calibri"/>
                <a:cs typeface="Calibri"/>
              </a:rPr>
              <a:t> </a:t>
            </a:r>
            <a:r>
              <a:rPr sz="1600" dirty="0">
                <a:solidFill>
                  <a:srgbClr val="585858"/>
                </a:solidFill>
                <a:latin typeface="Calibri"/>
                <a:cs typeface="Calibri"/>
              </a:rPr>
              <a:t>savoir</a:t>
            </a:r>
            <a:r>
              <a:rPr sz="1600" spc="20" dirty="0">
                <a:solidFill>
                  <a:srgbClr val="585858"/>
                </a:solidFill>
                <a:latin typeface="Calibri"/>
                <a:cs typeface="Calibri"/>
              </a:rPr>
              <a:t> </a:t>
            </a:r>
            <a:r>
              <a:rPr sz="1600" dirty="0">
                <a:solidFill>
                  <a:srgbClr val="585858"/>
                </a:solidFill>
                <a:latin typeface="Calibri"/>
                <a:cs typeface="Calibri"/>
              </a:rPr>
              <a:t>par</a:t>
            </a:r>
            <a:r>
              <a:rPr sz="1600" spc="45" dirty="0">
                <a:solidFill>
                  <a:srgbClr val="585858"/>
                </a:solidFill>
                <a:latin typeface="Calibri"/>
                <a:cs typeface="Calibri"/>
              </a:rPr>
              <a:t> </a:t>
            </a:r>
            <a:r>
              <a:rPr sz="1600" spc="-10" dirty="0">
                <a:solidFill>
                  <a:srgbClr val="585858"/>
                </a:solidFill>
                <a:latin typeface="Calibri"/>
                <a:cs typeface="Calibri"/>
              </a:rPr>
              <a:t>exemple </a:t>
            </a:r>
            <a:r>
              <a:rPr sz="1600" dirty="0">
                <a:solidFill>
                  <a:srgbClr val="585858"/>
                </a:solidFill>
                <a:latin typeface="Calibri"/>
                <a:cs typeface="Calibri"/>
              </a:rPr>
              <a:t>pourquoi</a:t>
            </a:r>
            <a:r>
              <a:rPr sz="1600" spc="-5" dirty="0">
                <a:solidFill>
                  <a:srgbClr val="585858"/>
                </a:solidFill>
                <a:latin typeface="Calibri"/>
                <a:cs typeface="Calibri"/>
              </a:rPr>
              <a:t> </a:t>
            </a:r>
            <a:r>
              <a:rPr sz="1600" dirty="0">
                <a:solidFill>
                  <a:srgbClr val="585858"/>
                </a:solidFill>
                <a:latin typeface="Calibri"/>
                <a:cs typeface="Calibri"/>
              </a:rPr>
              <a:t>votre</a:t>
            </a:r>
            <a:r>
              <a:rPr sz="1600" spc="-45" dirty="0">
                <a:solidFill>
                  <a:srgbClr val="585858"/>
                </a:solidFill>
                <a:latin typeface="Calibri"/>
                <a:cs typeface="Calibri"/>
              </a:rPr>
              <a:t> </a:t>
            </a:r>
            <a:r>
              <a:rPr sz="1600" spc="-10" dirty="0">
                <a:solidFill>
                  <a:srgbClr val="585858"/>
                </a:solidFill>
                <a:latin typeface="Calibri"/>
                <a:cs typeface="Calibri"/>
              </a:rPr>
              <a:t>ordinateur</a:t>
            </a:r>
            <a:r>
              <a:rPr sz="1600" spc="-20" dirty="0">
                <a:solidFill>
                  <a:srgbClr val="585858"/>
                </a:solidFill>
                <a:latin typeface="Calibri"/>
                <a:cs typeface="Calibri"/>
              </a:rPr>
              <a:t> </a:t>
            </a:r>
            <a:r>
              <a:rPr sz="1600" dirty="0">
                <a:solidFill>
                  <a:srgbClr val="585858"/>
                </a:solidFill>
                <a:latin typeface="Calibri"/>
                <a:cs typeface="Calibri"/>
              </a:rPr>
              <a:t>devient</a:t>
            </a:r>
            <a:r>
              <a:rPr sz="1600" spc="-65" dirty="0">
                <a:solidFill>
                  <a:srgbClr val="585858"/>
                </a:solidFill>
                <a:latin typeface="Calibri"/>
                <a:cs typeface="Calibri"/>
              </a:rPr>
              <a:t> </a:t>
            </a:r>
            <a:r>
              <a:rPr sz="1600" dirty="0">
                <a:solidFill>
                  <a:srgbClr val="585858"/>
                </a:solidFill>
                <a:latin typeface="Calibri"/>
                <a:cs typeface="Calibri"/>
              </a:rPr>
              <a:t>lent.</a:t>
            </a:r>
            <a:r>
              <a:rPr sz="1600" spc="-45" dirty="0">
                <a:solidFill>
                  <a:srgbClr val="585858"/>
                </a:solidFill>
                <a:latin typeface="Calibri"/>
                <a:cs typeface="Calibri"/>
              </a:rPr>
              <a:t> </a:t>
            </a:r>
            <a:r>
              <a:rPr sz="1600" dirty="0">
                <a:solidFill>
                  <a:srgbClr val="585858"/>
                </a:solidFill>
                <a:latin typeface="Calibri"/>
                <a:cs typeface="Calibri"/>
              </a:rPr>
              <a:t>Dans</a:t>
            </a:r>
            <a:r>
              <a:rPr sz="1600" spc="-40" dirty="0">
                <a:solidFill>
                  <a:srgbClr val="585858"/>
                </a:solidFill>
                <a:latin typeface="Calibri"/>
                <a:cs typeface="Calibri"/>
              </a:rPr>
              <a:t> </a:t>
            </a:r>
            <a:r>
              <a:rPr sz="1600" dirty="0">
                <a:solidFill>
                  <a:srgbClr val="585858"/>
                </a:solidFill>
                <a:latin typeface="Calibri"/>
                <a:cs typeface="Calibri"/>
              </a:rPr>
              <a:t>ce</a:t>
            </a:r>
            <a:r>
              <a:rPr sz="1600" spc="-35" dirty="0">
                <a:solidFill>
                  <a:srgbClr val="585858"/>
                </a:solidFill>
                <a:latin typeface="Calibri"/>
                <a:cs typeface="Calibri"/>
              </a:rPr>
              <a:t> </a:t>
            </a:r>
            <a:r>
              <a:rPr sz="1600" dirty="0">
                <a:solidFill>
                  <a:srgbClr val="585858"/>
                </a:solidFill>
                <a:latin typeface="Calibri"/>
                <a:cs typeface="Calibri"/>
              </a:rPr>
              <a:t>cas,</a:t>
            </a:r>
            <a:r>
              <a:rPr sz="1600" spc="-60" dirty="0">
                <a:solidFill>
                  <a:srgbClr val="585858"/>
                </a:solidFill>
                <a:latin typeface="Calibri"/>
                <a:cs typeface="Calibri"/>
              </a:rPr>
              <a:t> </a:t>
            </a:r>
            <a:r>
              <a:rPr sz="1600" spc="-10" dirty="0">
                <a:solidFill>
                  <a:srgbClr val="585858"/>
                </a:solidFill>
                <a:latin typeface="Calibri"/>
                <a:cs typeface="Calibri"/>
              </a:rPr>
              <a:t>l’analyse</a:t>
            </a:r>
            <a:r>
              <a:rPr sz="1600" spc="-30" dirty="0">
                <a:solidFill>
                  <a:srgbClr val="585858"/>
                </a:solidFill>
                <a:latin typeface="Calibri"/>
                <a:cs typeface="Calibri"/>
              </a:rPr>
              <a:t> </a:t>
            </a:r>
            <a:r>
              <a:rPr sz="1600" dirty="0">
                <a:solidFill>
                  <a:srgbClr val="585858"/>
                </a:solidFill>
                <a:latin typeface="Calibri"/>
                <a:cs typeface="Calibri"/>
              </a:rPr>
              <a:t>des</a:t>
            </a:r>
            <a:r>
              <a:rPr sz="1600" spc="-40" dirty="0">
                <a:solidFill>
                  <a:srgbClr val="585858"/>
                </a:solidFill>
                <a:latin typeface="Calibri"/>
                <a:cs typeface="Calibri"/>
              </a:rPr>
              <a:t> </a:t>
            </a:r>
            <a:r>
              <a:rPr sz="1600" dirty="0">
                <a:solidFill>
                  <a:srgbClr val="585858"/>
                </a:solidFill>
                <a:latin typeface="Calibri"/>
                <a:cs typeface="Calibri"/>
              </a:rPr>
              <a:t>processus</a:t>
            </a:r>
            <a:r>
              <a:rPr sz="1600" spc="5" dirty="0">
                <a:solidFill>
                  <a:srgbClr val="585858"/>
                </a:solidFill>
                <a:latin typeface="Calibri"/>
                <a:cs typeface="Calibri"/>
              </a:rPr>
              <a:t> </a:t>
            </a:r>
            <a:r>
              <a:rPr sz="1600" dirty="0">
                <a:solidFill>
                  <a:srgbClr val="585858"/>
                </a:solidFill>
                <a:latin typeface="Calibri"/>
                <a:cs typeface="Calibri"/>
              </a:rPr>
              <a:t>aide</a:t>
            </a:r>
            <a:r>
              <a:rPr sz="1600" spc="-35" dirty="0">
                <a:solidFill>
                  <a:srgbClr val="585858"/>
                </a:solidFill>
                <a:latin typeface="Calibri"/>
                <a:cs typeface="Calibri"/>
              </a:rPr>
              <a:t> </a:t>
            </a:r>
            <a:r>
              <a:rPr sz="1600" dirty="0">
                <a:solidFill>
                  <a:srgbClr val="585858"/>
                </a:solidFill>
                <a:latin typeface="Calibri"/>
                <a:cs typeface="Calibri"/>
              </a:rPr>
              <a:t>à</a:t>
            </a:r>
            <a:r>
              <a:rPr sz="1600" spc="-50" dirty="0">
                <a:solidFill>
                  <a:srgbClr val="585858"/>
                </a:solidFill>
                <a:latin typeface="Calibri"/>
                <a:cs typeface="Calibri"/>
              </a:rPr>
              <a:t> </a:t>
            </a:r>
            <a:r>
              <a:rPr sz="1600" dirty="0">
                <a:solidFill>
                  <a:srgbClr val="585858"/>
                </a:solidFill>
                <a:latin typeface="Calibri"/>
                <a:cs typeface="Calibri"/>
              </a:rPr>
              <a:t>diagnostiquer</a:t>
            </a:r>
            <a:r>
              <a:rPr sz="1600" spc="-20" dirty="0">
                <a:solidFill>
                  <a:srgbClr val="585858"/>
                </a:solidFill>
                <a:latin typeface="Calibri"/>
                <a:cs typeface="Calibri"/>
              </a:rPr>
              <a:t> </a:t>
            </a:r>
            <a:r>
              <a:rPr sz="1600" spc="-10" dirty="0">
                <a:solidFill>
                  <a:srgbClr val="585858"/>
                </a:solidFill>
                <a:latin typeface="Calibri"/>
                <a:cs typeface="Calibri"/>
              </a:rPr>
              <a:t>l’origine</a:t>
            </a:r>
            <a:r>
              <a:rPr sz="1600" spc="10" dirty="0">
                <a:solidFill>
                  <a:srgbClr val="585858"/>
                </a:solidFill>
                <a:latin typeface="Calibri"/>
                <a:cs typeface="Calibri"/>
              </a:rPr>
              <a:t> </a:t>
            </a:r>
            <a:r>
              <a:rPr sz="1600" dirty="0">
                <a:solidFill>
                  <a:srgbClr val="585858"/>
                </a:solidFill>
                <a:latin typeface="Calibri"/>
                <a:cs typeface="Calibri"/>
              </a:rPr>
              <a:t>d’un</a:t>
            </a:r>
            <a:r>
              <a:rPr sz="1600" spc="-35" dirty="0">
                <a:solidFill>
                  <a:srgbClr val="585858"/>
                </a:solidFill>
                <a:latin typeface="Calibri"/>
                <a:cs typeface="Calibri"/>
              </a:rPr>
              <a:t> </a:t>
            </a:r>
            <a:r>
              <a:rPr sz="1600" spc="-10" dirty="0">
                <a:solidFill>
                  <a:srgbClr val="585858"/>
                </a:solidFill>
                <a:latin typeface="Calibri"/>
                <a:cs typeface="Calibri"/>
              </a:rPr>
              <a:t>problème.</a:t>
            </a:r>
            <a:endParaRPr sz="1600" dirty="0">
              <a:latin typeface="Calibri"/>
              <a:cs typeface="Calibri"/>
            </a:endParaRPr>
          </a:p>
        </p:txBody>
      </p:sp>
      <p:sp>
        <p:nvSpPr>
          <p:cNvPr id="16"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Tree>
    <p:extLst>
      <p:ext uri="{BB962C8B-B14F-4D97-AF65-F5344CB8AC3E}">
        <p14:creationId xmlns:p14="http://schemas.microsoft.com/office/powerpoint/2010/main" val="5528744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9460" cy="6855459"/>
            <a:chOff x="0" y="17"/>
            <a:chExt cx="12189460" cy="6855459"/>
          </a:xfrm>
        </p:grpSpPr>
        <p:pic>
          <p:nvPicPr>
            <p:cNvPr id="3" name="object 3"/>
            <p:cNvPicPr/>
            <p:nvPr/>
          </p:nvPicPr>
          <p:blipFill>
            <a:blip r:embed="rId2" cstate="print"/>
            <a:stretch>
              <a:fillRect/>
            </a:stretch>
          </p:blipFill>
          <p:spPr>
            <a:xfrm>
              <a:off x="3048" y="17"/>
              <a:ext cx="12185903" cy="6855206"/>
            </a:xfrm>
            <a:prstGeom prst="rect">
              <a:avLst/>
            </a:prstGeom>
          </p:spPr>
        </p:pic>
        <p:sp>
          <p:nvSpPr>
            <p:cNvPr id="4" name="object 4"/>
            <p:cNvSpPr/>
            <p:nvPr/>
          </p:nvSpPr>
          <p:spPr>
            <a:xfrm>
              <a:off x="537972" y="1461515"/>
              <a:ext cx="11119485" cy="5148580"/>
            </a:xfrm>
            <a:custGeom>
              <a:avLst/>
              <a:gdLst/>
              <a:ahLst/>
              <a:cxnLst/>
              <a:rect l="l" t="t" r="r" b="b"/>
              <a:pathLst>
                <a:path w="11119485" h="5148580">
                  <a:moveTo>
                    <a:pt x="11119104" y="0"/>
                  </a:moveTo>
                  <a:lnTo>
                    <a:pt x="0" y="0"/>
                  </a:lnTo>
                  <a:lnTo>
                    <a:pt x="0" y="5148072"/>
                  </a:lnTo>
                  <a:lnTo>
                    <a:pt x="11119104" y="5148072"/>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1515"/>
              <a:ext cx="11119485" cy="5148580"/>
            </a:xfrm>
            <a:custGeom>
              <a:avLst/>
              <a:gdLst/>
              <a:ahLst/>
              <a:cxnLst/>
              <a:rect l="l" t="t" r="r" b="b"/>
              <a:pathLst>
                <a:path w="11119485" h="5148580">
                  <a:moveTo>
                    <a:pt x="0" y="5148072"/>
                  </a:moveTo>
                  <a:lnTo>
                    <a:pt x="11119104" y="5148072"/>
                  </a:lnTo>
                  <a:lnTo>
                    <a:pt x="11119104" y="0"/>
                  </a:lnTo>
                  <a:lnTo>
                    <a:pt x="0" y="0"/>
                  </a:lnTo>
                  <a:lnTo>
                    <a:pt x="0" y="5148072"/>
                  </a:lnTo>
                  <a:close/>
                </a:path>
              </a:pathLst>
            </a:custGeom>
            <a:ln w="9525">
              <a:solidFill>
                <a:srgbClr val="F8CCAC"/>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FF7800"/>
            </a:solidFill>
          </p:spPr>
          <p:txBody>
            <a:bodyPr wrap="square" lIns="0" tIns="0" rIns="0" bIns="0" rtlCol="0"/>
            <a:lstStyle/>
            <a:p>
              <a:endParaRPr/>
            </a:p>
          </p:txBody>
        </p:sp>
      </p:grpSp>
      <p:grpSp>
        <p:nvGrpSpPr>
          <p:cNvPr id="8" name="object 8"/>
          <p:cNvGrpSpPr/>
          <p:nvPr/>
        </p:nvGrpSpPr>
        <p:grpSpPr>
          <a:xfrm>
            <a:off x="3176016" y="3523488"/>
            <a:ext cx="3633215" cy="2648712"/>
            <a:chOff x="3176016" y="3176016"/>
            <a:chExt cx="3633215" cy="2648712"/>
          </a:xfrm>
        </p:grpSpPr>
        <p:pic>
          <p:nvPicPr>
            <p:cNvPr id="11" name="object 11"/>
            <p:cNvPicPr/>
            <p:nvPr/>
          </p:nvPicPr>
          <p:blipFill>
            <a:blip r:embed="rId3" cstate="print"/>
            <a:stretch>
              <a:fillRect/>
            </a:stretch>
          </p:blipFill>
          <p:spPr>
            <a:xfrm>
              <a:off x="4029455" y="3176016"/>
              <a:ext cx="2779776" cy="2648712"/>
            </a:xfrm>
            <a:prstGeom prst="rect">
              <a:avLst/>
            </a:prstGeom>
          </p:spPr>
        </p:pic>
        <p:sp>
          <p:nvSpPr>
            <p:cNvPr id="12" name="object 12"/>
            <p:cNvSpPr/>
            <p:nvPr/>
          </p:nvSpPr>
          <p:spPr>
            <a:xfrm>
              <a:off x="3176016" y="5559552"/>
              <a:ext cx="852169" cy="76835"/>
            </a:xfrm>
            <a:custGeom>
              <a:avLst/>
              <a:gdLst/>
              <a:ahLst/>
              <a:cxnLst/>
              <a:rect l="l" t="t" r="r" b="b"/>
              <a:pathLst>
                <a:path w="852170" h="76835">
                  <a:moveTo>
                    <a:pt x="775843" y="0"/>
                  </a:moveTo>
                  <a:lnTo>
                    <a:pt x="775631" y="31776"/>
                  </a:lnTo>
                  <a:lnTo>
                    <a:pt x="788288" y="31851"/>
                  </a:lnTo>
                  <a:lnTo>
                    <a:pt x="788161" y="44551"/>
                  </a:lnTo>
                  <a:lnTo>
                    <a:pt x="775546" y="44551"/>
                  </a:lnTo>
                  <a:lnTo>
                    <a:pt x="775334" y="76225"/>
                  </a:lnTo>
                  <a:lnTo>
                    <a:pt x="839665" y="44551"/>
                  </a:lnTo>
                  <a:lnTo>
                    <a:pt x="788161" y="44551"/>
                  </a:lnTo>
                  <a:lnTo>
                    <a:pt x="839817" y="44476"/>
                  </a:lnTo>
                  <a:lnTo>
                    <a:pt x="851788" y="38582"/>
                  </a:lnTo>
                  <a:lnTo>
                    <a:pt x="775843" y="0"/>
                  </a:lnTo>
                  <a:close/>
                </a:path>
                <a:path w="852170" h="76835">
                  <a:moveTo>
                    <a:pt x="775631" y="31776"/>
                  </a:moveTo>
                  <a:lnTo>
                    <a:pt x="775546" y="44476"/>
                  </a:lnTo>
                  <a:lnTo>
                    <a:pt x="788161" y="44551"/>
                  </a:lnTo>
                  <a:lnTo>
                    <a:pt x="788288" y="31851"/>
                  </a:lnTo>
                  <a:lnTo>
                    <a:pt x="775631" y="31776"/>
                  </a:lnTo>
                  <a:close/>
                </a:path>
                <a:path w="852170" h="76835">
                  <a:moveTo>
                    <a:pt x="0" y="27178"/>
                  </a:moveTo>
                  <a:lnTo>
                    <a:pt x="0" y="39878"/>
                  </a:lnTo>
                  <a:lnTo>
                    <a:pt x="775546" y="44476"/>
                  </a:lnTo>
                  <a:lnTo>
                    <a:pt x="775631" y="31776"/>
                  </a:lnTo>
                  <a:lnTo>
                    <a:pt x="0" y="27178"/>
                  </a:lnTo>
                  <a:close/>
                </a:path>
              </a:pathLst>
            </a:custGeom>
            <a:solidFill>
              <a:srgbClr val="000000"/>
            </a:solidFill>
          </p:spPr>
          <p:txBody>
            <a:bodyPr wrap="square" lIns="0" tIns="0" rIns="0" bIns="0" rtlCol="0"/>
            <a:lstStyle/>
            <a:p>
              <a:endParaRPr/>
            </a:p>
          </p:txBody>
        </p:sp>
      </p:grpSp>
      <p:sp>
        <p:nvSpPr>
          <p:cNvPr id="14" name="object 14"/>
          <p:cNvSpPr txBox="1"/>
          <p:nvPr/>
        </p:nvSpPr>
        <p:spPr>
          <a:xfrm>
            <a:off x="826414" y="1798065"/>
            <a:ext cx="9765386" cy="1331134"/>
          </a:xfrm>
          <a:prstGeom prst="rect">
            <a:avLst/>
          </a:prstGeom>
        </p:spPr>
        <p:txBody>
          <a:bodyPr vert="horz" wrap="square" lIns="0" tIns="12700" rIns="0" bIns="0" rtlCol="0">
            <a:spAutoFit/>
          </a:bodyPr>
          <a:lstStyle/>
          <a:p>
            <a:pPr marL="12700">
              <a:lnSpc>
                <a:spcPct val="100000"/>
              </a:lnSpc>
              <a:spcBef>
                <a:spcPts val="100"/>
              </a:spcBef>
            </a:pPr>
            <a:r>
              <a:rPr sz="1600" spc="-10" dirty="0">
                <a:solidFill>
                  <a:srgbClr val="585858"/>
                </a:solidFill>
                <a:latin typeface="Calibri"/>
                <a:cs typeface="Calibri"/>
              </a:rPr>
              <a:t>Maintenant,</a:t>
            </a:r>
            <a:r>
              <a:rPr sz="1600" spc="-45" dirty="0">
                <a:solidFill>
                  <a:srgbClr val="585858"/>
                </a:solidFill>
                <a:latin typeface="Calibri"/>
                <a:cs typeface="Calibri"/>
              </a:rPr>
              <a:t> </a:t>
            </a:r>
            <a:r>
              <a:rPr sz="1600" dirty="0">
                <a:solidFill>
                  <a:srgbClr val="585858"/>
                </a:solidFill>
                <a:latin typeface="Calibri"/>
                <a:cs typeface="Calibri"/>
              </a:rPr>
              <a:t>pour</a:t>
            </a:r>
            <a:r>
              <a:rPr sz="1600" spc="-20" dirty="0">
                <a:solidFill>
                  <a:srgbClr val="585858"/>
                </a:solidFill>
                <a:latin typeface="Calibri"/>
                <a:cs typeface="Calibri"/>
              </a:rPr>
              <a:t> </a:t>
            </a:r>
            <a:r>
              <a:rPr sz="1600" dirty="0">
                <a:solidFill>
                  <a:srgbClr val="585858"/>
                </a:solidFill>
                <a:latin typeface="Calibri"/>
                <a:cs typeface="Calibri"/>
              </a:rPr>
              <a:t>jeter</a:t>
            </a:r>
            <a:r>
              <a:rPr sz="1600" spc="-25" dirty="0">
                <a:solidFill>
                  <a:srgbClr val="585858"/>
                </a:solidFill>
                <a:latin typeface="Calibri"/>
                <a:cs typeface="Calibri"/>
              </a:rPr>
              <a:t> </a:t>
            </a:r>
            <a:r>
              <a:rPr sz="1600" dirty="0">
                <a:solidFill>
                  <a:srgbClr val="585858"/>
                </a:solidFill>
                <a:latin typeface="Calibri"/>
                <a:cs typeface="Calibri"/>
              </a:rPr>
              <a:t>un</a:t>
            </a:r>
            <a:r>
              <a:rPr sz="1600" spc="-40" dirty="0">
                <a:solidFill>
                  <a:srgbClr val="585858"/>
                </a:solidFill>
                <a:latin typeface="Calibri"/>
                <a:cs typeface="Calibri"/>
              </a:rPr>
              <a:t> </a:t>
            </a:r>
            <a:r>
              <a:rPr sz="1600" dirty="0">
                <a:solidFill>
                  <a:srgbClr val="585858"/>
                </a:solidFill>
                <a:latin typeface="Calibri"/>
                <a:cs typeface="Calibri"/>
              </a:rPr>
              <a:t>œil</a:t>
            </a:r>
            <a:r>
              <a:rPr sz="1600" spc="-5" dirty="0">
                <a:solidFill>
                  <a:srgbClr val="585858"/>
                </a:solidFill>
                <a:latin typeface="Calibri"/>
                <a:cs typeface="Calibri"/>
              </a:rPr>
              <a:t> </a:t>
            </a:r>
            <a:r>
              <a:rPr sz="1600" dirty="0">
                <a:solidFill>
                  <a:srgbClr val="585858"/>
                </a:solidFill>
                <a:latin typeface="Calibri"/>
                <a:cs typeface="Calibri"/>
              </a:rPr>
              <a:t>sur</a:t>
            </a:r>
            <a:r>
              <a:rPr sz="1600" spc="-25" dirty="0">
                <a:solidFill>
                  <a:srgbClr val="585858"/>
                </a:solidFill>
                <a:latin typeface="Calibri"/>
                <a:cs typeface="Calibri"/>
              </a:rPr>
              <a:t> </a:t>
            </a:r>
            <a:r>
              <a:rPr sz="1600" dirty="0">
                <a:solidFill>
                  <a:srgbClr val="585858"/>
                </a:solidFill>
                <a:latin typeface="Calibri"/>
                <a:cs typeface="Calibri"/>
              </a:rPr>
              <a:t>les processus en</a:t>
            </a:r>
            <a:r>
              <a:rPr sz="1600" spc="-40" dirty="0">
                <a:solidFill>
                  <a:srgbClr val="585858"/>
                </a:solidFill>
                <a:latin typeface="Calibri"/>
                <a:cs typeface="Calibri"/>
              </a:rPr>
              <a:t> </a:t>
            </a:r>
            <a:r>
              <a:rPr sz="1600" dirty="0">
                <a:solidFill>
                  <a:srgbClr val="585858"/>
                </a:solidFill>
                <a:latin typeface="Calibri"/>
                <a:cs typeface="Calibri"/>
              </a:rPr>
              <a:t>cours</a:t>
            </a:r>
            <a:r>
              <a:rPr sz="1600" spc="-15" dirty="0">
                <a:solidFill>
                  <a:srgbClr val="585858"/>
                </a:solidFill>
                <a:latin typeface="Calibri"/>
                <a:cs typeface="Calibri"/>
              </a:rPr>
              <a:t> </a:t>
            </a:r>
            <a:r>
              <a:rPr sz="1600" spc="-20" dirty="0">
                <a:solidFill>
                  <a:srgbClr val="585858"/>
                </a:solidFill>
                <a:latin typeface="Calibri"/>
                <a:cs typeface="Calibri"/>
              </a:rPr>
              <a:t>d’exécution,</a:t>
            </a:r>
            <a:r>
              <a:rPr sz="1600" spc="25" dirty="0">
                <a:solidFill>
                  <a:srgbClr val="585858"/>
                </a:solidFill>
                <a:latin typeface="Calibri"/>
                <a:cs typeface="Calibri"/>
              </a:rPr>
              <a:t> </a:t>
            </a:r>
            <a:r>
              <a:rPr sz="1600" dirty="0">
                <a:solidFill>
                  <a:srgbClr val="585858"/>
                </a:solidFill>
                <a:latin typeface="Calibri"/>
                <a:cs typeface="Calibri"/>
              </a:rPr>
              <a:t>on</a:t>
            </a:r>
            <a:r>
              <a:rPr sz="1600" spc="-20" dirty="0">
                <a:solidFill>
                  <a:srgbClr val="585858"/>
                </a:solidFill>
                <a:latin typeface="Calibri"/>
                <a:cs typeface="Calibri"/>
              </a:rPr>
              <a:t> </a:t>
            </a:r>
            <a:r>
              <a:rPr sz="1600" dirty="0">
                <a:solidFill>
                  <a:srgbClr val="585858"/>
                </a:solidFill>
                <a:latin typeface="Calibri"/>
                <a:cs typeface="Calibri"/>
              </a:rPr>
              <a:t>peut</a:t>
            </a:r>
            <a:r>
              <a:rPr sz="1600" spc="-10" dirty="0">
                <a:solidFill>
                  <a:srgbClr val="585858"/>
                </a:solidFill>
                <a:latin typeface="Calibri"/>
                <a:cs typeface="Calibri"/>
              </a:rPr>
              <a:t> </a:t>
            </a:r>
            <a:r>
              <a:rPr sz="1600" dirty="0">
                <a:solidFill>
                  <a:srgbClr val="585858"/>
                </a:solidFill>
                <a:latin typeface="Calibri"/>
                <a:cs typeface="Calibri"/>
              </a:rPr>
              <a:t>procéder de</a:t>
            </a:r>
            <a:r>
              <a:rPr sz="1600" spc="-30" dirty="0">
                <a:solidFill>
                  <a:srgbClr val="585858"/>
                </a:solidFill>
                <a:latin typeface="Calibri"/>
                <a:cs typeface="Calibri"/>
              </a:rPr>
              <a:t> </a:t>
            </a:r>
            <a:r>
              <a:rPr sz="1600" dirty="0">
                <a:solidFill>
                  <a:srgbClr val="585858"/>
                </a:solidFill>
                <a:latin typeface="Calibri"/>
                <a:cs typeface="Calibri"/>
              </a:rPr>
              <a:t>deux</a:t>
            </a:r>
            <a:r>
              <a:rPr sz="1600" spc="-5" dirty="0">
                <a:solidFill>
                  <a:srgbClr val="585858"/>
                </a:solidFill>
                <a:latin typeface="Calibri"/>
                <a:cs typeface="Calibri"/>
              </a:rPr>
              <a:t> </a:t>
            </a:r>
            <a:r>
              <a:rPr sz="1600" spc="-10" dirty="0">
                <a:solidFill>
                  <a:srgbClr val="585858"/>
                </a:solidFill>
                <a:latin typeface="Calibri"/>
                <a:cs typeface="Calibri"/>
              </a:rPr>
              <a:t>manières.</a:t>
            </a:r>
            <a:endParaRPr sz="1600" dirty="0">
              <a:latin typeface="Calibri"/>
              <a:cs typeface="Calibri"/>
            </a:endParaRPr>
          </a:p>
          <a:p>
            <a:pPr marL="355600" indent="-342900">
              <a:lnSpc>
                <a:spcPct val="100000"/>
              </a:lnSpc>
              <a:spcBef>
                <a:spcPts val="1320"/>
              </a:spcBef>
              <a:buFont typeface="+mj-lt"/>
              <a:buAutoNum type="arabicPeriod"/>
              <a:tabLst>
                <a:tab pos="170815" algn="l"/>
              </a:tabLst>
            </a:pPr>
            <a:r>
              <a:rPr sz="1600" dirty="0">
                <a:solidFill>
                  <a:srgbClr val="585858"/>
                </a:solidFill>
                <a:latin typeface="Calibri"/>
                <a:cs typeface="Calibri"/>
              </a:rPr>
              <a:t>Utiliser</a:t>
            </a:r>
            <a:r>
              <a:rPr sz="1600" spc="-15" dirty="0">
                <a:solidFill>
                  <a:srgbClr val="585858"/>
                </a:solidFill>
                <a:latin typeface="Calibri"/>
                <a:cs typeface="Calibri"/>
              </a:rPr>
              <a:t> </a:t>
            </a:r>
            <a:r>
              <a:rPr sz="1600" dirty="0">
                <a:solidFill>
                  <a:srgbClr val="585858"/>
                </a:solidFill>
                <a:latin typeface="Calibri"/>
                <a:cs typeface="Calibri"/>
              </a:rPr>
              <a:t>la</a:t>
            </a:r>
            <a:r>
              <a:rPr sz="1600" spc="-20" dirty="0">
                <a:solidFill>
                  <a:srgbClr val="585858"/>
                </a:solidFill>
                <a:latin typeface="Calibri"/>
                <a:cs typeface="Calibri"/>
              </a:rPr>
              <a:t> </a:t>
            </a:r>
            <a:r>
              <a:rPr sz="1600" dirty="0">
                <a:solidFill>
                  <a:srgbClr val="585858"/>
                </a:solidFill>
                <a:latin typeface="Calibri"/>
                <a:cs typeface="Calibri"/>
              </a:rPr>
              <a:t>combinaison</a:t>
            </a:r>
            <a:r>
              <a:rPr sz="1600" spc="-15" dirty="0">
                <a:solidFill>
                  <a:srgbClr val="585858"/>
                </a:solidFill>
                <a:latin typeface="Calibri"/>
                <a:cs typeface="Calibri"/>
              </a:rPr>
              <a:t> </a:t>
            </a:r>
            <a:r>
              <a:rPr sz="1600" dirty="0">
                <a:solidFill>
                  <a:srgbClr val="585858"/>
                </a:solidFill>
                <a:latin typeface="Calibri"/>
                <a:cs typeface="Calibri"/>
              </a:rPr>
              <a:t>clavier</a:t>
            </a:r>
            <a:r>
              <a:rPr sz="1600" spc="-10" dirty="0">
                <a:solidFill>
                  <a:srgbClr val="585858"/>
                </a:solidFill>
                <a:latin typeface="Calibri"/>
                <a:cs typeface="Calibri"/>
              </a:rPr>
              <a:t> </a:t>
            </a:r>
            <a:r>
              <a:rPr sz="1600" b="1" dirty="0">
                <a:solidFill>
                  <a:srgbClr val="585858"/>
                </a:solidFill>
                <a:latin typeface="Calibri"/>
                <a:cs typeface="Calibri"/>
              </a:rPr>
              <a:t>Control</a:t>
            </a:r>
            <a:r>
              <a:rPr sz="1600" b="1" spc="-30" dirty="0">
                <a:solidFill>
                  <a:srgbClr val="585858"/>
                </a:solidFill>
                <a:latin typeface="Calibri"/>
                <a:cs typeface="Calibri"/>
              </a:rPr>
              <a:t> </a:t>
            </a:r>
            <a:r>
              <a:rPr sz="1600" b="1" dirty="0">
                <a:solidFill>
                  <a:srgbClr val="585858"/>
                </a:solidFill>
                <a:latin typeface="Calibri"/>
                <a:cs typeface="Calibri"/>
              </a:rPr>
              <a:t>+</a:t>
            </a:r>
            <a:r>
              <a:rPr sz="1600" b="1" spc="-25" dirty="0">
                <a:solidFill>
                  <a:srgbClr val="585858"/>
                </a:solidFill>
                <a:latin typeface="Calibri"/>
                <a:cs typeface="Calibri"/>
              </a:rPr>
              <a:t> </a:t>
            </a:r>
            <a:r>
              <a:rPr sz="1600" b="1" dirty="0">
                <a:solidFill>
                  <a:srgbClr val="585858"/>
                </a:solidFill>
                <a:latin typeface="Calibri"/>
                <a:cs typeface="Calibri"/>
              </a:rPr>
              <a:t>Alt</a:t>
            </a:r>
            <a:r>
              <a:rPr sz="1600" b="1" spc="-35" dirty="0">
                <a:solidFill>
                  <a:srgbClr val="585858"/>
                </a:solidFill>
                <a:latin typeface="Calibri"/>
                <a:cs typeface="Calibri"/>
              </a:rPr>
              <a:t> </a:t>
            </a:r>
            <a:r>
              <a:rPr sz="1600" b="1" dirty="0">
                <a:solidFill>
                  <a:srgbClr val="585858"/>
                </a:solidFill>
                <a:latin typeface="Calibri"/>
                <a:cs typeface="Calibri"/>
              </a:rPr>
              <a:t>+</a:t>
            </a:r>
            <a:r>
              <a:rPr sz="1600" b="1" spc="-45" dirty="0">
                <a:solidFill>
                  <a:srgbClr val="585858"/>
                </a:solidFill>
                <a:latin typeface="Calibri"/>
                <a:cs typeface="Calibri"/>
              </a:rPr>
              <a:t> </a:t>
            </a:r>
            <a:r>
              <a:rPr sz="1600" b="1" spc="-10" dirty="0" err="1" smtClean="0">
                <a:solidFill>
                  <a:srgbClr val="585858"/>
                </a:solidFill>
                <a:latin typeface="Calibri"/>
                <a:cs typeface="Calibri"/>
              </a:rPr>
              <a:t>Suppr</a:t>
            </a:r>
            <a:r>
              <a:rPr sz="1600" b="1" spc="-10" dirty="0" smtClean="0">
                <a:solidFill>
                  <a:srgbClr val="585858"/>
                </a:solidFill>
                <a:latin typeface="Calibri"/>
                <a:cs typeface="Calibri"/>
              </a:rPr>
              <a:t>.</a:t>
            </a:r>
            <a:endParaRPr lang="fr-FR" sz="1600" dirty="0">
              <a:latin typeface="Calibri"/>
              <a:cs typeface="Calibri"/>
            </a:endParaRPr>
          </a:p>
          <a:p>
            <a:pPr marL="355600" indent="-342900">
              <a:lnSpc>
                <a:spcPct val="100000"/>
              </a:lnSpc>
              <a:spcBef>
                <a:spcPts val="1320"/>
              </a:spcBef>
              <a:buFont typeface="+mj-lt"/>
              <a:buAutoNum type="arabicPeriod"/>
              <a:tabLst>
                <a:tab pos="170815" algn="l"/>
              </a:tabLst>
            </a:pPr>
            <a:r>
              <a:rPr sz="1600" dirty="0" smtClean="0">
                <a:solidFill>
                  <a:srgbClr val="585858"/>
                </a:solidFill>
                <a:latin typeface="Calibri"/>
                <a:cs typeface="Calibri"/>
              </a:rPr>
              <a:t>Faire</a:t>
            </a:r>
            <a:r>
              <a:rPr sz="1600" spc="-15" dirty="0" smtClean="0">
                <a:solidFill>
                  <a:srgbClr val="585858"/>
                </a:solidFill>
                <a:latin typeface="Calibri"/>
                <a:cs typeface="Calibri"/>
              </a:rPr>
              <a:t> </a:t>
            </a:r>
            <a:r>
              <a:rPr sz="1600" dirty="0">
                <a:solidFill>
                  <a:srgbClr val="585858"/>
                </a:solidFill>
                <a:latin typeface="Calibri"/>
                <a:cs typeface="Calibri"/>
              </a:rPr>
              <a:t>un</a:t>
            </a:r>
            <a:r>
              <a:rPr sz="1600" spc="-15" dirty="0">
                <a:solidFill>
                  <a:srgbClr val="585858"/>
                </a:solidFill>
                <a:latin typeface="Calibri"/>
                <a:cs typeface="Calibri"/>
              </a:rPr>
              <a:t> </a:t>
            </a:r>
            <a:r>
              <a:rPr sz="1600" b="1" dirty="0">
                <a:solidFill>
                  <a:srgbClr val="585858"/>
                </a:solidFill>
                <a:latin typeface="Calibri"/>
                <a:cs typeface="Calibri"/>
              </a:rPr>
              <a:t>clic</a:t>
            </a:r>
            <a:r>
              <a:rPr sz="1600" b="1" spc="-10" dirty="0">
                <a:solidFill>
                  <a:srgbClr val="585858"/>
                </a:solidFill>
                <a:latin typeface="Calibri"/>
                <a:cs typeface="Calibri"/>
              </a:rPr>
              <a:t> </a:t>
            </a:r>
            <a:r>
              <a:rPr sz="1600" b="1" dirty="0">
                <a:solidFill>
                  <a:srgbClr val="585858"/>
                </a:solidFill>
                <a:latin typeface="Calibri"/>
                <a:cs typeface="Calibri"/>
              </a:rPr>
              <a:t>droit</a:t>
            </a:r>
            <a:r>
              <a:rPr sz="1600" b="1" spc="-20" dirty="0">
                <a:solidFill>
                  <a:srgbClr val="585858"/>
                </a:solidFill>
                <a:latin typeface="Calibri"/>
                <a:cs typeface="Calibri"/>
              </a:rPr>
              <a:t> </a:t>
            </a:r>
            <a:r>
              <a:rPr sz="1600" b="1" dirty="0">
                <a:solidFill>
                  <a:srgbClr val="585858"/>
                </a:solidFill>
                <a:latin typeface="Calibri"/>
                <a:cs typeface="Calibri"/>
              </a:rPr>
              <a:t>sur</a:t>
            </a:r>
            <a:r>
              <a:rPr sz="1600" b="1" spc="-35" dirty="0">
                <a:solidFill>
                  <a:srgbClr val="585858"/>
                </a:solidFill>
                <a:latin typeface="Calibri"/>
                <a:cs typeface="Calibri"/>
              </a:rPr>
              <a:t> </a:t>
            </a:r>
            <a:r>
              <a:rPr sz="1600" b="1" dirty="0">
                <a:solidFill>
                  <a:srgbClr val="585858"/>
                </a:solidFill>
                <a:latin typeface="Calibri"/>
                <a:cs typeface="Calibri"/>
              </a:rPr>
              <a:t>la</a:t>
            </a:r>
            <a:r>
              <a:rPr sz="1600" b="1" spc="-5" dirty="0">
                <a:solidFill>
                  <a:srgbClr val="585858"/>
                </a:solidFill>
                <a:latin typeface="Calibri"/>
                <a:cs typeface="Calibri"/>
              </a:rPr>
              <a:t> </a:t>
            </a:r>
            <a:r>
              <a:rPr sz="1600" b="1" dirty="0">
                <a:solidFill>
                  <a:srgbClr val="585858"/>
                </a:solidFill>
                <a:latin typeface="Calibri"/>
                <a:cs typeface="Calibri"/>
              </a:rPr>
              <a:t>barre</a:t>
            </a:r>
            <a:r>
              <a:rPr sz="1600" b="1" spc="-35" dirty="0">
                <a:solidFill>
                  <a:srgbClr val="585858"/>
                </a:solidFill>
                <a:latin typeface="Calibri"/>
                <a:cs typeface="Calibri"/>
              </a:rPr>
              <a:t> </a:t>
            </a:r>
            <a:r>
              <a:rPr sz="1600" b="1" dirty="0">
                <a:solidFill>
                  <a:srgbClr val="585858"/>
                </a:solidFill>
                <a:latin typeface="Calibri"/>
                <a:cs typeface="Calibri"/>
              </a:rPr>
              <a:t>des</a:t>
            </a:r>
            <a:r>
              <a:rPr sz="1600" b="1" spc="-30" dirty="0">
                <a:solidFill>
                  <a:srgbClr val="585858"/>
                </a:solidFill>
                <a:latin typeface="Calibri"/>
                <a:cs typeface="Calibri"/>
              </a:rPr>
              <a:t> </a:t>
            </a:r>
            <a:r>
              <a:rPr sz="1600" b="1" dirty="0">
                <a:solidFill>
                  <a:srgbClr val="585858"/>
                </a:solidFill>
                <a:latin typeface="Calibri"/>
                <a:cs typeface="Calibri"/>
              </a:rPr>
              <a:t>tâches</a:t>
            </a:r>
            <a:r>
              <a:rPr sz="1600" b="1" spc="-55" dirty="0">
                <a:solidFill>
                  <a:srgbClr val="585858"/>
                </a:solidFill>
                <a:latin typeface="Calibri"/>
                <a:cs typeface="Calibri"/>
              </a:rPr>
              <a:t> </a:t>
            </a:r>
            <a:r>
              <a:rPr sz="1600" dirty="0">
                <a:solidFill>
                  <a:srgbClr val="585858"/>
                </a:solidFill>
                <a:latin typeface="Calibri"/>
                <a:cs typeface="Calibri"/>
              </a:rPr>
              <a:t>au</a:t>
            </a:r>
            <a:r>
              <a:rPr sz="1600" spc="-15" dirty="0">
                <a:solidFill>
                  <a:srgbClr val="585858"/>
                </a:solidFill>
                <a:latin typeface="Calibri"/>
                <a:cs typeface="Calibri"/>
              </a:rPr>
              <a:t> </a:t>
            </a:r>
            <a:r>
              <a:rPr sz="1600" dirty="0">
                <a:solidFill>
                  <a:srgbClr val="585858"/>
                </a:solidFill>
                <a:latin typeface="Calibri"/>
                <a:cs typeface="Calibri"/>
              </a:rPr>
              <a:t>niveau</a:t>
            </a:r>
            <a:r>
              <a:rPr sz="1600" spc="-40" dirty="0">
                <a:solidFill>
                  <a:srgbClr val="585858"/>
                </a:solidFill>
                <a:latin typeface="Calibri"/>
                <a:cs typeface="Calibri"/>
              </a:rPr>
              <a:t> </a:t>
            </a:r>
            <a:r>
              <a:rPr sz="1600" dirty="0">
                <a:solidFill>
                  <a:srgbClr val="585858"/>
                </a:solidFill>
                <a:latin typeface="Calibri"/>
                <a:cs typeface="Calibri"/>
              </a:rPr>
              <a:t>de</a:t>
            </a:r>
            <a:r>
              <a:rPr sz="1600" spc="-35" dirty="0">
                <a:solidFill>
                  <a:srgbClr val="585858"/>
                </a:solidFill>
                <a:latin typeface="Calibri"/>
                <a:cs typeface="Calibri"/>
              </a:rPr>
              <a:t> </a:t>
            </a:r>
            <a:r>
              <a:rPr sz="1600" dirty="0">
                <a:solidFill>
                  <a:srgbClr val="585858"/>
                </a:solidFill>
                <a:latin typeface="Calibri"/>
                <a:cs typeface="Calibri"/>
              </a:rPr>
              <a:t>la</a:t>
            </a:r>
            <a:r>
              <a:rPr sz="1600" spc="-10" dirty="0">
                <a:solidFill>
                  <a:srgbClr val="585858"/>
                </a:solidFill>
                <a:latin typeface="Calibri"/>
                <a:cs typeface="Calibri"/>
              </a:rPr>
              <a:t> </a:t>
            </a:r>
            <a:r>
              <a:rPr sz="1600" dirty="0">
                <a:solidFill>
                  <a:srgbClr val="585858"/>
                </a:solidFill>
                <a:latin typeface="Calibri"/>
                <a:cs typeface="Calibri"/>
              </a:rPr>
              <a:t>barre</a:t>
            </a:r>
            <a:r>
              <a:rPr sz="1600" spc="-15" dirty="0">
                <a:solidFill>
                  <a:srgbClr val="585858"/>
                </a:solidFill>
                <a:latin typeface="Calibri"/>
                <a:cs typeface="Calibri"/>
              </a:rPr>
              <a:t> </a:t>
            </a:r>
            <a:r>
              <a:rPr sz="1600" dirty="0">
                <a:solidFill>
                  <a:srgbClr val="585858"/>
                </a:solidFill>
                <a:latin typeface="Calibri"/>
                <a:cs typeface="Calibri"/>
              </a:rPr>
              <a:t>en</a:t>
            </a:r>
            <a:r>
              <a:rPr sz="1600" spc="-15" dirty="0">
                <a:solidFill>
                  <a:srgbClr val="585858"/>
                </a:solidFill>
                <a:latin typeface="Calibri"/>
                <a:cs typeface="Calibri"/>
              </a:rPr>
              <a:t> </a:t>
            </a:r>
            <a:r>
              <a:rPr sz="1600" dirty="0">
                <a:solidFill>
                  <a:srgbClr val="585858"/>
                </a:solidFill>
                <a:latin typeface="Calibri"/>
                <a:cs typeface="Calibri"/>
              </a:rPr>
              <a:t>bas</a:t>
            </a:r>
            <a:r>
              <a:rPr sz="1600" spc="-20" dirty="0">
                <a:solidFill>
                  <a:srgbClr val="585858"/>
                </a:solidFill>
                <a:latin typeface="Calibri"/>
                <a:cs typeface="Calibri"/>
              </a:rPr>
              <a:t> </a:t>
            </a:r>
            <a:r>
              <a:rPr sz="1600" dirty="0">
                <a:solidFill>
                  <a:srgbClr val="585858"/>
                </a:solidFill>
                <a:latin typeface="Calibri"/>
                <a:cs typeface="Calibri"/>
              </a:rPr>
              <a:t>de</a:t>
            </a:r>
            <a:r>
              <a:rPr sz="1600" spc="-35" dirty="0">
                <a:solidFill>
                  <a:srgbClr val="585858"/>
                </a:solidFill>
                <a:latin typeface="Calibri"/>
                <a:cs typeface="Calibri"/>
              </a:rPr>
              <a:t> </a:t>
            </a:r>
            <a:r>
              <a:rPr sz="1600" spc="-20" dirty="0">
                <a:solidFill>
                  <a:srgbClr val="585858"/>
                </a:solidFill>
                <a:latin typeface="Calibri"/>
                <a:cs typeface="Calibri"/>
              </a:rPr>
              <a:t>l’écran,</a:t>
            </a:r>
            <a:r>
              <a:rPr sz="1600" spc="15" dirty="0">
                <a:solidFill>
                  <a:srgbClr val="585858"/>
                </a:solidFill>
                <a:latin typeface="Calibri"/>
                <a:cs typeface="Calibri"/>
              </a:rPr>
              <a:t> </a:t>
            </a:r>
            <a:r>
              <a:rPr sz="1600" dirty="0">
                <a:solidFill>
                  <a:srgbClr val="585858"/>
                </a:solidFill>
                <a:latin typeface="Calibri"/>
                <a:cs typeface="Calibri"/>
              </a:rPr>
              <a:t>à</a:t>
            </a:r>
            <a:r>
              <a:rPr sz="1600" spc="-10" dirty="0">
                <a:solidFill>
                  <a:srgbClr val="585858"/>
                </a:solidFill>
                <a:latin typeface="Calibri"/>
                <a:cs typeface="Calibri"/>
              </a:rPr>
              <a:t> </a:t>
            </a:r>
            <a:r>
              <a:rPr sz="1600" dirty="0">
                <a:solidFill>
                  <a:srgbClr val="585858"/>
                </a:solidFill>
                <a:latin typeface="Calibri"/>
                <a:cs typeface="Calibri"/>
              </a:rPr>
              <a:t>coté</a:t>
            </a:r>
            <a:r>
              <a:rPr sz="1600" spc="-10" dirty="0">
                <a:solidFill>
                  <a:srgbClr val="585858"/>
                </a:solidFill>
                <a:latin typeface="Calibri"/>
                <a:cs typeface="Calibri"/>
              </a:rPr>
              <a:t> </a:t>
            </a:r>
            <a:r>
              <a:rPr sz="1600" dirty="0">
                <a:solidFill>
                  <a:srgbClr val="585858"/>
                </a:solidFill>
                <a:latin typeface="Calibri"/>
                <a:cs typeface="Calibri"/>
              </a:rPr>
              <a:t>du</a:t>
            </a:r>
            <a:r>
              <a:rPr sz="1600" spc="-40" dirty="0">
                <a:solidFill>
                  <a:srgbClr val="585858"/>
                </a:solidFill>
                <a:latin typeface="Calibri"/>
                <a:cs typeface="Calibri"/>
              </a:rPr>
              <a:t> </a:t>
            </a:r>
            <a:r>
              <a:rPr sz="1600" dirty="0">
                <a:solidFill>
                  <a:srgbClr val="585858"/>
                </a:solidFill>
                <a:latin typeface="Calibri"/>
                <a:cs typeface="Calibri"/>
              </a:rPr>
              <a:t>menu</a:t>
            </a:r>
            <a:r>
              <a:rPr sz="1600" spc="-20" dirty="0">
                <a:solidFill>
                  <a:srgbClr val="585858"/>
                </a:solidFill>
                <a:latin typeface="Calibri"/>
                <a:cs typeface="Calibri"/>
              </a:rPr>
              <a:t> </a:t>
            </a:r>
            <a:r>
              <a:rPr sz="1600" dirty="0">
                <a:solidFill>
                  <a:srgbClr val="585858"/>
                </a:solidFill>
                <a:latin typeface="Calibri"/>
                <a:cs typeface="Calibri"/>
              </a:rPr>
              <a:t>démarrer</a:t>
            </a:r>
            <a:r>
              <a:rPr sz="1600" spc="-20" dirty="0">
                <a:solidFill>
                  <a:srgbClr val="585858"/>
                </a:solidFill>
                <a:latin typeface="Calibri"/>
                <a:cs typeface="Calibri"/>
              </a:rPr>
              <a:t> </a:t>
            </a:r>
            <a:r>
              <a:rPr sz="1600" dirty="0">
                <a:solidFill>
                  <a:srgbClr val="585858"/>
                </a:solidFill>
                <a:latin typeface="Calibri"/>
                <a:cs typeface="Calibri"/>
              </a:rPr>
              <a:t>(</a:t>
            </a:r>
            <a:r>
              <a:rPr sz="1600" b="1" dirty="0">
                <a:solidFill>
                  <a:srgbClr val="585858"/>
                </a:solidFill>
                <a:latin typeface="Calibri"/>
                <a:cs typeface="Calibri"/>
              </a:rPr>
              <a:t>voir</a:t>
            </a:r>
            <a:r>
              <a:rPr sz="1600" b="1" spc="-30" dirty="0">
                <a:solidFill>
                  <a:srgbClr val="585858"/>
                </a:solidFill>
                <a:latin typeface="Calibri"/>
                <a:cs typeface="Calibri"/>
              </a:rPr>
              <a:t> </a:t>
            </a:r>
            <a:r>
              <a:rPr sz="1600" b="1" dirty="0">
                <a:solidFill>
                  <a:srgbClr val="585858"/>
                </a:solidFill>
                <a:latin typeface="Calibri"/>
                <a:cs typeface="Calibri"/>
              </a:rPr>
              <a:t>Figure</a:t>
            </a:r>
            <a:r>
              <a:rPr sz="1600" b="1" spc="-15" dirty="0">
                <a:solidFill>
                  <a:srgbClr val="585858"/>
                </a:solidFill>
                <a:latin typeface="Calibri"/>
                <a:cs typeface="Calibri"/>
              </a:rPr>
              <a:t> </a:t>
            </a:r>
            <a:r>
              <a:rPr sz="1600" spc="-20" dirty="0" smtClean="0">
                <a:solidFill>
                  <a:srgbClr val="585858"/>
                </a:solidFill>
                <a:latin typeface="Calibri"/>
                <a:cs typeface="Calibri"/>
              </a:rPr>
              <a:t>). </a:t>
            </a:r>
            <a:r>
              <a:rPr sz="1600" dirty="0">
                <a:solidFill>
                  <a:srgbClr val="585858"/>
                </a:solidFill>
                <a:latin typeface="Calibri"/>
                <a:cs typeface="Calibri"/>
              </a:rPr>
              <a:t>Dans</a:t>
            </a:r>
            <a:r>
              <a:rPr sz="1600" spc="-35" dirty="0">
                <a:solidFill>
                  <a:srgbClr val="585858"/>
                </a:solidFill>
                <a:latin typeface="Calibri"/>
                <a:cs typeface="Calibri"/>
              </a:rPr>
              <a:t> </a:t>
            </a:r>
            <a:r>
              <a:rPr sz="1600" dirty="0">
                <a:solidFill>
                  <a:srgbClr val="585858"/>
                </a:solidFill>
                <a:latin typeface="Calibri"/>
                <a:cs typeface="Calibri"/>
              </a:rPr>
              <a:t>les</a:t>
            </a:r>
            <a:r>
              <a:rPr sz="1600" spc="-10" dirty="0">
                <a:solidFill>
                  <a:srgbClr val="585858"/>
                </a:solidFill>
                <a:latin typeface="Calibri"/>
                <a:cs typeface="Calibri"/>
              </a:rPr>
              <a:t> </a:t>
            </a:r>
            <a:r>
              <a:rPr sz="1600" dirty="0">
                <a:solidFill>
                  <a:srgbClr val="585858"/>
                </a:solidFill>
                <a:latin typeface="Calibri"/>
                <a:cs typeface="Calibri"/>
              </a:rPr>
              <a:t>deux</a:t>
            </a:r>
            <a:r>
              <a:rPr sz="1600" spc="-30" dirty="0">
                <a:solidFill>
                  <a:srgbClr val="585858"/>
                </a:solidFill>
                <a:latin typeface="Calibri"/>
                <a:cs typeface="Calibri"/>
              </a:rPr>
              <a:t> </a:t>
            </a:r>
            <a:r>
              <a:rPr sz="1600" dirty="0">
                <a:solidFill>
                  <a:srgbClr val="585858"/>
                </a:solidFill>
                <a:latin typeface="Calibri"/>
                <a:cs typeface="Calibri"/>
              </a:rPr>
              <a:t>cas,</a:t>
            </a:r>
            <a:r>
              <a:rPr sz="1600" spc="-30" dirty="0">
                <a:solidFill>
                  <a:srgbClr val="585858"/>
                </a:solidFill>
                <a:latin typeface="Calibri"/>
                <a:cs typeface="Calibri"/>
              </a:rPr>
              <a:t> </a:t>
            </a:r>
            <a:r>
              <a:rPr sz="1600" dirty="0">
                <a:solidFill>
                  <a:srgbClr val="585858"/>
                </a:solidFill>
                <a:latin typeface="Calibri"/>
                <a:cs typeface="Calibri"/>
              </a:rPr>
              <a:t>vous</a:t>
            </a:r>
            <a:r>
              <a:rPr sz="1600" spc="-35" dirty="0">
                <a:solidFill>
                  <a:srgbClr val="585858"/>
                </a:solidFill>
                <a:latin typeface="Calibri"/>
                <a:cs typeface="Calibri"/>
              </a:rPr>
              <a:t> </a:t>
            </a:r>
            <a:r>
              <a:rPr sz="1600" dirty="0">
                <a:solidFill>
                  <a:srgbClr val="585858"/>
                </a:solidFill>
                <a:latin typeface="Calibri"/>
                <a:cs typeface="Calibri"/>
              </a:rPr>
              <a:t>devez</a:t>
            </a:r>
            <a:r>
              <a:rPr sz="1600" spc="-70" dirty="0">
                <a:solidFill>
                  <a:srgbClr val="585858"/>
                </a:solidFill>
                <a:latin typeface="Calibri"/>
                <a:cs typeface="Calibri"/>
              </a:rPr>
              <a:t> </a:t>
            </a:r>
            <a:r>
              <a:rPr sz="1600" dirty="0">
                <a:solidFill>
                  <a:srgbClr val="585858"/>
                </a:solidFill>
                <a:latin typeface="Calibri"/>
                <a:cs typeface="Calibri"/>
              </a:rPr>
              <a:t>choisir</a:t>
            </a:r>
            <a:r>
              <a:rPr sz="1600" spc="-5" dirty="0">
                <a:solidFill>
                  <a:srgbClr val="585858"/>
                </a:solidFill>
                <a:latin typeface="Calibri"/>
                <a:cs typeface="Calibri"/>
              </a:rPr>
              <a:t> </a:t>
            </a:r>
            <a:r>
              <a:rPr sz="1600" b="1" dirty="0">
                <a:solidFill>
                  <a:srgbClr val="585858"/>
                </a:solidFill>
                <a:latin typeface="Calibri"/>
                <a:cs typeface="Calibri"/>
              </a:rPr>
              <a:t>Gestionnaire des</a:t>
            </a:r>
            <a:r>
              <a:rPr sz="1600" b="1" spc="-45" dirty="0">
                <a:solidFill>
                  <a:srgbClr val="585858"/>
                </a:solidFill>
                <a:latin typeface="Calibri"/>
                <a:cs typeface="Calibri"/>
              </a:rPr>
              <a:t> </a:t>
            </a:r>
            <a:r>
              <a:rPr sz="1600" b="1" spc="-10" dirty="0">
                <a:solidFill>
                  <a:srgbClr val="585858"/>
                </a:solidFill>
                <a:latin typeface="Calibri"/>
                <a:cs typeface="Calibri"/>
              </a:rPr>
              <a:t>tâches</a:t>
            </a:r>
            <a:r>
              <a:rPr sz="1600" spc="-10" dirty="0">
                <a:solidFill>
                  <a:srgbClr val="585858"/>
                </a:solidFill>
                <a:latin typeface="Calibri"/>
                <a:cs typeface="Calibri"/>
              </a:rPr>
              <a:t>.</a:t>
            </a:r>
            <a:endParaRPr sz="1600" dirty="0">
              <a:latin typeface="Calibri"/>
              <a:cs typeface="Calibri"/>
            </a:endParaRPr>
          </a:p>
        </p:txBody>
      </p:sp>
      <p:sp>
        <p:nvSpPr>
          <p:cNvPr id="15" name="object 15"/>
          <p:cNvSpPr txBox="1"/>
          <p:nvPr/>
        </p:nvSpPr>
        <p:spPr>
          <a:xfrm>
            <a:off x="2100104" y="5837618"/>
            <a:ext cx="1030605" cy="208915"/>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585858"/>
                </a:solidFill>
                <a:latin typeface="Calibri"/>
                <a:cs typeface="Calibri"/>
              </a:rPr>
              <a:t>Menu</a:t>
            </a:r>
            <a:r>
              <a:rPr sz="1200" b="1" spc="-25" dirty="0">
                <a:solidFill>
                  <a:srgbClr val="585858"/>
                </a:solidFill>
                <a:latin typeface="Calibri"/>
                <a:cs typeface="Calibri"/>
              </a:rPr>
              <a:t> </a:t>
            </a:r>
            <a:r>
              <a:rPr sz="1200" b="1" spc="-10" dirty="0">
                <a:solidFill>
                  <a:srgbClr val="585858"/>
                </a:solidFill>
                <a:latin typeface="Calibri"/>
                <a:cs typeface="Calibri"/>
              </a:rPr>
              <a:t>démarrer</a:t>
            </a:r>
            <a:endParaRPr sz="1200" dirty="0">
              <a:latin typeface="Calibri"/>
              <a:cs typeface="Calibri"/>
            </a:endParaRPr>
          </a:p>
        </p:txBody>
      </p:sp>
      <p:grpSp>
        <p:nvGrpSpPr>
          <p:cNvPr id="16" name="object 16"/>
          <p:cNvGrpSpPr/>
          <p:nvPr/>
        </p:nvGrpSpPr>
        <p:grpSpPr>
          <a:xfrm>
            <a:off x="3169666" y="3743960"/>
            <a:ext cx="1256665" cy="2275840"/>
            <a:chOff x="3169666" y="3319271"/>
            <a:chExt cx="1256665" cy="2275840"/>
          </a:xfrm>
        </p:grpSpPr>
        <p:sp>
          <p:nvSpPr>
            <p:cNvPr id="17" name="object 17"/>
            <p:cNvSpPr/>
            <p:nvPr/>
          </p:nvSpPr>
          <p:spPr>
            <a:xfrm>
              <a:off x="3323209" y="3319271"/>
              <a:ext cx="1102995" cy="2163445"/>
            </a:xfrm>
            <a:custGeom>
              <a:avLst/>
              <a:gdLst/>
              <a:ahLst/>
              <a:cxnLst/>
              <a:rect l="l" t="t" r="r" b="b"/>
              <a:pathLst>
                <a:path w="1102995" h="2163445">
                  <a:moveTo>
                    <a:pt x="1102614" y="0"/>
                  </a:moveTo>
                  <a:lnTo>
                    <a:pt x="1018921" y="16383"/>
                  </a:lnTo>
                  <a:lnTo>
                    <a:pt x="1036396" y="39014"/>
                  </a:lnTo>
                  <a:lnTo>
                    <a:pt x="2413" y="836041"/>
                  </a:lnTo>
                  <a:lnTo>
                    <a:pt x="8623" y="844092"/>
                  </a:lnTo>
                  <a:lnTo>
                    <a:pt x="0" y="848995"/>
                  </a:lnTo>
                  <a:lnTo>
                    <a:pt x="715708" y="2101545"/>
                  </a:lnTo>
                  <a:lnTo>
                    <a:pt x="690880" y="2115693"/>
                  </a:lnTo>
                  <a:lnTo>
                    <a:pt x="761746" y="2162937"/>
                  </a:lnTo>
                  <a:lnTo>
                    <a:pt x="758952" y="2112518"/>
                  </a:lnTo>
                  <a:lnTo>
                    <a:pt x="757047" y="2077974"/>
                  </a:lnTo>
                  <a:lnTo>
                    <a:pt x="732218" y="2092134"/>
                  </a:lnTo>
                  <a:lnTo>
                    <a:pt x="20345" y="846340"/>
                  </a:lnTo>
                  <a:lnTo>
                    <a:pt x="1048080" y="54127"/>
                  </a:lnTo>
                  <a:lnTo>
                    <a:pt x="1065530" y="76708"/>
                  </a:lnTo>
                  <a:lnTo>
                    <a:pt x="1087501" y="31242"/>
                  </a:lnTo>
                  <a:lnTo>
                    <a:pt x="1102614" y="0"/>
                  </a:lnTo>
                  <a:close/>
                </a:path>
              </a:pathLst>
            </a:custGeom>
            <a:solidFill>
              <a:srgbClr val="C00000"/>
            </a:solidFill>
          </p:spPr>
          <p:txBody>
            <a:bodyPr wrap="square" lIns="0" tIns="0" rIns="0" bIns="0" rtlCol="0"/>
            <a:lstStyle/>
            <a:p>
              <a:endParaRPr/>
            </a:p>
          </p:txBody>
        </p:sp>
        <p:sp>
          <p:nvSpPr>
            <p:cNvPr id="18" name="object 18"/>
            <p:cNvSpPr/>
            <p:nvPr/>
          </p:nvSpPr>
          <p:spPr>
            <a:xfrm>
              <a:off x="3176016" y="5230367"/>
              <a:ext cx="0" cy="365125"/>
            </a:xfrm>
            <a:custGeom>
              <a:avLst/>
              <a:gdLst/>
              <a:ahLst/>
              <a:cxnLst/>
              <a:rect l="l" t="t" r="r" b="b"/>
              <a:pathLst>
                <a:path h="365125">
                  <a:moveTo>
                    <a:pt x="0" y="364616"/>
                  </a:moveTo>
                  <a:lnTo>
                    <a:pt x="0" y="0"/>
                  </a:lnTo>
                </a:path>
              </a:pathLst>
            </a:custGeom>
            <a:ln w="12700">
              <a:solidFill>
                <a:srgbClr val="000000"/>
              </a:solidFill>
            </a:ln>
          </p:spPr>
          <p:txBody>
            <a:bodyPr wrap="square" lIns="0" tIns="0" rIns="0" bIns="0" rtlCol="0"/>
            <a:lstStyle/>
            <a:p>
              <a:endParaRPr/>
            </a:p>
          </p:txBody>
        </p:sp>
      </p:grpSp>
      <p:sp>
        <p:nvSpPr>
          <p:cNvPr id="19" name="object 19"/>
          <p:cNvSpPr txBox="1"/>
          <p:nvPr/>
        </p:nvSpPr>
        <p:spPr>
          <a:xfrm>
            <a:off x="2498027" y="5647974"/>
            <a:ext cx="587375" cy="208915"/>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585858"/>
                </a:solidFill>
                <a:latin typeface="Calibri"/>
                <a:cs typeface="Calibri"/>
              </a:rPr>
              <a:t>Clic</a:t>
            </a:r>
            <a:r>
              <a:rPr sz="1200" b="1" spc="-15" dirty="0">
                <a:solidFill>
                  <a:srgbClr val="585858"/>
                </a:solidFill>
                <a:latin typeface="Calibri"/>
                <a:cs typeface="Calibri"/>
              </a:rPr>
              <a:t> </a:t>
            </a:r>
            <a:r>
              <a:rPr sz="1200" b="1" spc="-10" dirty="0">
                <a:solidFill>
                  <a:srgbClr val="585858"/>
                </a:solidFill>
                <a:latin typeface="Calibri"/>
                <a:cs typeface="Calibri"/>
              </a:rPr>
              <a:t>droit</a:t>
            </a:r>
            <a:endParaRPr sz="1200" dirty="0">
              <a:latin typeface="Calibri"/>
              <a:cs typeface="Calibri"/>
            </a:endParaRPr>
          </a:p>
        </p:txBody>
      </p:sp>
      <p:sp>
        <p:nvSpPr>
          <p:cNvPr id="21" name="object 21"/>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41</a:t>
            </a:fld>
            <a:endParaRPr spc="-25" dirty="0"/>
          </a:p>
        </p:txBody>
      </p:sp>
      <p:sp>
        <p:nvSpPr>
          <p:cNvPr id="20" name="object 20"/>
          <p:cNvSpPr txBox="1"/>
          <p:nvPr/>
        </p:nvSpPr>
        <p:spPr>
          <a:xfrm>
            <a:off x="3982973" y="6324600"/>
            <a:ext cx="2722245" cy="197490"/>
          </a:xfrm>
          <a:prstGeom prst="rect">
            <a:avLst/>
          </a:prstGeom>
        </p:spPr>
        <p:txBody>
          <a:bodyPr vert="horz" wrap="square" lIns="0" tIns="12700" rIns="0" bIns="0" rtlCol="0">
            <a:spAutoFit/>
          </a:bodyPr>
          <a:lstStyle/>
          <a:p>
            <a:pPr marL="12700">
              <a:lnSpc>
                <a:spcPct val="100000"/>
              </a:lnSpc>
              <a:spcBef>
                <a:spcPts val="100"/>
              </a:spcBef>
            </a:pPr>
            <a:r>
              <a:rPr sz="1200" i="1" dirty="0" smtClean="0">
                <a:solidFill>
                  <a:srgbClr val="A6A6A6"/>
                </a:solidFill>
                <a:latin typeface="Calibri"/>
                <a:cs typeface="Calibri"/>
              </a:rPr>
              <a:t>Figure:</a:t>
            </a:r>
            <a:r>
              <a:rPr sz="1200" i="1" spc="-10" dirty="0" smtClean="0">
                <a:solidFill>
                  <a:srgbClr val="A6A6A6"/>
                </a:solidFill>
                <a:latin typeface="Calibri"/>
                <a:cs typeface="Calibri"/>
              </a:rPr>
              <a:t> </a:t>
            </a:r>
            <a:r>
              <a:rPr sz="1200" i="1" dirty="0">
                <a:solidFill>
                  <a:srgbClr val="A6A6A6"/>
                </a:solidFill>
                <a:latin typeface="Calibri"/>
                <a:cs typeface="Calibri"/>
              </a:rPr>
              <a:t>Ouvrir</a:t>
            </a:r>
            <a:r>
              <a:rPr sz="1200" i="1" spc="-5" dirty="0">
                <a:solidFill>
                  <a:srgbClr val="A6A6A6"/>
                </a:solidFill>
                <a:latin typeface="Calibri"/>
                <a:cs typeface="Calibri"/>
              </a:rPr>
              <a:t> </a:t>
            </a:r>
            <a:r>
              <a:rPr sz="1200" i="1" dirty="0">
                <a:solidFill>
                  <a:srgbClr val="A6A6A6"/>
                </a:solidFill>
                <a:latin typeface="Calibri"/>
                <a:cs typeface="Calibri"/>
              </a:rPr>
              <a:t>le</a:t>
            </a:r>
            <a:r>
              <a:rPr sz="1200" i="1" spc="-20" dirty="0">
                <a:solidFill>
                  <a:srgbClr val="A6A6A6"/>
                </a:solidFill>
                <a:latin typeface="Calibri"/>
                <a:cs typeface="Calibri"/>
              </a:rPr>
              <a:t> </a:t>
            </a:r>
            <a:r>
              <a:rPr sz="1200" i="1" spc="-10" dirty="0">
                <a:solidFill>
                  <a:srgbClr val="A6A6A6"/>
                </a:solidFill>
                <a:latin typeface="Calibri"/>
                <a:cs typeface="Calibri"/>
              </a:rPr>
              <a:t>gestionnaire</a:t>
            </a:r>
            <a:r>
              <a:rPr sz="1200" i="1" spc="-20" dirty="0">
                <a:solidFill>
                  <a:srgbClr val="A6A6A6"/>
                </a:solidFill>
                <a:latin typeface="Calibri"/>
                <a:cs typeface="Calibri"/>
              </a:rPr>
              <a:t> </a:t>
            </a:r>
            <a:r>
              <a:rPr sz="1200" i="1" dirty="0">
                <a:solidFill>
                  <a:srgbClr val="A6A6A6"/>
                </a:solidFill>
                <a:latin typeface="Calibri"/>
                <a:cs typeface="Calibri"/>
              </a:rPr>
              <a:t>des</a:t>
            </a:r>
            <a:r>
              <a:rPr sz="1200" i="1" spc="-35" dirty="0">
                <a:solidFill>
                  <a:srgbClr val="A6A6A6"/>
                </a:solidFill>
                <a:latin typeface="Calibri"/>
                <a:cs typeface="Calibri"/>
              </a:rPr>
              <a:t> </a:t>
            </a:r>
            <a:r>
              <a:rPr sz="1200" i="1" spc="-10" dirty="0">
                <a:solidFill>
                  <a:srgbClr val="A6A6A6"/>
                </a:solidFill>
                <a:latin typeface="Calibri"/>
                <a:cs typeface="Calibri"/>
              </a:rPr>
              <a:t>tâches</a:t>
            </a:r>
            <a:endParaRPr sz="1200" dirty="0">
              <a:latin typeface="Calibri"/>
              <a:cs typeface="Calibri"/>
            </a:endParaRPr>
          </a:p>
        </p:txBody>
      </p:sp>
      <p:sp>
        <p:nvSpPr>
          <p:cNvPr id="24" name="object 11"/>
          <p:cNvSpPr txBox="1">
            <a:spLocks noGrp="1"/>
          </p:cNvSpPr>
          <p:nvPr>
            <p:ph type="title"/>
          </p:nvPr>
        </p:nvSpPr>
        <p:spPr>
          <a:xfrm>
            <a:off x="263753" y="332308"/>
            <a:ext cx="11664492" cy="699089"/>
          </a:xfrm>
          <a:prstGeom prst="rect">
            <a:avLst/>
          </a:prstGeom>
        </p:spPr>
        <p:txBody>
          <a:bodyPr vert="horz" wrap="square" lIns="0" tIns="143688" rIns="0" bIns="0" rtlCol="0">
            <a:spAutoFit/>
          </a:bodyPr>
          <a:lstStyle/>
          <a:p>
            <a:pPr marL="17780">
              <a:lnSpc>
                <a:spcPct val="100000"/>
              </a:lnSpc>
              <a:spcBef>
                <a:spcPts val="90"/>
              </a:spcBef>
            </a:pPr>
            <a:r>
              <a:rPr lang="fr-FR" dirty="0">
                <a:solidFill>
                  <a:srgbClr val="FF7800"/>
                </a:solidFill>
              </a:rPr>
              <a:t>04 – Gestion des processus </a:t>
            </a:r>
            <a:r>
              <a:rPr lang="fr-FR" dirty="0" smtClean="0">
                <a:solidFill>
                  <a:srgbClr val="FF7800"/>
                </a:solidFill>
              </a:rPr>
              <a:t/>
            </a:r>
            <a:br>
              <a:rPr lang="fr-FR" dirty="0" smtClean="0">
                <a:solidFill>
                  <a:srgbClr val="FF7800"/>
                </a:solidFill>
              </a:rPr>
            </a:br>
            <a:r>
              <a:rPr lang="fr-FR" sz="1600" dirty="0" smtClean="0">
                <a:solidFill>
                  <a:srgbClr val="FF7800"/>
                </a:solidFill>
              </a:rPr>
              <a:t>Gestion</a:t>
            </a:r>
            <a:r>
              <a:rPr lang="fr-FR" sz="1600" spc="-50" dirty="0" smtClean="0">
                <a:solidFill>
                  <a:srgbClr val="FF7800"/>
                </a:solidFill>
              </a:rPr>
              <a:t> </a:t>
            </a:r>
            <a:r>
              <a:rPr lang="fr-FR" sz="1600" dirty="0" smtClean="0">
                <a:solidFill>
                  <a:srgbClr val="FF7800"/>
                </a:solidFill>
              </a:rPr>
              <a:t>des</a:t>
            </a:r>
            <a:r>
              <a:rPr lang="fr-FR" sz="1600" spc="-40" dirty="0" smtClean="0">
                <a:solidFill>
                  <a:srgbClr val="FF7800"/>
                </a:solidFill>
              </a:rPr>
              <a:t> </a:t>
            </a:r>
            <a:r>
              <a:rPr lang="fr-FR" sz="1600" dirty="0" smtClean="0">
                <a:solidFill>
                  <a:srgbClr val="FF7800"/>
                </a:solidFill>
              </a:rPr>
              <a:t>processus</a:t>
            </a:r>
            <a:r>
              <a:rPr lang="fr-FR" sz="1600" spc="-65" dirty="0" smtClean="0">
                <a:solidFill>
                  <a:srgbClr val="FF7800"/>
                </a:solidFill>
              </a:rPr>
              <a:t> </a:t>
            </a:r>
            <a:r>
              <a:rPr lang="fr-FR" sz="1600" dirty="0" smtClean="0">
                <a:solidFill>
                  <a:srgbClr val="FF7800"/>
                </a:solidFill>
              </a:rPr>
              <a:t>sous</a:t>
            </a:r>
            <a:r>
              <a:rPr lang="fr-FR" sz="1600" spc="-40" dirty="0" smtClean="0">
                <a:solidFill>
                  <a:srgbClr val="FF7800"/>
                </a:solidFill>
              </a:rPr>
              <a:t> </a:t>
            </a:r>
            <a:r>
              <a:rPr lang="fr-FR" sz="1600" spc="-10" dirty="0" smtClean="0">
                <a:solidFill>
                  <a:srgbClr val="FF7800"/>
                </a:solidFill>
              </a:rPr>
              <a:t>Windows</a:t>
            </a:r>
            <a:endParaRPr lang="fr-FR" sz="1600" dirty="0"/>
          </a:p>
        </p:txBody>
      </p:sp>
      <p:sp>
        <p:nvSpPr>
          <p:cNvPr id="25"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Tree>
    <p:extLst>
      <p:ext uri="{BB962C8B-B14F-4D97-AF65-F5344CB8AC3E}">
        <p14:creationId xmlns:p14="http://schemas.microsoft.com/office/powerpoint/2010/main" val="17802216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9460" cy="6855459"/>
            <a:chOff x="0" y="17"/>
            <a:chExt cx="12189460" cy="6855459"/>
          </a:xfrm>
        </p:grpSpPr>
        <p:pic>
          <p:nvPicPr>
            <p:cNvPr id="3" name="object 3"/>
            <p:cNvPicPr/>
            <p:nvPr/>
          </p:nvPicPr>
          <p:blipFill>
            <a:blip r:embed="rId2" cstate="print"/>
            <a:stretch>
              <a:fillRect/>
            </a:stretch>
          </p:blipFill>
          <p:spPr>
            <a:xfrm>
              <a:off x="3048" y="17"/>
              <a:ext cx="12185903" cy="6855206"/>
            </a:xfrm>
            <a:prstGeom prst="rect">
              <a:avLst/>
            </a:prstGeom>
          </p:spPr>
        </p:pic>
        <p:sp>
          <p:nvSpPr>
            <p:cNvPr id="4" name="object 4"/>
            <p:cNvSpPr/>
            <p:nvPr/>
          </p:nvSpPr>
          <p:spPr>
            <a:xfrm>
              <a:off x="537972" y="1461515"/>
              <a:ext cx="11119485" cy="5148580"/>
            </a:xfrm>
            <a:custGeom>
              <a:avLst/>
              <a:gdLst/>
              <a:ahLst/>
              <a:cxnLst/>
              <a:rect l="l" t="t" r="r" b="b"/>
              <a:pathLst>
                <a:path w="11119485" h="5148580">
                  <a:moveTo>
                    <a:pt x="11119104" y="0"/>
                  </a:moveTo>
                  <a:lnTo>
                    <a:pt x="0" y="0"/>
                  </a:lnTo>
                  <a:lnTo>
                    <a:pt x="0" y="5148072"/>
                  </a:lnTo>
                  <a:lnTo>
                    <a:pt x="11119104" y="5148072"/>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1515"/>
              <a:ext cx="11119485" cy="5148580"/>
            </a:xfrm>
            <a:custGeom>
              <a:avLst/>
              <a:gdLst/>
              <a:ahLst/>
              <a:cxnLst/>
              <a:rect l="l" t="t" r="r" b="b"/>
              <a:pathLst>
                <a:path w="11119485" h="5148580">
                  <a:moveTo>
                    <a:pt x="0" y="5148072"/>
                  </a:moveTo>
                  <a:lnTo>
                    <a:pt x="11119104" y="5148072"/>
                  </a:lnTo>
                  <a:lnTo>
                    <a:pt x="11119104" y="0"/>
                  </a:lnTo>
                  <a:lnTo>
                    <a:pt x="0" y="0"/>
                  </a:lnTo>
                  <a:lnTo>
                    <a:pt x="0" y="5148072"/>
                  </a:lnTo>
                  <a:close/>
                </a:path>
              </a:pathLst>
            </a:custGeom>
            <a:ln w="9525">
              <a:solidFill>
                <a:srgbClr val="F8CCAC"/>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FF7800"/>
            </a:solidFill>
          </p:spPr>
          <p:txBody>
            <a:bodyPr wrap="square" lIns="0" tIns="0" rIns="0" bIns="0" rtlCol="0"/>
            <a:lstStyle/>
            <a:p>
              <a:endParaRPr/>
            </a:p>
          </p:txBody>
        </p:sp>
      </p:grpSp>
      <p:grpSp>
        <p:nvGrpSpPr>
          <p:cNvPr id="8" name="object 8"/>
          <p:cNvGrpSpPr/>
          <p:nvPr/>
        </p:nvGrpSpPr>
        <p:grpSpPr>
          <a:xfrm>
            <a:off x="3198748" y="2259901"/>
            <a:ext cx="5795010" cy="3844290"/>
            <a:chOff x="3198748" y="2259901"/>
            <a:chExt cx="5795010" cy="3844290"/>
          </a:xfrm>
        </p:grpSpPr>
        <p:pic>
          <p:nvPicPr>
            <p:cNvPr id="11" name="object 11"/>
            <p:cNvPicPr/>
            <p:nvPr/>
          </p:nvPicPr>
          <p:blipFill>
            <a:blip r:embed="rId3" cstate="print"/>
            <a:stretch>
              <a:fillRect/>
            </a:stretch>
          </p:blipFill>
          <p:spPr>
            <a:xfrm>
              <a:off x="3203447" y="2264663"/>
              <a:ext cx="5785104" cy="3834384"/>
            </a:xfrm>
            <a:prstGeom prst="rect">
              <a:avLst/>
            </a:prstGeom>
          </p:spPr>
        </p:pic>
        <p:sp>
          <p:nvSpPr>
            <p:cNvPr id="12" name="object 12"/>
            <p:cNvSpPr/>
            <p:nvPr/>
          </p:nvSpPr>
          <p:spPr>
            <a:xfrm>
              <a:off x="3198748" y="2259901"/>
              <a:ext cx="5795010" cy="3844290"/>
            </a:xfrm>
            <a:custGeom>
              <a:avLst/>
              <a:gdLst/>
              <a:ahLst/>
              <a:cxnLst/>
              <a:rect l="l" t="t" r="r" b="b"/>
              <a:pathLst>
                <a:path w="5795009" h="3844290">
                  <a:moveTo>
                    <a:pt x="0" y="3843909"/>
                  </a:moveTo>
                  <a:lnTo>
                    <a:pt x="5794629" y="3843909"/>
                  </a:lnTo>
                  <a:lnTo>
                    <a:pt x="5794629" y="0"/>
                  </a:lnTo>
                  <a:lnTo>
                    <a:pt x="0" y="0"/>
                  </a:lnTo>
                  <a:lnTo>
                    <a:pt x="0" y="3843909"/>
                  </a:lnTo>
                  <a:close/>
                </a:path>
              </a:pathLst>
            </a:custGeom>
            <a:ln w="9525">
              <a:solidFill>
                <a:srgbClr val="000000"/>
              </a:solidFill>
            </a:ln>
          </p:spPr>
          <p:txBody>
            <a:bodyPr wrap="square" lIns="0" tIns="0" rIns="0" bIns="0" rtlCol="0"/>
            <a:lstStyle/>
            <a:p>
              <a:endParaRPr/>
            </a:p>
          </p:txBody>
        </p:sp>
      </p:gr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42</a:t>
            </a:fld>
            <a:endParaRPr spc="-25" dirty="0"/>
          </a:p>
        </p:txBody>
      </p:sp>
      <p:sp>
        <p:nvSpPr>
          <p:cNvPr id="14" name="object 14"/>
          <p:cNvSpPr txBox="1"/>
          <p:nvPr/>
        </p:nvSpPr>
        <p:spPr>
          <a:xfrm>
            <a:off x="798982" y="1743202"/>
            <a:ext cx="8649818" cy="259045"/>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585858"/>
                </a:solidFill>
                <a:latin typeface="Calibri"/>
                <a:cs typeface="Calibri"/>
              </a:rPr>
              <a:t>La</a:t>
            </a:r>
            <a:r>
              <a:rPr sz="1600" spc="-40" dirty="0">
                <a:solidFill>
                  <a:srgbClr val="585858"/>
                </a:solidFill>
                <a:latin typeface="Calibri"/>
                <a:cs typeface="Calibri"/>
              </a:rPr>
              <a:t> </a:t>
            </a:r>
            <a:r>
              <a:rPr sz="1600" b="1" dirty="0">
                <a:solidFill>
                  <a:srgbClr val="585858"/>
                </a:solidFill>
                <a:latin typeface="Calibri"/>
                <a:cs typeface="Calibri"/>
              </a:rPr>
              <a:t>Figure</a:t>
            </a:r>
            <a:r>
              <a:rPr sz="1600" b="1" spc="-20" dirty="0">
                <a:solidFill>
                  <a:srgbClr val="585858"/>
                </a:solidFill>
                <a:latin typeface="Calibri"/>
                <a:cs typeface="Calibri"/>
              </a:rPr>
              <a:t> </a:t>
            </a:r>
            <a:r>
              <a:rPr sz="1600" b="1" dirty="0" smtClean="0">
                <a:solidFill>
                  <a:srgbClr val="585858"/>
                </a:solidFill>
                <a:latin typeface="Calibri"/>
                <a:cs typeface="Calibri"/>
              </a:rPr>
              <a:t> </a:t>
            </a:r>
            <a:r>
              <a:rPr sz="1600" spc="-10" dirty="0">
                <a:solidFill>
                  <a:srgbClr val="585858"/>
                </a:solidFill>
                <a:latin typeface="Calibri"/>
                <a:cs typeface="Calibri"/>
              </a:rPr>
              <a:t>illustre</a:t>
            </a:r>
            <a:r>
              <a:rPr sz="1600" spc="5" dirty="0">
                <a:solidFill>
                  <a:srgbClr val="585858"/>
                </a:solidFill>
                <a:latin typeface="Calibri"/>
                <a:cs typeface="Calibri"/>
              </a:rPr>
              <a:t> </a:t>
            </a:r>
            <a:r>
              <a:rPr sz="1600" dirty="0">
                <a:solidFill>
                  <a:srgbClr val="585858"/>
                </a:solidFill>
                <a:latin typeface="Calibri"/>
                <a:cs typeface="Calibri"/>
              </a:rPr>
              <a:t>le</a:t>
            </a:r>
            <a:r>
              <a:rPr sz="1600" spc="-15" dirty="0">
                <a:solidFill>
                  <a:srgbClr val="585858"/>
                </a:solidFill>
                <a:latin typeface="Calibri"/>
                <a:cs typeface="Calibri"/>
              </a:rPr>
              <a:t> </a:t>
            </a:r>
            <a:r>
              <a:rPr sz="1600" spc="-10" dirty="0">
                <a:solidFill>
                  <a:srgbClr val="585858"/>
                </a:solidFill>
                <a:latin typeface="Calibri"/>
                <a:cs typeface="Calibri"/>
              </a:rPr>
              <a:t>gestionnaire </a:t>
            </a:r>
            <a:r>
              <a:rPr sz="1600" dirty="0">
                <a:solidFill>
                  <a:srgbClr val="585858"/>
                </a:solidFill>
                <a:latin typeface="Calibri"/>
                <a:cs typeface="Calibri"/>
              </a:rPr>
              <a:t>des</a:t>
            </a:r>
            <a:r>
              <a:rPr sz="1600" spc="-5" dirty="0">
                <a:solidFill>
                  <a:srgbClr val="585858"/>
                </a:solidFill>
                <a:latin typeface="Calibri"/>
                <a:cs typeface="Calibri"/>
              </a:rPr>
              <a:t> </a:t>
            </a:r>
            <a:r>
              <a:rPr sz="1600" dirty="0">
                <a:solidFill>
                  <a:srgbClr val="585858"/>
                </a:solidFill>
                <a:latin typeface="Calibri"/>
                <a:cs typeface="Calibri"/>
              </a:rPr>
              <a:t>tâches</a:t>
            </a:r>
            <a:r>
              <a:rPr sz="1600" spc="-25" dirty="0">
                <a:solidFill>
                  <a:srgbClr val="585858"/>
                </a:solidFill>
                <a:latin typeface="Calibri"/>
                <a:cs typeface="Calibri"/>
              </a:rPr>
              <a:t> </a:t>
            </a:r>
            <a:r>
              <a:rPr sz="1600" dirty="0">
                <a:solidFill>
                  <a:srgbClr val="585858"/>
                </a:solidFill>
                <a:latin typeface="Calibri"/>
                <a:cs typeface="Calibri"/>
              </a:rPr>
              <a:t>sur</a:t>
            </a:r>
            <a:r>
              <a:rPr sz="1600" spc="-25" dirty="0">
                <a:solidFill>
                  <a:srgbClr val="585858"/>
                </a:solidFill>
                <a:latin typeface="Calibri"/>
                <a:cs typeface="Calibri"/>
              </a:rPr>
              <a:t> </a:t>
            </a:r>
            <a:r>
              <a:rPr sz="1600" dirty="0">
                <a:solidFill>
                  <a:srgbClr val="585858"/>
                </a:solidFill>
                <a:latin typeface="Calibri"/>
                <a:cs typeface="Calibri"/>
              </a:rPr>
              <a:t>Windows</a:t>
            </a:r>
            <a:r>
              <a:rPr sz="1600" spc="-5" dirty="0">
                <a:solidFill>
                  <a:srgbClr val="585858"/>
                </a:solidFill>
                <a:latin typeface="Calibri"/>
                <a:cs typeface="Calibri"/>
              </a:rPr>
              <a:t> </a:t>
            </a:r>
            <a:r>
              <a:rPr sz="1600" dirty="0">
                <a:solidFill>
                  <a:srgbClr val="585858"/>
                </a:solidFill>
                <a:latin typeface="Calibri"/>
                <a:cs typeface="Calibri"/>
              </a:rPr>
              <a:t>qui</a:t>
            </a:r>
            <a:r>
              <a:rPr sz="1600" spc="-30" dirty="0">
                <a:solidFill>
                  <a:srgbClr val="585858"/>
                </a:solidFill>
                <a:latin typeface="Calibri"/>
                <a:cs typeface="Calibri"/>
              </a:rPr>
              <a:t> </a:t>
            </a:r>
            <a:r>
              <a:rPr sz="1600" dirty="0">
                <a:solidFill>
                  <a:srgbClr val="585858"/>
                </a:solidFill>
                <a:latin typeface="Calibri"/>
                <a:cs typeface="Calibri"/>
              </a:rPr>
              <a:t>contient</a:t>
            </a:r>
            <a:r>
              <a:rPr sz="1600" spc="-30" dirty="0">
                <a:solidFill>
                  <a:srgbClr val="585858"/>
                </a:solidFill>
                <a:latin typeface="Calibri"/>
                <a:cs typeface="Calibri"/>
              </a:rPr>
              <a:t> </a:t>
            </a:r>
            <a:r>
              <a:rPr sz="1600" spc="-10" dirty="0">
                <a:solidFill>
                  <a:srgbClr val="585858"/>
                </a:solidFill>
                <a:latin typeface="Calibri"/>
                <a:cs typeface="Calibri"/>
              </a:rPr>
              <a:t>plusieurs onglets</a:t>
            </a:r>
            <a:r>
              <a:rPr sz="1200" spc="-10" dirty="0">
                <a:solidFill>
                  <a:srgbClr val="585858"/>
                </a:solidFill>
                <a:latin typeface="Calibri"/>
                <a:cs typeface="Calibri"/>
              </a:rPr>
              <a:t>.</a:t>
            </a:r>
            <a:endParaRPr sz="1200" dirty="0">
              <a:latin typeface="Calibri"/>
              <a:cs typeface="Calibri"/>
            </a:endParaRPr>
          </a:p>
        </p:txBody>
      </p:sp>
      <p:sp>
        <p:nvSpPr>
          <p:cNvPr id="15" name="object 15"/>
          <p:cNvSpPr txBox="1"/>
          <p:nvPr/>
        </p:nvSpPr>
        <p:spPr>
          <a:xfrm>
            <a:off x="4742179" y="6203391"/>
            <a:ext cx="2329180" cy="197490"/>
          </a:xfrm>
          <a:prstGeom prst="rect">
            <a:avLst/>
          </a:prstGeom>
        </p:spPr>
        <p:txBody>
          <a:bodyPr vert="horz" wrap="square" lIns="0" tIns="12700" rIns="0" bIns="0" rtlCol="0">
            <a:spAutoFit/>
          </a:bodyPr>
          <a:lstStyle/>
          <a:p>
            <a:pPr marL="12700">
              <a:lnSpc>
                <a:spcPct val="100000"/>
              </a:lnSpc>
              <a:spcBef>
                <a:spcPts val="100"/>
              </a:spcBef>
            </a:pPr>
            <a:r>
              <a:rPr sz="1200" i="1" dirty="0">
                <a:solidFill>
                  <a:srgbClr val="A6A6A6"/>
                </a:solidFill>
                <a:latin typeface="Calibri"/>
                <a:cs typeface="Calibri"/>
              </a:rPr>
              <a:t>Figure</a:t>
            </a:r>
            <a:r>
              <a:rPr sz="1200" i="1" spc="-10" dirty="0">
                <a:solidFill>
                  <a:srgbClr val="A6A6A6"/>
                </a:solidFill>
                <a:latin typeface="Calibri"/>
                <a:cs typeface="Calibri"/>
              </a:rPr>
              <a:t> </a:t>
            </a:r>
            <a:r>
              <a:rPr sz="1200" i="1" spc="35" dirty="0" smtClean="0">
                <a:solidFill>
                  <a:srgbClr val="A6A6A6"/>
                </a:solidFill>
                <a:latin typeface="Calibri"/>
                <a:cs typeface="Calibri"/>
              </a:rPr>
              <a:t> </a:t>
            </a:r>
            <a:r>
              <a:rPr sz="1200" i="1" dirty="0">
                <a:solidFill>
                  <a:srgbClr val="A6A6A6"/>
                </a:solidFill>
                <a:latin typeface="Calibri"/>
                <a:cs typeface="Calibri"/>
              </a:rPr>
              <a:t>:</a:t>
            </a:r>
            <a:r>
              <a:rPr sz="1200" i="1" spc="10" dirty="0">
                <a:solidFill>
                  <a:srgbClr val="A6A6A6"/>
                </a:solidFill>
                <a:latin typeface="Calibri"/>
                <a:cs typeface="Calibri"/>
              </a:rPr>
              <a:t> </a:t>
            </a:r>
            <a:r>
              <a:rPr sz="1200" i="1" dirty="0">
                <a:solidFill>
                  <a:srgbClr val="A6A6A6"/>
                </a:solidFill>
                <a:latin typeface="Calibri"/>
                <a:cs typeface="Calibri"/>
              </a:rPr>
              <a:t>Le</a:t>
            </a:r>
            <a:r>
              <a:rPr sz="1200" i="1" spc="-5" dirty="0">
                <a:solidFill>
                  <a:srgbClr val="A6A6A6"/>
                </a:solidFill>
                <a:latin typeface="Calibri"/>
                <a:cs typeface="Calibri"/>
              </a:rPr>
              <a:t> </a:t>
            </a:r>
            <a:r>
              <a:rPr sz="1200" i="1" spc="-10" dirty="0">
                <a:solidFill>
                  <a:srgbClr val="A6A6A6"/>
                </a:solidFill>
                <a:latin typeface="Calibri"/>
                <a:cs typeface="Calibri"/>
              </a:rPr>
              <a:t>gestionnaire</a:t>
            </a:r>
            <a:r>
              <a:rPr sz="1200" i="1" spc="-30" dirty="0">
                <a:solidFill>
                  <a:srgbClr val="A6A6A6"/>
                </a:solidFill>
                <a:latin typeface="Calibri"/>
                <a:cs typeface="Calibri"/>
              </a:rPr>
              <a:t> </a:t>
            </a:r>
            <a:r>
              <a:rPr sz="1200" i="1" dirty="0">
                <a:solidFill>
                  <a:srgbClr val="A6A6A6"/>
                </a:solidFill>
                <a:latin typeface="Calibri"/>
                <a:cs typeface="Calibri"/>
              </a:rPr>
              <a:t>des</a:t>
            </a:r>
            <a:r>
              <a:rPr sz="1200" i="1" spc="-15" dirty="0">
                <a:solidFill>
                  <a:srgbClr val="A6A6A6"/>
                </a:solidFill>
                <a:latin typeface="Calibri"/>
                <a:cs typeface="Calibri"/>
              </a:rPr>
              <a:t> </a:t>
            </a:r>
            <a:r>
              <a:rPr sz="1200" i="1" spc="-10" dirty="0">
                <a:solidFill>
                  <a:srgbClr val="A6A6A6"/>
                </a:solidFill>
                <a:latin typeface="Calibri"/>
                <a:cs typeface="Calibri"/>
              </a:rPr>
              <a:t>tâches</a:t>
            </a:r>
            <a:endParaRPr sz="1200" dirty="0">
              <a:latin typeface="Calibri"/>
              <a:cs typeface="Calibri"/>
            </a:endParaRPr>
          </a:p>
        </p:txBody>
      </p:sp>
      <p:sp>
        <p:nvSpPr>
          <p:cNvPr id="19" name="object 11"/>
          <p:cNvSpPr txBox="1">
            <a:spLocks noGrp="1"/>
          </p:cNvSpPr>
          <p:nvPr>
            <p:ph type="title"/>
          </p:nvPr>
        </p:nvSpPr>
        <p:spPr>
          <a:xfrm>
            <a:off x="263753" y="332308"/>
            <a:ext cx="11664492" cy="699089"/>
          </a:xfrm>
          <a:prstGeom prst="rect">
            <a:avLst/>
          </a:prstGeom>
        </p:spPr>
        <p:txBody>
          <a:bodyPr vert="horz" wrap="square" lIns="0" tIns="143688" rIns="0" bIns="0" rtlCol="0">
            <a:spAutoFit/>
          </a:bodyPr>
          <a:lstStyle/>
          <a:p>
            <a:pPr marL="17780">
              <a:lnSpc>
                <a:spcPct val="100000"/>
              </a:lnSpc>
              <a:spcBef>
                <a:spcPts val="90"/>
              </a:spcBef>
            </a:pPr>
            <a:r>
              <a:rPr lang="fr-FR" dirty="0">
                <a:solidFill>
                  <a:srgbClr val="FF7800"/>
                </a:solidFill>
              </a:rPr>
              <a:t>04 – Gestion des processus </a:t>
            </a:r>
            <a:r>
              <a:rPr lang="fr-FR" dirty="0" smtClean="0">
                <a:solidFill>
                  <a:srgbClr val="FF7800"/>
                </a:solidFill>
              </a:rPr>
              <a:t/>
            </a:r>
            <a:br>
              <a:rPr lang="fr-FR" dirty="0" smtClean="0">
                <a:solidFill>
                  <a:srgbClr val="FF7800"/>
                </a:solidFill>
              </a:rPr>
            </a:br>
            <a:r>
              <a:rPr lang="fr-FR" sz="1600" dirty="0" smtClean="0">
                <a:solidFill>
                  <a:srgbClr val="FF7800"/>
                </a:solidFill>
              </a:rPr>
              <a:t>Gestion</a:t>
            </a:r>
            <a:r>
              <a:rPr lang="fr-FR" sz="1600" spc="-50" dirty="0" smtClean="0">
                <a:solidFill>
                  <a:srgbClr val="FF7800"/>
                </a:solidFill>
              </a:rPr>
              <a:t> </a:t>
            </a:r>
            <a:r>
              <a:rPr lang="fr-FR" sz="1600" dirty="0" smtClean="0">
                <a:solidFill>
                  <a:srgbClr val="FF7800"/>
                </a:solidFill>
              </a:rPr>
              <a:t>des</a:t>
            </a:r>
            <a:r>
              <a:rPr lang="fr-FR" sz="1600" spc="-40" dirty="0" smtClean="0">
                <a:solidFill>
                  <a:srgbClr val="FF7800"/>
                </a:solidFill>
              </a:rPr>
              <a:t> </a:t>
            </a:r>
            <a:r>
              <a:rPr lang="fr-FR" sz="1600" dirty="0" smtClean="0">
                <a:solidFill>
                  <a:srgbClr val="FF7800"/>
                </a:solidFill>
              </a:rPr>
              <a:t>processus</a:t>
            </a:r>
            <a:r>
              <a:rPr lang="fr-FR" sz="1600" spc="-65" dirty="0" smtClean="0">
                <a:solidFill>
                  <a:srgbClr val="FF7800"/>
                </a:solidFill>
              </a:rPr>
              <a:t> </a:t>
            </a:r>
            <a:r>
              <a:rPr lang="fr-FR" sz="1600" dirty="0" smtClean="0">
                <a:solidFill>
                  <a:srgbClr val="FF7800"/>
                </a:solidFill>
              </a:rPr>
              <a:t>sous</a:t>
            </a:r>
            <a:r>
              <a:rPr lang="fr-FR" sz="1600" spc="-40" dirty="0" smtClean="0">
                <a:solidFill>
                  <a:srgbClr val="FF7800"/>
                </a:solidFill>
              </a:rPr>
              <a:t> </a:t>
            </a:r>
            <a:r>
              <a:rPr lang="fr-FR" sz="1600" spc="-10" dirty="0" smtClean="0">
                <a:solidFill>
                  <a:srgbClr val="FF7800"/>
                </a:solidFill>
              </a:rPr>
              <a:t>Windows</a:t>
            </a:r>
            <a:endParaRPr lang="fr-FR" sz="1600" dirty="0"/>
          </a:p>
        </p:txBody>
      </p:sp>
      <p:sp>
        <p:nvSpPr>
          <p:cNvPr id="20"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Tree>
    <p:extLst>
      <p:ext uri="{BB962C8B-B14F-4D97-AF65-F5344CB8AC3E}">
        <p14:creationId xmlns:p14="http://schemas.microsoft.com/office/powerpoint/2010/main" val="28679197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9460" cy="6855459"/>
            <a:chOff x="0" y="17"/>
            <a:chExt cx="12189460" cy="6855459"/>
          </a:xfrm>
        </p:grpSpPr>
        <p:pic>
          <p:nvPicPr>
            <p:cNvPr id="3" name="object 3"/>
            <p:cNvPicPr/>
            <p:nvPr/>
          </p:nvPicPr>
          <p:blipFill>
            <a:blip r:embed="rId3" cstate="print"/>
            <a:stretch>
              <a:fillRect/>
            </a:stretch>
          </p:blipFill>
          <p:spPr>
            <a:xfrm>
              <a:off x="3048" y="17"/>
              <a:ext cx="12185903" cy="6855206"/>
            </a:xfrm>
            <a:prstGeom prst="rect">
              <a:avLst/>
            </a:prstGeom>
          </p:spPr>
        </p:pic>
        <p:sp>
          <p:nvSpPr>
            <p:cNvPr id="4" name="object 4"/>
            <p:cNvSpPr/>
            <p:nvPr/>
          </p:nvSpPr>
          <p:spPr>
            <a:xfrm>
              <a:off x="537972" y="1461515"/>
              <a:ext cx="11119485" cy="5148580"/>
            </a:xfrm>
            <a:custGeom>
              <a:avLst/>
              <a:gdLst/>
              <a:ahLst/>
              <a:cxnLst/>
              <a:rect l="l" t="t" r="r" b="b"/>
              <a:pathLst>
                <a:path w="11119485" h="5148580">
                  <a:moveTo>
                    <a:pt x="11119104" y="0"/>
                  </a:moveTo>
                  <a:lnTo>
                    <a:pt x="0" y="0"/>
                  </a:lnTo>
                  <a:lnTo>
                    <a:pt x="0" y="5148072"/>
                  </a:lnTo>
                  <a:lnTo>
                    <a:pt x="11119104" y="5148072"/>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1515"/>
              <a:ext cx="11119485" cy="5148580"/>
            </a:xfrm>
            <a:custGeom>
              <a:avLst/>
              <a:gdLst/>
              <a:ahLst/>
              <a:cxnLst/>
              <a:rect l="l" t="t" r="r" b="b"/>
              <a:pathLst>
                <a:path w="11119485" h="5148580">
                  <a:moveTo>
                    <a:pt x="0" y="5148072"/>
                  </a:moveTo>
                  <a:lnTo>
                    <a:pt x="11119104" y="5148072"/>
                  </a:lnTo>
                  <a:lnTo>
                    <a:pt x="11119104" y="0"/>
                  </a:lnTo>
                  <a:lnTo>
                    <a:pt x="0" y="0"/>
                  </a:lnTo>
                  <a:lnTo>
                    <a:pt x="0" y="5148072"/>
                  </a:lnTo>
                  <a:close/>
                </a:path>
              </a:pathLst>
            </a:custGeom>
            <a:ln w="9525">
              <a:solidFill>
                <a:srgbClr val="F8CCAC"/>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FF7800"/>
            </a:solidFill>
          </p:spPr>
          <p:txBody>
            <a:bodyPr wrap="square" lIns="0" tIns="0" rIns="0" bIns="0" rtlCol="0"/>
            <a:lstStyle/>
            <a:p>
              <a:endParaRPr/>
            </a:p>
          </p:txBody>
        </p:sp>
      </p:grpSp>
      <p:grpSp>
        <p:nvGrpSpPr>
          <p:cNvPr id="8" name="object 8"/>
          <p:cNvGrpSpPr/>
          <p:nvPr/>
        </p:nvGrpSpPr>
        <p:grpSpPr>
          <a:xfrm>
            <a:off x="732853" y="1662493"/>
            <a:ext cx="10601515" cy="4450842"/>
            <a:chOff x="732853" y="1662493"/>
            <a:chExt cx="10601515" cy="4450842"/>
          </a:xfrm>
        </p:grpSpPr>
        <p:pic>
          <p:nvPicPr>
            <p:cNvPr id="11" name="object 11"/>
            <p:cNvPicPr/>
            <p:nvPr/>
          </p:nvPicPr>
          <p:blipFill>
            <a:blip r:embed="rId4" cstate="print"/>
            <a:stretch>
              <a:fillRect/>
            </a:stretch>
          </p:blipFill>
          <p:spPr>
            <a:xfrm>
              <a:off x="737616" y="1667256"/>
              <a:ext cx="5105400" cy="4428744"/>
            </a:xfrm>
            <a:prstGeom prst="rect">
              <a:avLst/>
            </a:prstGeom>
          </p:spPr>
        </p:pic>
        <p:sp>
          <p:nvSpPr>
            <p:cNvPr id="12" name="object 12"/>
            <p:cNvSpPr/>
            <p:nvPr/>
          </p:nvSpPr>
          <p:spPr>
            <a:xfrm>
              <a:off x="732853" y="1662493"/>
              <a:ext cx="5114925" cy="4438650"/>
            </a:xfrm>
            <a:custGeom>
              <a:avLst/>
              <a:gdLst/>
              <a:ahLst/>
              <a:cxnLst/>
              <a:rect l="l" t="t" r="r" b="b"/>
              <a:pathLst>
                <a:path w="5114925" h="4438650">
                  <a:moveTo>
                    <a:pt x="0" y="4438269"/>
                  </a:moveTo>
                  <a:lnTo>
                    <a:pt x="5114925" y="4438269"/>
                  </a:lnTo>
                  <a:lnTo>
                    <a:pt x="5114925" y="0"/>
                  </a:lnTo>
                  <a:lnTo>
                    <a:pt x="0" y="0"/>
                  </a:lnTo>
                  <a:lnTo>
                    <a:pt x="0" y="4438269"/>
                  </a:lnTo>
                  <a:close/>
                </a:path>
              </a:pathLst>
            </a:custGeom>
            <a:ln w="9525">
              <a:solidFill>
                <a:srgbClr val="000000"/>
              </a:solidFill>
            </a:ln>
          </p:spPr>
          <p:txBody>
            <a:bodyPr wrap="square" lIns="0" tIns="0" rIns="0" bIns="0" rtlCol="0"/>
            <a:lstStyle/>
            <a:p>
              <a:endParaRPr/>
            </a:p>
          </p:txBody>
        </p:sp>
        <p:pic>
          <p:nvPicPr>
            <p:cNvPr id="13" name="object 13"/>
            <p:cNvPicPr/>
            <p:nvPr/>
          </p:nvPicPr>
          <p:blipFill>
            <a:blip r:embed="rId5" cstate="print"/>
            <a:stretch>
              <a:fillRect/>
            </a:stretch>
          </p:blipFill>
          <p:spPr>
            <a:xfrm>
              <a:off x="6233160" y="1679448"/>
              <a:ext cx="5096255" cy="4428744"/>
            </a:xfrm>
            <a:prstGeom prst="rect">
              <a:avLst/>
            </a:prstGeom>
          </p:spPr>
        </p:pic>
        <p:sp>
          <p:nvSpPr>
            <p:cNvPr id="14" name="object 14"/>
            <p:cNvSpPr/>
            <p:nvPr/>
          </p:nvSpPr>
          <p:spPr>
            <a:xfrm>
              <a:off x="6228333" y="1674685"/>
              <a:ext cx="5106035" cy="4438650"/>
            </a:xfrm>
            <a:custGeom>
              <a:avLst/>
              <a:gdLst/>
              <a:ahLst/>
              <a:cxnLst/>
              <a:rect l="l" t="t" r="r" b="b"/>
              <a:pathLst>
                <a:path w="5106034" h="4438650">
                  <a:moveTo>
                    <a:pt x="0" y="4438269"/>
                  </a:moveTo>
                  <a:lnTo>
                    <a:pt x="5105781" y="4438269"/>
                  </a:lnTo>
                  <a:lnTo>
                    <a:pt x="5105781" y="0"/>
                  </a:lnTo>
                  <a:lnTo>
                    <a:pt x="0" y="0"/>
                  </a:lnTo>
                  <a:lnTo>
                    <a:pt x="0" y="4438269"/>
                  </a:lnTo>
                  <a:close/>
                </a:path>
              </a:pathLst>
            </a:custGeom>
            <a:ln w="9525">
              <a:solidFill>
                <a:srgbClr val="000000"/>
              </a:solidFill>
            </a:ln>
          </p:spPr>
          <p:txBody>
            <a:bodyPr wrap="square" lIns="0" tIns="0" rIns="0" bIns="0" rtlCol="0"/>
            <a:lstStyle/>
            <a:p>
              <a:endParaRPr/>
            </a:p>
          </p:txBody>
        </p:sp>
      </p:grpSp>
      <p:sp>
        <p:nvSpPr>
          <p:cNvPr id="15" name="object 15"/>
          <p:cNvSpPr txBox="1"/>
          <p:nvPr/>
        </p:nvSpPr>
        <p:spPr>
          <a:xfrm>
            <a:off x="1164132" y="6184798"/>
            <a:ext cx="4438650" cy="197490"/>
          </a:xfrm>
          <a:prstGeom prst="rect">
            <a:avLst/>
          </a:prstGeom>
        </p:spPr>
        <p:txBody>
          <a:bodyPr vert="horz" wrap="square" lIns="0" tIns="12700" rIns="0" bIns="0" rtlCol="0">
            <a:spAutoFit/>
          </a:bodyPr>
          <a:lstStyle/>
          <a:p>
            <a:pPr marL="12700">
              <a:lnSpc>
                <a:spcPct val="100000"/>
              </a:lnSpc>
              <a:spcBef>
                <a:spcPts val="100"/>
              </a:spcBef>
            </a:pPr>
            <a:r>
              <a:rPr sz="1200" i="1" dirty="0">
                <a:solidFill>
                  <a:srgbClr val="A6A6A6"/>
                </a:solidFill>
                <a:latin typeface="Calibri"/>
                <a:cs typeface="Calibri"/>
              </a:rPr>
              <a:t>Figure</a:t>
            </a:r>
            <a:r>
              <a:rPr sz="1200" i="1" spc="-20" dirty="0">
                <a:solidFill>
                  <a:srgbClr val="A6A6A6"/>
                </a:solidFill>
                <a:latin typeface="Calibri"/>
                <a:cs typeface="Calibri"/>
              </a:rPr>
              <a:t> </a:t>
            </a:r>
            <a:r>
              <a:rPr lang="fr-FR" sz="1200" i="1" dirty="0">
                <a:solidFill>
                  <a:srgbClr val="A6A6A6"/>
                </a:solidFill>
                <a:latin typeface="Calibri"/>
                <a:cs typeface="Calibri"/>
              </a:rPr>
              <a:t>1</a:t>
            </a:r>
            <a:r>
              <a:rPr sz="1200" i="1" spc="280" dirty="0" smtClean="0">
                <a:solidFill>
                  <a:srgbClr val="A6A6A6"/>
                </a:solidFill>
                <a:latin typeface="Calibri"/>
                <a:cs typeface="Calibri"/>
              </a:rPr>
              <a:t> </a:t>
            </a:r>
            <a:r>
              <a:rPr sz="1200" i="1" dirty="0">
                <a:solidFill>
                  <a:srgbClr val="A6A6A6"/>
                </a:solidFill>
                <a:latin typeface="Calibri"/>
                <a:cs typeface="Calibri"/>
              </a:rPr>
              <a:t>:</a:t>
            </a:r>
            <a:r>
              <a:rPr sz="1200" i="1" spc="-5" dirty="0">
                <a:solidFill>
                  <a:srgbClr val="A6A6A6"/>
                </a:solidFill>
                <a:latin typeface="Calibri"/>
                <a:cs typeface="Calibri"/>
              </a:rPr>
              <a:t> </a:t>
            </a:r>
            <a:r>
              <a:rPr sz="1200" i="1" dirty="0">
                <a:solidFill>
                  <a:srgbClr val="A6A6A6"/>
                </a:solidFill>
                <a:latin typeface="Calibri"/>
                <a:cs typeface="Calibri"/>
              </a:rPr>
              <a:t>Le</a:t>
            </a:r>
            <a:r>
              <a:rPr sz="1200" i="1" spc="-10" dirty="0">
                <a:solidFill>
                  <a:srgbClr val="A6A6A6"/>
                </a:solidFill>
                <a:latin typeface="Calibri"/>
                <a:cs typeface="Calibri"/>
              </a:rPr>
              <a:t> </a:t>
            </a:r>
            <a:r>
              <a:rPr sz="1200" i="1" dirty="0">
                <a:solidFill>
                  <a:srgbClr val="A6A6A6"/>
                </a:solidFill>
                <a:latin typeface="Calibri"/>
                <a:cs typeface="Calibri"/>
              </a:rPr>
              <a:t>gestionnaire</a:t>
            </a:r>
            <a:r>
              <a:rPr sz="1200" i="1" spc="-20" dirty="0">
                <a:solidFill>
                  <a:srgbClr val="A6A6A6"/>
                </a:solidFill>
                <a:latin typeface="Calibri"/>
                <a:cs typeface="Calibri"/>
              </a:rPr>
              <a:t> </a:t>
            </a:r>
            <a:r>
              <a:rPr sz="1200" i="1" dirty="0">
                <a:solidFill>
                  <a:srgbClr val="A6A6A6"/>
                </a:solidFill>
                <a:latin typeface="Calibri"/>
                <a:cs typeface="Calibri"/>
              </a:rPr>
              <a:t>des</a:t>
            </a:r>
            <a:r>
              <a:rPr sz="1200" i="1" spc="-25" dirty="0">
                <a:solidFill>
                  <a:srgbClr val="A6A6A6"/>
                </a:solidFill>
                <a:latin typeface="Calibri"/>
                <a:cs typeface="Calibri"/>
              </a:rPr>
              <a:t> </a:t>
            </a:r>
            <a:r>
              <a:rPr sz="1200" i="1" dirty="0">
                <a:solidFill>
                  <a:srgbClr val="A6A6A6"/>
                </a:solidFill>
                <a:latin typeface="Calibri"/>
                <a:cs typeface="Calibri"/>
              </a:rPr>
              <a:t>tâches</a:t>
            </a:r>
            <a:r>
              <a:rPr sz="1200" i="1" spc="-50" dirty="0">
                <a:solidFill>
                  <a:srgbClr val="A6A6A6"/>
                </a:solidFill>
                <a:latin typeface="Calibri"/>
                <a:cs typeface="Calibri"/>
              </a:rPr>
              <a:t> </a:t>
            </a:r>
            <a:r>
              <a:rPr sz="1200" i="1" dirty="0">
                <a:solidFill>
                  <a:srgbClr val="A6A6A6"/>
                </a:solidFill>
                <a:latin typeface="Calibri"/>
                <a:cs typeface="Calibri"/>
              </a:rPr>
              <a:t>onglet</a:t>
            </a:r>
            <a:r>
              <a:rPr sz="1200" i="1" spc="-30" dirty="0">
                <a:solidFill>
                  <a:srgbClr val="A6A6A6"/>
                </a:solidFill>
                <a:latin typeface="Calibri"/>
                <a:cs typeface="Calibri"/>
              </a:rPr>
              <a:t> </a:t>
            </a:r>
            <a:r>
              <a:rPr sz="1200" i="1" spc="-10" dirty="0">
                <a:solidFill>
                  <a:srgbClr val="A6A6A6"/>
                </a:solidFill>
                <a:latin typeface="Calibri"/>
                <a:cs typeface="Calibri"/>
              </a:rPr>
              <a:t>Performance</a:t>
            </a:r>
            <a:r>
              <a:rPr sz="1200" i="1" spc="-40" dirty="0">
                <a:solidFill>
                  <a:srgbClr val="A6A6A6"/>
                </a:solidFill>
                <a:latin typeface="Calibri"/>
                <a:cs typeface="Calibri"/>
              </a:rPr>
              <a:t> </a:t>
            </a:r>
            <a:r>
              <a:rPr sz="1200" i="1" dirty="0">
                <a:solidFill>
                  <a:srgbClr val="A6A6A6"/>
                </a:solidFill>
                <a:latin typeface="Calibri"/>
                <a:cs typeface="Calibri"/>
              </a:rPr>
              <a:t>(</a:t>
            </a:r>
            <a:r>
              <a:rPr sz="1200" i="1" spc="5" dirty="0">
                <a:solidFill>
                  <a:srgbClr val="A6A6A6"/>
                </a:solidFill>
                <a:latin typeface="Calibri"/>
                <a:cs typeface="Calibri"/>
              </a:rPr>
              <a:t> </a:t>
            </a:r>
            <a:r>
              <a:rPr sz="1200" i="1" spc="-10" dirty="0">
                <a:solidFill>
                  <a:srgbClr val="A6A6A6"/>
                </a:solidFill>
                <a:latin typeface="Calibri"/>
                <a:cs typeface="Calibri"/>
              </a:rPr>
              <a:t>Processeur)</a:t>
            </a:r>
            <a:endParaRPr sz="1200" dirty="0">
              <a:latin typeface="Calibri"/>
              <a:cs typeface="Calibri"/>
            </a:endParaRPr>
          </a:p>
        </p:txBody>
      </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43</a:t>
            </a:fld>
            <a:endParaRPr spc="-25" dirty="0"/>
          </a:p>
        </p:txBody>
      </p:sp>
      <p:sp>
        <p:nvSpPr>
          <p:cNvPr id="19" name="object 19"/>
          <p:cNvSpPr txBox="1">
            <a:spLocks noGrp="1"/>
          </p:cNvSpPr>
          <p:nvPr>
            <p:ph type="ftr" sz="quarter" idx="5"/>
          </p:nvPr>
        </p:nvSpPr>
        <p:spPr>
          <a:prstGeom prst="rect">
            <a:avLst/>
          </a:prstGeom>
        </p:spPr>
        <p:txBody>
          <a:bodyPr vert="horz" wrap="square" lIns="0" tIns="0" rIns="0" bIns="0" rtlCol="0">
            <a:spAutoFit/>
          </a:bodyPr>
          <a:lstStyle/>
          <a:p>
            <a:pPr marL="12700">
              <a:lnSpc>
                <a:spcPts val="1055"/>
              </a:lnSpc>
            </a:pPr>
            <a:r>
              <a:rPr dirty="0"/>
              <a:t>Copyright</a:t>
            </a:r>
            <a:r>
              <a:rPr spc="-35" dirty="0"/>
              <a:t> </a:t>
            </a:r>
            <a:r>
              <a:rPr dirty="0"/>
              <a:t>-</a:t>
            </a:r>
            <a:r>
              <a:rPr spc="-10" dirty="0"/>
              <a:t> </a:t>
            </a:r>
            <a:r>
              <a:rPr dirty="0"/>
              <a:t>Tout</a:t>
            </a:r>
            <a:r>
              <a:rPr spc="-15" dirty="0"/>
              <a:t> </a:t>
            </a:r>
            <a:r>
              <a:rPr dirty="0"/>
              <a:t>droit</a:t>
            </a:r>
            <a:r>
              <a:rPr spc="-40" dirty="0"/>
              <a:t> </a:t>
            </a:r>
            <a:r>
              <a:rPr dirty="0"/>
              <a:t>réservé</a:t>
            </a:r>
            <a:r>
              <a:rPr spc="-30" dirty="0"/>
              <a:t> </a:t>
            </a:r>
            <a:r>
              <a:rPr dirty="0"/>
              <a:t>-</a:t>
            </a:r>
            <a:r>
              <a:rPr spc="-10" dirty="0"/>
              <a:t> </a:t>
            </a:r>
            <a:r>
              <a:rPr spc="-20" dirty="0"/>
              <a:t>OFPPT</a:t>
            </a:r>
          </a:p>
        </p:txBody>
      </p:sp>
      <p:sp>
        <p:nvSpPr>
          <p:cNvPr id="16" name="object 16"/>
          <p:cNvSpPr txBox="1"/>
          <p:nvPr/>
        </p:nvSpPr>
        <p:spPr>
          <a:xfrm>
            <a:off x="6635622" y="6184798"/>
            <a:ext cx="4071620" cy="197490"/>
          </a:xfrm>
          <a:prstGeom prst="rect">
            <a:avLst/>
          </a:prstGeom>
        </p:spPr>
        <p:txBody>
          <a:bodyPr vert="horz" wrap="square" lIns="0" tIns="12700" rIns="0" bIns="0" rtlCol="0">
            <a:spAutoFit/>
          </a:bodyPr>
          <a:lstStyle/>
          <a:p>
            <a:pPr marL="12700">
              <a:lnSpc>
                <a:spcPct val="100000"/>
              </a:lnSpc>
              <a:spcBef>
                <a:spcPts val="100"/>
              </a:spcBef>
            </a:pPr>
            <a:r>
              <a:rPr sz="1200" i="1" dirty="0">
                <a:solidFill>
                  <a:srgbClr val="A6A6A6"/>
                </a:solidFill>
                <a:latin typeface="Calibri"/>
                <a:cs typeface="Calibri"/>
              </a:rPr>
              <a:t>Figure</a:t>
            </a:r>
            <a:r>
              <a:rPr sz="1200" i="1" spc="-15" dirty="0">
                <a:solidFill>
                  <a:srgbClr val="A6A6A6"/>
                </a:solidFill>
                <a:latin typeface="Calibri"/>
                <a:cs typeface="Calibri"/>
              </a:rPr>
              <a:t> </a:t>
            </a:r>
            <a:r>
              <a:rPr lang="fr-FR" sz="1200" i="1" dirty="0">
                <a:solidFill>
                  <a:srgbClr val="A6A6A6"/>
                </a:solidFill>
                <a:latin typeface="Calibri"/>
                <a:cs typeface="Calibri"/>
              </a:rPr>
              <a:t>2</a:t>
            </a:r>
            <a:r>
              <a:rPr sz="1200" i="1" spc="285" dirty="0" smtClean="0">
                <a:solidFill>
                  <a:srgbClr val="A6A6A6"/>
                </a:solidFill>
                <a:latin typeface="Calibri"/>
                <a:cs typeface="Calibri"/>
              </a:rPr>
              <a:t> </a:t>
            </a:r>
            <a:r>
              <a:rPr sz="1200" i="1" dirty="0">
                <a:solidFill>
                  <a:srgbClr val="A6A6A6"/>
                </a:solidFill>
                <a:latin typeface="Calibri"/>
                <a:cs typeface="Calibri"/>
              </a:rPr>
              <a:t>: Le</a:t>
            </a:r>
            <a:r>
              <a:rPr sz="1200" i="1" spc="-10" dirty="0">
                <a:solidFill>
                  <a:srgbClr val="A6A6A6"/>
                </a:solidFill>
                <a:latin typeface="Calibri"/>
                <a:cs typeface="Calibri"/>
              </a:rPr>
              <a:t> </a:t>
            </a:r>
            <a:r>
              <a:rPr sz="1200" i="1" dirty="0">
                <a:solidFill>
                  <a:srgbClr val="A6A6A6"/>
                </a:solidFill>
                <a:latin typeface="Calibri"/>
                <a:cs typeface="Calibri"/>
              </a:rPr>
              <a:t>gestionnaire</a:t>
            </a:r>
            <a:r>
              <a:rPr sz="1200" i="1" spc="-15" dirty="0">
                <a:solidFill>
                  <a:srgbClr val="A6A6A6"/>
                </a:solidFill>
                <a:latin typeface="Calibri"/>
                <a:cs typeface="Calibri"/>
              </a:rPr>
              <a:t> </a:t>
            </a:r>
            <a:r>
              <a:rPr sz="1200" i="1" dirty="0">
                <a:solidFill>
                  <a:srgbClr val="A6A6A6"/>
                </a:solidFill>
                <a:latin typeface="Calibri"/>
                <a:cs typeface="Calibri"/>
              </a:rPr>
              <a:t>des</a:t>
            </a:r>
            <a:r>
              <a:rPr sz="1200" i="1" spc="-25" dirty="0">
                <a:solidFill>
                  <a:srgbClr val="A6A6A6"/>
                </a:solidFill>
                <a:latin typeface="Calibri"/>
                <a:cs typeface="Calibri"/>
              </a:rPr>
              <a:t> </a:t>
            </a:r>
            <a:r>
              <a:rPr sz="1200" i="1" dirty="0">
                <a:solidFill>
                  <a:srgbClr val="A6A6A6"/>
                </a:solidFill>
                <a:latin typeface="Calibri"/>
                <a:cs typeface="Calibri"/>
              </a:rPr>
              <a:t>tâches</a:t>
            </a:r>
            <a:r>
              <a:rPr sz="1200" i="1" spc="-45" dirty="0">
                <a:solidFill>
                  <a:srgbClr val="A6A6A6"/>
                </a:solidFill>
                <a:latin typeface="Calibri"/>
                <a:cs typeface="Calibri"/>
              </a:rPr>
              <a:t> </a:t>
            </a:r>
            <a:r>
              <a:rPr sz="1200" i="1" dirty="0">
                <a:solidFill>
                  <a:srgbClr val="A6A6A6"/>
                </a:solidFill>
                <a:latin typeface="Calibri"/>
                <a:cs typeface="Calibri"/>
              </a:rPr>
              <a:t>onglet</a:t>
            </a:r>
            <a:r>
              <a:rPr sz="1200" i="1" spc="-30" dirty="0">
                <a:solidFill>
                  <a:srgbClr val="A6A6A6"/>
                </a:solidFill>
                <a:latin typeface="Calibri"/>
                <a:cs typeface="Calibri"/>
              </a:rPr>
              <a:t> </a:t>
            </a:r>
            <a:r>
              <a:rPr sz="1200" i="1" spc="-10" dirty="0">
                <a:solidFill>
                  <a:srgbClr val="A6A6A6"/>
                </a:solidFill>
                <a:latin typeface="Calibri"/>
                <a:cs typeface="Calibri"/>
              </a:rPr>
              <a:t>Performance</a:t>
            </a:r>
            <a:r>
              <a:rPr sz="1200" i="1" spc="-35" dirty="0">
                <a:solidFill>
                  <a:srgbClr val="A6A6A6"/>
                </a:solidFill>
                <a:latin typeface="Calibri"/>
                <a:cs typeface="Calibri"/>
              </a:rPr>
              <a:t> </a:t>
            </a:r>
            <a:r>
              <a:rPr sz="1200" i="1" dirty="0">
                <a:solidFill>
                  <a:srgbClr val="A6A6A6"/>
                </a:solidFill>
                <a:latin typeface="Calibri"/>
                <a:cs typeface="Calibri"/>
              </a:rPr>
              <a:t>(WI-</a:t>
            </a:r>
            <a:r>
              <a:rPr sz="1200" i="1" spc="-25" dirty="0">
                <a:solidFill>
                  <a:srgbClr val="A6A6A6"/>
                </a:solidFill>
                <a:latin typeface="Calibri"/>
                <a:cs typeface="Calibri"/>
              </a:rPr>
              <a:t>FI)</a:t>
            </a:r>
            <a:endParaRPr sz="1200" dirty="0">
              <a:latin typeface="Calibri"/>
              <a:cs typeface="Calibri"/>
            </a:endParaRPr>
          </a:p>
        </p:txBody>
      </p:sp>
      <p:sp>
        <p:nvSpPr>
          <p:cNvPr id="21" name="object 11"/>
          <p:cNvSpPr txBox="1">
            <a:spLocks noGrp="1"/>
          </p:cNvSpPr>
          <p:nvPr>
            <p:ph type="title"/>
          </p:nvPr>
        </p:nvSpPr>
        <p:spPr>
          <a:xfrm>
            <a:off x="263753" y="332308"/>
            <a:ext cx="11664492" cy="699089"/>
          </a:xfrm>
          <a:prstGeom prst="rect">
            <a:avLst/>
          </a:prstGeom>
        </p:spPr>
        <p:txBody>
          <a:bodyPr vert="horz" wrap="square" lIns="0" tIns="143688" rIns="0" bIns="0" rtlCol="0">
            <a:spAutoFit/>
          </a:bodyPr>
          <a:lstStyle/>
          <a:p>
            <a:pPr marL="17780">
              <a:lnSpc>
                <a:spcPct val="100000"/>
              </a:lnSpc>
              <a:spcBef>
                <a:spcPts val="90"/>
              </a:spcBef>
            </a:pPr>
            <a:r>
              <a:rPr lang="fr-FR" dirty="0">
                <a:solidFill>
                  <a:srgbClr val="FF7800"/>
                </a:solidFill>
              </a:rPr>
              <a:t>04 – Gestion des processus </a:t>
            </a:r>
            <a:r>
              <a:rPr lang="fr-FR" dirty="0" smtClean="0">
                <a:solidFill>
                  <a:srgbClr val="FF7800"/>
                </a:solidFill>
              </a:rPr>
              <a:t/>
            </a:r>
            <a:br>
              <a:rPr lang="fr-FR" dirty="0" smtClean="0">
                <a:solidFill>
                  <a:srgbClr val="FF7800"/>
                </a:solidFill>
              </a:rPr>
            </a:br>
            <a:r>
              <a:rPr lang="fr-FR" sz="1600" dirty="0" smtClean="0">
                <a:solidFill>
                  <a:srgbClr val="FF7800"/>
                </a:solidFill>
              </a:rPr>
              <a:t>Gestion</a:t>
            </a:r>
            <a:r>
              <a:rPr lang="fr-FR" sz="1600" spc="-50" dirty="0" smtClean="0">
                <a:solidFill>
                  <a:srgbClr val="FF7800"/>
                </a:solidFill>
              </a:rPr>
              <a:t> </a:t>
            </a:r>
            <a:r>
              <a:rPr lang="fr-FR" sz="1600" dirty="0" smtClean="0">
                <a:solidFill>
                  <a:srgbClr val="FF7800"/>
                </a:solidFill>
              </a:rPr>
              <a:t>des</a:t>
            </a:r>
            <a:r>
              <a:rPr lang="fr-FR" sz="1600" spc="-40" dirty="0" smtClean="0">
                <a:solidFill>
                  <a:srgbClr val="FF7800"/>
                </a:solidFill>
              </a:rPr>
              <a:t> </a:t>
            </a:r>
            <a:r>
              <a:rPr lang="fr-FR" sz="1600" dirty="0" smtClean="0">
                <a:solidFill>
                  <a:srgbClr val="FF7800"/>
                </a:solidFill>
              </a:rPr>
              <a:t>processus</a:t>
            </a:r>
            <a:r>
              <a:rPr lang="fr-FR" sz="1600" spc="-65" dirty="0" smtClean="0">
                <a:solidFill>
                  <a:srgbClr val="FF7800"/>
                </a:solidFill>
              </a:rPr>
              <a:t> </a:t>
            </a:r>
            <a:r>
              <a:rPr lang="fr-FR" sz="1600" dirty="0" smtClean="0">
                <a:solidFill>
                  <a:srgbClr val="FF7800"/>
                </a:solidFill>
              </a:rPr>
              <a:t>sous</a:t>
            </a:r>
            <a:r>
              <a:rPr lang="fr-FR" sz="1600" spc="-40" dirty="0" smtClean="0">
                <a:solidFill>
                  <a:srgbClr val="FF7800"/>
                </a:solidFill>
              </a:rPr>
              <a:t> </a:t>
            </a:r>
            <a:r>
              <a:rPr lang="fr-FR" sz="1600" spc="-10" dirty="0" smtClean="0">
                <a:solidFill>
                  <a:srgbClr val="FF7800"/>
                </a:solidFill>
              </a:rPr>
              <a:t>Windows</a:t>
            </a:r>
            <a:endParaRPr lang="fr-FR" sz="1600" dirty="0"/>
          </a:p>
        </p:txBody>
      </p:sp>
      <p:sp>
        <p:nvSpPr>
          <p:cNvPr id="22"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Tree>
    <p:extLst>
      <p:ext uri="{BB962C8B-B14F-4D97-AF65-F5344CB8AC3E}">
        <p14:creationId xmlns:p14="http://schemas.microsoft.com/office/powerpoint/2010/main" val="19016809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5459"/>
            <a:chOff x="0" y="17"/>
            <a:chExt cx="12189460" cy="6855459"/>
          </a:xfrm>
        </p:grpSpPr>
        <p:pic>
          <p:nvPicPr>
            <p:cNvPr id="3" name="object 3"/>
            <p:cNvPicPr/>
            <p:nvPr/>
          </p:nvPicPr>
          <p:blipFill>
            <a:blip r:embed="rId3" cstate="print"/>
            <a:stretch>
              <a:fillRect/>
            </a:stretch>
          </p:blipFill>
          <p:spPr>
            <a:xfrm>
              <a:off x="3048" y="17"/>
              <a:ext cx="12185903" cy="6855206"/>
            </a:xfrm>
            <a:prstGeom prst="rect">
              <a:avLst/>
            </a:prstGeom>
          </p:spPr>
        </p:pic>
        <p:sp>
          <p:nvSpPr>
            <p:cNvPr id="4" name="object 4"/>
            <p:cNvSpPr/>
            <p:nvPr/>
          </p:nvSpPr>
          <p:spPr>
            <a:xfrm>
              <a:off x="537972" y="1461515"/>
              <a:ext cx="11119485" cy="5148580"/>
            </a:xfrm>
            <a:custGeom>
              <a:avLst/>
              <a:gdLst/>
              <a:ahLst/>
              <a:cxnLst/>
              <a:rect l="l" t="t" r="r" b="b"/>
              <a:pathLst>
                <a:path w="11119485" h="5148580">
                  <a:moveTo>
                    <a:pt x="11119104" y="0"/>
                  </a:moveTo>
                  <a:lnTo>
                    <a:pt x="0" y="0"/>
                  </a:lnTo>
                  <a:lnTo>
                    <a:pt x="0" y="5148072"/>
                  </a:lnTo>
                  <a:lnTo>
                    <a:pt x="11119104" y="5148072"/>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1515"/>
              <a:ext cx="11119485" cy="5148580"/>
            </a:xfrm>
            <a:custGeom>
              <a:avLst/>
              <a:gdLst/>
              <a:ahLst/>
              <a:cxnLst/>
              <a:rect l="l" t="t" r="r" b="b"/>
              <a:pathLst>
                <a:path w="11119485" h="5148580">
                  <a:moveTo>
                    <a:pt x="0" y="5148072"/>
                  </a:moveTo>
                  <a:lnTo>
                    <a:pt x="11119104" y="5148072"/>
                  </a:lnTo>
                  <a:lnTo>
                    <a:pt x="11119104" y="0"/>
                  </a:lnTo>
                  <a:lnTo>
                    <a:pt x="0" y="0"/>
                  </a:lnTo>
                  <a:lnTo>
                    <a:pt x="0" y="5148072"/>
                  </a:lnTo>
                  <a:close/>
                </a:path>
              </a:pathLst>
            </a:custGeom>
            <a:ln w="9525">
              <a:solidFill>
                <a:srgbClr val="F8CCAC"/>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FF7800"/>
            </a:solidFill>
          </p:spPr>
          <p:txBody>
            <a:bodyPr wrap="square" lIns="0" tIns="0" rIns="0" bIns="0" rtlCol="0"/>
            <a:lstStyle/>
            <a:p>
              <a:endParaRPr/>
            </a:p>
          </p:txBody>
        </p:sp>
      </p:grpSp>
      <p:grpSp>
        <p:nvGrpSpPr>
          <p:cNvPr id="8" name="object 8"/>
          <p:cNvGrpSpPr/>
          <p:nvPr/>
        </p:nvGrpSpPr>
        <p:grpSpPr>
          <a:xfrm>
            <a:off x="732853" y="1662493"/>
            <a:ext cx="10601515" cy="4450842"/>
            <a:chOff x="732853" y="1662493"/>
            <a:chExt cx="10601515" cy="4450842"/>
          </a:xfrm>
        </p:grpSpPr>
        <p:pic>
          <p:nvPicPr>
            <p:cNvPr id="11" name="object 11"/>
            <p:cNvPicPr/>
            <p:nvPr/>
          </p:nvPicPr>
          <p:blipFill>
            <a:blip r:embed="rId4" cstate="print"/>
            <a:stretch>
              <a:fillRect/>
            </a:stretch>
          </p:blipFill>
          <p:spPr>
            <a:xfrm>
              <a:off x="737616" y="1667256"/>
              <a:ext cx="5105400" cy="4428744"/>
            </a:xfrm>
            <a:prstGeom prst="rect">
              <a:avLst/>
            </a:prstGeom>
          </p:spPr>
        </p:pic>
        <p:sp>
          <p:nvSpPr>
            <p:cNvPr id="12" name="object 12"/>
            <p:cNvSpPr/>
            <p:nvPr/>
          </p:nvSpPr>
          <p:spPr>
            <a:xfrm>
              <a:off x="732853" y="1662493"/>
              <a:ext cx="5114925" cy="4438650"/>
            </a:xfrm>
            <a:custGeom>
              <a:avLst/>
              <a:gdLst/>
              <a:ahLst/>
              <a:cxnLst/>
              <a:rect l="l" t="t" r="r" b="b"/>
              <a:pathLst>
                <a:path w="5114925" h="4438650">
                  <a:moveTo>
                    <a:pt x="0" y="4438269"/>
                  </a:moveTo>
                  <a:lnTo>
                    <a:pt x="5114925" y="4438269"/>
                  </a:lnTo>
                  <a:lnTo>
                    <a:pt x="5114925" y="0"/>
                  </a:lnTo>
                  <a:lnTo>
                    <a:pt x="0" y="0"/>
                  </a:lnTo>
                  <a:lnTo>
                    <a:pt x="0" y="4438269"/>
                  </a:lnTo>
                  <a:close/>
                </a:path>
              </a:pathLst>
            </a:custGeom>
            <a:ln w="9525">
              <a:solidFill>
                <a:srgbClr val="000000"/>
              </a:solidFill>
            </a:ln>
          </p:spPr>
          <p:txBody>
            <a:bodyPr wrap="square" lIns="0" tIns="0" rIns="0" bIns="0" rtlCol="0"/>
            <a:lstStyle/>
            <a:p>
              <a:endParaRPr/>
            </a:p>
          </p:txBody>
        </p:sp>
        <p:pic>
          <p:nvPicPr>
            <p:cNvPr id="13" name="object 13"/>
            <p:cNvPicPr/>
            <p:nvPr/>
          </p:nvPicPr>
          <p:blipFill>
            <a:blip r:embed="rId5" cstate="print"/>
            <a:stretch>
              <a:fillRect/>
            </a:stretch>
          </p:blipFill>
          <p:spPr>
            <a:xfrm>
              <a:off x="6233160" y="1679448"/>
              <a:ext cx="5096255" cy="4428744"/>
            </a:xfrm>
            <a:prstGeom prst="rect">
              <a:avLst/>
            </a:prstGeom>
          </p:spPr>
        </p:pic>
        <p:sp>
          <p:nvSpPr>
            <p:cNvPr id="14" name="object 14"/>
            <p:cNvSpPr/>
            <p:nvPr/>
          </p:nvSpPr>
          <p:spPr>
            <a:xfrm>
              <a:off x="6228333" y="1674685"/>
              <a:ext cx="5106035" cy="4438650"/>
            </a:xfrm>
            <a:custGeom>
              <a:avLst/>
              <a:gdLst/>
              <a:ahLst/>
              <a:cxnLst/>
              <a:rect l="l" t="t" r="r" b="b"/>
              <a:pathLst>
                <a:path w="5106034" h="4438650">
                  <a:moveTo>
                    <a:pt x="0" y="4438269"/>
                  </a:moveTo>
                  <a:lnTo>
                    <a:pt x="5105781" y="4438269"/>
                  </a:lnTo>
                  <a:lnTo>
                    <a:pt x="5105781" y="0"/>
                  </a:lnTo>
                  <a:lnTo>
                    <a:pt x="0" y="0"/>
                  </a:lnTo>
                  <a:lnTo>
                    <a:pt x="0" y="4438269"/>
                  </a:lnTo>
                  <a:close/>
                </a:path>
              </a:pathLst>
            </a:custGeom>
            <a:ln w="9525">
              <a:solidFill>
                <a:srgbClr val="000000"/>
              </a:solidFill>
            </a:ln>
          </p:spPr>
          <p:txBody>
            <a:bodyPr wrap="square" lIns="0" tIns="0" rIns="0" bIns="0" rtlCol="0"/>
            <a:lstStyle/>
            <a:p>
              <a:endParaRPr/>
            </a:p>
          </p:txBody>
        </p:sp>
      </p:grpSp>
      <p:sp>
        <p:nvSpPr>
          <p:cNvPr id="15" name="object 15"/>
          <p:cNvSpPr txBox="1"/>
          <p:nvPr/>
        </p:nvSpPr>
        <p:spPr>
          <a:xfrm>
            <a:off x="1164132" y="6184798"/>
            <a:ext cx="4438650" cy="208279"/>
          </a:xfrm>
          <a:prstGeom prst="rect">
            <a:avLst/>
          </a:prstGeom>
        </p:spPr>
        <p:txBody>
          <a:bodyPr vert="horz" wrap="square" lIns="0" tIns="12700" rIns="0" bIns="0" rtlCol="0">
            <a:spAutoFit/>
          </a:bodyPr>
          <a:lstStyle/>
          <a:p>
            <a:pPr marL="12700">
              <a:lnSpc>
                <a:spcPct val="100000"/>
              </a:lnSpc>
              <a:spcBef>
                <a:spcPts val="100"/>
              </a:spcBef>
            </a:pPr>
            <a:r>
              <a:rPr sz="1200" i="1" dirty="0">
                <a:solidFill>
                  <a:srgbClr val="A6A6A6"/>
                </a:solidFill>
                <a:latin typeface="Calibri"/>
                <a:cs typeface="Calibri"/>
              </a:rPr>
              <a:t>Figure</a:t>
            </a:r>
            <a:r>
              <a:rPr sz="1200" i="1" spc="-20" dirty="0">
                <a:solidFill>
                  <a:srgbClr val="A6A6A6"/>
                </a:solidFill>
                <a:latin typeface="Calibri"/>
                <a:cs typeface="Calibri"/>
              </a:rPr>
              <a:t> </a:t>
            </a:r>
            <a:r>
              <a:rPr sz="1200" i="1" dirty="0">
                <a:solidFill>
                  <a:srgbClr val="A6A6A6"/>
                </a:solidFill>
                <a:latin typeface="Calibri"/>
                <a:cs typeface="Calibri"/>
              </a:rPr>
              <a:t>47</a:t>
            </a:r>
            <a:r>
              <a:rPr sz="1200" i="1" spc="280" dirty="0">
                <a:solidFill>
                  <a:srgbClr val="A6A6A6"/>
                </a:solidFill>
                <a:latin typeface="Calibri"/>
                <a:cs typeface="Calibri"/>
              </a:rPr>
              <a:t> </a:t>
            </a:r>
            <a:r>
              <a:rPr sz="1200" i="1" dirty="0">
                <a:solidFill>
                  <a:srgbClr val="A6A6A6"/>
                </a:solidFill>
                <a:latin typeface="Calibri"/>
                <a:cs typeface="Calibri"/>
              </a:rPr>
              <a:t>:</a:t>
            </a:r>
            <a:r>
              <a:rPr sz="1200" i="1" spc="-5" dirty="0">
                <a:solidFill>
                  <a:srgbClr val="A6A6A6"/>
                </a:solidFill>
                <a:latin typeface="Calibri"/>
                <a:cs typeface="Calibri"/>
              </a:rPr>
              <a:t> </a:t>
            </a:r>
            <a:r>
              <a:rPr sz="1200" i="1" dirty="0">
                <a:solidFill>
                  <a:srgbClr val="A6A6A6"/>
                </a:solidFill>
                <a:latin typeface="Calibri"/>
                <a:cs typeface="Calibri"/>
              </a:rPr>
              <a:t>Le</a:t>
            </a:r>
            <a:r>
              <a:rPr sz="1200" i="1" spc="-10" dirty="0">
                <a:solidFill>
                  <a:srgbClr val="A6A6A6"/>
                </a:solidFill>
                <a:latin typeface="Calibri"/>
                <a:cs typeface="Calibri"/>
              </a:rPr>
              <a:t> </a:t>
            </a:r>
            <a:r>
              <a:rPr sz="1200" i="1" dirty="0">
                <a:solidFill>
                  <a:srgbClr val="A6A6A6"/>
                </a:solidFill>
                <a:latin typeface="Calibri"/>
                <a:cs typeface="Calibri"/>
              </a:rPr>
              <a:t>gestionnaire</a:t>
            </a:r>
            <a:r>
              <a:rPr sz="1200" i="1" spc="-20" dirty="0">
                <a:solidFill>
                  <a:srgbClr val="A6A6A6"/>
                </a:solidFill>
                <a:latin typeface="Calibri"/>
                <a:cs typeface="Calibri"/>
              </a:rPr>
              <a:t> </a:t>
            </a:r>
            <a:r>
              <a:rPr sz="1200" i="1" dirty="0">
                <a:solidFill>
                  <a:srgbClr val="A6A6A6"/>
                </a:solidFill>
                <a:latin typeface="Calibri"/>
                <a:cs typeface="Calibri"/>
              </a:rPr>
              <a:t>des</a:t>
            </a:r>
            <a:r>
              <a:rPr sz="1200" i="1" spc="-25" dirty="0">
                <a:solidFill>
                  <a:srgbClr val="A6A6A6"/>
                </a:solidFill>
                <a:latin typeface="Calibri"/>
                <a:cs typeface="Calibri"/>
              </a:rPr>
              <a:t> </a:t>
            </a:r>
            <a:r>
              <a:rPr sz="1200" i="1" dirty="0">
                <a:solidFill>
                  <a:srgbClr val="A6A6A6"/>
                </a:solidFill>
                <a:latin typeface="Calibri"/>
                <a:cs typeface="Calibri"/>
              </a:rPr>
              <a:t>tâches</a:t>
            </a:r>
            <a:r>
              <a:rPr sz="1200" i="1" spc="-50" dirty="0">
                <a:solidFill>
                  <a:srgbClr val="A6A6A6"/>
                </a:solidFill>
                <a:latin typeface="Calibri"/>
                <a:cs typeface="Calibri"/>
              </a:rPr>
              <a:t> </a:t>
            </a:r>
            <a:r>
              <a:rPr sz="1200" i="1" dirty="0">
                <a:solidFill>
                  <a:srgbClr val="A6A6A6"/>
                </a:solidFill>
                <a:latin typeface="Calibri"/>
                <a:cs typeface="Calibri"/>
              </a:rPr>
              <a:t>onglet</a:t>
            </a:r>
            <a:r>
              <a:rPr sz="1200" i="1" spc="-30" dirty="0">
                <a:solidFill>
                  <a:srgbClr val="A6A6A6"/>
                </a:solidFill>
                <a:latin typeface="Calibri"/>
                <a:cs typeface="Calibri"/>
              </a:rPr>
              <a:t> </a:t>
            </a:r>
            <a:r>
              <a:rPr sz="1200" i="1" spc="-10" dirty="0">
                <a:solidFill>
                  <a:srgbClr val="A6A6A6"/>
                </a:solidFill>
                <a:latin typeface="Calibri"/>
                <a:cs typeface="Calibri"/>
              </a:rPr>
              <a:t>Performance</a:t>
            </a:r>
            <a:r>
              <a:rPr sz="1200" i="1" spc="-40" dirty="0">
                <a:solidFill>
                  <a:srgbClr val="A6A6A6"/>
                </a:solidFill>
                <a:latin typeface="Calibri"/>
                <a:cs typeface="Calibri"/>
              </a:rPr>
              <a:t> </a:t>
            </a:r>
            <a:r>
              <a:rPr sz="1200" i="1" dirty="0">
                <a:solidFill>
                  <a:srgbClr val="A6A6A6"/>
                </a:solidFill>
                <a:latin typeface="Calibri"/>
                <a:cs typeface="Calibri"/>
              </a:rPr>
              <a:t>(</a:t>
            </a:r>
            <a:r>
              <a:rPr sz="1200" i="1" spc="5" dirty="0">
                <a:solidFill>
                  <a:srgbClr val="A6A6A6"/>
                </a:solidFill>
                <a:latin typeface="Calibri"/>
                <a:cs typeface="Calibri"/>
              </a:rPr>
              <a:t> </a:t>
            </a:r>
            <a:r>
              <a:rPr sz="1200" i="1" spc="-10" dirty="0">
                <a:solidFill>
                  <a:srgbClr val="A6A6A6"/>
                </a:solidFill>
                <a:latin typeface="Calibri"/>
                <a:cs typeface="Calibri"/>
              </a:rPr>
              <a:t>Processeur)</a:t>
            </a:r>
            <a:endParaRPr sz="1200">
              <a:latin typeface="Calibri"/>
              <a:cs typeface="Calibri"/>
            </a:endParaRPr>
          </a:p>
        </p:txBody>
      </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44</a:t>
            </a:fld>
            <a:endParaRPr spc="-25" dirty="0"/>
          </a:p>
        </p:txBody>
      </p:sp>
      <p:sp>
        <p:nvSpPr>
          <p:cNvPr id="19" name="object 19"/>
          <p:cNvSpPr txBox="1">
            <a:spLocks noGrp="1"/>
          </p:cNvSpPr>
          <p:nvPr>
            <p:ph type="ftr" sz="quarter" idx="5"/>
          </p:nvPr>
        </p:nvSpPr>
        <p:spPr>
          <a:prstGeom prst="rect">
            <a:avLst/>
          </a:prstGeom>
        </p:spPr>
        <p:txBody>
          <a:bodyPr vert="horz" wrap="square" lIns="0" tIns="0" rIns="0" bIns="0" rtlCol="0">
            <a:spAutoFit/>
          </a:bodyPr>
          <a:lstStyle/>
          <a:p>
            <a:pPr marL="12700">
              <a:lnSpc>
                <a:spcPts val="1055"/>
              </a:lnSpc>
            </a:pPr>
            <a:r>
              <a:rPr dirty="0"/>
              <a:t>Copyright</a:t>
            </a:r>
            <a:r>
              <a:rPr spc="-35" dirty="0"/>
              <a:t> </a:t>
            </a:r>
            <a:r>
              <a:rPr dirty="0"/>
              <a:t>-</a:t>
            </a:r>
            <a:r>
              <a:rPr spc="-10" dirty="0"/>
              <a:t> </a:t>
            </a:r>
            <a:r>
              <a:rPr dirty="0"/>
              <a:t>Tout</a:t>
            </a:r>
            <a:r>
              <a:rPr spc="-15" dirty="0"/>
              <a:t> </a:t>
            </a:r>
            <a:r>
              <a:rPr dirty="0"/>
              <a:t>droit</a:t>
            </a:r>
            <a:r>
              <a:rPr spc="-40" dirty="0"/>
              <a:t> </a:t>
            </a:r>
            <a:r>
              <a:rPr dirty="0"/>
              <a:t>réservé</a:t>
            </a:r>
            <a:r>
              <a:rPr spc="-30" dirty="0"/>
              <a:t> </a:t>
            </a:r>
            <a:r>
              <a:rPr dirty="0"/>
              <a:t>-</a:t>
            </a:r>
            <a:r>
              <a:rPr spc="-10" dirty="0"/>
              <a:t> </a:t>
            </a:r>
            <a:r>
              <a:rPr spc="-20" dirty="0"/>
              <a:t>OFPPT</a:t>
            </a:r>
          </a:p>
        </p:txBody>
      </p:sp>
      <p:sp>
        <p:nvSpPr>
          <p:cNvPr id="16" name="object 16"/>
          <p:cNvSpPr txBox="1"/>
          <p:nvPr/>
        </p:nvSpPr>
        <p:spPr>
          <a:xfrm>
            <a:off x="6635622" y="6184798"/>
            <a:ext cx="4071620" cy="197490"/>
          </a:xfrm>
          <a:prstGeom prst="rect">
            <a:avLst/>
          </a:prstGeom>
        </p:spPr>
        <p:txBody>
          <a:bodyPr vert="horz" wrap="square" lIns="0" tIns="12700" rIns="0" bIns="0" rtlCol="0">
            <a:spAutoFit/>
          </a:bodyPr>
          <a:lstStyle/>
          <a:p>
            <a:pPr marL="12700">
              <a:lnSpc>
                <a:spcPct val="100000"/>
              </a:lnSpc>
              <a:spcBef>
                <a:spcPts val="100"/>
              </a:spcBef>
            </a:pPr>
            <a:r>
              <a:rPr sz="1200" i="1" dirty="0">
                <a:solidFill>
                  <a:srgbClr val="A6A6A6"/>
                </a:solidFill>
                <a:latin typeface="Calibri"/>
                <a:cs typeface="Calibri"/>
              </a:rPr>
              <a:t>Figure</a:t>
            </a:r>
            <a:r>
              <a:rPr sz="1200" i="1" spc="-15" dirty="0">
                <a:solidFill>
                  <a:srgbClr val="A6A6A6"/>
                </a:solidFill>
                <a:latin typeface="Calibri"/>
                <a:cs typeface="Calibri"/>
              </a:rPr>
              <a:t> </a:t>
            </a:r>
            <a:r>
              <a:rPr lang="fr-FR" sz="1200" i="1" dirty="0">
                <a:solidFill>
                  <a:srgbClr val="A6A6A6"/>
                </a:solidFill>
                <a:latin typeface="Calibri"/>
                <a:cs typeface="Calibri"/>
              </a:rPr>
              <a:t>2</a:t>
            </a:r>
            <a:r>
              <a:rPr sz="1200" i="1" spc="285" dirty="0" smtClean="0">
                <a:solidFill>
                  <a:srgbClr val="A6A6A6"/>
                </a:solidFill>
                <a:latin typeface="Calibri"/>
                <a:cs typeface="Calibri"/>
              </a:rPr>
              <a:t> </a:t>
            </a:r>
            <a:r>
              <a:rPr sz="1200" i="1" dirty="0">
                <a:solidFill>
                  <a:srgbClr val="A6A6A6"/>
                </a:solidFill>
                <a:latin typeface="Calibri"/>
                <a:cs typeface="Calibri"/>
              </a:rPr>
              <a:t>: Le</a:t>
            </a:r>
            <a:r>
              <a:rPr sz="1200" i="1" spc="-10" dirty="0">
                <a:solidFill>
                  <a:srgbClr val="A6A6A6"/>
                </a:solidFill>
                <a:latin typeface="Calibri"/>
                <a:cs typeface="Calibri"/>
              </a:rPr>
              <a:t> </a:t>
            </a:r>
            <a:r>
              <a:rPr sz="1200" i="1" dirty="0">
                <a:solidFill>
                  <a:srgbClr val="A6A6A6"/>
                </a:solidFill>
                <a:latin typeface="Calibri"/>
                <a:cs typeface="Calibri"/>
              </a:rPr>
              <a:t>gestionnaire</a:t>
            </a:r>
            <a:r>
              <a:rPr sz="1200" i="1" spc="-15" dirty="0">
                <a:solidFill>
                  <a:srgbClr val="A6A6A6"/>
                </a:solidFill>
                <a:latin typeface="Calibri"/>
                <a:cs typeface="Calibri"/>
              </a:rPr>
              <a:t> </a:t>
            </a:r>
            <a:r>
              <a:rPr sz="1200" i="1" dirty="0">
                <a:solidFill>
                  <a:srgbClr val="A6A6A6"/>
                </a:solidFill>
                <a:latin typeface="Calibri"/>
                <a:cs typeface="Calibri"/>
              </a:rPr>
              <a:t>des</a:t>
            </a:r>
            <a:r>
              <a:rPr sz="1200" i="1" spc="-25" dirty="0">
                <a:solidFill>
                  <a:srgbClr val="A6A6A6"/>
                </a:solidFill>
                <a:latin typeface="Calibri"/>
                <a:cs typeface="Calibri"/>
              </a:rPr>
              <a:t> </a:t>
            </a:r>
            <a:r>
              <a:rPr sz="1200" i="1" dirty="0">
                <a:solidFill>
                  <a:srgbClr val="A6A6A6"/>
                </a:solidFill>
                <a:latin typeface="Calibri"/>
                <a:cs typeface="Calibri"/>
              </a:rPr>
              <a:t>tâches</a:t>
            </a:r>
            <a:r>
              <a:rPr sz="1200" i="1" spc="-45" dirty="0">
                <a:solidFill>
                  <a:srgbClr val="A6A6A6"/>
                </a:solidFill>
                <a:latin typeface="Calibri"/>
                <a:cs typeface="Calibri"/>
              </a:rPr>
              <a:t> </a:t>
            </a:r>
            <a:r>
              <a:rPr sz="1200" i="1" dirty="0">
                <a:solidFill>
                  <a:srgbClr val="A6A6A6"/>
                </a:solidFill>
                <a:latin typeface="Calibri"/>
                <a:cs typeface="Calibri"/>
              </a:rPr>
              <a:t>onglet</a:t>
            </a:r>
            <a:r>
              <a:rPr sz="1200" i="1" spc="-30" dirty="0">
                <a:solidFill>
                  <a:srgbClr val="A6A6A6"/>
                </a:solidFill>
                <a:latin typeface="Calibri"/>
                <a:cs typeface="Calibri"/>
              </a:rPr>
              <a:t> </a:t>
            </a:r>
            <a:r>
              <a:rPr sz="1200" i="1" spc="-10" dirty="0">
                <a:solidFill>
                  <a:srgbClr val="A6A6A6"/>
                </a:solidFill>
                <a:latin typeface="Calibri"/>
                <a:cs typeface="Calibri"/>
              </a:rPr>
              <a:t>Performance</a:t>
            </a:r>
            <a:r>
              <a:rPr sz="1200" i="1" spc="-35" dirty="0">
                <a:solidFill>
                  <a:srgbClr val="A6A6A6"/>
                </a:solidFill>
                <a:latin typeface="Calibri"/>
                <a:cs typeface="Calibri"/>
              </a:rPr>
              <a:t> </a:t>
            </a:r>
            <a:r>
              <a:rPr sz="1200" i="1" dirty="0">
                <a:solidFill>
                  <a:srgbClr val="A6A6A6"/>
                </a:solidFill>
                <a:latin typeface="Calibri"/>
                <a:cs typeface="Calibri"/>
              </a:rPr>
              <a:t>(WI-</a:t>
            </a:r>
            <a:r>
              <a:rPr sz="1200" i="1" spc="-25" dirty="0">
                <a:solidFill>
                  <a:srgbClr val="A6A6A6"/>
                </a:solidFill>
                <a:latin typeface="Calibri"/>
                <a:cs typeface="Calibri"/>
              </a:rPr>
              <a:t>FI)</a:t>
            </a:r>
            <a:endParaRPr sz="1200" dirty="0">
              <a:latin typeface="Calibri"/>
              <a:cs typeface="Calibri"/>
            </a:endParaRPr>
          </a:p>
        </p:txBody>
      </p:sp>
      <p:sp>
        <p:nvSpPr>
          <p:cNvPr id="21" name="object 11"/>
          <p:cNvSpPr txBox="1">
            <a:spLocks noGrp="1"/>
          </p:cNvSpPr>
          <p:nvPr>
            <p:ph type="title"/>
          </p:nvPr>
        </p:nvSpPr>
        <p:spPr>
          <a:xfrm>
            <a:off x="263753" y="332308"/>
            <a:ext cx="11664492" cy="699089"/>
          </a:xfrm>
          <a:prstGeom prst="rect">
            <a:avLst/>
          </a:prstGeom>
        </p:spPr>
        <p:txBody>
          <a:bodyPr vert="horz" wrap="square" lIns="0" tIns="143688" rIns="0" bIns="0" rtlCol="0">
            <a:spAutoFit/>
          </a:bodyPr>
          <a:lstStyle/>
          <a:p>
            <a:pPr marL="17780">
              <a:lnSpc>
                <a:spcPct val="100000"/>
              </a:lnSpc>
              <a:spcBef>
                <a:spcPts val="90"/>
              </a:spcBef>
            </a:pPr>
            <a:r>
              <a:rPr lang="fr-FR" dirty="0">
                <a:solidFill>
                  <a:srgbClr val="FF7800"/>
                </a:solidFill>
              </a:rPr>
              <a:t>04 – Gestion des processus </a:t>
            </a:r>
            <a:r>
              <a:rPr lang="fr-FR" dirty="0" smtClean="0">
                <a:solidFill>
                  <a:srgbClr val="FF7800"/>
                </a:solidFill>
              </a:rPr>
              <a:t/>
            </a:r>
            <a:br>
              <a:rPr lang="fr-FR" dirty="0" smtClean="0">
                <a:solidFill>
                  <a:srgbClr val="FF7800"/>
                </a:solidFill>
              </a:rPr>
            </a:br>
            <a:r>
              <a:rPr lang="fr-FR" sz="1600" dirty="0" smtClean="0">
                <a:solidFill>
                  <a:srgbClr val="FF7800"/>
                </a:solidFill>
              </a:rPr>
              <a:t>Gestion</a:t>
            </a:r>
            <a:r>
              <a:rPr lang="fr-FR" sz="1600" spc="-50" dirty="0" smtClean="0">
                <a:solidFill>
                  <a:srgbClr val="FF7800"/>
                </a:solidFill>
              </a:rPr>
              <a:t> </a:t>
            </a:r>
            <a:r>
              <a:rPr lang="fr-FR" sz="1600" dirty="0" smtClean="0">
                <a:solidFill>
                  <a:srgbClr val="FF7800"/>
                </a:solidFill>
              </a:rPr>
              <a:t>des</a:t>
            </a:r>
            <a:r>
              <a:rPr lang="fr-FR" sz="1600" spc="-40" dirty="0" smtClean="0">
                <a:solidFill>
                  <a:srgbClr val="FF7800"/>
                </a:solidFill>
              </a:rPr>
              <a:t> </a:t>
            </a:r>
            <a:r>
              <a:rPr lang="fr-FR" sz="1600" dirty="0" smtClean="0">
                <a:solidFill>
                  <a:srgbClr val="FF7800"/>
                </a:solidFill>
              </a:rPr>
              <a:t>processus</a:t>
            </a:r>
            <a:r>
              <a:rPr lang="fr-FR" sz="1600" spc="-65" dirty="0" smtClean="0">
                <a:solidFill>
                  <a:srgbClr val="FF7800"/>
                </a:solidFill>
              </a:rPr>
              <a:t> </a:t>
            </a:r>
            <a:r>
              <a:rPr lang="fr-FR" sz="1600" dirty="0" smtClean="0">
                <a:solidFill>
                  <a:srgbClr val="FF7800"/>
                </a:solidFill>
              </a:rPr>
              <a:t>sous</a:t>
            </a:r>
            <a:r>
              <a:rPr lang="fr-FR" sz="1600" spc="-40" dirty="0" smtClean="0">
                <a:solidFill>
                  <a:srgbClr val="FF7800"/>
                </a:solidFill>
              </a:rPr>
              <a:t> </a:t>
            </a:r>
            <a:r>
              <a:rPr lang="fr-FR" sz="1600" spc="-10" dirty="0" smtClean="0">
                <a:solidFill>
                  <a:srgbClr val="FF7800"/>
                </a:solidFill>
              </a:rPr>
              <a:t>Windows</a:t>
            </a:r>
            <a:endParaRPr lang="fr-FR" sz="1600" dirty="0"/>
          </a:p>
        </p:txBody>
      </p:sp>
      <p:sp>
        <p:nvSpPr>
          <p:cNvPr id="22"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Tree>
    <p:extLst>
      <p:ext uri="{BB962C8B-B14F-4D97-AF65-F5344CB8AC3E}">
        <p14:creationId xmlns:p14="http://schemas.microsoft.com/office/powerpoint/2010/main" val="21806494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3"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1" name="object 11"/>
          <p:cNvSpPr txBox="1">
            <a:spLocks noGrp="1"/>
          </p:cNvSpPr>
          <p:nvPr>
            <p:ph type="title"/>
          </p:nvPr>
        </p:nvSpPr>
        <p:spPr>
          <a:xfrm>
            <a:off x="228600" y="304800"/>
            <a:ext cx="11664492" cy="699089"/>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a:p>
            <a:pPr marL="6985">
              <a:lnSpc>
                <a:spcPct val="100000"/>
              </a:lnSpc>
              <a:spcBef>
                <a:spcPts val="10"/>
              </a:spcBef>
            </a:pPr>
            <a:r>
              <a:rPr lang="fr-FR" sz="1600" spc="-10" dirty="0" smtClean="0">
                <a:solidFill>
                  <a:srgbClr val="0058A0"/>
                </a:solidFill>
              </a:rPr>
              <a:t>Gestion des processus sous Linux</a:t>
            </a:r>
            <a:endParaRPr sz="1600" dirty="0"/>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45</a:t>
            </a:fld>
            <a:endParaRPr spc="-25" dirty="0"/>
          </a:p>
        </p:txBody>
      </p:sp>
      <p:sp>
        <p:nvSpPr>
          <p:cNvPr id="12" name="object 12"/>
          <p:cNvSpPr txBox="1"/>
          <p:nvPr/>
        </p:nvSpPr>
        <p:spPr>
          <a:xfrm>
            <a:off x="798982" y="1940051"/>
            <a:ext cx="10584180" cy="2331406"/>
          </a:xfrm>
          <a:prstGeom prst="rect">
            <a:avLst/>
          </a:prstGeom>
        </p:spPr>
        <p:txBody>
          <a:bodyPr vert="horz" wrap="square" lIns="0" tIns="104139" rIns="0" bIns="0" rtlCol="0">
            <a:spAutoFit/>
          </a:bodyPr>
          <a:lstStyle/>
          <a:p>
            <a:pPr marL="12700">
              <a:lnSpc>
                <a:spcPct val="100000"/>
              </a:lnSpc>
              <a:spcBef>
                <a:spcPts val="819"/>
              </a:spcBef>
            </a:pPr>
            <a:r>
              <a:rPr sz="1600" dirty="0">
                <a:solidFill>
                  <a:srgbClr val="585858"/>
                </a:solidFill>
                <a:latin typeface="Calibri"/>
                <a:cs typeface="Calibri"/>
              </a:rPr>
              <a:t>Linux</a:t>
            </a:r>
            <a:r>
              <a:rPr sz="1600" spc="-30" dirty="0">
                <a:solidFill>
                  <a:srgbClr val="585858"/>
                </a:solidFill>
                <a:latin typeface="Calibri"/>
                <a:cs typeface="Calibri"/>
              </a:rPr>
              <a:t> </a:t>
            </a:r>
            <a:r>
              <a:rPr sz="1600" dirty="0">
                <a:solidFill>
                  <a:srgbClr val="585858"/>
                </a:solidFill>
                <a:latin typeface="Calibri"/>
                <a:cs typeface="Calibri"/>
              </a:rPr>
              <a:t>permet</a:t>
            </a:r>
            <a:r>
              <a:rPr sz="1600" spc="-20" dirty="0">
                <a:solidFill>
                  <a:srgbClr val="585858"/>
                </a:solidFill>
                <a:latin typeface="Calibri"/>
                <a:cs typeface="Calibri"/>
              </a:rPr>
              <a:t> </a:t>
            </a:r>
            <a:r>
              <a:rPr sz="1600" dirty="0">
                <a:solidFill>
                  <a:srgbClr val="585858"/>
                </a:solidFill>
                <a:latin typeface="Calibri"/>
                <a:cs typeface="Calibri"/>
              </a:rPr>
              <a:t>aux </a:t>
            </a:r>
            <a:r>
              <a:rPr sz="1600" spc="-10" dirty="0">
                <a:solidFill>
                  <a:srgbClr val="585858"/>
                </a:solidFill>
                <a:latin typeface="Calibri"/>
                <a:cs typeface="Calibri"/>
              </a:rPr>
              <a:t>utilisateur</a:t>
            </a:r>
            <a:r>
              <a:rPr sz="1600" spc="-35" dirty="0">
                <a:solidFill>
                  <a:srgbClr val="585858"/>
                </a:solidFill>
                <a:latin typeface="Calibri"/>
                <a:cs typeface="Calibri"/>
              </a:rPr>
              <a:t> </a:t>
            </a:r>
            <a:r>
              <a:rPr sz="1600" dirty="0">
                <a:solidFill>
                  <a:srgbClr val="585858"/>
                </a:solidFill>
                <a:latin typeface="Calibri"/>
                <a:cs typeface="Calibri"/>
              </a:rPr>
              <a:t>de</a:t>
            </a:r>
            <a:r>
              <a:rPr sz="1600" spc="-30" dirty="0">
                <a:solidFill>
                  <a:srgbClr val="585858"/>
                </a:solidFill>
                <a:latin typeface="Calibri"/>
                <a:cs typeface="Calibri"/>
              </a:rPr>
              <a:t> </a:t>
            </a:r>
            <a:r>
              <a:rPr sz="1600" dirty="0">
                <a:solidFill>
                  <a:srgbClr val="585858"/>
                </a:solidFill>
                <a:latin typeface="Calibri"/>
                <a:cs typeface="Calibri"/>
              </a:rPr>
              <a:t>gérer</a:t>
            </a:r>
            <a:r>
              <a:rPr sz="1600" spc="-15" dirty="0">
                <a:solidFill>
                  <a:srgbClr val="585858"/>
                </a:solidFill>
                <a:latin typeface="Calibri"/>
                <a:cs typeface="Calibri"/>
              </a:rPr>
              <a:t> </a:t>
            </a:r>
            <a:r>
              <a:rPr sz="1600" dirty="0">
                <a:solidFill>
                  <a:srgbClr val="585858"/>
                </a:solidFill>
                <a:latin typeface="Calibri"/>
                <a:cs typeface="Calibri"/>
              </a:rPr>
              <a:t>les</a:t>
            </a:r>
            <a:r>
              <a:rPr sz="1600" spc="5" dirty="0">
                <a:solidFill>
                  <a:srgbClr val="585858"/>
                </a:solidFill>
                <a:latin typeface="Calibri"/>
                <a:cs typeface="Calibri"/>
              </a:rPr>
              <a:t> </a:t>
            </a:r>
            <a:r>
              <a:rPr sz="1600" dirty="0" err="1" smtClean="0">
                <a:solidFill>
                  <a:srgbClr val="585858"/>
                </a:solidFill>
                <a:latin typeface="Calibri"/>
                <a:cs typeface="Calibri"/>
              </a:rPr>
              <a:t>processus</a:t>
            </a:r>
            <a:endParaRPr lang="fr-FR" sz="1600" dirty="0" smtClean="0">
              <a:solidFill>
                <a:srgbClr val="585858"/>
              </a:solidFill>
              <a:latin typeface="Calibri"/>
              <a:cs typeface="Calibri"/>
            </a:endParaRPr>
          </a:p>
          <a:p>
            <a:pPr marL="12700">
              <a:lnSpc>
                <a:spcPct val="100000"/>
              </a:lnSpc>
              <a:spcBef>
                <a:spcPts val="819"/>
              </a:spcBef>
            </a:pPr>
            <a:r>
              <a:rPr sz="1600" spc="-20" dirty="0" smtClean="0">
                <a:solidFill>
                  <a:srgbClr val="585858"/>
                </a:solidFill>
                <a:latin typeface="Calibri"/>
                <a:cs typeface="Calibri"/>
              </a:rPr>
              <a:t> </a:t>
            </a:r>
            <a:endParaRPr lang="fr-FR" sz="1600" spc="-20" dirty="0" smtClean="0">
              <a:solidFill>
                <a:srgbClr val="585858"/>
              </a:solidFill>
              <a:latin typeface="Calibri"/>
              <a:cs typeface="Calibri"/>
            </a:endParaRPr>
          </a:p>
          <a:p>
            <a:pPr marL="12700">
              <a:lnSpc>
                <a:spcPct val="100000"/>
              </a:lnSpc>
              <a:spcBef>
                <a:spcPts val="285"/>
              </a:spcBef>
            </a:pPr>
            <a:r>
              <a:rPr sz="1600" b="1" spc="-10" dirty="0" err="1" smtClean="0">
                <a:solidFill>
                  <a:srgbClr val="0058A0"/>
                </a:solidFill>
                <a:latin typeface="Calibri"/>
                <a:cs typeface="Calibri"/>
              </a:rPr>
              <a:t>Informations</a:t>
            </a:r>
            <a:r>
              <a:rPr sz="1600" b="1" spc="-15" dirty="0" smtClean="0">
                <a:solidFill>
                  <a:srgbClr val="0058A0"/>
                </a:solidFill>
                <a:latin typeface="Calibri"/>
                <a:cs typeface="Calibri"/>
              </a:rPr>
              <a:t> </a:t>
            </a:r>
            <a:r>
              <a:rPr sz="1600" b="1" dirty="0">
                <a:solidFill>
                  <a:srgbClr val="0058A0"/>
                </a:solidFill>
                <a:latin typeface="Calibri"/>
                <a:cs typeface="Calibri"/>
              </a:rPr>
              <a:t>liés</a:t>
            </a:r>
            <a:r>
              <a:rPr sz="1600" b="1" spc="5" dirty="0">
                <a:solidFill>
                  <a:srgbClr val="0058A0"/>
                </a:solidFill>
                <a:latin typeface="Calibri"/>
                <a:cs typeface="Calibri"/>
              </a:rPr>
              <a:t> </a:t>
            </a:r>
            <a:r>
              <a:rPr sz="1600" b="1" dirty="0">
                <a:solidFill>
                  <a:srgbClr val="0058A0"/>
                </a:solidFill>
                <a:latin typeface="Calibri"/>
                <a:cs typeface="Calibri"/>
              </a:rPr>
              <a:t>au</a:t>
            </a:r>
            <a:r>
              <a:rPr sz="1600" b="1" spc="-15" dirty="0">
                <a:solidFill>
                  <a:srgbClr val="0058A0"/>
                </a:solidFill>
                <a:latin typeface="Calibri"/>
                <a:cs typeface="Calibri"/>
              </a:rPr>
              <a:t> </a:t>
            </a:r>
            <a:r>
              <a:rPr sz="1600" b="1" dirty="0">
                <a:solidFill>
                  <a:srgbClr val="0058A0"/>
                </a:solidFill>
                <a:latin typeface="Calibri"/>
                <a:cs typeface="Calibri"/>
              </a:rPr>
              <a:t>processus</a:t>
            </a:r>
            <a:r>
              <a:rPr sz="1600" b="1" spc="-15" dirty="0">
                <a:solidFill>
                  <a:srgbClr val="0058A0"/>
                </a:solidFill>
                <a:latin typeface="Calibri"/>
                <a:cs typeface="Calibri"/>
              </a:rPr>
              <a:t> </a:t>
            </a:r>
            <a:r>
              <a:rPr sz="1600" b="1" spc="-50" dirty="0">
                <a:solidFill>
                  <a:srgbClr val="0058A0"/>
                </a:solidFill>
                <a:latin typeface="Calibri"/>
                <a:cs typeface="Calibri"/>
              </a:rPr>
              <a:t>:</a:t>
            </a:r>
            <a:endParaRPr sz="1600" dirty="0">
              <a:latin typeface="Calibri"/>
              <a:cs typeface="Calibri"/>
            </a:endParaRPr>
          </a:p>
          <a:p>
            <a:pPr marL="274320" indent="-81915">
              <a:lnSpc>
                <a:spcPct val="100000"/>
              </a:lnSpc>
              <a:spcBef>
                <a:spcPts val="170"/>
              </a:spcBef>
              <a:buChar char="-"/>
              <a:tabLst>
                <a:tab pos="274320" algn="l"/>
              </a:tabLst>
            </a:pPr>
            <a:r>
              <a:rPr sz="1600" dirty="0">
                <a:solidFill>
                  <a:srgbClr val="585858"/>
                </a:solidFill>
                <a:latin typeface="Calibri"/>
                <a:cs typeface="Calibri"/>
              </a:rPr>
              <a:t>UID</a:t>
            </a:r>
            <a:r>
              <a:rPr sz="1600" spc="-30" dirty="0">
                <a:solidFill>
                  <a:srgbClr val="585858"/>
                </a:solidFill>
                <a:latin typeface="Calibri"/>
                <a:cs typeface="Calibri"/>
              </a:rPr>
              <a:t> </a:t>
            </a:r>
            <a:r>
              <a:rPr sz="1600" dirty="0">
                <a:solidFill>
                  <a:srgbClr val="585858"/>
                </a:solidFill>
                <a:latin typeface="Calibri"/>
                <a:cs typeface="Calibri"/>
              </a:rPr>
              <a:t>:</a:t>
            </a:r>
            <a:r>
              <a:rPr sz="1600" spc="-20" dirty="0">
                <a:solidFill>
                  <a:srgbClr val="585858"/>
                </a:solidFill>
                <a:latin typeface="Calibri"/>
                <a:cs typeface="Calibri"/>
              </a:rPr>
              <a:t> </a:t>
            </a:r>
            <a:r>
              <a:rPr sz="1600" dirty="0">
                <a:solidFill>
                  <a:srgbClr val="585858"/>
                </a:solidFill>
                <a:latin typeface="Calibri"/>
                <a:cs typeface="Calibri"/>
              </a:rPr>
              <a:t>nom</a:t>
            </a:r>
            <a:r>
              <a:rPr sz="1600" spc="-10" dirty="0">
                <a:solidFill>
                  <a:srgbClr val="585858"/>
                </a:solidFill>
                <a:latin typeface="Calibri"/>
                <a:cs typeface="Calibri"/>
              </a:rPr>
              <a:t> </a:t>
            </a:r>
            <a:r>
              <a:rPr sz="1600" dirty="0">
                <a:solidFill>
                  <a:srgbClr val="585858"/>
                </a:solidFill>
                <a:latin typeface="Calibri"/>
                <a:cs typeface="Calibri"/>
              </a:rPr>
              <a:t>de</a:t>
            </a:r>
            <a:r>
              <a:rPr sz="1600" spc="-30" dirty="0">
                <a:solidFill>
                  <a:srgbClr val="585858"/>
                </a:solidFill>
                <a:latin typeface="Calibri"/>
                <a:cs typeface="Calibri"/>
              </a:rPr>
              <a:t> </a:t>
            </a:r>
            <a:r>
              <a:rPr sz="1600" spc="-10" dirty="0">
                <a:solidFill>
                  <a:srgbClr val="585858"/>
                </a:solidFill>
                <a:latin typeface="Calibri"/>
                <a:cs typeface="Calibri"/>
              </a:rPr>
              <a:t>propriétaire</a:t>
            </a:r>
            <a:r>
              <a:rPr sz="1600" spc="35" dirty="0">
                <a:solidFill>
                  <a:srgbClr val="585858"/>
                </a:solidFill>
                <a:latin typeface="Calibri"/>
                <a:cs typeface="Calibri"/>
              </a:rPr>
              <a:t> </a:t>
            </a:r>
            <a:r>
              <a:rPr sz="1600" dirty="0">
                <a:solidFill>
                  <a:srgbClr val="585858"/>
                </a:solidFill>
                <a:latin typeface="Calibri"/>
                <a:cs typeface="Calibri"/>
              </a:rPr>
              <a:t>qui</a:t>
            </a:r>
            <a:r>
              <a:rPr sz="1600" spc="-25" dirty="0">
                <a:solidFill>
                  <a:srgbClr val="585858"/>
                </a:solidFill>
                <a:latin typeface="Calibri"/>
                <a:cs typeface="Calibri"/>
              </a:rPr>
              <a:t> </a:t>
            </a:r>
            <a:r>
              <a:rPr sz="1600" dirty="0">
                <a:solidFill>
                  <a:srgbClr val="585858"/>
                </a:solidFill>
                <a:latin typeface="Calibri"/>
                <a:cs typeface="Calibri"/>
              </a:rPr>
              <a:t>a</a:t>
            </a:r>
            <a:r>
              <a:rPr sz="1600" spc="-35" dirty="0">
                <a:solidFill>
                  <a:srgbClr val="585858"/>
                </a:solidFill>
                <a:latin typeface="Calibri"/>
                <a:cs typeface="Calibri"/>
              </a:rPr>
              <a:t> </a:t>
            </a:r>
            <a:r>
              <a:rPr sz="1600" dirty="0">
                <a:solidFill>
                  <a:srgbClr val="585858"/>
                </a:solidFill>
                <a:latin typeface="Calibri"/>
                <a:cs typeface="Calibri"/>
              </a:rPr>
              <a:t>lancé</a:t>
            </a:r>
            <a:r>
              <a:rPr sz="1600" spc="15" dirty="0">
                <a:solidFill>
                  <a:srgbClr val="585858"/>
                </a:solidFill>
                <a:latin typeface="Calibri"/>
                <a:cs typeface="Calibri"/>
              </a:rPr>
              <a:t> </a:t>
            </a:r>
            <a:r>
              <a:rPr sz="1600" dirty="0">
                <a:solidFill>
                  <a:srgbClr val="585858"/>
                </a:solidFill>
                <a:latin typeface="Calibri"/>
                <a:cs typeface="Calibri"/>
              </a:rPr>
              <a:t>le</a:t>
            </a:r>
            <a:r>
              <a:rPr sz="1600" spc="-10" dirty="0">
                <a:solidFill>
                  <a:srgbClr val="585858"/>
                </a:solidFill>
                <a:latin typeface="Calibri"/>
                <a:cs typeface="Calibri"/>
              </a:rPr>
              <a:t> </a:t>
            </a:r>
            <a:r>
              <a:rPr sz="1600" dirty="0">
                <a:solidFill>
                  <a:srgbClr val="585858"/>
                </a:solidFill>
                <a:latin typeface="Calibri"/>
                <a:cs typeface="Calibri"/>
              </a:rPr>
              <a:t>processus</a:t>
            </a:r>
            <a:r>
              <a:rPr sz="1600" spc="5" dirty="0">
                <a:solidFill>
                  <a:srgbClr val="585858"/>
                </a:solidFill>
                <a:latin typeface="Calibri"/>
                <a:cs typeface="Calibri"/>
              </a:rPr>
              <a:t> </a:t>
            </a:r>
            <a:r>
              <a:rPr sz="1600" spc="-20" dirty="0">
                <a:solidFill>
                  <a:srgbClr val="585858"/>
                </a:solidFill>
                <a:latin typeface="Calibri"/>
                <a:cs typeface="Calibri"/>
              </a:rPr>
              <a:t>(user, </a:t>
            </a:r>
            <a:r>
              <a:rPr sz="1600" dirty="0">
                <a:solidFill>
                  <a:srgbClr val="585858"/>
                </a:solidFill>
                <a:latin typeface="Calibri"/>
                <a:cs typeface="Calibri"/>
              </a:rPr>
              <a:t>root,</a:t>
            </a:r>
            <a:r>
              <a:rPr sz="1600" spc="5" dirty="0">
                <a:solidFill>
                  <a:srgbClr val="585858"/>
                </a:solidFill>
                <a:latin typeface="Calibri"/>
                <a:cs typeface="Calibri"/>
              </a:rPr>
              <a:t> </a:t>
            </a:r>
            <a:r>
              <a:rPr sz="1600" dirty="0">
                <a:solidFill>
                  <a:srgbClr val="585858"/>
                </a:solidFill>
                <a:latin typeface="Calibri"/>
                <a:cs typeface="Calibri"/>
              </a:rPr>
              <a:t>...)</a:t>
            </a:r>
            <a:r>
              <a:rPr sz="1600" spc="-60" dirty="0">
                <a:solidFill>
                  <a:srgbClr val="585858"/>
                </a:solidFill>
                <a:latin typeface="Calibri"/>
                <a:cs typeface="Calibri"/>
              </a:rPr>
              <a:t> </a:t>
            </a:r>
            <a:r>
              <a:rPr sz="1600" spc="-50" dirty="0">
                <a:solidFill>
                  <a:srgbClr val="585858"/>
                </a:solidFill>
                <a:latin typeface="Calibri"/>
                <a:cs typeface="Calibri"/>
              </a:rPr>
              <a:t>;</a:t>
            </a:r>
            <a:endParaRPr sz="1600" dirty="0">
              <a:latin typeface="Calibri"/>
              <a:cs typeface="Calibri"/>
            </a:endParaRPr>
          </a:p>
          <a:p>
            <a:pPr marL="274320" indent="-81915">
              <a:lnSpc>
                <a:spcPct val="100000"/>
              </a:lnSpc>
              <a:spcBef>
                <a:spcPts val="145"/>
              </a:spcBef>
              <a:buChar char="-"/>
              <a:tabLst>
                <a:tab pos="274320" algn="l"/>
              </a:tabLst>
            </a:pPr>
            <a:r>
              <a:rPr sz="1600" dirty="0">
                <a:solidFill>
                  <a:srgbClr val="585858"/>
                </a:solidFill>
                <a:latin typeface="Calibri"/>
                <a:cs typeface="Calibri"/>
              </a:rPr>
              <a:t>PID</a:t>
            </a:r>
            <a:r>
              <a:rPr sz="1600" spc="-60" dirty="0">
                <a:solidFill>
                  <a:srgbClr val="585858"/>
                </a:solidFill>
                <a:latin typeface="Calibri"/>
                <a:cs typeface="Calibri"/>
              </a:rPr>
              <a:t> </a:t>
            </a:r>
            <a:r>
              <a:rPr sz="1600" dirty="0">
                <a:solidFill>
                  <a:srgbClr val="585858"/>
                </a:solidFill>
                <a:latin typeface="Calibri"/>
                <a:cs typeface="Calibri"/>
              </a:rPr>
              <a:t>:</a:t>
            </a:r>
            <a:r>
              <a:rPr sz="1600" spc="-30" dirty="0">
                <a:solidFill>
                  <a:srgbClr val="585858"/>
                </a:solidFill>
                <a:latin typeface="Calibri"/>
                <a:cs typeface="Calibri"/>
              </a:rPr>
              <a:t> </a:t>
            </a:r>
            <a:r>
              <a:rPr sz="1600" dirty="0">
                <a:solidFill>
                  <a:srgbClr val="585858"/>
                </a:solidFill>
                <a:latin typeface="Calibri"/>
                <a:cs typeface="Calibri"/>
              </a:rPr>
              <a:t>numéro</a:t>
            </a:r>
            <a:r>
              <a:rPr sz="1600" spc="-10" dirty="0">
                <a:solidFill>
                  <a:srgbClr val="585858"/>
                </a:solidFill>
                <a:latin typeface="Calibri"/>
                <a:cs typeface="Calibri"/>
              </a:rPr>
              <a:t> </a:t>
            </a:r>
            <a:r>
              <a:rPr sz="1600" dirty="0">
                <a:solidFill>
                  <a:srgbClr val="585858"/>
                </a:solidFill>
                <a:latin typeface="Calibri"/>
                <a:cs typeface="Calibri"/>
              </a:rPr>
              <a:t>du</a:t>
            </a:r>
            <a:r>
              <a:rPr sz="1600" spc="-45" dirty="0">
                <a:solidFill>
                  <a:srgbClr val="585858"/>
                </a:solidFill>
                <a:latin typeface="Calibri"/>
                <a:cs typeface="Calibri"/>
              </a:rPr>
              <a:t> </a:t>
            </a:r>
            <a:r>
              <a:rPr sz="1600" dirty="0">
                <a:solidFill>
                  <a:srgbClr val="585858"/>
                </a:solidFill>
                <a:latin typeface="Calibri"/>
                <a:cs typeface="Calibri"/>
              </a:rPr>
              <a:t>processus</a:t>
            </a:r>
            <a:r>
              <a:rPr sz="1600" spc="10" dirty="0">
                <a:solidFill>
                  <a:srgbClr val="585858"/>
                </a:solidFill>
                <a:latin typeface="Calibri"/>
                <a:cs typeface="Calibri"/>
              </a:rPr>
              <a:t> </a:t>
            </a:r>
            <a:r>
              <a:rPr sz="1600" spc="-50" dirty="0">
                <a:solidFill>
                  <a:srgbClr val="585858"/>
                </a:solidFill>
                <a:latin typeface="Calibri"/>
                <a:cs typeface="Calibri"/>
              </a:rPr>
              <a:t>;</a:t>
            </a:r>
            <a:endParaRPr sz="1600" dirty="0">
              <a:latin typeface="Calibri"/>
              <a:cs typeface="Calibri"/>
            </a:endParaRPr>
          </a:p>
          <a:p>
            <a:pPr marL="274320" indent="-81915">
              <a:lnSpc>
                <a:spcPct val="100000"/>
              </a:lnSpc>
              <a:spcBef>
                <a:spcPts val="170"/>
              </a:spcBef>
              <a:buChar char="-"/>
              <a:tabLst>
                <a:tab pos="274320" algn="l"/>
              </a:tabLst>
            </a:pPr>
            <a:r>
              <a:rPr sz="1600" dirty="0">
                <a:solidFill>
                  <a:srgbClr val="585858"/>
                </a:solidFill>
                <a:latin typeface="Calibri"/>
                <a:cs typeface="Calibri"/>
              </a:rPr>
              <a:t>PPID</a:t>
            </a:r>
            <a:r>
              <a:rPr sz="1600" spc="-60" dirty="0">
                <a:solidFill>
                  <a:srgbClr val="585858"/>
                </a:solidFill>
                <a:latin typeface="Calibri"/>
                <a:cs typeface="Calibri"/>
              </a:rPr>
              <a:t> </a:t>
            </a:r>
            <a:r>
              <a:rPr sz="1600" dirty="0">
                <a:solidFill>
                  <a:srgbClr val="585858"/>
                </a:solidFill>
                <a:latin typeface="Calibri"/>
                <a:cs typeface="Calibri"/>
              </a:rPr>
              <a:t>:</a:t>
            </a:r>
            <a:r>
              <a:rPr sz="1600" spc="-35" dirty="0">
                <a:solidFill>
                  <a:srgbClr val="585858"/>
                </a:solidFill>
                <a:latin typeface="Calibri"/>
                <a:cs typeface="Calibri"/>
              </a:rPr>
              <a:t> </a:t>
            </a:r>
            <a:r>
              <a:rPr sz="1600" dirty="0">
                <a:solidFill>
                  <a:srgbClr val="585858"/>
                </a:solidFill>
                <a:latin typeface="Calibri"/>
                <a:cs typeface="Calibri"/>
              </a:rPr>
              <a:t>numéro</a:t>
            </a:r>
            <a:r>
              <a:rPr sz="1600" spc="-20" dirty="0">
                <a:solidFill>
                  <a:srgbClr val="585858"/>
                </a:solidFill>
                <a:latin typeface="Calibri"/>
                <a:cs typeface="Calibri"/>
              </a:rPr>
              <a:t> </a:t>
            </a:r>
            <a:r>
              <a:rPr sz="1600" dirty="0">
                <a:solidFill>
                  <a:srgbClr val="585858"/>
                </a:solidFill>
                <a:latin typeface="Calibri"/>
                <a:cs typeface="Calibri"/>
              </a:rPr>
              <a:t>du</a:t>
            </a:r>
            <a:r>
              <a:rPr sz="1600" spc="-50" dirty="0">
                <a:solidFill>
                  <a:srgbClr val="585858"/>
                </a:solidFill>
                <a:latin typeface="Calibri"/>
                <a:cs typeface="Calibri"/>
              </a:rPr>
              <a:t> </a:t>
            </a:r>
            <a:r>
              <a:rPr sz="1600" dirty="0">
                <a:solidFill>
                  <a:srgbClr val="585858"/>
                </a:solidFill>
                <a:latin typeface="Calibri"/>
                <a:cs typeface="Calibri"/>
              </a:rPr>
              <a:t>processus</a:t>
            </a:r>
            <a:r>
              <a:rPr sz="1600" spc="10" dirty="0">
                <a:solidFill>
                  <a:srgbClr val="585858"/>
                </a:solidFill>
                <a:latin typeface="Calibri"/>
                <a:cs typeface="Calibri"/>
              </a:rPr>
              <a:t> </a:t>
            </a:r>
            <a:r>
              <a:rPr sz="1600" dirty="0">
                <a:solidFill>
                  <a:srgbClr val="585858"/>
                </a:solidFill>
                <a:latin typeface="Calibri"/>
                <a:cs typeface="Calibri"/>
              </a:rPr>
              <a:t>père</a:t>
            </a:r>
            <a:r>
              <a:rPr sz="1600" spc="-20" dirty="0">
                <a:solidFill>
                  <a:srgbClr val="585858"/>
                </a:solidFill>
                <a:latin typeface="Calibri"/>
                <a:cs typeface="Calibri"/>
              </a:rPr>
              <a:t> </a:t>
            </a:r>
            <a:r>
              <a:rPr sz="1600" spc="-10" dirty="0">
                <a:solidFill>
                  <a:srgbClr val="585858"/>
                </a:solidFill>
                <a:latin typeface="Calibri"/>
                <a:cs typeface="Calibri"/>
              </a:rPr>
              <a:t>(</a:t>
            </a:r>
            <a:r>
              <a:rPr sz="1600" spc="-10" dirty="0" err="1">
                <a:solidFill>
                  <a:srgbClr val="585858"/>
                </a:solidFill>
                <a:latin typeface="Calibri"/>
                <a:cs typeface="Calibri"/>
              </a:rPr>
              <a:t>créateur</a:t>
            </a:r>
            <a:r>
              <a:rPr sz="1600" spc="-10" dirty="0" smtClean="0">
                <a:solidFill>
                  <a:srgbClr val="585858"/>
                </a:solidFill>
                <a:latin typeface="Calibri"/>
                <a:cs typeface="Calibri"/>
              </a:rPr>
              <a:t>).</a:t>
            </a:r>
            <a:endParaRPr lang="fr-FR" sz="1600" spc="-10" dirty="0" smtClean="0">
              <a:solidFill>
                <a:srgbClr val="585858"/>
              </a:solidFill>
              <a:latin typeface="Calibri"/>
              <a:cs typeface="Calibri"/>
            </a:endParaRPr>
          </a:p>
          <a:p>
            <a:pPr marL="192405">
              <a:lnSpc>
                <a:spcPct val="100000"/>
              </a:lnSpc>
              <a:spcBef>
                <a:spcPts val="170"/>
              </a:spcBef>
              <a:tabLst>
                <a:tab pos="274320" algn="l"/>
              </a:tabLst>
            </a:pPr>
            <a:endParaRPr sz="1600" dirty="0">
              <a:latin typeface="Calibri"/>
              <a:cs typeface="Calibri"/>
            </a:endParaRPr>
          </a:p>
          <a:p>
            <a:pPr marL="12700">
              <a:lnSpc>
                <a:spcPct val="100000"/>
              </a:lnSpc>
              <a:spcBef>
                <a:spcPts val="170"/>
              </a:spcBef>
            </a:pPr>
            <a:r>
              <a:rPr sz="1600" b="1" dirty="0">
                <a:solidFill>
                  <a:srgbClr val="0058A0"/>
                </a:solidFill>
                <a:latin typeface="Calibri"/>
                <a:cs typeface="Calibri"/>
              </a:rPr>
              <a:t>Commandes</a:t>
            </a:r>
            <a:r>
              <a:rPr sz="1600" b="1" spc="-35" dirty="0">
                <a:solidFill>
                  <a:srgbClr val="0058A0"/>
                </a:solidFill>
                <a:latin typeface="Calibri"/>
                <a:cs typeface="Calibri"/>
              </a:rPr>
              <a:t> </a:t>
            </a:r>
            <a:r>
              <a:rPr sz="1600" b="1" dirty="0">
                <a:solidFill>
                  <a:srgbClr val="0058A0"/>
                </a:solidFill>
                <a:latin typeface="Calibri"/>
                <a:cs typeface="Calibri"/>
              </a:rPr>
              <a:t>de</a:t>
            </a:r>
            <a:r>
              <a:rPr sz="1600" b="1" spc="-45" dirty="0">
                <a:solidFill>
                  <a:srgbClr val="0058A0"/>
                </a:solidFill>
                <a:latin typeface="Calibri"/>
                <a:cs typeface="Calibri"/>
              </a:rPr>
              <a:t> </a:t>
            </a:r>
            <a:r>
              <a:rPr sz="1600" b="1" dirty="0">
                <a:solidFill>
                  <a:srgbClr val="0058A0"/>
                </a:solidFill>
                <a:latin typeface="Calibri"/>
                <a:cs typeface="Calibri"/>
              </a:rPr>
              <a:t>gestion</a:t>
            </a:r>
            <a:r>
              <a:rPr sz="1600" b="1" spc="10" dirty="0">
                <a:solidFill>
                  <a:srgbClr val="0058A0"/>
                </a:solidFill>
                <a:latin typeface="Calibri"/>
                <a:cs typeface="Calibri"/>
              </a:rPr>
              <a:t> </a:t>
            </a:r>
            <a:r>
              <a:rPr sz="1600" b="1" dirty="0">
                <a:solidFill>
                  <a:srgbClr val="0058A0"/>
                </a:solidFill>
                <a:latin typeface="Calibri"/>
                <a:cs typeface="Calibri"/>
              </a:rPr>
              <a:t>de</a:t>
            </a:r>
            <a:r>
              <a:rPr sz="1600" b="1" spc="-25" dirty="0">
                <a:solidFill>
                  <a:srgbClr val="0058A0"/>
                </a:solidFill>
                <a:latin typeface="Calibri"/>
                <a:cs typeface="Calibri"/>
              </a:rPr>
              <a:t> </a:t>
            </a:r>
            <a:r>
              <a:rPr sz="1600" b="1" dirty="0">
                <a:solidFill>
                  <a:srgbClr val="0058A0"/>
                </a:solidFill>
                <a:latin typeface="Calibri"/>
                <a:cs typeface="Calibri"/>
              </a:rPr>
              <a:t>processus</a:t>
            </a:r>
            <a:r>
              <a:rPr sz="1600" b="1" spc="-35" dirty="0">
                <a:solidFill>
                  <a:srgbClr val="0058A0"/>
                </a:solidFill>
                <a:latin typeface="Calibri"/>
                <a:cs typeface="Calibri"/>
              </a:rPr>
              <a:t> </a:t>
            </a:r>
            <a:r>
              <a:rPr sz="1600" b="1" dirty="0">
                <a:solidFill>
                  <a:srgbClr val="0058A0"/>
                </a:solidFill>
                <a:latin typeface="Calibri"/>
                <a:cs typeface="Calibri"/>
              </a:rPr>
              <a:t>:</a:t>
            </a:r>
            <a:r>
              <a:rPr sz="1600" b="1" spc="-35" dirty="0">
                <a:solidFill>
                  <a:srgbClr val="0058A0"/>
                </a:solidFill>
                <a:latin typeface="Calibri"/>
                <a:cs typeface="Calibri"/>
              </a:rPr>
              <a:t> </a:t>
            </a:r>
            <a:r>
              <a:rPr sz="1600" dirty="0">
                <a:solidFill>
                  <a:srgbClr val="585858"/>
                </a:solidFill>
                <a:latin typeface="Calibri"/>
                <a:cs typeface="Calibri"/>
              </a:rPr>
              <a:t>ps,</a:t>
            </a:r>
            <a:r>
              <a:rPr sz="1600" spc="-50" dirty="0">
                <a:solidFill>
                  <a:srgbClr val="585858"/>
                </a:solidFill>
                <a:latin typeface="Calibri"/>
                <a:cs typeface="Calibri"/>
              </a:rPr>
              <a:t> </a:t>
            </a:r>
            <a:r>
              <a:rPr sz="1600" dirty="0">
                <a:solidFill>
                  <a:srgbClr val="585858"/>
                </a:solidFill>
                <a:latin typeface="Calibri"/>
                <a:cs typeface="Calibri"/>
              </a:rPr>
              <a:t>top,</a:t>
            </a:r>
            <a:r>
              <a:rPr sz="1600" spc="-25" dirty="0">
                <a:solidFill>
                  <a:srgbClr val="585858"/>
                </a:solidFill>
                <a:latin typeface="Calibri"/>
                <a:cs typeface="Calibri"/>
              </a:rPr>
              <a:t> </a:t>
            </a:r>
            <a:r>
              <a:rPr sz="1600" spc="-50" dirty="0">
                <a:solidFill>
                  <a:srgbClr val="585858"/>
                </a:solidFill>
                <a:latin typeface="Calibri"/>
                <a:cs typeface="Calibri"/>
              </a:rPr>
              <a:t>…</a:t>
            </a:r>
            <a:endParaRPr sz="1600" dirty="0">
              <a:latin typeface="Calibri"/>
              <a:cs typeface="Calibri"/>
            </a:endParaRPr>
          </a:p>
        </p:txBody>
      </p:sp>
      <p:sp>
        <p:nvSpPr>
          <p:cNvPr id="18"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Tree>
    <p:extLst>
      <p:ext uri="{BB962C8B-B14F-4D97-AF65-F5344CB8AC3E}">
        <p14:creationId xmlns:p14="http://schemas.microsoft.com/office/powerpoint/2010/main" val="5057483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2"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46</a:t>
            </a:fld>
            <a:endParaRPr spc="-25" dirty="0"/>
          </a:p>
        </p:txBody>
      </p:sp>
      <p:sp>
        <p:nvSpPr>
          <p:cNvPr id="12" name="object 12"/>
          <p:cNvSpPr txBox="1"/>
          <p:nvPr/>
        </p:nvSpPr>
        <p:spPr>
          <a:xfrm>
            <a:off x="798982" y="1977009"/>
            <a:ext cx="5678018" cy="259045"/>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555555"/>
                </a:solidFill>
                <a:latin typeface="Calibri"/>
                <a:cs typeface="Calibri"/>
              </a:rPr>
              <a:t>La</a:t>
            </a:r>
            <a:r>
              <a:rPr sz="1600" spc="-45" dirty="0">
                <a:solidFill>
                  <a:srgbClr val="555555"/>
                </a:solidFill>
                <a:latin typeface="Calibri"/>
                <a:cs typeface="Calibri"/>
              </a:rPr>
              <a:t> </a:t>
            </a:r>
            <a:r>
              <a:rPr sz="1600" spc="-10" dirty="0">
                <a:solidFill>
                  <a:srgbClr val="555555"/>
                </a:solidFill>
                <a:latin typeface="Calibri"/>
                <a:cs typeface="Calibri"/>
              </a:rPr>
              <a:t>Table</a:t>
            </a:r>
            <a:r>
              <a:rPr sz="1600" dirty="0">
                <a:solidFill>
                  <a:srgbClr val="555555"/>
                </a:solidFill>
                <a:latin typeface="Calibri"/>
                <a:cs typeface="Calibri"/>
              </a:rPr>
              <a:t> </a:t>
            </a:r>
            <a:r>
              <a:rPr sz="1600" dirty="0" smtClean="0">
                <a:solidFill>
                  <a:srgbClr val="555555"/>
                </a:solidFill>
                <a:latin typeface="Calibri"/>
                <a:cs typeface="Calibri"/>
              </a:rPr>
              <a:t>1</a:t>
            </a:r>
            <a:r>
              <a:rPr sz="1600" spc="-30" dirty="0" smtClean="0">
                <a:solidFill>
                  <a:srgbClr val="555555"/>
                </a:solidFill>
                <a:latin typeface="Calibri"/>
                <a:cs typeface="Calibri"/>
              </a:rPr>
              <a:t> </a:t>
            </a:r>
            <a:r>
              <a:rPr sz="1600" dirty="0">
                <a:solidFill>
                  <a:srgbClr val="555555"/>
                </a:solidFill>
                <a:latin typeface="Calibri"/>
                <a:cs typeface="Calibri"/>
              </a:rPr>
              <a:t>présente</a:t>
            </a:r>
            <a:r>
              <a:rPr sz="1600" spc="-15" dirty="0">
                <a:solidFill>
                  <a:srgbClr val="555555"/>
                </a:solidFill>
                <a:latin typeface="Calibri"/>
                <a:cs typeface="Calibri"/>
              </a:rPr>
              <a:t> </a:t>
            </a:r>
            <a:r>
              <a:rPr sz="1600" dirty="0">
                <a:solidFill>
                  <a:srgbClr val="555555"/>
                </a:solidFill>
                <a:latin typeface="Calibri"/>
                <a:cs typeface="Calibri"/>
              </a:rPr>
              <a:t>la</a:t>
            </a:r>
            <a:r>
              <a:rPr sz="1600" spc="-25" dirty="0">
                <a:solidFill>
                  <a:srgbClr val="555555"/>
                </a:solidFill>
                <a:latin typeface="Calibri"/>
                <a:cs typeface="Calibri"/>
              </a:rPr>
              <a:t> </a:t>
            </a:r>
            <a:r>
              <a:rPr sz="1600" dirty="0">
                <a:solidFill>
                  <a:srgbClr val="555555"/>
                </a:solidFill>
                <a:latin typeface="Calibri"/>
                <a:cs typeface="Calibri"/>
              </a:rPr>
              <a:t>commande</a:t>
            </a:r>
            <a:r>
              <a:rPr sz="1600" spc="-15" dirty="0">
                <a:solidFill>
                  <a:srgbClr val="555555"/>
                </a:solidFill>
                <a:latin typeface="Calibri"/>
                <a:cs typeface="Calibri"/>
              </a:rPr>
              <a:t> </a:t>
            </a:r>
            <a:r>
              <a:rPr sz="1600" b="1" dirty="0">
                <a:solidFill>
                  <a:srgbClr val="FF0000"/>
                </a:solidFill>
                <a:latin typeface="Calibri"/>
                <a:cs typeface="Calibri"/>
              </a:rPr>
              <a:t>ps</a:t>
            </a:r>
            <a:r>
              <a:rPr sz="1600" spc="-35" dirty="0">
                <a:solidFill>
                  <a:srgbClr val="555555"/>
                </a:solidFill>
                <a:latin typeface="Calibri"/>
                <a:cs typeface="Calibri"/>
              </a:rPr>
              <a:t> </a:t>
            </a:r>
            <a:r>
              <a:rPr sz="1600" dirty="0">
                <a:solidFill>
                  <a:srgbClr val="555555"/>
                </a:solidFill>
                <a:latin typeface="Calibri"/>
                <a:cs typeface="Calibri"/>
              </a:rPr>
              <a:t>et</a:t>
            </a:r>
            <a:r>
              <a:rPr sz="1600" spc="-40" dirty="0">
                <a:solidFill>
                  <a:srgbClr val="555555"/>
                </a:solidFill>
                <a:latin typeface="Calibri"/>
                <a:cs typeface="Calibri"/>
              </a:rPr>
              <a:t> </a:t>
            </a:r>
            <a:r>
              <a:rPr sz="1600" dirty="0">
                <a:solidFill>
                  <a:srgbClr val="555555"/>
                </a:solidFill>
                <a:latin typeface="Calibri"/>
                <a:cs typeface="Calibri"/>
              </a:rPr>
              <a:t>ses</a:t>
            </a:r>
            <a:r>
              <a:rPr sz="1600" spc="-35" dirty="0">
                <a:solidFill>
                  <a:srgbClr val="555555"/>
                </a:solidFill>
                <a:latin typeface="Calibri"/>
                <a:cs typeface="Calibri"/>
              </a:rPr>
              <a:t> </a:t>
            </a:r>
            <a:r>
              <a:rPr sz="1600" spc="-10" dirty="0">
                <a:solidFill>
                  <a:srgbClr val="555555"/>
                </a:solidFill>
                <a:latin typeface="Calibri"/>
                <a:cs typeface="Calibri"/>
              </a:rPr>
              <a:t>options</a:t>
            </a:r>
            <a:r>
              <a:rPr sz="1200" spc="-10" dirty="0">
                <a:solidFill>
                  <a:srgbClr val="555555"/>
                </a:solidFill>
                <a:latin typeface="Calibri"/>
                <a:cs typeface="Calibri"/>
              </a:rPr>
              <a:t>.</a:t>
            </a:r>
            <a:endParaRPr sz="1200" dirty="0">
              <a:latin typeface="Calibri"/>
              <a:cs typeface="Calibri"/>
            </a:endParaRPr>
          </a:p>
        </p:txBody>
      </p:sp>
      <p:graphicFrame>
        <p:nvGraphicFramePr>
          <p:cNvPr id="13" name="object 13"/>
          <p:cNvGraphicFramePr>
            <a:graphicFrameLocks noGrp="1"/>
          </p:cNvGraphicFramePr>
          <p:nvPr>
            <p:extLst>
              <p:ext uri="{D42A27DB-BD31-4B8C-83A1-F6EECF244321}">
                <p14:modId xmlns:p14="http://schemas.microsoft.com/office/powerpoint/2010/main" val="3364604816"/>
              </p:ext>
            </p:extLst>
          </p:nvPr>
        </p:nvGraphicFramePr>
        <p:xfrm>
          <a:off x="1071499" y="2408427"/>
          <a:ext cx="10053701" cy="3458975"/>
        </p:xfrm>
        <a:graphic>
          <a:graphicData uri="http://schemas.openxmlformats.org/drawingml/2006/table">
            <a:tbl>
              <a:tblPr firstRow="1" bandRow="1">
                <a:tableStyleId>{2D5ABB26-0587-4C30-8999-92F81FD0307C}</a:tableStyleId>
              </a:tblPr>
              <a:tblGrid>
                <a:gridCol w="2937565">
                  <a:extLst>
                    <a:ext uri="{9D8B030D-6E8A-4147-A177-3AD203B41FA5}">
                      <a16:colId xmlns:a16="http://schemas.microsoft.com/office/drawing/2014/main" val="20000"/>
                    </a:ext>
                  </a:extLst>
                </a:gridCol>
                <a:gridCol w="7116136">
                  <a:extLst>
                    <a:ext uri="{9D8B030D-6E8A-4147-A177-3AD203B41FA5}">
                      <a16:colId xmlns:a16="http://schemas.microsoft.com/office/drawing/2014/main" val="20001"/>
                    </a:ext>
                  </a:extLst>
                </a:gridCol>
              </a:tblGrid>
              <a:tr h="293053">
                <a:tc>
                  <a:txBody>
                    <a:bodyPr/>
                    <a:lstStyle/>
                    <a:p>
                      <a:pPr algn="ctr">
                        <a:lnSpc>
                          <a:spcPct val="100000"/>
                        </a:lnSpc>
                        <a:spcBef>
                          <a:spcPts val="295"/>
                        </a:spcBef>
                      </a:pPr>
                      <a:r>
                        <a:rPr sz="1200" b="1" spc="-10" dirty="0">
                          <a:latin typeface="Calibri"/>
                          <a:cs typeface="Calibri"/>
                        </a:rPr>
                        <a:t>Option</a:t>
                      </a:r>
                      <a:endParaRPr sz="1200">
                        <a:latin typeface="Calibri"/>
                        <a:cs typeface="Calibri"/>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95"/>
                        </a:spcBef>
                      </a:pPr>
                      <a:r>
                        <a:rPr sz="1200" b="1" spc="-10" dirty="0">
                          <a:latin typeface="Calibri"/>
                          <a:cs typeface="Calibri"/>
                        </a:rPr>
                        <a:t>Fonction</a:t>
                      </a:r>
                      <a:endParaRPr sz="1200">
                        <a:latin typeface="Calibri"/>
                        <a:cs typeface="Calibri"/>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95486">
                <a:tc>
                  <a:txBody>
                    <a:bodyPr/>
                    <a:lstStyle/>
                    <a:p>
                      <a:pPr marL="91440">
                        <a:lnSpc>
                          <a:spcPct val="100000"/>
                        </a:lnSpc>
                        <a:spcBef>
                          <a:spcPts val="300"/>
                        </a:spcBef>
                      </a:pPr>
                      <a:r>
                        <a:rPr sz="1200" dirty="0">
                          <a:latin typeface="Calibri"/>
                          <a:cs typeface="Calibri"/>
                        </a:rPr>
                        <a:t>Sans</a:t>
                      </a:r>
                      <a:r>
                        <a:rPr sz="1200" spc="-20" dirty="0">
                          <a:latin typeface="Calibri"/>
                          <a:cs typeface="Calibri"/>
                        </a:rPr>
                        <a:t> </a:t>
                      </a:r>
                      <a:r>
                        <a:rPr sz="1200" spc="-10" dirty="0">
                          <a:latin typeface="Calibri"/>
                          <a:cs typeface="Calibri"/>
                        </a:rPr>
                        <a:t>options</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00"/>
                        </a:spcBef>
                      </a:pPr>
                      <a:r>
                        <a:rPr sz="1200" dirty="0">
                          <a:latin typeface="Calibri"/>
                          <a:cs typeface="Calibri"/>
                        </a:rPr>
                        <a:t>processus</a:t>
                      </a:r>
                      <a:r>
                        <a:rPr sz="1200" spc="-20" dirty="0">
                          <a:latin typeface="Calibri"/>
                          <a:cs typeface="Calibri"/>
                        </a:rPr>
                        <a:t> </a:t>
                      </a:r>
                      <a:r>
                        <a:rPr sz="1200" dirty="0">
                          <a:latin typeface="Calibri"/>
                          <a:cs typeface="Calibri"/>
                        </a:rPr>
                        <a:t>en</a:t>
                      </a:r>
                      <a:r>
                        <a:rPr sz="1200" spc="-30" dirty="0">
                          <a:latin typeface="Calibri"/>
                          <a:cs typeface="Calibri"/>
                        </a:rPr>
                        <a:t> </a:t>
                      </a:r>
                      <a:r>
                        <a:rPr sz="1200" spc="-10" dirty="0">
                          <a:latin typeface="Calibri"/>
                          <a:cs typeface="Calibri"/>
                        </a:rPr>
                        <a:t>exécution.</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95486">
                <a:tc>
                  <a:txBody>
                    <a:bodyPr/>
                    <a:lstStyle/>
                    <a:p>
                      <a:pPr marL="91440">
                        <a:lnSpc>
                          <a:spcPct val="100000"/>
                        </a:lnSpc>
                        <a:spcBef>
                          <a:spcPts val="300"/>
                        </a:spcBef>
                      </a:pPr>
                      <a:r>
                        <a:rPr sz="1200" spc="-10" dirty="0">
                          <a:latin typeface="Calibri"/>
                          <a:cs typeface="Calibri"/>
                        </a:rPr>
                        <a:t>-</a:t>
                      </a:r>
                      <a:r>
                        <a:rPr sz="1200" dirty="0">
                          <a:latin typeface="Calibri"/>
                          <a:cs typeface="Calibri"/>
                        </a:rPr>
                        <a:t>u</a:t>
                      </a:r>
                      <a:r>
                        <a:rPr sz="1200" spc="5" dirty="0">
                          <a:latin typeface="Calibri"/>
                          <a:cs typeface="Calibri"/>
                        </a:rPr>
                        <a:t> </a:t>
                      </a:r>
                      <a:r>
                        <a:rPr sz="1200" spc="-20" dirty="0">
                          <a:latin typeface="Calibri"/>
                          <a:cs typeface="Calibri"/>
                        </a:rPr>
                        <a:t>user</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00"/>
                        </a:spcBef>
                      </a:pPr>
                      <a:r>
                        <a:rPr sz="1200" dirty="0">
                          <a:latin typeface="Calibri"/>
                          <a:cs typeface="Calibri"/>
                        </a:rPr>
                        <a:t>processus en </a:t>
                      </a:r>
                      <a:r>
                        <a:rPr sz="1200" spc="-10" dirty="0">
                          <a:latin typeface="Calibri"/>
                          <a:cs typeface="Calibri"/>
                        </a:rPr>
                        <a:t>exécution</a:t>
                      </a:r>
                      <a:r>
                        <a:rPr sz="1200" spc="-5" dirty="0">
                          <a:latin typeface="Calibri"/>
                          <a:cs typeface="Calibri"/>
                        </a:rPr>
                        <a:t> </a:t>
                      </a:r>
                      <a:r>
                        <a:rPr sz="1200" dirty="0">
                          <a:latin typeface="Calibri"/>
                          <a:cs typeface="Calibri"/>
                        </a:rPr>
                        <a:t>pour</a:t>
                      </a:r>
                      <a:r>
                        <a:rPr sz="1200" spc="-15" dirty="0">
                          <a:latin typeface="Calibri"/>
                          <a:cs typeface="Calibri"/>
                        </a:rPr>
                        <a:t> </a:t>
                      </a:r>
                      <a:r>
                        <a:rPr sz="1200" spc="-10" dirty="0">
                          <a:latin typeface="Calibri"/>
                          <a:cs typeface="Calibri"/>
                        </a:rPr>
                        <a:t>l’utilisateur</a:t>
                      </a:r>
                      <a:r>
                        <a:rPr sz="1200" spc="15" dirty="0">
                          <a:latin typeface="Calibri"/>
                          <a:cs typeface="Calibri"/>
                        </a:rPr>
                        <a:t> </a:t>
                      </a:r>
                      <a:r>
                        <a:rPr sz="1200" spc="-20" dirty="0">
                          <a:latin typeface="Calibri"/>
                          <a:cs typeface="Calibri"/>
                        </a:rPr>
                        <a:t>user.</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96164">
                <a:tc>
                  <a:txBody>
                    <a:bodyPr/>
                    <a:lstStyle/>
                    <a:p>
                      <a:pPr marL="91440">
                        <a:lnSpc>
                          <a:spcPct val="100000"/>
                        </a:lnSpc>
                        <a:spcBef>
                          <a:spcPts val="300"/>
                        </a:spcBef>
                      </a:pPr>
                      <a:r>
                        <a:rPr sz="1200" spc="-10" dirty="0">
                          <a:latin typeface="Calibri"/>
                          <a:cs typeface="Calibri"/>
                        </a:rPr>
                        <a:t>-</a:t>
                      </a:r>
                      <a:r>
                        <a:rPr sz="1200" spc="-35" dirty="0">
                          <a:latin typeface="Calibri"/>
                          <a:cs typeface="Calibri"/>
                        </a:rPr>
                        <a:t>ef</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00"/>
                        </a:spcBef>
                      </a:pPr>
                      <a:r>
                        <a:rPr sz="1200" spc="-10" dirty="0">
                          <a:latin typeface="Calibri"/>
                          <a:cs typeface="Calibri"/>
                        </a:rPr>
                        <a:t>informations</a:t>
                      </a:r>
                      <a:r>
                        <a:rPr sz="1200" dirty="0">
                          <a:latin typeface="Calibri"/>
                          <a:cs typeface="Calibri"/>
                        </a:rPr>
                        <a:t> complètes</a:t>
                      </a:r>
                      <a:r>
                        <a:rPr sz="1200" spc="-20" dirty="0">
                          <a:latin typeface="Calibri"/>
                          <a:cs typeface="Calibri"/>
                        </a:rPr>
                        <a:t> </a:t>
                      </a:r>
                      <a:r>
                        <a:rPr sz="1200" dirty="0">
                          <a:latin typeface="Calibri"/>
                          <a:cs typeface="Calibri"/>
                        </a:rPr>
                        <a:t>concernant</a:t>
                      </a:r>
                      <a:r>
                        <a:rPr sz="1200" spc="-30" dirty="0">
                          <a:latin typeface="Calibri"/>
                          <a:cs typeface="Calibri"/>
                        </a:rPr>
                        <a:t> </a:t>
                      </a:r>
                      <a:r>
                        <a:rPr sz="1200" dirty="0">
                          <a:latin typeface="Calibri"/>
                          <a:cs typeface="Calibri"/>
                        </a:rPr>
                        <a:t>les</a:t>
                      </a:r>
                      <a:r>
                        <a:rPr sz="1200" spc="-40" dirty="0">
                          <a:latin typeface="Calibri"/>
                          <a:cs typeface="Calibri"/>
                        </a:rPr>
                        <a:t> </a:t>
                      </a:r>
                      <a:r>
                        <a:rPr sz="1200" dirty="0">
                          <a:latin typeface="Calibri"/>
                          <a:cs typeface="Calibri"/>
                        </a:rPr>
                        <a:t>processus en</a:t>
                      </a:r>
                      <a:r>
                        <a:rPr sz="1200" spc="-55" dirty="0">
                          <a:latin typeface="Calibri"/>
                          <a:cs typeface="Calibri"/>
                        </a:rPr>
                        <a:t> </a:t>
                      </a:r>
                      <a:r>
                        <a:rPr sz="1200" dirty="0">
                          <a:latin typeface="Calibri"/>
                          <a:cs typeface="Calibri"/>
                        </a:rPr>
                        <a:t>cours</a:t>
                      </a:r>
                      <a:r>
                        <a:rPr sz="1200" spc="-20" dirty="0">
                          <a:latin typeface="Calibri"/>
                          <a:cs typeface="Calibri"/>
                        </a:rPr>
                        <a:t> </a:t>
                      </a:r>
                      <a:r>
                        <a:rPr sz="1200" spc="-10" dirty="0">
                          <a:latin typeface="Calibri"/>
                          <a:cs typeface="Calibri"/>
                        </a:rPr>
                        <a:t>d'exécution.</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95486">
                <a:tc>
                  <a:txBody>
                    <a:bodyPr/>
                    <a:lstStyle/>
                    <a:p>
                      <a:pPr marL="91440">
                        <a:lnSpc>
                          <a:spcPct val="100000"/>
                        </a:lnSpc>
                        <a:spcBef>
                          <a:spcPts val="300"/>
                        </a:spcBef>
                      </a:pPr>
                      <a:r>
                        <a:rPr sz="1200" spc="-10" dirty="0">
                          <a:latin typeface="Calibri"/>
                          <a:cs typeface="Calibri"/>
                        </a:rPr>
                        <a:t>-</a:t>
                      </a:r>
                      <a:r>
                        <a:rPr sz="1200" spc="-60" dirty="0">
                          <a:latin typeface="Calibri"/>
                          <a:cs typeface="Calibri"/>
                        </a:rPr>
                        <a:t>x</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00"/>
                        </a:spcBef>
                      </a:pPr>
                      <a:r>
                        <a:rPr sz="1200" dirty="0">
                          <a:latin typeface="Calibri"/>
                          <a:cs typeface="Calibri"/>
                        </a:rPr>
                        <a:t>processus</a:t>
                      </a:r>
                      <a:r>
                        <a:rPr sz="1200" spc="-30" dirty="0">
                          <a:latin typeface="Calibri"/>
                          <a:cs typeface="Calibri"/>
                        </a:rPr>
                        <a:t> </a:t>
                      </a:r>
                      <a:r>
                        <a:rPr sz="1200" dirty="0">
                          <a:latin typeface="Calibri"/>
                          <a:cs typeface="Calibri"/>
                        </a:rPr>
                        <a:t>actifs</a:t>
                      </a:r>
                      <a:r>
                        <a:rPr sz="1200" spc="-30" dirty="0">
                          <a:latin typeface="Calibri"/>
                          <a:cs typeface="Calibri"/>
                        </a:rPr>
                        <a:t> </a:t>
                      </a:r>
                      <a:r>
                        <a:rPr sz="1200" dirty="0">
                          <a:latin typeface="Calibri"/>
                          <a:cs typeface="Calibri"/>
                        </a:rPr>
                        <a:t>de</a:t>
                      </a:r>
                      <a:r>
                        <a:rPr sz="1200" spc="-30" dirty="0">
                          <a:latin typeface="Calibri"/>
                          <a:cs typeface="Calibri"/>
                        </a:rPr>
                        <a:t> </a:t>
                      </a:r>
                      <a:r>
                        <a:rPr sz="1200" dirty="0">
                          <a:latin typeface="Calibri"/>
                          <a:cs typeface="Calibri"/>
                        </a:rPr>
                        <a:t>l'utilisateur</a:t>
                      </a:r>
                      <a:r>
                        <a:rPr sz="1200" spc="-45" dirty="0">
                          <a:latin typeface="Calibri"/>
                          <a:cs typeface="Calibri"/>
                        </a:rPr>
                        <a:t> </a:t>
                      </a:r>
                      <a:r>
                        <a:rPr sz="1200" spc="-10" dirty="0">
                          <a:latin typeface="Calibri"/>
                          <a:cs typeface="Calibri"/>
                        </a:rPr>
                        <a:t>courant.</a:t>
                      </a:r>
                      <a:endParaRPr sz="1200" dirty="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96164">
                <a:tc>
                  <a:txBody>
                    <a:bodyPr/>
                    <a:lstStyle/>
                    <a:p>
                      <a:pPr marL="91440">
                        <a:lnSpc>
                          <a:spcPct val="100000"/>
                        </a:lnSpc>
                        <a:spcBef>
                          <a:spcPts val="305"/>
                        </a:spcBef>
                      </a:pPr>
                      <a:r>
                        <a:rPr sz="1200" spc="-10" dirty="0">
                          <a:latin typeface="Calibri"/>
                          <a:cs typeface="Calibri"/>
                        </a:rPr>
                        <a:t>-</a:t>
                      </a:r>
                      <a:r>
                        <a:rPr sz="1200" spc="-35" dirty="0">
                          <a:latin typeface="Calibri"/>
                          <a:cs typeface="Calibri"/>
                        </a:rPr>
                        <a:t>ax</a:t>
                      </a:r>
                      <a:endParaRPr sz="12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05"/>
                        </a:spcBef>
                      </a:pPr>
                      <a:r>
                        <a:rPr sz="1200" dirty="0">
                          <a:latin typeface="Calibri"/>
                          <a:cs typeface="Calibri"/>
                        </a:rPr>
                        <a:t>processus</a:t>
                      </a:r>
                      <a:r>
                        <a:rPr sz="1200" spc="-15" dirty="0">
                          <a:latin typeface="Calibri"/>
                          <a:cs typeface="Calibri"/>
                        </a:rPr>
                        <a:t> </a:t>
                      </a:r>
                      <a:r>
                        <a:rPr sz="1200" dirty="0">
                          <a:latin typeface="Calibri"/>
                          <a:cs typeface="Calibri"/>
                        </a:rPr>
                        <a:t>de</a:t>
                      </a:r>
                      <a:r>
                        <a:rPr sz="1200" spc="-20" dirty="0">
                          <a:latin typeface="Calibri"/>
                          <a:cs typeface="Calibri"/>
                        </a:rPr>
                        <a:t> </a:t>
                      </a:r>
                      <a:r>
                        <a:rPr sz="1200" dirty="0">
                          <a:latin typeface="Calibri"/>
                          <a:cs typeface="Calibri"/>
                        </a:rPr>
                        <a:t>tous</a:t>
                      </a:r>
                      <a:r>
                        <a:rPr sz="1200" spc="-30" dirty="0">
                          <a:latin typeface="Calibri"/>
                          <a:cs typeface="Calibri"/>
                        </a:rPr>
                        <a:t> </a:t>
                      </a:r>
                      <a:r>
                        <a:rPr sz="1200" dirty="0">
                          <a:latin typeface="Calibri"/>
                          <a:cs typeface="Calibri"/>
                        </a:rPr>
                        <a:t>les</a:t>
                      </a:r>
                      <a:r>
                        <a:rPr sz="1200" spc="-30" dirty="0">
                          <a:latin typeface="Calibri"/>
                          <a:cs typeface="Calibri"/>
                        </a:rPr>
                        <a:t> </a:t>
                      </a:r>
                      <a:r>
                        <a:rPr sz="1200" spc="-10" dirty="0">
                          <a:latin typeface="Calibri"/>
                          <a:cs typeface="Calibri"/>
                        </a:rPr>
                        <a:t>utilisateurs.</a:t>
                      </a:r>
                      <a:endParaRPr sz="12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395486">
                <a:tc>
                  <a:txBody>
                    <a:bodyPr/>
                    <a:lstStyle/>
                    <a:p>
                      <a:pPr marL="91440">
                        <a:lnSpc>
                          <a:spcPct val="100000"/>
                        </a:lnSpc>
                        <a:spcBef>
                          <a:spcPts val="305"/>
                        </a:spcBef>
                      </a:pPr>
                      <a:r>
                        <a:rPr sz="1200" spc="-10" dirty="0">
                          <a:latin typeface="Calibri"/>
                          <a:cs typeface="Calibri"/>
                        </a:rPr>
                        <a:t>-</a:t>
                      </a:r>
                      <a:r>
                        <a:rPr sz="1200" spc="-60" dirty="0">
                          <a:latin typeface="Calibri"/>
                          <a:cs typeface="Calibri"/>
                        </a:rPr>
                        <a:t>p</a:t>
                      </a:r>
                      <a:endParaRPr sz="12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05"/>
                        </a:spcBef>
                      </a:pPr>
                      <a:r>
                        <a:rPr sz="1200" spc="-10" dirty="0">
                          <a:latin typeface="Calibri"/>
                          <a:cs typeface="Calibri"/>
                        </a:rPr>
                        <a:t>informations</a:t>
                      </a:r>
                      <a:r>
                        <a:rPr sz="1200" spc="20" dirty="0">
                          <a:latin typeface="Calibri"/>
                          <a:cs typeface="Calibri"/>
                        </a:rPr>
                        <a:t> </a:t>
                      </a:r>
                      <a:r>
                        <a:rPr sz="1200" dirty="0">
                          <a:latin typeface="Calibri"/>
                          <a:cs typeface="Calibri"/>
                        </a:rPr>
                        <a:t>sur</a:t>
                      </a:r>
                      <a:r>
                        <a:rPr sz="1200" spc="-40" dirty="0">
                          <a:latin typeface="Calibri"/>
                          <a:cs typeface="Calibri"/>
                        </a:rPr>
                        <a:t> </a:t>
                      </a:r>
                      <a:r>
                        <a:rPr sz="1200" dirty="0">
                          <a:latin typeface="Calibri"/>
                          <a:cs typeface="Calibri"/>
                        </a:rPr>
                        <a:t>le</a:t>
                      </a:r>
                      <a:r>
                        <a:rPr sz="1200" spc="-5" dirty="0">
                          <a:latin typeface="Calibri"/>
                          <a:cs typeface="Calibri"/>
                        </a:rPr>
                        <a:t> </a:t>
                      </a:r>
                      <a:r>
                        <a:rPr sz="1200" dirty="0">
                          <a:latin typeface="Calibri"/>
                          <a:cs typeface="Calibri"/>
                        </a:rPr>
                        <a:t>processus</a:t>
                      </a:r>
                      <a:r>
                        <a:rPr sz="1200" spc="-5" dirty="0">
                          <a:latin typeface="Calibri"/>
                          <a:cs typeface="Calibri"/>
                        </a:rPr>
                        <a:t> </a:t>
                      </a:r>
                      <a:r>
                        <a:rPr sz="1200" spc="-20" dirty="0">
                          <a:latin typeface="Calibri"/>
                          <a:cs typeface="Calibri"/>
                        </a:rPr>
                        <a:t>PID.</a:t>
                      </a:r>
                      <a:endParaRPr sz="12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396164">
                <a:tc>
                  <a:txBody>
                    <a:bodyPr/>
                    <a:lstStyle/>
                    <a:p>
                      <a:pPr marL="91440">
                        <a:lnSpc>
                          <a:spcPct val="100000"/>
                        </a:lnSpc>
                        <a:spcBef>
                          <a:spcPts val="305"/>
                        </a:spcBef>
                      </a:pPr>
                      <a:r>
                        <a:rPr sz="1200" spc="-10" dirty="0">
                          <a:latin typeface="Calibri"/>
                          <a:cs typeface="Calibri"/>
                        </a:rPr>
                        <a:t>-</a:t>
                      </a:r>
                      <a:r>
                        <a:rPr sz="1200" spc="-60" dirty="0">
                          <a:latin typeface="Calibri"/>
                          <a:cs typeface="Calibri"/>
                        </a:rPr>
                        <a:t>l</a:t>
                      </a:r>
                      <a:endParaRPr sz="12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05"/>
                        </a:spcBef>
                      </a:pPr>
                      <a:r>
                        <a:rPr sz="1200" dirty="0">
                          <a:latin typeface="Calibri"/>
                          <a:cs typeface="Calibri"/>
                        </a:rPr>
                        <a:t>afficher</a:t>
                      </a:r>
                      <a:r>
                        <a:rPr sz="1200" spc="-20" dirty="0">
                          <a:latin typeface="Calibri"/>
                          <a:cs typeface="Calibri"/>
                        </a:rPr>
                        <a:t> </a:t>
                      </a:r>
                      <a:r>
                        <a:rPr sz="1200" dirty="0">
                          <a:latin typeface="Calibri"/>
                          <a:cs typeface="Calibri"/>
                        </a:rPr>
                        <a:t>des</a:t>
                      </a:r>
                      <a:r>
                        <a:rPr sz="1200" spc="-20" dirty="0">
                          <a:latin typeface="Calibri"/>
                          <a:cs typeface="Calibri"/>
                        </a:rPr>
                        <a:t> </a:t>
                      </a:r>
                      <a:r>
                        <a:rPr sz="1200" spc="-10" dirty="0">
                          <a:latin typeface="Calibri"/>
                          <a:cs typeface="Calibri"/>
                        </a:rPr>
                        <a:t>informations</a:t>
                      </a:r>
                      <a:r>
                        <a:rPr sz="1200" spc="25" dirty="0">
                          <a:latin typeface="Calibri"/>
                          <a:cs typeface="Calibri"/>
                        </a:rPr>
                        <a:t> </a:t>
                      </a:r>
                      <a:r>
                        <a:rPr sz="1200" dirty="0">
                          <a:latin typeface="Calibri"/>
                          <a:cs typeface="Calibri"/>
                        </a:rPr>
                        <a:t>assez</a:t>
                      </a:r>
                      <a:r>
                        <a:rPr sz="1200" spc="-45" dirty="0">
                          <a:latin typeface="Calibri"/>
                          <a:cs typeface="Calibri"/>
                        </a:rPr>
                        <a:t> </a:t>
                      </a:r>
                      <a:r>
                        <a:rPr sz="1200" spc="-10" dirty="0">
                          <a:latin typeface="Calibri"/>
                          <a:cs typeface="Calibri"/>
                        </a:rPr>
                        <a:t>complètes.</a:t>
                      </a:r>
                      <a:endParaRPr sz="12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395486">
                <a:tc>
                  <a:txBody>
                    <a:bodyPr/>
                    <a:lstStyle/>
                    <a:p>
                      <a:pPr marL="91440">
                        <a:lnSpc>
                          <a:spcPct val="100000"/>
                        </a:lnSpc>
                        <a:spcBef>
                          <a:spcPts val="305"/>
                        </a:spcBef>
                      </a:pPr>
                      <a:r>
                        <a:rPr sz="1200" spc="-10" dirty="0">
                          <a:latin typeface="Calibri"/>
                          <a:cs typeface="Calibri"/>
                        </a:rPr>
                        <a:t>-</a:t>
                      </a:r>
                      <a:r>
                        <a:rPr sz="1200" spc="-60" dirty="0">
                          <a:latin typeface="Calibri"/>
                          <a:cs typeface="Calibri"/>
                        </a:rPr>
                        <a:t>c</a:t>
                      </a:r>
                      <a:endParaRPr sz="12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05"/>
                        </a:spcBef>
                      </a:pPr>
                      <a:r>
                        <a:rPr sz="1200" dirty="0">
                          <a:latin typeface="Calibri"/>
                          <a:cs typeface="Calibri"/>
                        </a:rPr>
                        <a:t>afficher</a:t>
                      </a:r>
                      <a:r>
                        <a:rPr sz="1200" spc="-40" dirty="0">
                          <a:latin typeface="Calibri"/>
                          <a:cs typeface="Calibri"/>
                        </a:rPr>
                        <a:t> </a:t>
                      </a:r>
                      <a:r>
                        <a:rPr sz="1200" dirty="0">
                          <a:latin typeface="Calibri"/>
                          <a:cs typeface="Calibri"/>
                        </a:rPr>
                        <a:t>les</a:t>
                      </a:r>
                      <a:r>
                        <a:rPr sz="1200" spc="-25" dirty="0">
                          <a:latin typeface="Calibri"/>
                          <a:cs typeface="Calibri"/>
                        </a:rPr>
                        <a:t> </a:t>
                      </a:r>
                      <a:r>
                        <a:rPr sz="1200" dirty="0">
                          <a:latin typeface="Calibri"/>
                          <a:cs typeface="Calibri"/>
                        </a:rPr>
                        <a:t>commandes</a:t>
                      </a:r>
                      <a:r>
                        <a:rPr sz="1200" spc="-25" dirty="0">
                          <a:latin typeface="Calibri"/>
                          <a:cs typeface="Calibri"/>
                        </a:rPr>
                        <a:t> </a:t>
                      </a:r>
                      <a:r>
                        <a:rPr sz="1200" spc="-10" dirty="0">
                          <a:latin typeface="Calibri"/>
                          <a:cs typeface="Calibri"/>
                        </a:rPr>
                        <a:t>exécutées.</a:t>
                      </a:r>
                      <a:endParaRPr sz="1200" dirty="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bl>
          </a:graphicData>
        </a:graphic>
      </p:graphicFrame>
      <p:sp>
        <p:nvSpPr>
          <p:cNvPr id="14" name="object 14"/>
          <p:cNvSpPr txBox="1"/>
          <p:nvPr/>
        </p:nvSpPr>
        <p:spPr>
          <a:xfrm>
            <a:off x="4267200" y="5965626"/>
            <a:ext cx="2409825" cy="197490"/>
          </a:xfrm>
          <a:prstGeom prst="rect">
            <a:avLst/>
          </a:prstGeom>
        </p:spPr>
        <p:txBody>
          <a:bodyPr vert="horz" wrap="square" lIns="0" tIns="12700" rIns="0" bIns="0" rtlCol="0">
            <a:spAutoFit/>
          </a:bodyPr>
          <a:lstStyle/>
          <a:p>
            <a:pPr marL="12700">
              <a:lnSpc>
                <a:spcPct val="100000"/>
              </a:lnSpc>
              <a:spcBef>
                <a:spcPts val="100"/>
              </a:spcBef>
            </a:pPr>
            <a:r>
              <a:rPr sz="1200" i="1" dirty="0">
                <a:solidFill>
                  <a:srgbClr val="A6A6A6"/>
                </a:solidFill>
                <a:latin typeface="Calibri"/>
                <a:cs typeface="Calibri"/>
              </a:rPr>
              <a:t>Table</a:t>
            </a:r>
            <a:r>
              <a:rPr sz="1200" i="1" spc="215" dirty="0">
                <a:solidFill>
                  <a:srgbClr val="A6A6A6"/>
                </a:solidFill>
                <a:latin typeface="Calibri"/>
                <a:cs typeface="Calibri"/>
              </a:rPr>
              <a:t> </a:t>
            </a:r>
            <a:r>
              <a:rPr sz="1200" i="1" dirty="0" smtClean="0">
                <a:solidFill>
                  <a:srgbClr val="A6A6A6"/>
                </a:solidFill>
                <a:latin typeface="Calibri"/>
                <a:cs typeface="Calibri"/>
              </a:rPr>
              <a:t>1: </a:t>
            </a:r>
            <a:r>
              <a:rPr sz="1200" i="1" dirty="0">
                <a:solidFill>
                  <a:srgbClr val="A6A6A6"/>
                </a:solidFill>
                <a:latin typeface="Calibri"/>
                <a:cs typeface="Calibri"/>
              </a:rPr>
              <a:t>Commande</a:t>
            </a:r>
            <a:r>
              <a:rPr sz="1200" i="1" spc="-70" dirty="0">
                <a:solidFill>
                  <a:srgbClr val="A6A6A6"/>
                </a:solidFill>
                <a:latin typeface="Calibri"/>
                <a:cs typeface="Calibri"/>
              </a:rPr>
              <a:t> </a:t>
            </a:r>
            <a:r>
              <a:rPr sz="1200" i="1" dirty="0">
                <a:solidFill>
                  <a:srgbClr val="A6A6A6"/>
                </a:solidFill>
                <a:latin typeface="Calibri"/>
                <a:cs typeface="Calibri"/>
              </a:rPr>
              <a:t>ps</a:t>
            </a:r>
            <a:r>
              <a:rPr sz="1200" i="1" spc="-40" dirty="0">
                <a:solidFill>
                  <a:srgbClr val="A6A6A6"/>
                </a:solidFill>
                <a:latin typeface="Calibri"/>
                <a:cs typeface="Calibri"/>
              </a:rPr>
              <a:t> </a:t>
            </a:r>
            <a:r>
              <a:rPr sz="1200" i="1" dirty="0">
                <a:solidFill>
                  <a:srgbClr val="A6A6A6"/>
                </a:solidFill>
                <a:latin typeface="Calibri"/>
                <a:cs typeface="Calibri"/>
              </a:rPr>
              <a:t>et</a:t>
            </a:r>
            <a:r>
              <a:rPr sz="1200" i="1" spc="-30" dirty="0">
                <a:solidFill>
                  <a:srgbClr val="A6A6A6"/>
                </a:solidFill>
                <a:latin typeface="Calibri"/>
                <a:cs typeface="Calibri"/>
              </a:rPr>
              <a:t> </a:t>
            </a:r>
            <a:r>
              <a:rPr sz="1200" i="1" dirty="0">
                <a:solidFill>
                  <a:srgbClr val="A6A6A6"/>
                </a:solidFill>
                <a:latin typeface="Calibri"/>
                <a:cs typeface="Calibri"/>
              </a:rPr>
              <a:t>ses</a:t>
            </a:r>
            <a:r>
              <a:rPr sz="1200" i="1" spc="-20" dirty="0">
                <a:solidFill>
                  <a:srgbClr val="A6A6A6"/>
                </a:solidFill>
                <a:latin typeface="Calibri"/>
                <a:cs typeface="Calibri"/>
              </a:rPr>
              <a:t> </a:t>
            </a:r>
            <a:r>
              <a:rPr sz="1200" i="1" spc="-10" dirty="0">
                <a:solidFill>
                  <a:srgbClr val="A6A6A6"/>
                </a:solidFill>
                <a:latin typeface="Calibri"/>
                <a:cs typeface="Calibri"/>
              </a:rPr>
              <a:t>options</a:t>
            </a:r>
            <a:endParaRPr sz="1200" dirty="0">
              <a:latin typeface="Calibri"/>
              <a:cs typeface="Calibri"/>
            </a:endParaRPr>
          </a:p>
        </p:txBody>
      </p:sp>
      <p:sp>
        <p:nvSpPr>
          <p:cNvPr id="18" name="object 11"/>
          <p:cNvSpPr txBox="1">
            <a:spLocks noGrp="1"/>
          </p:cNvSpPr>
          <p:nvPr>
            <p:ph type="title"/>
          </p:nvPr>
        </p:nvSpPr>
        <p:spPr>
          <a:xfrm>
            <a:off x="228600" y="304800"/>
            <a:ext cx="11664492" cy="699089"/>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a:p>
            <a:pPr marL="6985">
              <a:lnSpc>
                <a:spcPct val="100000"/>
              </a:lnSpc>
              <a:spcBef>
                <a:spcPts val="10"/>
              </a:spcBef>
            </a:pPr>
            <a:r>
              <a:rPr lang="fr-FR" sz="1600" spc="-10" dirty="0" smtClean="0">
                <a:solidFill>
                  <a:srgbClr val="0058A0"/>
                </a:solidFill>
              </a:rPr>
              <a:t>Gestion des processus sous Linux</a:t>
            </a:r>
            <a:endParaRPr sz="1600" dirty="0"/>
          </a:p>
        </p:txBody>
      </p:sp>
      <p:sp>
        <p:nvSpPr>
          <p:cNvPr id="19"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Tree>
    <p:extLst>
      <p:ext uri="{BB962C8B-B14F-4D97-AF65-F5344CB8AC3E}">
        <p14:creationId xmlns:p14="http://schemas.microsoft.com/office/powerpoint/2010/main" val="6696703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2"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47</a:t>
            </a:fld>
            <a:endParaRPr spc="-25" dirty="0"/>
          </a:p>
        </p:txBody>
      </p:sp>
      <p:sp>
        <p:nvSpPr>
          <p:cNvPr id="12" name="object 12"/>
          <p:cNvSpPr txBox="1"/>
          <p:nvPr/>
        </p:nvSpPr>
        <p:spPr>
          <a:xfrm>
            <a:off x="798982" y="1977009"/>
            <a:ext cx="5373218" cy="259045"/>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555555"/>
                </a:solidFill>
                <a:latin typeface="Calibri"/>
                <a:cs typeface="Calibri"/>
              </a:rPr>
              <a:t>La</a:t>
            </a:r>
            <a:r>
              <a:rPr sz="1600" spc="-50" dirty="0">
                <a:solidFill>
                  <a:srgbClr val="555555"/>
                </a:solidFill>
                <a:latin typeface="Calibri"/>
                <a:cs typeface="Calibri"/>
              </a:rPr>
              <a:t> </a:t>
            </a:r>
            <a:r>
              <a:rPr sz="1600" spc="-10" dirty="0">
                <a:solidFill>
                  <a:srgbClr val="555555"/>
                </a:solidFill>
                <a:latin typeface="Calibri"/>
                <a:cs typeface="Calibri"/>
              </a:rPr>
              <a:t>Table</a:t>
            </a:r>
            <a:r>
              <a:rPr sz="1600" spc="-5" dirty="0">
                <a:solidFill>
                  <a:srgbClr val="555555"/>
                </a:solidFill>
                <a:latin typeface="Calibri"/>
                <a:cs typeface="Calibri"/>
              </a:rPr>
              <a:t> </a:t>
            </a:r>
            <a:r>
              <a:rPr sz="1600" dirty="0" smtClean="0">
                <a:solidFill>
                  <a:srgbClr val="555555"/>
                </a:solidFill>
                <a:latin typeface="Calibri"/>
                <a:cs typeface="Calibri"/>
              </a:rPr>
              <a:t>1</a:t>
            </a:r>
            <a:r>
              <a:rPr sz="1600" spc="-30" dirty="0" smtClean="0">
                <a:solidFill>
                  <a:srgbClr val="555555"/>
                </a:solidFill>
                <a:latin typeface="Calibri"/>
                <a:cs typeface="Calibri"/>
              </a:rPr>
              <a:t> </a:t>
            </a:r>
            <a:r>
              <a:rPr sz="1600" dirty="0">
                <a:solidFill>
                  <a:srgbClr val="555555"/>
                </a:solidFill>
                <a:latin typeface="Calibri"/>
                <a:cs typeface="Calibri"/>
              </a:rPr>
              <a:t>présente</a:t>
            </a:r>
            <a:r>
              <a:rPr sz="1600" spc="-20" dirty="0">
                <a:solidFill>
                  <a:srgbClr val="555555"/>
                </a:solidFill>
                <a:latin typeface="Calibri"/>
                <a:cs typeface="Calibri"/>
              </a:rPr>
              <a:t> </a:t>
            </a:r>
            <a:r>
              <a:rPr sz="1600" dirty="0">
                <a:solidFill>
                  <a:srgbClr val="555555"/>
                </a:solidFill>
                <a:latin typeface="Calibri"/>
                <a:cs typeface="Calibri"/>
              </a:rPr>
              <a:t>la</a:t>
            </a:r>
            <a:r>
              <a:rPr sz="1600" spc="-25" dirty="0">
                <a:solidFill>
                  <a:srgbClr val="555555"/>
                </a:solidFill>
                <a:latin typeface="Calibri"/>
                <a:cs typeface="Calibri"/>
              </a:rPr>
              <a:t> </a:t>
            </a:r>
            <a:r>
              <a:rPr sz="1600" dirty="0">
                <a:solidFill>
                  <a:srgbClr val="555555"/>
                </a:solidFill>
                <a:latin typeface="Calibri"/>
                <a:cs typeface="Calibri"/>
              </a:rPr>
              <a:t>commande</a:t>
            </a:r>
            <a:r>
              <a:rPr sz="1600" spc="-20" dirty="0">
                <a:solidFill>
                  <a:srgbClr val="555555"/>
                </a:solidFill>
                <a:latin typeface="Calibri"/>
                <a:cs typeface="Calibri"/>
              </a:rPr>
              <a:t> </a:t>
            </a:r>
            <a:r>
              <a:rPr sz="1600" b="1" spc="-25" dirty="0">
                <a:solidFill>
                  <a:srgbClr val="FF0000"/>
                </a:solidFill>
                <a:latin typeface="Calibri"/>
                <a:cs typeface="Calibri"/>
              </a:rPr>
              <a:t>Top</a:t>
            </a:r>
            <a:r>
              <a:rPr sz="1600" spc="-30" dirty="0">
                <a:solidFill>
                  <a:srgbClr val="555555"/>
                </a:solidFill>
                <a:latin typeface="Calibri"/>
                <a:cs typeface="Calibri"/>
              </a:rPr>
              <a:t> </a:t>
            </a:r>
            <a:r>
              <a:rPr sz="1600" dirty="0">
                <a:solidFill>
                  <a:srgbClr val="555555"/>
                </a:solidFill>
                <a:latin typeface="Calibri"/>
                <a:cs typeface="Calibri"/>
              </a:rPr>
              <a:t>et</a:t>
            </a:r>
            <a:r>
              <a:rPr sz="1600" spc="-45" dirty="0">
                <a:solidFill>
                  <a:srgbClr val="555555"/>
                </a:solidFill>
                <a:latin typeface="Calibri"/>
                <a:cs typeface="Calibri"/>
              </a:rPr>
              <a:t> </a:t>
            </a:r>
            <a:r>
              <a:rPr sz="1600" dirty="0">
                <a:solidFill>
                  <a:srgbClr val="555555"/>
                </a:solidFill>
                <a:latin typeface="Calibri"/>
                <a:cs typeface="Calibri"/>
              </a:rPr>
              <a:t>ses</a:t>
            </a:r>
            <a:r>
              <a:rPr sz="1600" spc="-35" dirty="0">
                <a:solidFill>
                  <a:srgbClr val="555555"/>
                </a:solidFill>
                <a:latin typeface="Calibri"/>
                <a:cs typeface="Calibri"/>
              </a:rPr>
              <a:t> </a:t>
            </a:r>
            <a:r>
              <a:rPr sz="1600" spc="-10" dirty="0">
                <a:solidFill>
                  <a:srgbClr val="555555"/>
                </a:solidFill>
                <a:latin typeface="Calibri"/>
                <a:cs typeface="Calibri"/>
              </a:rPr>
              <a:t>options</a:t>
            </a:r>
            <a:r>
              <a:rPr sz="1200" spc="-10" dirty="0">
                <a:solidFill>
                  <a:srgbClr val="555555"/>
                </a:solidFill>
                <a:latin typeface="Calibri"/>
                <a:cs typeface="Calibri"/>
              </a:rPr>
              <a:t>.</a:t>
            </a:r>
            <a:endParaRPr sz="1200" dirty="0">
              <a:latin typeface="Calibri"/>
              <a:cs typeface="Calibri"/>
            </a:endParaRPr>
          </a:p>
        </p:txBody>
      </p:sp>
      <p:graphicFrame>
        <p:nvGraphicFramePr>
          <p:cNvPr id="13" name="object 13"/>
          <p:cNvGraphicFramePr>
            <a:graphicFrameLocks noGrp="1"/>
          </p:cNvGraphicFramePr>
          <p:nvPr/>
        </p:nvGraphicFramePr>
        <p:xfrm>
          <a:off x="1454150" y="2559685"/>
          <a:ext cx="8883650" cy="1481455"/>
        </p:xfrm>
        <a:graphic>
          <a:graphicData uri="http://schemas.openxmlformats.org/drawingml/2006/table">
            <a:tbl>
              <a:tblPr firstRow="1" bandRow="1">
                <a:tableStyleId>{2D5ABB26-0587-4C30-8999-92F81FD0307C}</a:tableStyleId>
              </a:tblPr>
              <a:tblGrid>
                <a:gridCol w="4441825">
                  <a:extLst>
                    <a:ext uri="{9D8B030D-6E8A-4147-A177-3AD203B41FA5}">
                      <a16:colId xmlns:a16="http://schemas.microsoft.com/office/drawing/2014/main" val="20000"/>
                    </a:ext>
                  </a:extLst>
                </a:gridCol>
                <a:gridCol w="4441825">
                  <a:extLst>
                    <a:ext uri="{9D8B030D-6E8A-4147-A177-3AD203B41FA5}">
                      <a16:colId xmlns:a16="http://schemas.microsoft.com/office/drawing/2014/main" val="20001"/>
                    </a:ext>
                  </a:extLst>
                </a:gridCol>
              </a:tblGrid>
              <a:tr h="370205">
                <a:tc>
                  <a:txBody>
                    <a:bodyPr/>
                    <a:lstStyle/>
                    <a:p>
                      <a:pPr algn="ctr">
                        <a:lnSpc>
                          <a:spcPct val="100000"/>
                        </a:lnSpc>
                        <a:spcBef>
                          <a:spcPts val="295"/>
                        </a:spcBef>
                      </a:pPr>
                      <a:r>
                        <a:rPr sz="1200" b="1" spc="-10" dirty="0">
                          <a:latin typeface="Calibri"/>
                          <a:cs typeface="Calibri"/>
                        </a:rPr>
                        <a:t>Option</a:t>
                      </a:r>
                      <a:endParaRPr sz="1200">
                        <a:latin typeface="Calibri"/>
                        <a:cs typeface="Calibri"/>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445" algn="ctr">
                        <a:lnSpc>
                          <a:spcPct val="100000"/>
                        </a:lnSpc>
                        <a:spcBef>
                          <a:spcPts val="295"/>
                        </a:spcBef>
                      </a:pPr>
                      <a:r>
                        <a:rPr sz="1200" b="1" spc="-20" dirty="0">
                          <a:latin typeface="Calibri"/>
                          <a:cs typeface="Calibri"/>
                        </a:rPr>
                        <a:t>Rôle</a:t>
                      </a:r>
                      <a:endParaRPr sz="1200">
                        <a:latin typeface="Calibri"/>
                        <a:cs typeface="Calibri"/>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205">
                <a:tc>
                  <a:txBody>
                    <a:bodyPr/>
                    <a:lstStyle/>
                    <a:p>
                      <a:pPr marL="91440">
                        <a:lnSpc>
                          <a:spcPct val="100000"/>
                        </a:lnSpc>
                        <a:spcBef>
                          <a:spcPts val="295"/>
                        </a:spcBef>
                      </a:pPr>
                      <a:r>
                        <a:rPr sz="1200" dirty="0">
                          <a:latin typeface="Calibri"/>
                          <a:cs typeface="Calibri"/>
                        </a:rPr>
                        <a:t>Sans</a:t>
                      </a:r>
                      <a:r>
                        <a:rPr sz="1200" spc="-20" dirty="0">
                          <a:latin typeface="Calibri"/>
                          <a:cs typeface="Calibri"/>
                        </a:rPr>
                        <a:t> </a:t>
                      </a:r>
                      <a:r>
                        <a:rPr sz="1200" spc="-10" dirty="0">
                          <a:latin typeface="Calibri"/>
                          <a:cs typeface="Calibri"/>
                        </a:rPr>
                        <a:t>options</a:t>
                      </a:r>
                      <a:endParaRPr sz="1200">
                        <a:latin typeface="Calibri"/>
                        <a:cs typeface="Calibri"/>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295"/>
                        </a:spcBef>
                      </a:pPr>
                      <a:r>
                        <a:rPr sz="1200" spc="-20" dirty="0">
                          <a:latin typeface="Calibri"/>
                          <a:cs typeface="Calibri"/>
                        </a:rPr>
                        <a:t>Table </a:t>
                      </a:r>
                      <a:r>
                        <a:rPr sz="1200" dirty="0">
                          <a:latin typeface="Calibri"/>
                          <a:cs typeface="Calibri"/>
                        </a:rPr>
                        <a:t>des</a:t>
                      </a:r>
                      <a:r>
                        <a:rPr sz="1200" spc="-10" dirty="0">
                          <a:latin typeface="Calibri"/>
                          <a:cs typeface="Calibri"/>
                        </a:rPr>
                        <a:t> processus</a:t>
                      </a:r>
                      <a:r>
                        <a:rPr sz="1200" spc="-5" dirty="0">
                          <a:latin typeface="Calibri"/>
                          <a:cs typeface="Calibri"/>
                        </a:rPr>
                        <a:t> </a:t>
                      </a:r>
                      <a:r>
                        <a:rPr sz="1200" dirty="0">
                          <a:latin typeface="Calibri"/>
                          <a:cs typeface="Calibri"/>
                        </a:rPr>
                        <a:t>qui</a:t>
                      </a:r>
                      <a:r>
                        <a:rPr sz="1200" spc="-30" dirty="0">
                          <a:latin typeface="Calibri"/>
                          <a:cs typeface="Calibri"/>
                        </a:rPr>
                        <a:t> </a:t>
                      </a:r>
                      <a:r>
                        <a:rPr sz="1200" dirty="0">
                          <a:latin typeface="Calibri"/>
                          <a:cs typeface="Calibri"/>
                        </a:rPr>
                        <a:t>se</a:t>
                      </a:r>
                      <a:r>
                        <a:rPr sz="1200" spc="-35" dirty="0">
                          <a:latin typeface="Calibri"/>
                          <a:cs typeface="Calibri"/>
                        </a:rPr>
                        <a:t> </a:t>
                      </a:r>
                      <a:r>
                        <a:rPr sz="1200" dirty="0">
                          <a:latin typeface="Calibri"/>
                          <a:cs typeface="Calibri"/>
                        </a:rPr>
                        <a:t>met</a:t>
                      </a:r>
                      <a:r>
                        <a:rPr sz="1200" spc="-30" dirty="0">
                          <a:latin typeface="Calibri"/>
                          <a:cs typeface="Calibri"/>
                        </a:rPr>
                        <a:t> </a:t>
                      </a:r>
                      <a:r>
                        <a:rPr sz="1200" dirty="0">
                          <a:latin typeface="Calibri"/>
                          <a:cs typeface="Calibri"/>
                        </a:rPr>
                        <a:t>à</a:t>
                      </a:r>
                      <a:r>
                        <a:rPr sz="1200" spc="-20" dirty="0">
                          <a:latin typeface="Calibri"/>
                          <a:cs typeface="Calibri"/>
                        </a:rPr>
                        <a:t> </a:t>
                      </a:r>
                      <a:r>
                        <a:rPr sz="1200" dirty="0">
                          <a:latin typeface="Calibri"/>
                          <a:cs typeface="Calibri"/>
                        </a:rPr>
                        <a:t>jour</a:t>
                      </a:r>
                      <a:r>
                        <a:rPr sz="1200" spc="-25" dirty="0">
                          <a:latin typeface="Calibri"/>
                          <a:cs typeface="Calibri"/>
                        </a:rPr>
                        <a:t> </a:t>
                      </a:r>
                      <a:r>
                        <a:rPr sz="1200" dirty="0">
                          <a:latin typeface="Calibri"/>
                          <a:cs typeface="Calibri"/>
                        </a:rPr>
                        <a:t>d’une</a:t>
                      </a:r>
                      <a:r>
                        <a:rPr sz="1200" spc="-15" dirty="0">
                          <a:latin typeface="Calibri"/>
                          <a:cs typeface="Calibri"/>
                        </a:rPr>
                        <a:t> </a:t>
                      </a:r>
                      <a:r>
                        <a:rPr sz="1200" dirty="0">
                          <a:latin typeface="Calibri"/>
                          <a:cs typeface="Calibri"/>
                        </a:rPr>
                        <a:t>manière</a:t>
                      </a:r>
                      <a:r>
                        <a:rPr sz="1200" spc="-20" dirty="0">
                          <a:latin typeface="Calibri"/>
                          <a:cs typeface="Calibri"/>
                        </a:rPr>
                        <a:t> </a:t>
                      </a:r>
                      <a:r>
                        <a:rPr sz="1200" spc="-10" dirty="0">
                          <a:latin typeface="Calibri"/>
                          <a:cs typeface="Calibri"/>
                        </a:rPr>
                        <a:t>continuelle.</a:t>
                      </a:r>
                      <a:endParaRPr sz="1200">
                        <a:latin typeface="Calibri"/>
                        <a:cs typeface="Calibri"/>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840">
                <a:tc>
                  <a:txBody>
                    <a:bodyPr/>
                    <a:lstStyle/>
                    <a:p>
                      <a:pPr marL="91440">
                        <a:lnSpc>
                          <a:spcPct val="100000"/>
                        </a:lnSpc>
                        <a:spcBef>
                          <a:spcPts val="300"/>
                        </a:spcBef>
                      </a:pPr>
                      <a:r>
                        <a:rPr sz="1200" spc="-10" dirty="0">
                          <a:latin typeface="Calibri"/>
                          <a:cs typeface="Calibri"/>
                        </a:rPr>
                        <a:t>-</a:t>
                      </a:r>
                      <a:r>
                        <a:rPr sz="1200" spc="-60" dirty="0">
                          <a:latin typeface="Calibri"/>
                          <a:cs typeface="Calibri"/>
                        </a:rPr>
                        <a:t>d</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00"/>
                        </a:spcBef>
                      </a:pPr>
                      <a:r>
                        <a:rPr sz="1200" spc="-10" dirty="0">
                          <a:latin typeface="Calibri"/>
                          <a:cs typeface="Calibri"/>
                        </a:rPr>
                        <a:t>Configuration</a:t>
                      </a:r>
                      <a:r>
                        <a:rPr sz="1200" dirty="0">
                          <a:latin typeface="Calibri"/>
                          <a:cs typeface="Calibri"/>
                        </a:rPr>
                        <a:t> de</a:t>
                      </a:r>
                      <a:r>
                        <a:rPr sz="1200" spc="-10" dirty="0">
                          <a:latin typeface="Calibri"/>
                          <a:cs typeface="Calibri"/>
                        </a:rPr>
                        <a:t> </a:t>
                      </a:r>
                      <a:r>
                        <a:rPr sz="1200" dirty="0">
                          <a:latin typeface="Calibri"/>
                          <a:cs typeface="Calibri"/>
                        </a:rPr>
                        <a:t>délai</a:t>
                      </a:r>
                      <a:r>
                        <a:rPr sz="1200" spc="20" dirty="0">
                          <a:latin typeface="Calibri"/>
                          <a:cs typeface="Calibri"/>
                        </a:rPr>
                        <a:t> </a:t>
                      </a:r>
                      <a:r>
                        <a:rPr sz="1200" dirty="0">
                          <a:latin typeface="Calibri"/>
                          <a:cs typeface="Calibri"/>
                        </a:rPr>
                        <a:t>de</a:t>
                      </a:r>
                      <a:r>
                        <a:rPr sz="1200" spc="-5" dirty="0">
                          <a:latin typeface="Calibri"/>
                          <a:cs typeface="Calibri"/>
                        </a:rPr>
                        <a:t> </a:t>
                      </a:r>
                      <a:r>
                        <a:rPr sz="1200" spc="-10" dirty="0">
                          <a:latin typeface="Calibri"/>
                          <a:cs typeface="Calibri"/>
                        </a:rPr>
                        <a:t>rafraichissement.</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0205">
                <a:tc>
                  <a:txBody>
                    <a:bodyPr/>
                    <a:lstStyle/>
                    <a:p>
                      <a:pPr marL="91440">
                        <a:lnSpc>
                          <a:spcPct val="100000"/>
                        </a:lnSpc>
                        <a:spcBef>
                          <a:spcPts val="300"/>
                        </a:spcBef>
                      </a:pPr>
                      <a:r>
                        <a:rPr sz="1200" spc="-10" dirty="0">
                          <a:latin typeface="Calibri"/>
                          <a:cs typeface="Calibri"/>
                        </a:rPr>
                        <a:t>-</a:t>
                      </a:r>
                      <a:r>
                        <a:rPr sz="1200" spc="-60" dirty="0">
                          <a:latin typeface="Calibri"/>
                          <a:cs typeface="Calibri"/>
                        </a:rPr>
                        <a:t>n</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00"/>
                        </a:spcBef>
                      </a:pPr>
                      <a:r>
                        <a:rPr sz="1200" dirty="0">
                          <a:latin typeface="Calibri"/>
                          <a:cs typeface="Calibri"/>
                        </a:rPr>
                        <a:t>Affichage</a:t>
                      </a:r>
                      <a:r>
                        <a:rPr sz="1200" spc="-55" dirty="0">
                          <a:latin typeface="Calibri"/>
                          <a:cs typeface="Calibri"/>
                        </a:rPr>
                        <a:t> </a:t>
                      </a:r>
                      <a:r>
                        <a:rPr sz="1200" dirty="0">
                          <a:latin typeface="Calibri"/>
                          <a:cs typeface="Calibri"/>
                        </a:rPr>
                        <a:t>des</a:t>
                      </a:r>
                      <a:r>
                        <a:rPr sz="1200" spc="-50" dirty="0">
                          <a:latin typeface="Calibri"/>
                          <a:cs typeface="Calibri"/>
                        </a:rPr>
                        <a:t> </a:t>
                      </a:r>
                      <a:r>
                        <a:rPr sz="1200" dirty="0">
                          <a:latin typeface="Calibri"/>
                          <a:cs typeface="Calibri"/>
                        </a:rPr>
                        <a:t>processus</a:t>
                      </a:r>
                      <a:r>
                        <a:rPr sz="1200" spc="-15" dirty="0">
                          <a:latin typeface="Calibri"/>
                          <a:cs typeface="Calibri"/>
                        </a:rPr>
                        <a:t> </a:t>
                      </a:r>
                      <a:r>
                        <a:rPr sz="1200" dirty="0">
                          <a:latin typeface="Calibri"/>
                          <a:cs typeface="Calibri"/>
                        </a:rPr>
                        <a:t>en</a:t>
                      </a:r>
                      <a:r>
                        <a:rPr sz="1200" spc="-65" dirty="0">
                          <a:latin typeface="Calibri"/>
                          <a:cs typeface="Calibri"/>
                        </a:rPr>
                        <a:t> </a:t>
                      </a:r>
                      <a:r>
                        <a:rPr sz="1200" dirty="0">
                          <a:latin typeface="Calibri"/>
                          <a:cs typeface="Calibri"/>
                        </a:rPr>
                        <a:t>arrière</a:t>
                      </a:r>
                      <a:r>
                        <a:rPr sz="1200" spc="-15" dirty="0">
                          <a:latin typeface="Calibri"/>
                          <a:cs typeface="Calibri"/>
                        </a:rPr>
                        <a:t> </a:t>
                      </a:r>
                      <a:r>
                        <a:rPr sz="1200" spc="-20" dirty="0">
                          <a:latin typeface="Calibri"/>
                          <a:cs typeface="Calibri"/>
                        </a:rPr>
                        <a:t>plan.</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14" name="object 14"/>
          <p:cNvSpPr txBox="1"/>
          <p:nvPr/>
        </p:nvSpPr>
        <p:spPr>
          <a:xfrm>
            <a:off x="4800688" y="4159718"/>
            <a:ext cx="2520315" cy="197490"/>
          </a:xfrm>
          <a:prstGeom prst="rect">
            <a:avLst/>
          </a:prstGeom>
        </p:spPr>
        <p:txBody>
          <a:bodyPr vert="horz" wrap="square" lIns="0" tIns="12700" rIns="0" bIns="0" rtlCol="0">
            <a:spAutoFit/>
          </a:bodyPr>
          <a:lstStyle/>
          <a:p>
            <a:pPr marL="12700">
              <a:lnSpc>
                <a:spcPct val="100000"/>
              </a:lnSpc>
              <a:spcBef>
                <a:spcPts val="100"/>
              </a:spcBef>
            </a:pPr>
            <a:r>
              <a:rPr sz="1200" i="1" dirty="0">
                <a:solidFill>
                  <a:srgbClr val="A6A6A6"/>
                </a:solidFill>
                <a:latin typeface="Calibri"/>
                <a:cs typeface="Calibri"/>
              </a:rPr>
              <a:t>Table</a:t>
            </a:r>
            <a:r>
              <a:rPr sz="1200" i="1" spc="225" dirty="0">
                <a:solidFill>
                  <a:srgbClr val="A6A6A6"/>
                </a:solidFill>
                <a:latin typeface="Calibri"/>
                <a:cs typeface="Calibri"/>
              </a:rPr>
              <a:t> </a:t>
            </a:r>
            <a:r>
              <a:rPr sz="1200" i="1" dirty="0" smtClean="0">
                <a:solidFill>
                  <a:srgbClr val="A6A6A6"/>
                </a:solidFill>
                <a:latin typeface="Calibri"/>
                <a:cs typeface="Calibri"/>
              </a:rPr>
              <a:t>1</a:t>
            </a:r>
            <a:r>
              <a:rPr sz="1200" i="1" spc="-20" dirty="0" smtClean="0">
                <a:solidFill>
                  <a:srgbClr val="A6A6A6"/>
                </a:solidFill>
                <a:latin typeface="Calibri"/>
                <a:cs typeface="Calibri"/>
              </a:rPr>
              <a:t> </a:t>
            </a:r>
            <a:r>
              <a:rPr sz="1200" i="1" dirty="0">
                <a:solidFill>
                  <a:srgbClr val="A6A6A6"/>
                </a:solidFill>
                <a:latin typeface="Calibri"/>
                <a:cs typeface="Calibri"/>
              </a:rPr>
              <a:t>:</a:t>
            </a:r>
            <a:r>
              <a:rPr sz="1200" i="1" spc="-20" dirty="0">
                <a:solidFill>
                  <a:srgbClr val="A6A6A6"/>
                </a:solidFill>
                <a:latin typeface="Calibri"/>
                <a:cs typeface="Calibri"/>
              </a:rPr>
              <a:t> </a:t>
            </a:r>
            <a:r>
              <a:rPr sz="1200" i="1" dirty="0">
                <a:solidFill>
                  <a:srgbClr val="A6A6A6"/>
                </a:solidFill>
                <a:latin typeface="Calibri"/>
                <a:cs typeface="Calibri"/>
              </a:rPr>
              <a:t>Commande</a:t>
            </a:r>
            <a:r>
              <a:rPr sz="1200" i="1" spc="-65" dirty="0">
                <a:solidFill>
                  <a:srgbClr val="A6A6A6"/>
                </a:solidFill>
                <a:latin typeface="Calibri"/>
                <a:cs typeface="Calibri"/>
              </a:rPr>
              <a:t> </a:t>
            </a:r>
            <a:r>
              <a:rPr sz="1200" i="1" spc="-30" dirty="0">
                <a:solidFill>
                  <a:srgbClr val="A6A6A6"/>
                </a:solidFill>
                <a:latin typeface="Calibri"/>
                <a:cs typeface="Calibri"/>
              </a:rPr>
              <a:t>Top </a:t>
            </a:r>
            <a:r>
              <a:rPr sz="1200" i="1" dirty="0">
                <a:solidFill>
                  <a:srgbClr val="A6A6A6"/>
                </a:solidFill>
                <a:latin typeface="Calibri"/>
                <a:cs typeface="Calibri"/>
              </a:rPr>
              <a:t>et</a:t>
            </a:r>
            <a:r>
              <a:rPr sz="1200" i="1" spc="-50" dirty="0">
                <a:solidFill>
                  <a:srgbClr val="A6A6A6"/>
                </a:solidFill>
                <a:latin typeface="Calibri"/>
                <a:cs typeface="Calibri"/>
              </a:rPr>
              <a:t> </a:t>
            </a:r>
            <a:r>
              <a:rPr sz="1200" i="1" dirty="0">
                <a:solidFill>
                  <a:srgbClr val="A6A6A6"/>
                </a:solidFill>
                <a:latin typeface="Calibri"/>
                <a:cs typeface="Calibri"/>
              </a:rPr>
              <a:t>ses</a:t>
            </a:r>
            <a:r>
              <a:rPr sz="1200" i="1" spc="-20" dirty="0">
                <a:solidFill>
                  <a:srgbClr val="A6A6A6"/>
                </a:solidFill>
                <a:latin typeface="Calibri"/>
                <a:cs typeface="Calibri"/>
              </a:rPr>
              <a:t> </a:t>
            </a:r>
            <a:r>
              <a:rPr sz="1200" i="1" spc="-10" dirty="0">
                <a:solidFill>
                  <a:srgbClr val="A6A6A6"/>
                </a:solidFill>
                <a:latin typeface="Calibri"/>
                <a:cs typeface="Calibri"/>
              </a:rPr>
              <a:t>options</a:t>
            </a:r>
            <a:endParaRPr sz="1200" dirty="0">
              <a:latin typeface="Calibri"/>
              <a:cs typeface="Calibri"/>
            </a:endParaRPr>
          </a:p>
        </p:txBody>
      </p:sp>
      <p:sp>
        <p:nvSpPr>
          <p:cNvPr id="18" name="object 11"/>
          <p:cNvSpPr txBox="1">
            <a:spLocks noGrp="1"/>
          </p:cNvSpPr>
          <p:nvPr>
            <p:ph type="title"/>
          </p:nvPr>
        </p:nvSpPr>
        <p:spPr>
          <a:xfrm>
            <a:off x="228600" y="304800"/>
            <a:ext cx="11664492" cy="699089"/>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a:p>
            <a:pPr marL="6985">
              <a:lnSpc>
                <a:spcPct val="100000"/>
              </a:lnSpc>
              <a:spcBef>
                <a:spcPts val="10"/>
              </a:spcBef>
            </a:pPr>
            <a:r>
              <a:rPr lang="fr-FR" sz="1600" spc="-10" dirty="0" smtClean="0">
                <a:solidFill>
                  <a:srgbClr val="0058A0"/>
                </a:solidFill>
              </a:rPr>
              <a:t>Gestion des processus sous Linux</a:t>
            </a:r>
            <a:endParaRPr sz="1600" dirty="0"/>
          </a:p>
        </p:txBody>
      </p:sp>
      <p:sp>
        <p:nvSpPr>
          <p:cNvPr id="19"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Tree>
    <p:extLst>
      <p:ext uri="{BB962C8B-B14F-4D97-AF65-F5344CB8AC3E}">
        <p14:creationId xmlns:p14="http://schemas.microsoft.com/office/powerpoint/2010/main" val="40911874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2"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48</a:t>
            </a:fld>
            <a:endParaRPr spc="-25" dirty="0"/>
          </a:p>
        </p:txBody>
      </p:sp>
      <p:sp>
        <p:nvSpPr>
          <p:cNvPr id="12" name="object 12"/>
          <p:cNvSpPr txBox="1"/>
          <p:nvPr/>
        </p:nvSpPr>
        <p:spPr>
          <a:xfrm>
            <a:off x="732650" y="1555477"/>
            <a:ext cx="11112767" cy="4814138"/>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555555"/>
                </a:solidFill>
                <a:latin typeface="Calibri"/>
                <a:cs typeface="Calibri"/>
              </a:rPr>
              <a:t>Linux</a:t>
            </a:r>
            <a:r>
              <a:rPr sz="1600" spc="-10" dirty="0">
                <a:solidFill>
                  <a:srgbClr val="555555"/>
                </a:solidFill>
                <a:latin typeface="Calibri"/>
                <a:cs typeface="Calibri"/>
              </a:rPr>
              <a:t> </a:t>
            </a:r>
            <a:r>
              <a:rPr sz="1600" dirty="0">
                <a:solidFill>
                  <a:srgbClr val="555555"/>
                </a:solidFill>
                <a:latin typeface="Calibri"/>
                <a:cs typeface="Calibri"/>
              </a:rPr>
              <a:t>nous permet</a:t>
            </a:r>
            <a:r>
              <a:rPr sz="1600" spc="-35" dirty="0">
                <a:solidFill>
                  <a:srgbClr val="555555"/>
                </a:solidFill>
                <a:latin typeface="Calibri"/>
                <a:cs typeface="Calibri"/>
              </a:rPr>
              <a:t> </a:t>
            </a:r>
            <a:r>
              <a:rPr sz="1600" dirty="0">
                <a:solidFill>
                  <a:srgbClr val="555555"/>
                </a:solidFill>
                <a:latin typeface="Calibri"/>
                <a:cs typeface="Calibri"/>
              </a:rPr>
              <a:t>la</a:t>
            </a:r>
            <a:r>
              <a:rPr sz="1600" spc="-10" dirty="0">
                <a:solidFill>
                  <a:srgbClr val="555555"/>
                </a:solidFill>
                <a:latin typeface="Calibri"/>
                <a:cs typeface="Calibri"/>
              </a:rPr>
              <a:t> </a:t>
            </a:r>
            <a:r>
              <a:rPr sz="1600" dirty="0">
                <a:solidFill>
                  <a:srgbClr val="555555"/>
                </a:solidFill>
                <a:latin typeface="Calibri"/>
                <a:cs typeface="Calibri"/>
              </a:rPr>
              <a:t>définition</a:t>
            </a:r>
            <a:r>
              <a:rPr sz="1600" spc="10" dirty="0">
                <a:solidFill>
                  <a:srgbClr val="555555"/>
                </a:solidFill>
                <a:latin typeface="Calibri"/>
                <a:cs typeface="Calibri"/>
              </a:rPr>
              <a:t> </a:t>
            </a:r>
            <a:r>
              <a:rPr sz="1600" dirty="0">
                <a:solidFill>
                  <a:srgbClr val="555555"/>
                </a:solidFill>
                <a:latin typeface="Calibri"/>
                <a:cs typeface="Calibri"/>
              </a:rPr>
              <a:t>de</a:t>
            </a:r>
            <a:r>
              <a:rPr sz="1600" spc="-35" dirty="0">
                <a:solidFill>
                  <a:srgbClr val="555555"/>
                </a:solidFill>
                <a:latin typeface="Calibri"/>
                <a:cs typeface="Calibri"/>
              </a:rPr>
              <a:t> </a:t>
            </a:r>
            <a:r>
              <a:rPr sz="1600" dirty="0">
                <a:solidFill>
                  <a:srgbClr val="555555"/>
                </a:solidFill>
                <a:latin typeface="Calibri"/>
                <a:cs typeface="Calibri"/>
              </a:rPr>
              <a:t>la</a:t>
            </a:r>
            <a:r>
              <a:rPr sz="1600" spc="-10" dirty="0">
                <a:solidFill>
                  <a:srgbClr val="555555"/>
                </a:solidFill>
                <a:latin typeface="Calibri"/>
                <a:cs typeface="Calibri"/>
              </a:rPr>
              <a:t> </a:t>
            </a:r>
            <a:r>
              <a:rPr sz="1600" dirty="0">
                <a:solidFill>
                  <a:srgbClr val="555555"/>
                </a:solidFill>
                <a:latin typeface="Calibri"/>
                <a:cs typeface="Calibri"/>
              </a:rPr>
              <a:t>priorité</a:t>
            </a:r>
            <a:r>
              <a:rPr sz="1600" spc="15" dirty="0">
                <a:solidFill>
                  <a:srgbClr val="555555"/>
                </a:solidFill>
                <a:latin typeface="Calibri"/>
                <a:cs typeface="Calibri"/>
              </a:rPr>
              <a:t> </a:t>
            </a:r>
            <a:r>
              <a:rPr sz="1600" dirty="0">
                <a:solidFill>
                  <a:srgbClr val="555555"/>
                </a:solidFill>
                <a:latin typeface="Calibri"/>
                <a:cs typeface="Calibri"/>
              </a:rPr>
              <a:t>à</a:t>
            </a:r>
            <a:r>
              <a:rPr sz="1600" spc="-10" dirty="0">
                <a:solidFill>
                  <a:srgbClr val="555555"/>
                </a:solidFill>
                <a:latin typeface="Calibri"/>
                <a:cs typeface="Calibri"/>
              </a:rPr>
              <a:t> </a:t>
            </a:r>
            <a:r>
              <a:rPr sz="1600" dirty="0">
                <a:solidFill>
                  <a:srgbClr val="555555"/>
                </a:solidFill>
                <a:latin typeface="Calibri"/>
                <a:cs typeface="Calibri"/>
              </a:rPr>
              <a:t>chaque</a:t>
            </a:r>
            <a:r>
              <a:rPr sz="1600" spc="-10" dirty="0">
                <a:solidFill>
                  <a:srgbClr val="555555"/>
                </a:solidFill>
                <a:latin typeface="Calibri"/>
                <a:cs typeface="Calibri"/>
              </a:rPr>
              <a:t> processus,</a:t>
            </a:r>
            <a:r>
              <a:rPr sz="1600" spc="-15" dirty="0">
                <a:solidFill>
                  <a:srgbClr val="555555"/>
                </a:solidFill>
                <a:latin typeface="Calibri"/>
                <a:cs typeface="Calibri"/>
              </a:rPr>
              <a:t> </a:t>
            </a:r>
            <a:r>
              <a:rPr sz="1600" dirty="0">
                <a:solidFill>
                  <a:srgbClr val="555555"/>
                </a:solidFill>
                <a:latin typeface="Calibri"/>
                <a:cs typeface="Calibri"/>
              </a:rPr>
              <a:t>et</a:t>
            </a:r>
            <a:r>
              <a:rPr sz="1600" spc="-25" dirty="0">
                <a:solidFill>
                  <a:srgbClr val="555555"/>
                </a:solidFill>
                <a:latin typeface="Calibri"/>
                <a:cs typeface="Calibri"/>
              </a:rPr>
              <a:t> </a:t>
            </a:r>
            <a:r>
              <a:rPr sz="1600" dirty="0">
                <a:solidFill>
                  <a:srgbClr val="555555"/>
                </a:solidFill>
                <a:latin typeface="Calibri"/>
                <a:cs typeface="Calibri"/>
              </a:rPr>
              <a:t>permet</a:t>
            </a:r>
            <a:r>
              <a:rPr sz="1600" spc="-25" dirty="0">
                <a:solidFill>
                  <a:srgbClr val="555555"/>
                </a:solidFill>
                <a:latin typeface="Calibri"/>
                <a:cs typeface="Calibri"/>
              </a:rPr>
              <a:t> </a:t>
            </a:r>
            <a:r>
              <a:rPr sz="1600" dirty="0">
                <a:solidFill>
                  <a:srgbClr val="555555"/>
                </a:solidFill>
                <a:latin typeface="Calibri"/>
                <a:cs typeface="Calibri"/>
              </a:rPr>
              <a:t>sa</a:t>
            </a:r>
            <a:r>
              <a:rPr sz="1600" spc="-10" dirty="0">
                <a:solidFill>
                  <a:srgbClr val="555555"/>
                </a:solidFill>
                <a:latin typeface="Calibri"/>
                <a:cs typeface="Calibri"/>
              </a:rPr>
              <a:t> modification</a:t>
            </a:r>
            <a:r>
              <a:rPr sz="1600" spc="5" dirty="0">
                <a:solidFill>
                  <a:srgbClr val="555555"/>
                </a:solidFill>
                <a:latin typeface="Calibri"/>
                <a:cs typeface="Calibri"/>
              </a:rPr>
              <a:t> </a:t>
            </a:r>
            <a:r>
              <a:rPr sz="1600" dirty="0">
                <a:solidFill>
                  <a:srgbClr val="555555"/>
                </a:solidFill>
                <a:latin typeface="Calibri"/>
                <a:cs typeface="Calibri"/>
              </a:rPr>
              <a:t>à</a:t>
            </a:r>
            <a:r>
              <a:rPr sz="1600" spc="-30" dirty="0">
                <a:solidFill>
                  <a:srgbClr val="555555"/>
                </a:solidFill>
                <a:latin typeface="Calibri"/>
                <a:cs typeface="Calibri"/>
              </a:rPr>
              <a:t> </a:t>
            </a:r>
            <a:r>
              <a:rPr sz="1600" spc="-10" dirty="0">
                <a:solidFill>
                  <a:srgbClr val="555555"/>
                </a:solidFill>
                <a:latin typeface="Calibri"/>
                <a:cs typeface="Calibri"/>
              </a:rPr>
              <a:t>l’aide</a:t>
            </a:r>
            <a:r>
              <a:rPr sz="1600" spc="30" dirty="0">
                <a:solidFill>
                  <a:srgbClr val="555555"/>
                </a:solidFill>
                <a:latin typeface="Calibri"/>
                <a:cs typeface="Calibri"/>
              </a:rPr>
              <a:t> </a:t>
            </a:r>
            <a:r>
              <a:rPr sz="1600" dirty="0">
                <a:solidFill>
                  <a:srgbClr val="555555"/>
                </a:solidFill>
                <a:latin typeface="Calibri"/>
                <a:cs typeface="Calibri"/>
              </a:rPr>
              <a:t>de</a:t>
            </a:r>
            <a:r>
              <a:rPr sz="1600" spc="-35" dirty="0">
                <a:solidFill>
                  <a:srgbClr val="555555"/>
                </a:solidFill>
                <a:latin typeface="Calibri"/>
                <a:cs typeface="Calibri"/>
              </a:rPr>
              <a:t> </a:t>
            </a:r>
            <a:r>
              <a:rPr sz="1600" dirty="0">
                <a:solidFill>
                  <a:srgbClr val="555555"/>
                </a:solidFill>
                <a:latin typeface="Calibri"/>
                <a:cs typeface="Calibri"/>
              </a:rPr>
              <a:t>la</a:t>
            </a:r>
            <a:r>
              <a:rPr sz="1600" spc="-10" dirty="0">
                <a:solidFill>
                  <a:srgbClr val="555555"/>
                </a:solidFill>
                <a:latin typeface="Calibri"/>
                <a:cs typeface="Calibri"/>
              </a:rPr>
              <a:t> </a:t>
            </a:r>
            <a:r>
              <a:rPr sz="1600" dirty="0">
                <a:solidFill>
                  <a:srgbClr val="555555"/>
                </a:solidFill>
                <a:latin typeface="Calibri"/>
                <a:cs typeface="Calibri"/>
              </a:rPr>
              <a:t>commande</a:t>
            </a:r>
            <a:r>
              <a:rPr sz="1600" spc="-5" dirty="0">
                <a:solidFill>
                  <a:srgbClr val="555555"/>
                </a:solidFill>
                <a:latin typeface="Calibri"/>
                <a:cs typeface="Calibri"/>
              </a:rPr>
              <a:t> </a:t>
            </a:r>
            <a:r>
              <a:rPr sz="1600" b="1" dirty="0">
                <a:solidFill>
                  <a:srgbClr val="0058A0"/>
                </a:solidFill>
                <a:latin typeface="Calibri"/>
                <a:cs typeface="Calibri"/>
              </a:rPr>
              <a:t>nice</a:t>
            </a:r>
            <a:r>
              <a:rPr sz="1600" b="1" spc="-15" dirty="0">
                <a:solidFill>
                  <a:srgbClr val="0058A0"/>
                </a:solidFill>
                <a:latin typeface="Calibri"/>
                <a:cs typeface="Calibri"/>
              </a:rPr>
              <a:t> </a:t>
            </a:r>
            <a:r>
              <a:rPr sz="1600" dirty="0">
                <a:solidFill>
                  <a:srgbClr val="555555"/>
                </a:solidFill>
                <a:latin typeface="Calibri"/>
                <a:cs typeface="Calibri"/>
              </a:rPr>
              <a:t>et</a:t>
            </a:r>
            <a:r>
              <a:rPr sz="1600" spc="-30" dirty="0">
                <a:solidFill>
                  <a:srgbClr val="555555"/>
                </a:solidFill>
                <a:latin typeface="Calibri"/>
                <a:cs typeface="Calibri"/>
              </a:rPr>
              <a:t> </a:t>
            </a:r>
            <a:r>
              <a:rPr sz="1600" b="1" spc="-10" dirty="0">
                <a:solidFill>
                  <a:srgbClr val="0058A0"/>
                </a:solidFill>
                <a:latin typeface="Calibri"/>
                <a:cs typeface="Calibri"/>
              </a:rPr>
              <a:t>renice</a:t>
            </a:r>
            <a:r>
              <a:rPr sz="1600" spc="-10" dirty="0">
                <a:solidFill>
                  <a:srgbClr val="0058A0"/>
                </a:solidFill>
                <a:latin typeface="Calibri"/>
                <a:cs typeface="Calibri"/>
              </a:rPr>
              <a:t>.</a:t>
            </a:r>
            <a:endParaRPr sz="1600" dirty="0">
              <a:latin typeface="Calibri"/>
              <a:cs typeface="Calibri"/>
            </a:endParaRPr>
          </a:p>
          <a:p>
            <a:pPr>
              <a:lnSpc>
                <a:spcPct val="100000"/>
              </a:lnSpc>
              <a:spcBef>
                <a:spcPts val="580"/>
              </a:spcBef>
            </a:pPr>
            <a:endParaRPr sz="1600" dirty="0">
              <a:latin typeface="Calibri"/>
              <a:cs typeface="Calibri"/>
            </a:endParaRPr>
          </a:p>
          <a:p>
            <a:pPr marL="298450" indent="-285750">
              <a:lnSpc>
                <a:spcPct val="100000"/>
              </a:lnSpc>
              <a:buFont typeface="Wingdings" panose="05000000000000000000" pitchFamily="2" charset="2"/>
              <a:buChar char="§"/>
            </a:pPr>
            <a:r>
              <a:rPr sz="1600" dirty="0">
                <a:solidFill>
                  <a:srgbClr val="555555"/>
                </a:solidFill>
                <a:latin typeface="Calibri"/>
                <a:cs typeface="Calibri"/>
              </a:rPr>
              <a:t>Modification</a:t>
            </a:r>
            <a:r>
              <a:rPr sz="1600" spc="-20" dirty="0">
                <a:solidFill>
                  <a:srgbClr val="555555"/>
                </a:solidFill>
                <a:latin typeface="Calibri"/>
                <a:cs typeface="Calibri"/>
              </a:rPr>
              <a:t> </a:t>
            </a:r>
            <a:r>
              <a:rPr sz="1600" dirty="0">
                <a:solidFill>
                  <a:srgbClr val="555555"/>
                </a:solidFill>
                <a:latin typeface="Calibri"/>
                <a:cs typeface="Calibri"/>
              </a:rPr>
              <a:t>de</a:t>
            </a:r>
            <a:r>
              <a:rPr sz="1600" spc="-55" dirty="0">
                <a:solidFill>
                  <a:srgbClr val="555555"/>
                </a:solidFill>
                <a:latin typeface="Calibri"/>
                <a:cs typeface="Calibri"/>
              </a:rPr>
              <a:t> </a:t>
            </a:r>
            <a:r>
              <a:rPr sz="1600" dirty="0">
                <a:solidFill>
                  <a:srgbClr val="555555"/>
                </a:solidFill>
                <a:latin typeface="Calibri"/>
                <a:cs typeface="Calibri"/>
              </a:rPr>
              <a:t>la</a:t>
            </a:r>
            <a:r>
              <a:rPr sz="1600" spc="-30" dirty="0">
                <a:solidFill>
                  <a:srgbClr val="555555"/>
                </a:solidFill>
                <a:latin typeface="Calibri"/>
                <a:cs typeface="Calibri"/>
              </a:rPr>
              <a:t> </a:t>
            </a:r>
            <a:r>
              <a:rPr sz="1600" dirty="0">
                <a:solidFill>
                  <a:srgbClr val="555555"/>
                </a:solidFill>
                <a:latin typeface="Calibri"/>
                <a:cs typeface="Calibri"/>
              </a:rPr>
              <a:t>priorité</a:t>
            </a:r>
            <a:r>
              <a:rPr sz="1600" spc="5" dirty="0">
                <a:solidFill>
                  <a:srgbClr val="555555"/>
                </a:solidFill>
                <a:latin typeface="Calibri"/>
                <a:cs typeface="Calibri"/>
              </a:rPr>
              <a:t> </a:t>
            </a:r>
            <a:r>
              <a:rPr sz="1600" dirty="0">
                <a:solidFill>
                  <a:srgbClr val="555555"/>
                </a:solidFill>
                <a:latin typeface="Calibri"/>
                <a:cs typeface="Calibri"/>
              </a:rPr>
              <a:t>:</a:t>
            </a:r>
            <a:r>
              <a:rPr sz="1600" spc="-40" dirty="0">
                <a:solidFill>
                  <a:srgbClr val="555555"/>
                </a:solidFill>
                <a:latin typeface="Calibri"/>
                <a:cs typeface="Calibri"/>
              </a:rPr>
              <a:t> </a:t>
            </a:r>
            <a:r>
              <a:rPr sz="1600" dirty="0">
                <a:solidFill>
                  <a:srgbClr val="555555"/>
                </a:solidFill>
                <a:latin typeface="Calibri"/>
                <a:cs typeface="Calibri"/>
              </a:rPr>
              <a:t>commande</a:t>
            </a:r>
            <a:r>
              <a:rPr sz="1600" spc="-30" dirty="0">
                <a:solidFill>
                  <a:srgbClr val="555555"/>
                </a:solidFill>
                <a:latin typeface="Calibri"/>
                <a:cs typeface="Calibri"/>
              </a:rPr>
              <a:t> </a:t>
            </a:r>
            <a:r>
              <a:rPr sz="1600" b="1" spc="-20" dirty="0">
                <a:solidFill>
                  <a:srgbClr val="C00000"/>
                </a:solidFill>
                <a:latin typeface="Calibri"/>
                <a:cs typeface="Calibri"/>
              </a:rPr>
              <a:t>nice</a:t>
            </a:r>
            <a:endParaRPr sz="1600" dirty="0">
              <a:latin typeface="Calibri"/>
              <a:cs typeface="Calibri"/>
            </a:endParaRPr>
          </a:p>
          <a:p>
            <a:pPr>
              <a:lnSpc>
                <a:spcPct val="100000"/>
              </a:lnSpc>
              <a:spcBef>
                <a:spcPts val="575"/>
              </a:spcBef>
            </a:pPr>
            <a:endParaRPr sz="1600" dirty="0">
              <a:latin typeface="Calibri"/>
              <a:cs typeface="Calibri"/>
            </a:endParaRPr>
          </a:p>
          <a:p>
            <a:pPr marL="356870" indent="-255904">
              <a:lnSpc>
                <a:spcPct val="100000"/>
              </a:lnSpc>
              <a:buSzPct val="87500"/>
              <a:buFont typeface="Courier New"/>
              <a:buChar char="o"/>
              <a:tabLst>
                <a:tab pos="356870" algn="l"/>
              </a:tabLst>
            </a:pPr>
            <a:r>
              <a:rPr sz="1600" spc="-10" dirty="0">
                <a:solidFill>
                  <a:srgbClr val="555555"/>
                </a:solidFill>
                <a:latin typeface="Calibri"/>
                <a:cs typeface="Calibri"/>
              </a:rPr>
              <a:t>Valeur</a:t>
            </a:r>
            <a:r>
              <a:rPr sz="1600" spc="-50" dirty="0">
                <a:solidFill>
                  <a:srgbClr val="555555"/>
                </a:solidFill>
                <a:latin typeface="Calibri"/>
                <a:cs typeface="Calibri"/>
              </a:rPr>
              <a:t> </a:t>
            </a:r>
            <a:r>
              <a:rPr sz="1600" dirty="0">
                <a:solidFill>
                  <a:srgbClr val="555555"/>
                </a:solidFill>
                <a:latin typeface="Calibri"/>
                <a:cs typeface="Calibri"/>
              </a:rPr>
              <a:t>de</a:t>
            </a:r>
            <a:r>
              <a:rPr sz="1600" spc="-25" dirty="0">
                <a:solidFill>
                  <a:srgbClr val="555555"/>
                </a:solidFill>
                <a:latin typeface="Calibri"/>
                <a:cs typeface="Calibri"/>
              </a:rPr>
              <a:t> </a:t>
            </a:r>
            <a:r>
              <a:rPr sz="1600" dirty="0">
                <a:solidFill>
                  <a:srgbClr val="555555"/>
                </a:solidFill>
                <a:latin typeface="Calibri"/>
                <a:cs typeface="Calibri"/>
              </a:rPr>
              <a:t>la</a:t>
            </a:r>
            <a:r>
              <a:rPr sz="1600" spc="-30" dirty="0">
                <a:solidFill>
                  <a:srgbClr val="555555"/>
                </a:solidFill>
                <a:latin typeface="Calibri"/>
                <a:cs typeface="Calibri"/>
              </a:rPr>
              <a:t> </a:t>
            </a:r>
            <a:r>
              <a:rPr sz="1600" dirty="0">
                <a:solidFill>
                  <a:srgbClr val="555555"/>
                </a:solidFill>
                <a:latin typeface="Calibri"/>
                <a:cs typeface="Calibri"/>
              </a:rPr>
              <a:t>priorité</a:t>
            </a:r>
            <a:r>
              <a:rPr sz="1600" spc="-5" dirty="0">
                <a:solidFill>
                  <a:srgbClr val="555555"/>
                </a:solidFill>
                <a:latin typeface="Calibri"/>
                <a:cs typeface="Calibri"/>
              </a:rPr>
              <a:t> </a:t>
            </a:r>
            <a:r>
              <a:rPr sz="1600" spc="-50" dirty="0">
                <a:solidFill>
                  <a:srgbClr val="555555"/>
                </a:solidFill>
                <a:latin typeface="Calibri"/>
                <a:cs typeface="Calibri"/>
              </a:rPr>
              <a:t>:</a:t>
            </a:r>
            <a:endParaRPr sz="1600" dirty="0">
              <a:latin typeface="Calibri"/>
              <a:cs typeface="Calibri"/>
            </a:endParaRPr>
          </a:p>
          <a:p>
            <a:pPr>
              <a:lnSpc>
                <a:spcPct val="100000"/>
              </a:lnSpc>
              <a:spcBef>
                <a:spcPts val="575"/>
              </a:spcBef>
              <a:buClr>
                <a:srgbClr val="555555"/>
              </a:buClr>
              <a:buFont typeface="Courier New"/>
              <a:buChar char="o"/>
            </a:pPr>
            <a:endParaRPr sz="1600" dirty="0">
              <a:latin typeface="Calibri"/>
              <a:cs typeface="Calibri"/>
            </a:endParaRPr>
          </a:p>
          <a:p>
            <a:pPr marL="1013460" lvl="1" indent="-168910">
              <a:lnSpc>
                <a:spcPct val="100000"/>
              </a:lnSpc>
              <a:buSzPct val="87500"/>
              <a:buFont typeface="Arial"/>
              <a:buChar char="•"/>
              <a:tabLst>
                <a:tab pos="1013460" algn="l"/>
              </a:tabLst>
            </a:pPr>
            <a:r>
              <a:rPr sz="1600" dirty="0">
                <a:solidFill>
                  <a:srgbClr val="555555"/>
                </a:solidFill>
                <a:latin typeface="Calibri"/>
                <a:cs typeface="Calibri"/>
              </a:rPr>
              <a:t>Si</a:t>
            </a:r>
            <a:r>
              <a:rPr sz="1600" spc="-15" dirty="0">
                <a:solidFill>
                  <a:srgbClr val="555555"/>
                </a:solidFill>
                <a:latin typeface="Calibri"/>
                <a:cs typeface="Calibri"/>
              </a:rPr>
              <a:t> </a:t>
            </a:r>
            <a:r>
              <a:rPr sz="1600" dirty="0">
                <a:solidFill>
                  <a:srgbClr val="555555"/>
                </a:solidFill>
                <a:latin typeface="Calibri"/>
                <a:cs typeface="Calibri"/>
              </a:rPr>
              <a:t>simple </a:t>
            </a:r>
            <a:r>
              <a:rPr sz="1600" spc="-10" dirty="0">
                <a:solidFill>
                  <a:srgbClr val="555555"/>
                </a:solidFill>
                <a:latin typeface="Calibri"/>
                <a:cs typeface="Calibri"/>
              </a:rPr>
              <a:t>utilisateur </a:t>
            </a:r>
            <a:r>
              <a:rPr sz="1600" dirty="0">
                <a:solidFill>
                  <a:srgbClr val="555555"/>
                </a:solidFill>
                <a:latin typeface="Calibri"/>
                <a:cs typeface="Calibri"/>
              </a:rPr>
              <a:t>:</a:t>
            </a:r>
            <a:r>
              <a:rPr sz="1600" spc="-10" dirty="0">
                <a:solidFill>
                  <a:srgbClr val="555555"/>
                </a:solidFill>
                <a:latin typeface="Calibri"/>
                <a:cs typeface="Calibri"/>
              </a:rPr>
              <a:t> </a:t>
            </a:r>
            <a:r>
              <a:rPr sz="1600" dirty="0">
                <a:solidFill>
                  <a:srgbClr val="555555"/>
                </a:solidFill>
                <a:latin typeface="Calibri"/>
                <a:cs typeface="Calibri"/>
              </a:rPr>
              <a:t>entre 0</a:t>
            </a:r>
            <a:r>
              <a:rPr sz="1600" spc="-5" dirty="0">
                <a:solidFill>
                  <a:srgbClr val="555555"/>
                </a:solidFill>
                <a:latin typeface="Calibri"/>
                <a:cs typeface="Calibri"/>
              </a:rPr>
              <a:t> </a:t>
            </a:r>
            <a:r>
              <a:rPr sz="1600" dirty="0">
                <a:solidFill>
                  <a:srgbClr val="555555"/>
                </a:solidFill>
                <a:latin typeface="Calibri"/>
                <a:cs typeface="Calibri"/>
              </a:rPr>
              <a:t>et</a:t>
            </a:r>
            <a:r>
              <a:rPr sz="1600" spc="-40" dirty="0">
                <a:solidFill>
                  <a:srgbClr val="555555"/>
                </a:solidFill>
                <a:latin typeface="Calibri"/>
                <a:cs typeface="Calibri"/>
              </a:rPr>
              <a:t> </a:t>
            </a:r>
            <a:r>
              <a:rPr sz="1600" spc="-25" dirty="0">
                <a:solidFill>
                  <a:srgbClr val="555555"/>
                </a:solidFill>
                <a:latin typeface="Calibri"/>
                <a:cs typeface="Calibri"/>
              </a:rPr>
              <a:t>19</a:t>
            </a:r>
            <a:endParaRPr sz="1600" dirty="0">
              <a:latin typeface="Calibri"/>
              <a:cs typeface="Calibri"/>
            </a:endParaRPr>
          </a:p>
          <a:p>
            <a:pPr lvl="1">
              <a:lnSpc>
                <a:spcPct val="100000"/>
              </a:lnSpc>
              <a:spcBef>
                <a:spcPts val="580"/>
              </a:spcBef>
              <a:buClr>
                <a:srgbClr val="555555"/>
              </a:buClr>
              <a:buFont typeface="Arial"/>
              <a:buChar char="•"/>
            </a:pPr>
            <a:endParaRPr sz="1600" dirty="0">
              <a:latin typeface="Calibri"/>
              <a:cs typeface="Calibri"/>
            </a:endParaRPr>
          </a:p>
          <a:p>
            <a:pPr marL="1013460" lvl="1" indent="-168910">
              <a:lnSpc>
                <a:spcPct val="100000"/>
              </a:lnSpc>
              <a:buSzPct val="87500"/>
              <a:buFont typeface="Arial"/>
              <a:buChar char="•"/>
              <a:tabLst>
                <a:tab pos="1013460" algn="l"/>
              </a:tabLst>
            </a:pPr>
            <a:r>
              <a:rPr sz="1600" dirty="0">
                <a:solidFill>
                  <a:srgbClr val="555555"/>
                </a:solidFill>
                <a:latin typeface="Calibri"/>
                <a:cs typeface="Calibri"/>
              </a:rPr>
              <a:t>Si</a:t>
            </a:r>
            <a:r>
              <a:rPr sz="1600" spc="-25" dirty="0">
                <a:solidFill>
                  <a:srgbClr val="555555"/>
                </a:solidFill>
                <a:latin typeface="Calibri"/>
                <a:cs typeface="Calibri"/>
              </a:rPr>
              <a:t> </a:t>
            </a:r>
            <a:r>
              <a:rPr sz="1600" dirty="0">
                <a:solidFill>
                  <a:srgbClr val="555555"/>
                </a:solidFill>
                <a:latin typeface="Calibri"/>
                <a:cs typeface="Calibri"/>
              </a:rPr>
              <a:t>Super</a:t>
            </a:r>
            <a:r>
              <a:rPr sz="1600" spc="-45" dirty="0">
                <a:solidFill>
                  <a:srgbClr val="555555"/>
                </a:solidFill>
                <a:latin typeface="Calibri"/>
                <a:cs typeface="Calibri"/>
              </a:rPr>
              <a:t> </a:t>
            </a:r>
            <a:r>
              <a:rPr sz="1600" dirty="0">
                <a:solidFill>
                  <a:srgbClr val="555555"/>
                </a:solidFill>
                <a:latin typeface="Calibri"/>
                <a:cs typeface="Calibri"/>
              </a:rPr>
              <a:t>utilisateur</a:t>
            </a:r>
            <a:r>
              <a:rPr sz="1600" spc="-5" dirty="0">
                <a:solidFill>
                  <a:srgbClr val="555555"/>
                </a:solidFill>
                <a:latin typeface="Calibri"/>
                <a:cs typeface="Calibri"/>
              </a:rPr>
              <a:t> </a:t>
            </a:r>
            <a:r>
              <a:rPr sz="1600" dirty="0">
                <a:solidFill>
                  <a:srgbClr val="555555"/>
                </a:solidFill>
                <a:latin typeface="Calibri"/>
                <a:cs typeface="Calibri"/>
              </a:rPr>
              <a:t>:</a:t>
            </a:r>
            <a:r>
              <a:rPr sz="1600" spc="-20" dirty="0">
                <a:solidFill>
                  <a:srgbClr val="555555"/>
                </a:solidFill>
                <a:latin typeface="Calibri"/>
                <a:cs typeface="Calibri"/>
              </a:rPr>
              <a:t> </a:t>
            </a:r>
            <a:r>
              <a:rPr sz="1600" dirty="0">
                <a:solidFill>
                  <a:srgbClr val="555555"/>
                </a:solidFill>
                <a:latin typeface="Calibri"/>
                <a:cs typeface="Calibri"/>
              </a:rPr>
              <a:t>entre</a:t>
            </a:r>
            <a:r>
              <a:rPr sz="1600" spc="-25" dirty="0">
                <a:solidFill>
                  <a:srgbClr val="555555"/>
                </a:solidFill>
                <a:latin typeface="Calibri"/>
                <a:cs typeface="Calibri"/>
              </a:rPr>
              <a:t> </a:t>
            </a:r>
            <a:r>
              <a:rPr sz="1600" spc="-10" dirty="0">
                <a:solidFill>
                  <a:srgbClr val="555555"/>
                </a:solidFill>
                <a:latin typeface="Calibri"/>
                <a:cs typeface="Calibri"/>
              </a:rPr>
              <a:t>-</a:t>
            </a:r>
            <a:r>
              <a:rPr sz="1600" dirty="0">
                <a:solidFill>
                  <a:srgbClr val="555555"/>
                </a:solidFill>
                <a:latin typeface="Calibri"/>
                <a:cs typeface="Calibri"/>
              </a:rPr>
              <a:t>20 et</a:t>
            </a:r>
            <a:r>
              <a:rPr sz="1600" spc="-50" dirty="0">
                <a:solidFill>
                  <a:srgbClr val="555555"/>
                </a:solidFill>
                <a:latin typeface="Calibri"/>
                <a:cs typeface="Calibri"/>
              </a:rPr>
              <a:t> </a:t>
            </a:r>
            <a:r>
              <a:rPr sz="1600" spc="-25" dirty="0">
                <a:solidFill>
                  <a:srgbClr val="555555"/>
                </a:solidFill>
                <a:latin typeface="Calibri"/>
                <a:cs typeface="Calibri"/>
              </a:rPr>
              <a:t>19</a:t>
            </a:r>
            <a:endParaRPr sz="1600" dirty="0">
              <a:latin typeface="Calibri"/>
              <a:cs typeface="Calibri"/>
            </a:endParaRPr>
          </a:p>
          <a:p>
            <a:pPr lvl="1">
              <a:lnSpc>
                <a:spcPct val="100000"/>
              </a:lnSpc>
              <a:spcBef>
                <a:spcPts val="575"/>
              </a:spcBef>
              <a:buClr>
                <a:srgbClr val="555555"/>
              </a:buClr>
              <a:buFont typeface="Arial"/>
              <a:buChar char="•"/>
            </a:pPr>
            <a:endParaRPr sz="1600" dirty="0">
              <a:latin typeface="Calibri"/>
              <a:cs typeface="Calibri"/>
            </a:endParaRPr>
          </a:p>
          <a:p>
            <a:pPr marL="1013460" lvl="1" indent="-168910">
              <a:lnSpc>
                <a:spcPct val="100000"/>
              </a:lnSpc>
              <a:buSzPct val="87500"/>
              <a:buFont typeface="Arial"/>
              <a:buChar char="•"/>
              <a:tabLst>
                <a:tab pos="1013460" algn="l"/>
              </a:tabLst>
            </a:pPr>
            <a:r>
              <a:rPr sz="1600" spc="-10" dirty="0">
                <a:solidFill>
                  <a:srgbClr val="555555"/>
                </a:solidFill>
                <a:latin typeface="Calibri"/>
                <a:cs typeface="Calibri"/>
              </a:rPr>
              <a:t>Valeur</a:t>
            </a:r>
            <a:r>
              <a:rPr sz="1600" spc="-30" dirty="0">
                <a:solidFill>
                  <a:srgbClr val="555555"/>
                </a:solidFill>
                <a:latin typeface="Calibri"/>
                <a:cs typeface="Calibri"/>
              </a:rPr>
              <a:t> </a:t>
            </a:r>
            <a:r>
              <a:rPr sz="1600" dirty="0">
                <a:solidFill>
                  <a:srgbClr val="555555"/>
                </a:solidFill>
                <a:latin typeface="Calibri"/>
                <a:cs typeface="Calibri"/>
              </a:rPr>
              <a:t>par</a:t>
            </a:r>
            <a:r>
              <a:rPr sz="1600" spc="-25" dirty="0">
                <a:solidFill>
                  <a:srgbClr val="555555"/>
                </a:solidFill>
                <a:latin typeface="Calibri"/>
                <a:cs typeface="Calibri"/>
              </a:rPr>
              <a:t> </a:t>
            </a:r>
            <a:r>
              <a:rPr sz="1600" dirty="0">
                <a:solidFill>
                  <a:srgbClr val="555555"/>
                </a:solidFill>
                <a:latin typeface="Calibri"/>
                <a:cs typeface="Calibri"/>
              </a:rPr>
              <a:t>défaut</a:t>
            </a:r>
            <a:r>
              <a:rPr sz="1600" spc="-35" dirty="0">
                <a:solidFill>
                  <a:srgbClr val="555555"/>
                </a:solidFill>
                <a:latin typeface="Calibri"/>
                <a:cs typeface="Calibri"/>
              </a:rPr>
              <a:t> </a:t>
            </a:r>
            <a:r>
              <a:rPr sz="1600" dirty="0">
                <a:solidFill>
                  <a:srgbClr val="555555"/>
                </a:solidFill>
                <a:latin typeface="Calibri"/>
                <a:cs typeface="Calibri"/>
              </a:rPr>
              <a:t>=</a:t>
            </a:r>
            <a:r>
              <a:rPr sz="1600" spc="-35" dirty="0">
                <a:solidFill>
                  <a:srgbClr val="555555"/>
                </a:solidFill>
                <a:latin typeface="Calibri"/>
                <a:cs typeface="Calibri"/>
              </a:rPr>
              <a:t> </a:t>
            </a:r>
            <a:r>
              <a:rPr sz="1600" spc="-50" dirty="0">
                <a:solidFill>
                  <a:srgbClr val="555555"/>
                </a:solidFill>
                <a:latin typeface="Calibri"/>
                <a:cs typeface="Calibri"/>
              </a:rPr>
              <a:t>0</a:t>
            </a:r>
            <a:endParaRPr sz="1600" dirty="0">
              <a:latin typeface="Calibri"/>
              <a:cs typeface="Calibri"/>
            </a:endParaRPr>
          </a:p>
          <a:p>
            <a:pPr lvl="1">
              <a:lnSpc>
                <a:spcPct val="100000"/>
              </a:lnSpc>
              <a:spcBef>
                <a:spcPts val="575"/>
              </a:spcBef>
              <a:buClr>
                <a:srgbClr val="555555"/>
              </a:buClr>
              <a:buFont typeface="Arial"/>
              <a:buChar char="•"/>
            </a:pPr>
            <a:endParaRPr sz="1600" dirty="0">
              <a:latin typeface="Calibri"/>
              <a:cs typeface="Calibri"/>
            </a:endParaRPr>
          </a:p>
          <a:p>
            <a:pPr marL="1013460" lvl="1" indent="-168910">
              <a:lnSpc>
                <a:spcPct val="100000"/>
              </a:lnSpc>
              <a:buSzPct val="87500"/>
              <a:buFont typeface="Arial"/>
              <a:buChar char="•"/>
              <a:tabLst>
                <a:tab pos="1013460" algn="l"/>
              </a:tabLst>
            </a:pPr>
            <a:r>
              <a:rPr sz="1600" spc="-10" dirty="0">
                <a:solidFill>
                  <a:srgbClr val="555555"/>
                </a:solidFill>
                <a:latin typeface="Calibri"/>
                <a:cs typeface="Calibri"/>
              </a:rPr>
              <a:t>Valeur</a:t>
            </a:r>
            <a:r>
              <a:rPr sz="1600" spc="-30" dirty="0">
                <a:solidFill>
                  <a:srgbClr val="555555"/>
                </a:solidFill>
                <a:latin typeface="Calibri"/>
                <a:cs typeface="Calibri"/>
              </a:rPr>
              <a:t> </a:t>
            </a:r>
            <a:r>
              <a:rPr sz="1600" dirty="0">
                <a:solidFill>
                  <a:srgbClr val="555555"/>
                </a:solidFill>
                <a:latin typeface="Calibri"/>
                <a:cs typeface="Calibri"/>
              </a:rPr>
              <a:t>de</a:t>
            </a:r>
            <a:r>
              <a:rPr sz="1600" spc="-25" dirty="0">
                <a:solidFill>
                  <a:srgbClr val="555555"/>
                </a:solidFill>
                <a:latin typeface="Calibri"/>
                <a:cs typeface="Calibri"/>
              </a:rPr>
              <a:t> </a:t>
            </a:r>
            <a:r>
              <a:rPr sz="1600" dirty="0">
                <a:solidFill>
                  <a:srgbClr val="555555"/>
                </a:solidFill>
                <a:latin typeface="Calibri"/>
                <a:cs typeface="Calibri"/>
              </a:rPr>
              <a:t>la</a:t>
            </a:r>
            <a:r>
              <a:rPr sz="1600" spc="-20" dirty="0">
                <a:solidFill>
                  <a:srgbClr val="555555"/>
                </a:solidFill>
                <a:latin typeface="Calibri"/>
                <a:cs typeface="Calibri"/>
              </a:rPr>
              <a:t> </a:t>
            </a:r>
            <a:r>
              <a:rPr sz="1600" dirty="0">
                <a:solidFill>
                  <a:srgbClr val="555555"/>
                </a:solidFill>
                <a:latin typeface="Calibri"/>
                <a:cs typeface="Calibri"/>
              </a:rPr>
              <a:t>priorité</a:t>
            </a:r>
            <a:r>
              <a:rPr sz="1600" spc="5" dirty="0">
                <a:solidFill>
                  <a:srgbClr val="555555"/>
                </a:solidFill>
                <a:latin typeface="Calibri"/>
                <a:cs typeface="Calibri"/>
              </a:rPr>
              <a:t> </a:t>
            </a:r>
            <a:r>
              <a:rPr sz="1600" dirty="0">
                <a:solidFill>
                  <a:srgbClr val="555555"/>
                </a:solidFill>
                <a:latin typeface="Calibri"/>
                <a:cs typeface="Calibri"/>
              </a:rPr>
              <a:t>la</a:t>
            </a:r>
            <a:r>
              <a:rPr sz="1600" spc="-25" dirty="0">
                <a:solidFill>
                  <a:srgbClr val="555555"/>
                </a:solidFill>
                <a:latin typeface="Calibri"/>
                <a:cs typeface="Calibri"/>
              </a:rPr>
              <a:t> </a:t>
            </a:r>
            <a:r>
              <a:rPr sz="1600" dirty="0">
                <a:solidFill>
                  <a:srgbClr val="555555"/>
                </a:solidFill>
                <a:latin typeface="Calibri"/>
                <a:cs typeface="Calibri"/>
              </a:rPr>
              <a:t>plus</a:t>
            </a:r>
            <a:r>
              <a:rPr sz="1600" spc="-10" dirty="0">
                <a:solidFill>
                  <a:srgbClr val="555555"/>
                </a:solidFill>
                <a:latin typeface="Calibri"/>
                <a:cs typeface="Calibri"/>
              </a:rPr>
              <a:t> </a:t>
            </a:r>
            <a:r>
              <a:rPr sz="1600" dirty="0">
                <a:solidFill>
                  <a:srgbClr val="555555"/>
                </a:solidFill>
                <a:latin typeface="Calibri"/>
                <a:cs typeface="Calibri"/>
              </a:rPr>
              <a:t>basse</a:t>
            </a:r>
            <a:r>
              <a:rPr sz="1600" spc="-40" dirty="0">
                <a:solidFill>
                  <a:srgbClr val="555555"/>
                </a:solidFill>
                <a:latin typeface="Calibri"/>
                <a:cs typeface="Calibri"/>
              </a:rPr>
              <a:t> </a:t>
            </a:r>
            <a:r>
              <a:rPr sz="1600" dirty="0">
                <a:solidFill>
                  <a:srgbClr val="555555"/>
                </a:solidFill>
                <a:latin typeface="Calibri"/>
                <a:cs typeface="Calibri"/>
              </a:rPr>
              <a:t>=</a:t>
            </a:r>
            <a:r>
              <a:rPr sz="1600" spc="-35" dirty="0">
                <a:solidFill>
                  <a:srgbClr val="555555"/>
                </a:solidFill>
                <a:latin typeface="Calibri"/>
                <a:cs typeface="Calibri"/>
              </a:rPr>
              <a:t> </a:t>
            </a:r>
            <a:r>
              <a:rPr sz="1600" spc="-25" dirty="0">
                <a:solidFill>
                  <a:srgbClr val="555555"/>
                </a:solidFill>
                <a:latin typeface="Calibri"/>
                <a:cs typeface="Calibri"/>
              </a:rPr>
              <a:t>19</a:t>
            </a:r>
            <a:endParaRPr sz="1600" dirty="0">
              <a:latin typeface="Calibri"/>
              <a:cs typeface="Calibri"/>
            </a:endParaRPr>
          </a:p>
          <a:p>
            <a:pPr lvl="1">
              <a:lnSpc>
                <a:spcPct val="100000"/>
              </a:lnSpc>
              <a:spcBef>
                <a:spcPts val="580"/>
              </a:spcBef>
              <a:buClr>
                <a:srgbClr val="555555"/>
              </a:buClr>
              <a:buFont typeface="Arial"/>
              <a:buChar char="•"/>
            </a:pPr>
            <a:endParaRPr sz="1600" dirty="0">
              <a:latin typeface="Calibri"/>
              <a:cs typeface="Calibri"/>
            </a:endParaRPr>
          </a:p>
          <a:p>
            <a:pPr marL="1013460" lvl="1" indent="-168910">
              <a:lnSpc>
                <a:spcPct val="100000"/>
              </a:lnSpc>
              <a:buSzPct val="87500"/>
              <a:buFont typeface="Arial"/>
              <a:buChar char="•"/>
              <a:tabLst>
                <a:tab pos="1013460" algn="l"/>
              </a:tabLst>
            </a:pPr>
            <a:r>
              <a:rPr sz="1600" spc="-10" dirty="0">
                <a:solidFill>
                  <a:srgbClr val="555555"/>
                </a:solidFill>
                <a:latin typeface="Calibri"/>
                <a:cs typeface="Calibri"/>
              </a:rPr>
              <a:t>Valeur</a:t>
            </a:r>
            <a:r>
              <a:rPr sz="1600" spc="-35" dirty="0">
                <a:solidFill>
                  <a:srgbClr val="555555"/>
                </a:solidFill>
                <a:latin typeface="Calibri"/>
                <a:cs typeface="Calibri"/>
              </a:rPr>
              <a:t> </a:t>
            </a:r>
            <a:r>
              <a:rPr sz="1600" dirty="0">
                <a:solidFill>
                  <a:srgbClr val="555555"/>
                </a:solidFill>
                <a:latin typeface="Calibri"/>
                <a:cs typeface="Calibri"/>
              </a:rPr>
              <a:t>de</a:t>
            </a:r>
            <a:r>
              <a:rPr sz="1600" spc="-20" dirty="0">
                <a:solidFill>
                  <a:srgbClr val="555555"/>
                </a:solidFill>
                <a:latin typeface="Calibri"/>
                <a:cs typeface="Calibri"/>
              </a:rPr>
              <a:t> </a:t>
            </a:r>
            <a:r>
              <a:rPr sz="1600" dirty="0">
                <a:solidFill>
                  <a:srgbClr val="555555"/>
                </a:solidFill>
                <a:latin typeface="Calibri"/>
                <a:cs typeface="Calibri"/>
              </a:rPr>
              <a:t>la</a:t>
            </a:r>
            <a:r>
              <a:rPr sz="1600" spc="-25" dirty="0">
                <a:solidFill>
                  <a:srgbClr val="555555"/>
                </a:solidFill>
                <a:latin typeface="Calibri"/>
                <a:cs typeface="Calibri"/>
              </a:rPr>
              <a:t> </a:t>
            </a:r>
            <a:r>
              <a:rPr sz="1600" dirty="0">
                <a:solidFill>
                  <a:srgbClr val="555555"/>
                </a:solidFill>
                <a:latin typeface="Calibri"/>
                <a:cs typeface="Calibri"/>
              </a:rPr>
              <a:t>priorité la</a:t>
            </a:r>
            <a:r>
              <a:rPr sz="1600" spc="-25" dirty="0">
                <a:solidFill>
                  <a:srgbClr val="555555"/>
                </a:solidFill>
                <a:latin typeface="Calibri"/>
                <a:cs typeface="Calibri"/>
              </a:rPr>
              <a:t> </a:t>
            </a:r>
            <a:r>
              <a:rPr sz="1600" dirty="0">
                <a:solidFill>
                  <a:srgbClr val="555555"/>
                </a:solidFill>
                <a:latin typeface="Calibri"/>
                <a:cs typeface="Calibri"/>
              </a:rPr>
              <a:t>plus</a:t>
            </a:r>
            <a:r>
              <a:rPr sz="1600" spc="-15" dirty="0">
                <a:solidFill>
                  <a:srgbClr val="555555"/>
                </a:solidFill>
                <a:latin typeface="Calibri"/>
                <a:cs typeface="Calibri"/>
              </a:rPr>
              <a:t> </a:t>
            </a:r>
            <a:r>
              <a:rPr sz="1600" dirty="0">
                <a:solidFill>
                  <a:srgbClr val="555555"/>
                </a:solidFill>
                <a:latin typeface="Calibri"/>
                <a:cs typeface="Calibri"/>
              </a:rPr>
              <a:t>haute</a:t>
            </a:r>
            <a:r>
              <a:rPr sz="1600" spc="-20" dirty="0">
                <a:solidFill>
                  <a:srgbClr val="555555"/>
                </a:solidFill>
                <a:latin typeface="Calibri"/>
                <a:cs typeface="Calibri"/>
              </a:rPr>
              <a:t> </a:t>
            </a:r>
            <a:r>
              <a:rPr sz="1600" dirty="0">
                <a:solidFill>
                  <a:srgbClr val="555555"/>
                </a:solidFill>
                <a:latin typeface="Calibri"/>
                <a:cs typeface="Calibri"/>
              </a:rPr>
              <a:t>=</a:t>
            </a:r>
            <a:r>
              <a:rPr sz="1600" spc="-35" dirty="0">
                <a:solidFill>
                  <a:srgbClr val="555555"/>
                </a:solidFill>
                <a:latin typeface="Calibri"/>
                <a:cs typeface="Calibri"/>
              </a:rPr>
              <a:t> </a:t>
            </a:r>
            <a:r>
              <a:rPr sz="1600" spc="-10" dirty="0">
                <a:solidFill>
                  <a:srgbClr val="555555"/>
                </a:solidFill>
                <a:latin typeface="Calibri"/>
                <a:cs typeface="Calibri"/>
              </a:rPr>
              <a:t>-</a:t>
            </a:r>
            <a:r>
              <a:rPr sz="1600" spc="-25" dirty="0">
                <a:solidFill>
                  <a:srgbClr val="555555"/>
                </a:solidFill>
                <a:latin typeface="Calibri"/>
                <a:cs typeface="Calibri"/>
              </a:rPr>
              <a:t>20</a:t>
            </a:r>
            <a:endParaRPr sz="1600" dirty="0">
              <a:latin typeface="Calibri"/>
              <a:cs typeface="Calibri"/>
            </a:endParaRPr>
          </a:p>
          <a:p>
            <a:pPr lvl="1">
              <a:lnSpc>
                <a:spcPct val="100000"/>
              </a:lnSpc>
              <a:spcBef>
                <a:spcPts val="575"/>
              </a:spcBef>
              <a:buClr>
                <a:srgbClr val="555555"/>
              </a:buClr>
              <a:buFont typeface="Arial"/>
              <a:buChar char="•"/>
            </a:pPr>
            <a:endParaRPr sz="1600" dirty="0">
              <a:latin typeface="Calibri"/>
              <a:cs typeface="Calibri"/>
            </a:endParaRPr>
          </a:p>
          <a:p>
            <a:pPr marL="386716" indent="-285750">
              <a:lnSpc>
                <a:spcPct val="100000"/>
              </a:lnSpc>
              <a:buSzPct val="87500"/>
              <a:buFont typeface="Wingdings" panose="05000000000000000000" pitchFamily="2" charset="2"/>
              <a:buChar char="§"/>
              <a:tabLst>
                <a:tab pos="356870" algn="l"/>
              </a:tabLst>
            </a:pPr>
            <a:r>
              <a:rPr sz="1600" dirty="0">
                <a:solidFill>
                  <a:srgbClr val="555555"/>
                </a:solidFill>
                <a:latin typeface="Calibri"/>
                <a:cs typeface="Calibri"/>
              </a:rPr>
              <a:t>Modification</a:t>
            </a:r>
            <a:r>
              <a:rPr sz="1600" spc="-5" dirty="0">
                <a:solidFill>
                  <a:srgbClr val="555555"/>
                </a:solidFill>
                <a:latin typeface="Calibri"/>
                <a:cs typeface="Calibri"/>
              </a:rPr>
              <a:t> </a:t>
            </a:r>
            <a:r>
              <a:rPr sz="1600" dirty="0">
                <a:solidFill>
                  <a:srgbClr val="555555"/>
                </a:solidFill>
                <a:latin typeface="Calibri"/>
                <a:cs typeface="Calibri"/>
              </a:rPr>
              <a:t>de</a:t>
            </a:r>
            <a:r>
              <a:rPr sz="1600" spc="-45" dirty="0">
                <a:solidFill>
                  <a:srgbClr val="555555"/>
                </a:solidFill>
                <a:latin typeface="Calibri"/>
                <a:cs typeface="Calibri"/>
              </a:rPr>
              <a:t> </a:t>
            </a:r>
            <a:r>
              <a:rPr sz="1600" dirty="0">
                <a:solidFill>
                  <a:srgbClr val="555555"/>
                </a:solidFill>
                <a:latin typeface="Calibri"/>
                <a:cs typeface="Calibri"/>
              </a:rPr>
              <a:t>la</a:t>
            </a:r>
            <a:r>
              <a:rPr sz="1600" spc="-20" dirty="0">
                <a:solidFill>
                  <a:srgbClr val="555555"/>
                </a:solidFill>
                <a:latin typeface="Calibri"/>
                <a:cs typeface="Calibri"/>
              </a:rPr>
              <a:t> </a:t>
            </a:r>
            <a:r>
              <a:rPr sz="1600" dirty="0">
                <a:solidFill>
                  <a:srgbClr val="555555"/>
                </a:solidFill>
                <a:latin typeface="Calibri"/>
                <a:cs typeface="Calibri"/>
              </a:rPr>
              <a:t>valeur</a:t>
            </a:r>
            <a:r>
              <a:rPr sz="1600" spc="-35" dirty="0">
                <a:solidFill>
                  <a:srgbClr val="555555"/>
                </a:solidFill>
                <a:latin typeface="Calibri"/>
                <a:cs typeface="Calibri"/>
              </a:rPr>
              <a:t> </a:t>
            </a:r>
            <a:r>
              <a:rPr sz="1600" dirty="0">
                <a:solidFill>
                  <a:srgbClr val="555555"/>
                </a:solidFill>
                <a:latin typeface="Calibri"/>
                <a:cs typeface="Calibri"/>
              </a:rPr>
              <a:t>de</a:t>
            </a:r>
            <a:r>
              <a:rPr sz="1600" spc="-20" dirty="0">
                <a:solidFill>
                  <a:srgbClr val="555555"/>
                </a:solidFill>
                <a:latin typeface="Calibri"/>
                <a:cs typeface="Calibri"/>
              </a:rPr>
              <a:t> </a:t>
            </a:r>
            <a:r>
              <a:rPr sz="1600" dirty="0">
                <a:solidFill>
                  <a:srgbClr val="555555"/>
                </a:solidFill>
                <a:latin typeface="Calibri"/>
                <a:cs typeface="Calibri"/>
              </a:rPr>
              <a:t>nice</a:t>
            </a:r>
            <a:r>
              <a:rPr sz="1600" spc="-20" dirty="0">
                <a:solidFill>
                  <a:srgbClr val="555555"/>
                </a:solidFill>
                <a:latin typeface="Calibri"/>
                <a:cs typeface="Calibri"/>
              </a:rPr>
              <a:t> </a:t>
            </a:r>
            <a:r>
              <a:rPr sz="1600" dirty="0">
                <a:solidFill>
                  <a:srgbClr val="555555"/>
                </a:solidFill>
                <a:latin typeface="Calibri"/>
                <a:cs typeface="Calibri"/>
              </a:rPr>
              <a:t>à</a:t>
            </a:r>
            <a:r>
              <a:rPr sz="1600" spc="-45" dirty="0">
                <a:solidFill>
                  <a:srgbClr val="555555"/>
                </a:solidFill>
                <a:latin typeface="Calibri"/>
                <a:cs typeface="Calibri"/>
              </a:rPr>
              <a:t> </a:t>
            </a:r>
            <a:r>
              <a:rPr sz="1600" spc="-10" dirty="0">
                <a:solidFill>
                  <a:srgbClr val="555555"/>
                </a:solidFill>
                <a:latin typeface="Calibri"/>
                <a:cs typeface="Calibri"/>
              </a:rPr>
              <a:t>l’aide</a:t>
            </a:r>
            <a:r>
              <a:rPr sz="1600" spc="20" dirty="0">
                <a:solidFill>
                  <a:srgbClr val="555555"/>
                </a:solidFill>
                <a:latin typeface="Calibri"/>
                <a:cs typeface="Calibri"/>
              </a:rPr>
              <a:t> </a:t>
            </a:r>
            <a:r>
              <a:rPr sz="1600" dirty="0">
                <a:solidFill>
                  <a:srgbClr val="555555"/>
                </a:solidFill>
                <a:latin typeface="Calibri"/>
                <a:cs typeface="Calibri"/>
              </a:rPr>
              <a:t>de</a:t>
            </a:r>
            <a:r>
              <a:rPr sz="1600" spc="-40" dirty="0">
                <a:solidFill>
                  <a:srgbClr val="555555"/>
                </a:solidFill>
                <a:latin typeface="Calibri"/>
                <a:cs typeface="Calibri"/>
              </a:rPr>
              <a:t> </a:t>
            </a:r>
            <a:r>
              <a:rPr sz="1600" dirty="0">
                <a:solidFill>
                  <a:srgbClr val="555555"/>
                </a:solidFill>
                <a:latin typeface="Calibri"/>
                <a:cs typeface="Calibri"/>
              </a:rPr>
              <a:t>la</a:t>
            </a:r>
            <a:r>
              <a:rPr sz="1600" spc="-20" dirty="0">
                <a:solidFill>
                  <a:srgbClr val="555555"/>
                </a:solidFill>
                <a:latin typeface="Calibri"/>
                <a:cs typeface="Calibri"/>
              </a:rPr>
              <a:t> </a:t>
            </a:r>
            <a:r>
              <a:rPr sz="1600" dirty="0">
                <a:solidFill>
                  <a:srgbClr val="555555"/>
                </a:solidFill>
                <a:latin typeface="Calibri"/>
                <a:cs typeface="Calibri"/>
              </a:rPr>
              <a:t>commande</a:t>
            </a:r>
            <a:r>
              <a:rPr sz="1600" spc="-15" dirty="0">
                <a:solidFill>
                  <a:srgbClr val="555555"/>
                </a:solidFill>
                <a:latin typeface="Calibri"/>
                <a:cs typeface="Calibri"/>
              </a:rPr>
              <a:t> </a:t>
            </a:r>
            <a:r>
              <a:rPr sz="1600" b="1" spc="-10" dirty="0">
                <a:solidFill>
                  <a:srgbClr val="C00000"/>
                </a:solidFill>
                <a:latin typeface="Calibri"/>
                <a:cs typeface="Calibri"/>
              </a:rPr>
              <a:t>renice.</a:t>
            </a:r>
            <a:endParaRPr sz="1600" dirty="0">
              <a:latin typeface="Calibri"/>
              <a:cs typeface="Calibri"/>
            </a:endParaRPr>
          </a:p>
        </p:txBody>
      </p:sp>
      <p:sp>
        <p:nvSpPr>
          <p:cNvPr id="17" name="object 11"/>
          <p:cNvSpPr txBox="1">
            <a:spLocks noGrp="1"/>
          </p:cNvSpPr>
          <p:nvPr>
            <p:ph type="title"/>
          </p:nvPr>
        </p:nvSpPr>
        <p:spPr>
          <a:xfrm>
            <a:off x="228600" y="304800"/>
            <a:ext cx="11664492" cy="699089"/>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a:p>
            <a:pPr marL="6985">
              <a:lnSpc>
                <a:spcPct val="100000"/>
              </a:lnSpc>
              <a:spcBef>
                <a:spcPts val="10"/>
              </a:spcBef>
            </a:pPr>
            <a:r>
              <a:rPr lang="fr-FR" sz="1600" spc="-10" dirty="0" smtClean="0">
                <a:solidFill>
                  <a:srgbClr val="0058A0"/>
                </a:solidFill>
              </a:rPr>
              <a:t>Gestion des processus sous Linux</a:t>
            </a:r>
            <a:endParaRPr sz="1600" dirty="0"/>
          </a:p>
        </p:txBody>
      </p:sp>
      <p:sp>
        <p:nvSpPr>
          <p:cNvPr id="18"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Tree>
    <p:extLst>
      <p:ext uri="{BB962C8B-B14F-4D97-AF65-F5344CB8AC3E}">
        <p14:creationId xmlns:p14="http://schemas.microsoft.com/office/powerpoint/2010/main" val="29242312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2"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49</a:t>
            </a:fld>
            <a:endParaRPr spc="-25" dirty="0"/>
          </a:p>
        </p:txBody>
      </p:sp>
      <p:sp>
        <p:nvSpPr>
          <p:cNvPr id="12" name="object 12"/>
          <p:cNvSpPr txBox="1"/>
          <p:nvPr/>
        </p:nvSpPr>
        <p:spPr>
          <a:xfrm>
            <a:off x="762000" y="1643684"/>
            <a:ext cx="6440018" cy="752129"/>
          </a:xfrm>
          <a:prstGeom prst="rect">
            <a:avLst/>
          </a:prstGeom>
        </p:spPr>
        <p:txBody>
          <a:bodyPr vert="horz" wrap="square" lIns="0" tIns="13335" rIns="0" bIns="0" rtlCol="0">
            <a:spAutoFit/>
          </a:bodyPr>
          <a:lstStyle/>
          <a:p>
            <a:pPr marL="12700">
              <a:lnSpc>
                <a:spcPct val="100000"/>
              </a:lnSpc>
              <a:spcBef>
                <a:spcPts val="105"/>
              </a:spcBef>
            </a:pPr>
            <a:r>
              <a:rPr sz="1600" b="1" dirty="0">
                <a:solidFill>
                  <a:srgbClr val="FFC000"/>
                </a:solidFill>
                <a:latin typeface="Calibri"/>
                <a:cs typeface="Calibri"/>
              </a:rPr>
              <a:t>Priorité</a:t>
            </a:r>
            <a:r>
              <a:rPr sz="1600" b="1" spc="-35" dirty="0">
                <a:solidFill>
                  <a:srgbClr val="FFC000"/>
                </a:solidFill>
                <a:latin typeface="Calibri"/>
                <a:cs typeface="Calibri"/>
              </a:rPr>
              <a:t> </a:t>
            </a:r>
            <a:r>
              <a:rPr sz="1600" b="1" dirty="0">
                <a:solidFill>
                  <a:srgbClr val="FFC000"/>
                </a:solidFill>
                <a:latin typeface="Calibri"/>
                <a:cs typeface="Calibri"/>
              </a:rPr>
              <a:t>du</a:t>
            </a:r>
            <a:r>
              <a:rPr sz="1600" b="1" spc="-20" dirty="0">
                <a:solidFill>
                  <a:srgbClr val="FFC000"/>
                </a:solidFill>
                <a:latin typeface="Calibri"/>
                <a:cs typeface="Calibri"/>
              </a:rPr>
              <a:t> </a:t>
            </a:r>
            <a:r>
              <a:rPr sz="1600" b="1" spc="-10" dirty="0">
                <a:solidFill>
                  <a:srgbClr val="FFC000"/>
                </a:solidFill>
                <a:latin typeface="Calibri"/>
                <a:cs typeface="Calibri"/>
              </a:rPr>
              <a:t>processus</a:t>
            </a:r>
            <a:endParaRPr sz="1600" dirty="0">
              <a:solidFill>
                <a:srgbClr val="FFC000"/>
              </a:solidFill>
              <a:latin typeface="Calibri"/>
              <a:cs typeface="Calibri"/>
            </a:endParaRPr>
          </a:p>
          <a:p>
            <a:pPr>
              <a:lnSpc>
                <a:spcPct val="100000"/>
              </a:lnSpc>
            </a:pPr>
            <a:endParaRPr sz="1600" dirty="0">
              <a:latin typeface="Calibri"/>
              <a:cs typeface="Calibri"/>
            </a:endParaRPr>
          </a:p>
          <a:p>
            <a:pPr marL="12700">
              <a:lnSpc>
                <a:spcPct val="100000"/>
              </a:lnSpc>
            </a:pPr>
            <a:r>
              <a:rPr sz="1600" dirty="0">
                <a:solidFill>
                  <a:srgbClr val="585858"/>
                </a:solidFill>
                <a:latin typeface="Calibri"/>
                <a:cs typeface="Calibri"/>
              </a:rPr>
              <a:t>La</a:t>
            </a:r>
            <a:r>
              <a:rPr sz="1600" spc="-40" dirty="0">
                <a:solidFill>
                  <a:srgbClr val="585858"/>
                </a:solidFill>
                <a:latin typeface="Calibri"/>
                <a:cs typeface="Calibri"/>
              </a:rPr>
              <a:t> </a:t>
            </a:r>
            <a:r>
              <a:rPr sz="1600" spc="-10" dirty="0">
                <a:solidFill>
                  <a:srgbClr val="585858"/>
                </a:solidFill>
                <a:latin typeface="Calibri"/>
                <a:cs typeface="Calibri"/>
              </a:rPr>
              <a:t>Table</a:t>
            </a:r>
            <a:r>
              <a:rPr sz="1600" spc="10" dirty="0">
                <a:solidFill>
                  <a:srgbClr val="585858"/>
                </a:solidFill>
                <a:latin typeface="Calibri"/>
                <a:cs typeface="Calibri"/>
              </a:rPr>
              <a:t> </a:t>
            </a:r>
            <a:r>
              <a:rPr sz="1600" dirty="0" smtClean="0">
                <a:solidFill>
                  <a:srgbClr val="585858"/>
                </a:solidFill>
                <a:latin typeface="Calibri"/>
                <a:cs typeface="Calibri"/>
              </a:rPr>
              <a:t>1</a:t>
            </a:r>
            <a:r>
              <a:rPr sz="1600" spc="245" dirty="0" smtClean="0">
                <a:solidFill>
                  <a:srgbClr val="585858"/>
                </a:solidFill>
                <a:latin typeface="Calibri"/>
                <a:cs typeface="Calibri"/>
              </a:rPr>
              <a:t> </a:t>
            </a:r>
            <a:r>
              <a:rPr sz="1600" spc="-10" dirty="0">
                <a:solidFill>
                  <a:srgbClr val="585858"/>
                </a:solidFill>
                <a:latin typeface="Calibri"/>
                <a:cs typeface="Calibri"/>
              </a:rPr>
              <a:t>présente</a:t>
            </a:r>
            <a:r>
              <a:rPr sz="1600" spc="-30" dirty="0">
                <a:solidFill>
                  <a:srgbClr val="585858"/>
                </a:solidFill>
                <a:latin typeface="Calibri"/>
                <a:cs typeface="Calibri"/>
              </a:rPr>
              <a:t> </a:t>
            </a:r>
            <a:r>
              <a:rPr sz="1600" dirty="0">
                <a:solidFill>
                  <a:srgbClr val="585858"/>
                </a:solidFill>
                <a:latin typeface="Calibri"/>
                <a:cs typeface="Calibri"/>
              </a:rPr>
              <a:t>la</a:t>
            </a:r>
            <a:r>
              <a:rPr sz="1600" spc="-15" dirty="0">
                <a:solidFill>
                  <a:srgbClr val="585858"/>
                </a:solidFill>
                <a:latin typeface="Calibri"/>
                <a:cs typeface="Calibri"/>
              </a:rPr>
              <a:t> </a:t>
            </a:r>
            <a:r>
              <a:rPr sz="1600" dirty="0">
                <a:solidFill>
                  <a:srgbClr val="585858"/>
                </a:solidFill>
                <a:latin typeface="Calibri"/>
                <a:cs typeface="Calibri"/>
              </a:rPr>
              <a:t>commande</a:t>
            </a:r>
            <a:r>
              <a:rPr sz="1600" spc="-10" dirty="0">
                <a:solidFill>
                  <a:srgbClr val="585858"/>
                </a:solidFill>
                <a:latin typeface="Calibri"/>
                <a:cs typeface="Calibri"/>
              </a:rPr>
              <a:t> </a:t>
            </a:r>
            <a:r>
              <a:rPr sz="1600" dirty="0">
                <a:solidFill>
                  <a:srgbClr val="585858"/>
                </a:solidFill>
                <a:latin typeface="Calibri"/>
                <a:cs typeface="Calibri"/>
              </a:rPr>
              <a:t>nice</a:t>
            </a:r>
            <a:r>
              <a:rPr sz="1600" spc="10" dirty="0">
                <a:solidFill>
                  <a:srgbClr val="585858"/>
                </a:solidFill>
                <a:latin typeface="Calibri"/>
                <a:cs typeface="Calibri"/>
              </a:rPr>
              <a:t> </a:t>
            </a:r>
            <a:r>
              <a:rPr sz="1600" dirty="0">
                <a:solidFill>
                  <a:srgbClr val="585858"/>
                </a:solidFill>
                <a:latin typeface="Calibri"/>
                <a:cs typeface="Calibri"/>
              </a:rPr>
              <a:t>et</a:t>
            </a:r>
            <a:r>
              <a:rPr sz="1600" spc="-50" dirty="0">
                <a:solidFill>
                  <a:srgbClr val="585858"/>
                </a:solidFill>
                <a:latin typeface="Calibri"/>
                <a:cs typeface="Calibri"/>
              </a:rPr>
              <a:t> </a:t>
            </a:r>
            <a:r>
              <a:rPr sz="1600" spc="-10" dirty="0">
                <a:solidFill>
                  <a:srgbClr val="585858"/>
                </a:solidFill>
                <a:latin typeface="Calibri"/>
                <a:cs typeface="Calibri"/>
              </a:rPr>
              <a:t>renice.</a:t>
            </a:r>
            <a:endParaRPr sz="1600" dirty="0">
              <a:latin typeface="Calibri"/>
              <a:cs typeface="Calibri"/>
            </a:endParaRPr>
          </a:p>
        </p:txBody>
      </p:sp>
      <p:graphicFrame>
        <p:nvGraphicFramePr>
          <p:cNvPr id="13" name="object 13"/>
          <p:cNvGraphicFramePr>
            <a:graphicFrameLocks noGrp="1"/>
          </p:cNvGraphicFramePr>
          <p:nvPr/>
        </p:nvGraphicFramePr>
        <p:xfrm>
          <a:off x="1650746" y="2927476"/>
          <a:ext cx="9351644" cy="1381125"/>
        </p:xfrm>
        <a:graphic>
          <a:graphicData uri="http://schemas.openxmlformats.org/drawingml/2006/table">
            <a:tbl>
              <a:tblPr firstRow="1" bandRow="1">
                <a:tableStyleId>{2D5ABB26-0587-4C30-8999-92F81FD0307C}</a:tableStyleId>
              </a:tblPr>
              <a:tblGrid>
                <a:gridCol w="3117215">
                  <a:extLst>
                    <a:ext uri="{9D8B030D-6E8A-4147-A177-3AD203B41FA5}">
                      <a16:colId xmlns:a16="http://schemas.microsoft.com/office/drawing/2014/main" val="20000"/>
                    </a:ext>
                  </a:extLst>
                </a:gridCol>
                <a:gridCol w="3117215">
                  <a:extLst>
                    <a:ext uri="{9D8B030D-6E8A-4147-A177-3AD203B41FA5}">
                      <a16:colId xmlns:a16="http://schemas.microsoft.com/office/drawing/2014/main" val="20001"/>
                    </a:ext>
                  </a:extLst>
                </a:gridCol>
                <a:gridCol w="3117214">
                  <a:extLst>
                    <a:ext uri="{9D8B030D-6E8A-4147-A177-3AD203B41FA5}">
                      <a16:colId xmlns:a16="http://schemas.microsoft.com/office/drawing/2014/main" val="20002"/>
                    </a:ext>
                  </a:extLst>
                </a:gridCol>
              </a:tblGrid>
              <a:tr h="370205">
                <a:tc>
                  <a:txBody>
                    <a:bodyPr/>
                    <a:lstStyle/>
                    <a:p>
                      <a:pPr marL="3810" algn="ctr">
                        <a:lnSpc>
                          <a:spcPct val="100000"/>
                        </a:lnSpc>
                        <a:spcBef>
                          <a:spcPts val="300"/>
                        </a:spcBef>
                      </a:pPr>
                      <a:r>
                        <a:rPr sz="1200" b="1" spc="-10" dirty="0">
                          <a:latin typeface="Calibri"/>
                          <a:cs typeface="Calibri"/>
                        </a:rPr>
                        <a:t>Commande</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00"/>
                        </a:spcBef>
                      </a:pPr>
                      <a:r>
                        <a:rPr sz="1200" b="1" spc="-10" dirty="0">
                          <a:latin typeface="Calibri"/>
                          <a:cs typeface="Calibri"/>
                        </a:rPr>
                        <a:t>Exemple</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300"/>
                        </a:spcBef>
                      </a:pPr>
                      <a:r>
                        <a:rPr sz="1200" b="1" spc="-10" dirty="0">
                          <a:latin typeface="Calibri"/>
                          <a:cs typeface="Calibri"/>
                        </a:rPr>
                        <a:t>Explication</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840">
                <a:tc>
                  <a:txBody>
                    <a:bodyPr/>
                    <a:lstStyle/>
                    <a:p>
                      <a:pPr marL="91440">
                        <a:lnSpc>
                          <a:spcPct val="100000"/>
                        </a:lnSpc>
                        <a:spcBef>
                          <a:spcPts val="300"/>
                        </a:spcBef>
                      </a:pPr>
                      <a:r>
                        <a:rPr sz="1200" dirty="0">
                          <a:latin typeface="Calibri"/>
                          <a:cs typeface="Calibri"/>
                        </a:rPr>
                        <a:t>nice</a:t>
                      </a:r>
                      <a:r>
                        <a:rPr sz="1200" spc="-25" dirty="0">
                          <a:latin typeface="Calibri"/>
                          <a:cs typeface="Calibri"/>
                        </a:rPr>
                        <a:t> </a:t>
                      </a:r>
                      <a:r>
                        <a:rPr sz="1200" dirty="0">
                          <a:latin typeface="Calibri"/>
                          <a:cs typeface="Calibri"/>
                        </a:rPr>
                        <a:t>–n</a:t>
                      </a:r>
                      <a:r>
                        <a:rPr sz="1200" spc="-30" dirty="0">
                          <a:latin typeface="Calibri"/>
                          <a:cs typeface="Calibri"/>
                        </a:rPr>
                        <a:t> </a:t>
                      </a:r>
                      <a:r>
                        <a:rPr sz="1200" dirty="0">
                          <a:latin typeface="Calibri"/>
                          <a:cs typeface="Calibri"/>
                        </a:rPr>
                        <a:t>priorité </a:t>
                      </a:r>
                      <a:r>
                        <a:rPr sz="1200" spc="-10" dirty="0">
                          <a:latin typeface="Calibri"/>
                          <a:cs typeface="Calibri"/>
                        </a:rPr>
                        <a:t>commande</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00"/>
                        </a:spcBef>
                      </a:pPr>
                      <a:r>
                        <a:rPr sz="1200" dirty="0">
                          <a:latin typeface="Calibri"/>
                          <a:cs typeface="Calibri"/>
                        </a:rPr>
                        <a:t>nice</a:t>
                      </a:r>
                      <a:r>
                        <a:rPr sz="1200" spc="-5" dirty="0">
                          <a:latin typeface="Calibri"/>
                          <a:cs typeface="Calibri"/>
                        </a:rPr>
                        <a:t> </a:t>
                      </a:r>
                      <a:r>
                        <a:rPr sz="1200" dirty="0">
                          <a:latin typeface="Calibri"/>
                          <a:cs typeface="Calibri"/>
                        </a:rPr>
                        <a:t>–n</a:t>
                      </a:r>
                      <a:r>
                        <a:rPr sz="1200" spc="-15" dirty="0">
                          <a:latin typeface="Calibri"/>
                          <a:cs typeface="Calibri"/>
                        </a:rPr>
                        <a:t> </a:t>
                      </a:r>
                      <a:r>
                        <a:rPr sz="1200" dirty="0">
                          <a:latin typeface="Calibri"/>
                          <a:cs typeface="Calibri"/>
                        </a:rPr>
                        <a:t>19</a:t>
                      </a:r>
                      <a:r>
                        <a:rPr sz="1200" spc="-15" dirty="0">
                          <a:latin typeface="Calibri"/>
                          <a:cs typeface="Calibri"/>
                        </a:rPr>
                        <a:t> </a:t>
                      </a:r>
                      <a:r>
                        <a:rPr sz="1200" spc="-20" dirty="0">
                          <a:latin typeface="Calibri"/>
                          <a:cs typeface="Calibri"/>
                        </a:rPr>
                        <a:t>find</a:t>
                      </a:r>
                      <a:endParaRPr sz="1200" dirty="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3345">
                        <a:lnSpc>
                          <a:spcPct val="100000"/>
                        </a:lnSpc>
                        <a:spcBef>
                          <a:spcPts val="300"/>
                        </a:spcBef>
                      </a:pPr>
                      <a:r>
                        <a:rPr sz="1200" dirty="0">
                          <a:latin typeface="Calibri"/>
                          <a:cs typeface="Calibri"/>
                        </a:rPr>
                        <a:t>Commande</a:t>
                      </a:r>
                      <a:r>
                        <a:rPr sz="1200" spc="-10" dirty="0">
                          <a:latin typeface="Calibri"/>
                          <a:cs typeface="Calibri"/>
                        </a:rPr>
                        <a:t> </a:t>
                      </a:r>
                      <a:r>
                        <a:rPr sz="1200" dirty="0">
                          <a:latin typeface="Calibri"/>
                          <a:cs typeface="Calibri"/>
                        </a:rPr>
                        <a:t>find</a:t>
                      </a:r>
                      <a:r>
                        <a:rPr sz="1200" spc="-20" dirty="0">
                          <a:latin typeface="Calibri"/>
                          <a:cs typeface="Calibri"/>
                        </a:rPr>
                        <a:t> </a:t>
                      </a:r>
                      <a:r>
                        <a:rPr sz="1200" dirty="0">
                          <a:latin typeface="Calibri"/>
                          <a:cs typeface="Calibri"/>
                        </a:rPr>
                        <a:t>avec</a:t>
                      </a:r>
                      <a:r>
                        <a:rPr sz="1200" spc="-40" dirty="0">
                          <a:latin typeface="Calibri"/>
                          <a:cs typeface="Calibri"/>
                        </a:rPr>
                        <a:t> </a:t>
                      </a:r>
                      <a:r>
                        <a:rPr sz="1200" dirty="0">
                          <a:latin typeface="Calibri"/>
                          <a:cs typeface="Calibri"/>
                        </a:rPr>
                        <a:t>la</a:t>
                      </a:r>
                      <a:r>
                        <a:rPr sz="1200" spc="-10" dirty="0">
                          <a:latin typeface="Calibri"/>
                          <a:cs typeface="Calibri"/>
                        </a:rPr>
                        <a:t> </a:t>
                      </a:r>
                      <a:r>
                        <a:rPr sz="1200" dirty="0">
                          <a:latin typeface="Calibri"/>
                          <a:cs typeface="Calibri"/>
                        </a:rPr>
                        <a:t>plus</a:t>
                      </a:r>
                      <a:r>
                        <a:rPr sz="1200" spc="-25" dirty="0">
                          <a:latin typeface="Calibri"/>
                          <a:cs typeface="Calibri"/>
                        </a:rPr>
                        <a:t> </a:t>
                      </a:r>
                      <a:r>
                        <a:rPr sz="1200" dirty="0">
                          <a:latin typeface="Calibri"/>
                          <a:cs typeface="Calibri"/>
                        </a:rPr>
                        <a:t>basse</a:t>
                      </a:r>
                      <a:r>
                        <a:rPr sz="1200" spc="-10" dirty="0">
                          <a:latin typeface="Calibri"/>
                          <a:cs typeface="Calibri"/>
                        </a:rPr>
                        <a:t> priorité.</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640080">
                <a:tc>
                  <a:txBody>
                    <a:bodyPr/>
                    <a:lstStyle/>
                    <a:p>
                      <a:pPr marL="91440">
                        <a:lnSpc>
                          <a:spcPct val="100000"/>
                        </a:lnSpc>
                        <a:spcBef>
                          <a:spcPts val="300"/>
                        </a:spcBef>
                      </a:pPr>
                      <a:r>
                        <a:rPr sz="1200" dirty="0">
                          <a:latin typeface="Calibri"/>
                          <a:cs typeface="Calibri"/>
                        </a:rPr>
                        <a:t>renice</a:t>
                      </a:r>
                      <a:r>
                        <a:rPr sz="1200" spc="-45" dirty="0">
                          <a:latin typeface="Calibri"/>
                          <a:cs typeface="Calibri"/>
                        </a:rPr>
                        <a:t> </a:t>
                      </a:r>
                      <a:r>
                        <a:rPr sz="1200" dirty="0">
                          <a:latin typeface="Calibri"/>
                          <a:cs typeface="Calibri"/>
                        </a:rPr>
                        <a:t>priorité</a:t>
                      </a:r>
                      <a:r>
                        <a:rPr sz="1200" spc="-50" dirty="0">
                          <a:latin typeface="Calibri"/>
                          <a:cs typeface="Calibri"/>
                        </a:rPr>
                        <a:t> </a:t>
                      </a:r>
                      <a:r>
                        <a:rPr sz="1200" spc="-25" dirty="0">
                          <a:latin typeface="Calibri"/>
                          <a:cs typeface="Calibri"/>
                        </a:rPr>
                        <a:t>PID</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00"/>
                        </a:spcBef>
                      </a:pPr>
                      <a:r>
                        <a:rPr sz="1200" dirty="0">
                          <a:latin typeface="Calibri"/>
                          <a:cs typeface="Calibri"/>
                        </a:rPr>
                        <a:t>renice</a:t>
                      </a:r>
                      <a:r>
                        <a:rPr sz="1200" spc="-15" dirty="0">
                          <a:latin typeface="Calibri"/>
                          <a:cs typeface="Calibri"/>
                        </a:rPr>
                        <a:t> </a:t>
                      </a:r>
                      <a:r>
                        <a:rPr sz="1200" dirty="0">
                          <a:latin typeface="Calibri"/>
                          <a:cs typeface="Calibri"/>
                        </a:rPr>
                        <a:t>−20</a:t>
                      </a:r>
                      <a:r>
                        <a:rPr sz="1200" spc="-45" dirty="0">
                          <a:latin typeface="Calibri"/>
                          <a:cs typeface="Calibri"/>
                        </a:rPr>
                        <a:t> </a:t>
                      </a:r>
                      <a:r>
                        <a:rPr sz="1200" spc="-20" dirty="0">
                          <a:latin typeface="Calibri"/>
                          <a:cs typeface="Calibri"/>
                        </a:rPr>
                        <a:t>2535</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3345" marR="727075" indent="81915">
                        <a:lnSpc>
                          <a:spcPct val="100000"/>
                        </a:lnSpc>
                        <a:spcBef>
                          <a:spcPts val="300"/>
                        </a:spcBef>
                        <a:buChar char="-"/>
                        <a:tabLst>
                          <a:tab pos="175260" algn="l"/>
                        </a:tabLst>
                      </a:pPr>
                      <a:r>
                        <a:rPr sz="1200" spc="-10" dirty="0">
                          <a:latin typeface="Calibri"/>
                          <a:cs typeface="Calibri"/>
                        </a:rPr>
                        <a:t>Attribuer</a:t>
                      </a:r>
                      <a:r>
                        <a:rPr sz="1200" spc="-60" dirty="0">
                          <a:latin typeface="Calibri"/>
                          <a:cs typeface="Calibri"/>
                        </a:rPr>
                        <a:t> </a:t>
                      </a:r>
                      <a:r>
                        <a:rPr sz="1200" dirty="0">
                          <a:latin typeface="Calibri"/>
                          <a:cs typeface="Calibri"/>
                        </a:rPr>
                        <a:t>la</a:t>
                      </a:r>
                      <a:r>
                        <a:rPr sz="1200" spc="-25" dirty="0">
                          <a:latin typeface="Calibri"/>
                          <a:cs typeface="Calibri"/>
                        </a:rPr>
                        <a:t> </a:t>
                      </a:r>
                      <a:r>
                        <a:rPr sz="1200" dirty="0">
                          <a:latin typeface="Calibri"/>
                          <a:cs typeface="Calibri"/>
                        </a:rPr>
                        <a:t>priorité</a:t>
                      </a:r>
                      <a:r>
                        <a:rPr sz="1200" spc="15" dirty="0">
                          <a:latin typeface="Calibri"/>
                          <a:cs typeface="Calibri"/>
                        </a:rPr>
                        <a:t> </a:t>
                      </a:r>
                      <a:r>
                        <a:rPr sz="1200" dirty="0">
                          <a:latin typeface="Calibri"/>
                          <a:cs typeface="Calibri"/>
                        </a:rPr>
                        <a:t>la</a:t>
                      </a:r>
                      <a:r>
                        <a:rPr sz="1200" spc="-25" dirty="0">
                          <a:latin typeface="Calibri"/>
                          <a:cs typeface="Calibri"/>
                        </a:rPr>
                        <a:t> </a:t>
                      </a:r>
                      <a:r>
                        <a:rPr sz="1200" dirty="0">
                          <a:latin typeface="Calibri"/>
                          <a:cs typeface="Calibri"/>
                        </a:rPr>
                        <a:t>plus</a:t>
                      </a:r>
                      <a:r>
                        <a:rPr sz="1200" spc="-40" dirty="0">
                          <a:latin typeface="Calibri"/>
                          <a:cs typeface="Calibri"/>
                        </a:rPr>
                        <a:t> </a:t>
                      </a:r>
                      <a:r>
                        <a:rPr sz="1200" dirty="0">
                          <a:latin typeface="Calibri"/>
                          <a:cs typeface="Calibri"/>
                        </a:rPr>
                        <a:t>haute</a:t>
                      </a:r>
                      <a:r>
                        <a:rPr sz="1200" spc="-25" dirty="0">
                          <a:latin typeface="Calibri"/>
                          <a:cs typeface="Calibri"/>
                        </a:rPr>
                        <a:t> au </a:t>
                      </a:r>
                      <a:r>
                        <a:rPr sz="1200" spc="-10" dirty="0">
                          <a:latin typeface="Calibri"/>
                          <a:cs typeface="Calibri"/>
                        </a:rPr>
                        <a:t>processus</a:t>
                      </a:r>
                      <a:r>
                        <a:rPr sz="1200" spc="15" dirty="0">
                          <a:latin typeface="Calibri"/>
                          <a:cs typeface="Calibri"/>
                        </a:rPr>
                        <a:t> </a:t>
                      </a:r>
                      <a:r>
                        <a:rPr sz="1200" spc="-10" dirty="0">
                          <a:latin typeface="Calibri"/>
                          <a:cs typeface="Calibri"/>
                        </a:rPr>
                        <a:t>2535.</a:t>
                      </a:r>
                      <a:endParaRPr sz="1200" dirty="0">
                        <a:latin typeface="Calibri"/>
                        <a:cs typeface="Calibri"/>
                      </a:endParaRPr>
                    </a:p>
                    <a:p>
                      <a:pPr marL="175260" indent="-81915">
                        <a:lnSpc>
                          <a:spcPct val="100000"/>
                        </a:lnSpc>
                        <a:buChar char="-"/>
                        <a:tabLst>
                          <a:tab pos="175260" algn="l"/>
                        </a:tabLst>
                      </a:pPr>
                      <a:r>
                        <a:rPr sz="1200" dirty="0">
                          <a:latin typeface="Calibri"/>
                          <a:cs typeface="Calibri"/>
                        </a:rPr>
                        <a:t>Seul</a:t>
                      </a:r>
                      <a:r>
                        <a:rPr sz="1200" spc="-55" dirty="0">
                          <a:latin typeface="Calibri"/>
                          <a:cs typeface="Calibri"/>
                        </a:rPr>
                        <a:t> </a:t>
                      </a:r>
                      <a:r>
                        <a:rPr sz="1200" dirty="0">
                          <a:latin typeface="Calibri"/>
                          <a:cs typeface="Calibri"/>
                        </a:rPr>
                        <a:t>le</a:t>
                      </a:r>
                      <a:r>
                        <a:rPr sz="1200" spc="-20" dirty="0">
                          <a:latin typeface="Calibri"/>
                          <a:cs typeface="Calibri"/>
                        </a:rPr>
                        <a:t> </a:t>
                      </a:r>
                      <a:r>
                        <a:rPr sz="1200" dirty="0">
                          <a:latin typeface="Calibri"/>
                          <a:cs typeface="Calibri"/>
                        </a:rPr>
                        <a:t>root peut</a:t>
                      </a:r>
                      <a:r>
                        <a:rPr sz="1200" spc="-35" dirty="0">
                          <a:latin typeface="Calibri"/>
                          <a:cs typeface="Calibri"/>
                        </a:rPr>
                        <a:t> </a:t>
                      </a:r>
                      <a:r>
                        <a:rPr sz="1200" dirty="0">
                          <a:latin typeface="Calibri"/>
                          <a:cs typeface="Calibri"/>
                        </a:rPr>
                        <a:t>attribuer</a:t>
                      </a:r>
                      <a:r>
                        <a:rPr sz="1200" spc="-30" dirty="0">
                          <a:latin typeface="Calibri"/>
                          <a:cs typeface="Calibri"/>
                        </a:rPr>
                        <a:t> </a:t>
                      </a:r>
                      <a:r>
                        <a:rPr sz="1200" spc="-10" dirty="0">
                          <a:latin typeface="Calibri"/>
                          <a:cs typeface="Calibri"/>
                        </a:rPr>
                        <a:t>cette</a:t>
                      </a:r>
                      <a:r>
                        <a:rPr sz="1200" spc="-40" dirty="0">
                          <a:latin typeface="Calibri"/>
                          <a:cs typeface="Calibri"/>
                        </a:rPr>
                        <a:t> </a:t>
                      </a:r>
                      <a:r>
                        <a:rPr sz="1200" spc="-10" dirty="0">
                          <a:latin typeface="Calibri"/>
                          <a:cs typeface="Calibri"/>
                        </a:rPr>
                        <a:t>priorité.</a:t>
                      </a:r>
                      <a:endParaRPr sz="1200" dirty="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
        <p:nvSpPr>
          <p:cNvPr id="14" name="object 14"/>
          <p:cNvSpPr txBox="1"/>
          <p:nvPr/>
        </p:nvSpPr>
        <p:spPr>
          <a:xfrm>
            <a:off x="4938801" y="4405669"/>
            <a:ext cx="2244090" cy="197490"/>
          </a:xfrm>
          <a:prstGeom prst="rect">
            <a:avLst/>
          </a:prstGeom>
        </p:spPr>
        <p:txBody>
          <a:bodyPr vert="horz" wrap="square" lIns="0" tIns="12700" rIns="0" bIns="0" rtlCol="0">
            <a:spAutoFit/>
          </a:bodyPr>
          <a:lstStyle/>
          <a:p>
            <a:pPr marL="12700">
              <a:lnSpc>
                <a:spcPct val="100000"/>
              </a:lnSpc>
              <a:spcBef>
                <a:spcPts val="100"/>
              </a:spcBef>
            </a:pPr>
            <a:r>
              <a:rPr sz="1200" i="1" dirty="0">
                <a:solidFill>
                  <a:srgbClr val="A6A6A6"/>
                </a:solidFill>
                <a:latin typeface="Calibri"/>
                <a:cs typeface="Calibri"/>
              </a:rPr>
              <a:t>Table</a:t>
            </a:r>
            <a:r>
              <a:rPr sz="1200" i="1" spc="229" dirty="0">
                <a:solidFill>
                  <a:srgbClr val="A6A6A6"/>
                </a:solidFill>
                <a:latin typeface="Calibri"/>
                <a:cs typeface="Calibri"/>
              </a:rPr>
              <a:t> </a:t>
            </a:r>
            <a:r>
              <a:rPr sz="1200" i="1" dirty="0" smtClean="0">
                <a:solidFill>
                  <a:srgbClr val="A6A6A6"/>
                </a:solidFill>
                <a:latin typeface="Calibri"/>
                <a:cs typeface="Calibri"/>
              </a:rPr>
              <a:t>1</a:t>
            </a:r>
            <a:r>
              <a:rPr sz="1200" i="1" spc="-25" dirty="0" smtClean="0">
                <a:solidFill>
                  <a:srgbClr val="A6A6A6"/>
                </a:solidFill>
                <a:latin typeface="Calibri"/>
                <a:cs typeface="Calibri"/>
              </a:rPr>
              <a:t> </a:t>
            </a:r>
            <a:r>
              <a:rPr sz="1200" i="1" dirty="0">
                <a:solidFill>
                  <a:srgbClr val="A6A6A6"/>
                </a:solidFill>
                <a:latin typeface="Calibri"/>
                <a:cs typeface="Calibri"/>
              </a:rPr>
              <a:t>:</a:t>
            </a:r>
            <a:r>
              <a:rPr sz="1200" i="1" spc="-20" dirty="0">
                <a:solidFill>
                  <a:srgbClr val="A6A6A6"/>
                </a:solidFill>
                <a:latin typeface="Calibri"/>
                <a:cs typeface="Calibri"/>
              </a:rPr>
              <a:t> </a:t>
            </a:r>
            <a:r>
              <a:rPr sz="1200" i="1" dirty="0">
                <a:solidFill>
                  <a:srgbClr val="A6A6A6"/>
                </a:solidFill>
                <a:latin typeface="Calibri"/>
                <a:cs typeface="Calibri"/>
              </a:rPr>
              <a:t>Commande</a:t>
            </a:r>
            <a:r>
              <a:rPr sz="1200" i="1" spc="-60" dirty="0">
                <a:solidFill>
                  <a:srgbClr val="A6A6A6"/>
                </a:solidFill>
                <a:latin typeface="Calibri"/>
                <a:cs typeface="Calibri"/>
              </a:rPr>
              <a:t> </a:t>
            </a:r>
            <a:r>
              <a:rPr sz="1200" i="1" dirty="0">
                <a:solidFill>
                  <a:srgbClr val="A6A6A6"/>
                </a:solidFill>
                <a:latin typeface="Calibri"/>
                <a:cs typeface="Calibri"/>
              </a:rPr>
              <a:t>nice</a:t>
            </a:r>
            <a:r>
              <a:rPr sz="1200" i="1" spc="-35" dirty="0">
                <a:solidFill>
                  <a:srgbClr val="A6A6A6"/>
                </a:solidFill>
                <a:latin typeface="Calibri"/>
                <a:cs typeface="Calibri"/>
              </a:rPr>
              <a:t> </a:t>
            </a:r>
            <a:r>
              <a:rPr sz="1200" i="1" dirty="0">
                <a:solidFill>
                  <a:srgbClr val="A6A6A6"/>
                </a:solidFill>
                <a:latin typeface="Calibri"/>
                <a:cs typeface="Calibri"/>
              </a:rPr>
              <a:t>et</a:t>
            </a:r>
            <a:r>
              <a:rPr sz="1200" i="1" spc="-30" dirty="0">
                <a:solidFill>
                  <a:srgbClr val="A6A6A6"/>
                </a:solidFill>
                <a:latin typeface="Calibri"/>
                <a:cs typeface="Calibri"/>
              </a:rPr>
              <a:t> </a:t>
            </a:r>
            <a:r>
              <a:rPr sz="1200" i="1" spc="-10" dirty="0">
                <a:solidFill>
                  <a:srgbClr val="A6A6A6"/>
                </a:solidFill>
                <a:latin typeface="Calibri"/>
                <a:cs typeface="Calibri"/>
              </a:rPr>
              <a:t>renice</a:t>
            </a:r>
            <a:endParaRPr sz="1200" dirty="0">
              <a:latin typeface="Calibri"/>
              <a:cs typeface="Calibri"/>
            </a:endParaRPr>
          </a:p>
        </p:txBody>
      </p:sp>
      <p:sp>
        <p:nvSpPr>
          <p:cNvPr id="18" name="object 11"/>
          <p:cNvSpPr txBox="1">
            <a:spLocks noGrp="1"/>
          </p:cNvSpPr>
          <p:nvPr>
            <p:ph type="title"/>
          </p:nvPr>
        </p:nvSpPr>
        <p:spPr>
          <a:xfrm>
            <a:off x="228600" y="304800"/>
            <a:ext cx="11664492" cy="699089"/>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a:p>
            <a:pPr marL="6985">
              <a:lnSpc>
                <a:spcPct val="100000"/>
              </a:lnSpc>
              <a:spcBef>
                <a:spcPts val="10"/>
              </a:spcBef>
            </a:pPr>
            <a:r>
              <a:rPr lang="fr-FR" sz="1600" spc="-10" dirty="0" smtClean="0">
                <a:solidFill>
                  <a:srgbClr val="0058A0"/>
                </a:solidFill>
              </a:rPr>
              <a:t>Gestion des processus sous Linux</a:t>
            </a:r>
            <a:endParaRPr sz="1600" dirty="0"/>
          </a:p>
        </p:txBody>
      </p:sp>
      <p:sp>
        <p:nvSpPr>
          <p:cNvPr id="19"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Tree>
    <p:extLst>
      <p:ext uri="{BB962C8B-B14F-4D97-AF65-F5344CB8AC3E}">
        <p14:creationId xmlns:p14="http://schemas.microsoft.com/office/powerpoint/2010/main" val="12686158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3"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50</a:t>
            </a:fld>
            <a:endParaRPr spc="-25" dirty="0"/>
          </a:p>
        </p:txBody>
      </p:sp>
      <p:sp>
        <p:nvSpPr>
          <p:cNvPr id="12" name="object 12"/>
          <p:cNvSpPr txBox="1"/>
          <p:nvPr/>
        </p:nvSpPr>
        <p:spPr>
          <a:xfrm>
            <a:off x="762000" y="1981200"/>
            <a:ext cx="9296400" cy="3057888"/>
          </a:xfrm>
          <a:prstGeom prst="rect">
            <a:avLst/>
          </a:prstGeom>
        </p:spPr>
        <p:txBody>
          <a:bodyPr vert="horz" wrap="square" lIns="0" tIns="13335" rIns="0" bIns="0" rtlCol="0">
            <a:spAutoFit/>
          </a:bodyPr>
          <a:lstStyle/>
          <a:p>
            <a:pPr marL="12700">
              <a:spcBef>
                <a:spcPts val="105"/>
              </a:spcBef>
            </a:pPr>
            <a:r>
              <a:rPr lang="fr-FR" sz="1600" b="1" dirty="0" smtClean="0">
                <a:solidFill>
                  <a:srgbClr val="FFC000"/>
                </a:solidFill>
                <a:latin typeface="Calibri"/>
                <a:cs typeface="Calibri"/>
              </a:rPr>
              <a:t>Rappel : </a:t>
            </a:r>
            <a:r>
              <a:rPr lang="fr-FR" sz="1600" b="1" dirty="0">
                <a:solidFill>
                  <a:srgbClr val="FFC000"/>
                </a:solidFill>
                <a:latin typeface="Calibri"/>
                <a:cs typeface="Calibri"/>
              </a:rPr>
              <a:t>Critères d’un bon ordonnanceur </a:t>
            </a:r>
            <a:r>
              <a:rPr lang="fr-FR" sz="1600" b="1" dirty="0" smtClean="0">
                <a:solidFill>
                  <a:srgbClr val="FFC000"/>
                </a:solidFill>
                <a:latin typeface="Calibri"/>
                <a:cs typeface="Calibri"/>
              </a:rPr>
              <a:t>:</a:t>
            </a:r>
          </a:p>
          <a:p>
            <a:pPr marL="12700">
              <a:spcBef>
                <a:spcPts val="105"/>
              </a:spcBef>
            </a:pPr>
            <a:endParaRPr lang="fr-FR" sz="1600" b="1" dirty="0">
              <a:solidFill>
                <a:srgbClr val="FFC000"/>
              </a:solidFill>
              <a:latin typeface="Calibri"/>
              <a:cs typeface="Calibri"/>
            </a:endParaRPr>
          </a:p>
          <a:p>
            <a:pPr marL="298450" indent="-285750">
              <a:lnSpc>
                <a:spcPct val="150000"/>
              </a:lnSpc>
              <a:spcBef>
                <a:spcPts val="105"/>
              </a:spcBef>
              <a:buFont typeface="Wingdings" panose="05000000000000000000" pitchFamily="2" charset="2"/>
              <a:buChar char="§"/>
            </a:pPr>
            <a:r>
              <a:rPr lang="fr-FR" sz="1600" b="1" dirty="0" smtClean="0">
                <a:solidFill>
                  <a:schemeClr val="tx1"/>
                </a:solidFill>
                <a:latin typeface="Calibri"/>
                <a:cs typeface="Calibri"/>
              </a:rPr>
              <a:t>Débit : </a:t>
            </a:r>
            <a:r>
              <a:rPr lang="fr-FR" sz="1600" dirty="0" smtClean="0">
                <a:solidFill>
                  <a:schemeClr val="tx1"/>
                </a:solidFill>
                <a:latin typeface="Calibri"/>
                <a:cs typeface="Calibri"/>
              </a:rPr>
              <a:t>Maximiser le nombre de processus achevés par unité de temps</a:t>
            </a:r>
          </a:p>
          <a:p>
            <a:pPr marL="298450" indent="-285750">
              <a:lnSpc>
                <a:spcPct val="150000"/>
              </a:lnSpc>
              <a:spcBef>
                <a:spcPts val="105"/>
              </a:spcBef>
              <a:buFont typeface="Wingdings" panose="05000000000000000000" pitchFamily="2" charset="2"/>
              <a:buChar char="§"/>
            </a:pPr>
            <a:r>
              <a:rPr lang="fr-FR" sz="1600" b="1" dirty="0" smtClean="0">
                <a:solidFill>
                  <a:schemeClr val="tx1"/>
                </a:solidFill>
                <a:latin typeface="Calibri"/>
                <a:cs typeface="Calibri"/>
              </a:rPr>
              <a:t>Efficacité : </a:t>
            </a:r>
            <a:r>
              <a:rPr lang="fr-FR" sz="1600" dirty="0" smtClean="0">
                <a:solidFill>
                  <a:schemeClr val="tx1"/>
                </a:solidFill>
                <a:latin typeface="Calibri"/>
                <a:cs typeface="Calibri"/>
              </a:rPr>
              <a:t>Utiliser le processeur à 100% pour ne pas gaspiller les cycles de CPU</a:t>
            </a:r>
          </a:p>
          <a:p>
            <a:pPr marL="298450" indent="-285750">
              <a:lnSpc>
                <a:spcPct val="150000"/>
              </a:lnSpc>
              <a:spcBef>
                <a:spcPts val="105"/>
              </a:spcBef>
              <a:buFont typeface="Wingdings" panose="05000000000000000000" pitchFamily="2" charset="2"/>
              <a:buChar char="§"/>
            </a:pPr>
            <a:r>
              <a:rPr lang="fr-FR" sz="1600" b="1" dirty="0" smtClean="0">
                <a:solidFill>
                  <a:schemeClr val="tx1"/>
                </a:solidFill>
                <a:latin typeface="Calibri"/>
                <a:cs typeface="Calibri"/>
              </a:rPr>
              <a:t>Temps d’exécution : </a:t>
            </a:r>
            <a:r>
              <a:rPr lang="fr-FR" sz="1600" dirty="0" smtClean="0">
                <a:solidFill>
                  <a:schemeClr val="tx1"/>
                </a:solidFill>
                <a:latin typeface="Calibri"/>
                <a:cs typeface="Calibri"/>
              </a:rPr>
              <a:t>Minimiser le temps pour qu’un processus soit achevé</a:t>
            </a:r>
          </a:p>
          <a:p>
            <a:pPr marL="298450" indent="-285750">
              <a:lnSpc>
                <a:spcPct val="150000"/>
              </a:lnSpc>
              <a:spcBef>
                <a:spcPts val="105"/>
              </a:spcBef>
              <a:buFont typeface="Wingdings" panose="05000000000000000000" pitchFamily="2" charset="2"/>
              <a:buChar char="§"/>
            </a:pPr>
            <a:r>
              <a:rPr lang="fr-FR" sz="1600" b="1" dirty="0" smtClean="0">
                <a:solidFill>
                  <a:schemeClr val="tx1"/>
                </a:solidFill>
                <a:latin typeface="Calibri"/>
                <a:cs typeface="Calibri"/>
              </a:rPr>
              <a:t>Temps d’attente : </a:t>
            </a:r>
            <a:r>
              <a:rPr lang="fr-FR" sz="1600" dirty="0" smtClean="0">
                <a:solidFill>
                  <a:schemeClr val="tx1"/>
                </a:solidFill>
                <a:latin typeface="Calibri"/>
                <a:cs typeface="Calibri"/>
              </a:rPr>
              <a:t>Minimiser le temps que les processus passent dans la file d’attente</a:t>
            </a:r>
          </a:p>
          <a:p>
            <a:pPr marL="298450" indent="-285750">
              <a:lnSpc>
                <a:spcPct val="150000"/>
              </a:lnSpc>
              <a:spcBef>
                <a:spcPts val="105"/>
              </a:spcBef>
              <a:buFont typeface="Wingdings" panose="05000000000000000000" pitchFamily="2" charset="2"/>
              <a:buChar char="§"/>
            </a:pPr>
            <a:r>
              <a:rPr lang="fr-FR" sz="1600" b="1" dirty="0" smtClean="0">
                <a:solidFill>
                  <a:schemeClr val="tx1"/>
                </a:solidFill>
                <a:latin typeface="Calibri"/>
                <a:cs typeface="Calibri"/>
              </a:rPr>
              <a:t>Equité </a:t>
            </a:r>
            <a:r>
              <a:rPr lang="fr-FR" sz="1600" b="1" smtClean="0">
                <a:solidFill>
                  <a:schemeClr val="tx1"/>
                </a:solidFill>
                <a:latin typeface="Calibri"/>
                <a:cs typeface="Calibri"/>
              </a:rPr>
              <a:t>: </a:t>
            </a:r>
            <a:r>
              <a:rPr lang="fr-FR" sz="1600" smtClean="0">
                <a:solidFill>
                  <a:schemeClr val="tx1"/>
                </a:solidFill>
                <a:latin typeface="Calibri"/>
                <a:cs typeface="Calibri"/>
              </a:rPr>
              <a:t> </a:t>
            </a:r>
            <a:r>
              <a:rPr lang="fr-FR" sz="1600">
                <a:solidFill>
                  <a:schemeClr val="tx1"/>
                </a:solidFill>
                <a:latin typeface="Calibri"/>
                <a:cs typeface="Calibri"/>
              </a:rPr>
              <a:t>C</a:t>
            </a:r>
            <a:r>
              <a:rPr lang="fr-FR" sz="1600" smtClean="0">
                <a:solidFill>
                  <a:schemeClr val="tx1"/>
                </a:solidFill>
                <a:latin typeface="Calibri"/>
                <a:cs typeface="Calibri"/>
              </a:rPr>
              <a:t>herche </a:t>
            </a:r>
            <a:r>
              <a:rPr lang="fr-FR" sz="1600" dirty="0" smtClean="0">
                <a:solidFill>
                  <a:schemeClr val="tx1"/>
                </a:solidFill>
                <a:latin typeface="Calibri"/>
                <a:cs typeface="Calibri"/>
              </a:rPr>
              <a:t>à distribuer équitablement les ressources disponibles entre les différentes tâches ou processus, sans favoriser indûment certains </a:t>
            </a:r>
            <a:r>
              <a:rPr lang="fr-FR" sz="1600" smtClean="0">
                <a:solidFill>
                  <a:schemeClr val="tx1"/>
                </a:solidFill>
                <a:latin typeface="Calibri"/>
                <a:cs typeface="Calibri"/>
              </a:rPr>
              <a:t>d'entre eux.</a:t>
            </a:r>
            <a:endParaRPr lang="fr-FR" sz="1600" dirty="0" smtClean="0">
              <a:solidFill>
                <a:schemeClr val="tx1"/>
              </a:solidFill>
              <a:latin typeface="Calibri"/>
              <a:cs typeface="Calibri"/>
            </a:endParaRPr>
          </a:p>
          <a:p>
            <a:pPr marL="12700">
              <a:spcBef>
                <a:spcPts val="105"/>
              </a:spcBef>
            </a:pPr>
            <a:endParaRPr sz="1600" b="1" dirty="0">
              <a:solidFill>
                <a:srgbClr val="FFC000"/>
              </a:solidFill>
              <a:latin typeface="Calibri"/>
              <a:cs typeface="Calibri"/>
            </a:endParaRPr>
          </a:p>
        </p:txBody>
      </p:sp>
      <p:sp>
        <p:nvSpPr>
          <p:cNvPr id="18" name="object 11"/>
          <p:cNvSpPr txBox="1">
            <a:spLocks noGrp="1"/>
          </p:cNvSpPr>
          <p:nvPr>
            <p:ph type="title"/>
          </p:nvPr>
        </p:nvSpPr>
        <p:spPr>
          <a:xfrm>
            <a:off x="228600" y="304800"/>
            <a:ext cx="11664492" cy="452868"/>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p:txBody>
      </p:sp>
      <p:sp>
        <p:nvSpPr>
          <p:cNvPr id="19"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Tree>
    <p:extLst>
      <p:ext uri="{BB962C8B-B14F-4D97-AF65-F5344CB8AC3E}">
        <p14:creationId xmlns:p14="http://schemas.microsoft.com/office/powerpoint/2010/main" val="28091692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2"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51</a:t>
            </a:fld>
            <a:endParaRPr spc="-25" dirty="0"/>
          </a:p>
        </p:txBody>
      </p:sp>
      <p:sp>
        <p:nvSpPr>
          <p:cNvPr id="12" name="object 12"/>
          <p:cNvSpPr txBox="1"/>
          <p:nvPr/>
        </p:nvSpPr>
        <p:spPr>
          <a:xfrm>
            <a:off x="762000" y="1598573"/>
            <a:ext cx="9296400" cy="1554913"/>
          </a:xfrm>
          <a:prstGeom prst="rect">
            <a:avLst/>
          </a:prstGeom>
        </p:spPr>
        <p:txBody>
          <a:bodyPr vert="horz" wrap="square" lIns="0" tIns="13335" rIns="0" bIns="0" rtlCol="0">
            <a:spAutoFit/>
          </a:bodyPr>
          <a:lstStyle/>
          <a:p>
            <a:pPr marL="12700">
              <a:spcBef>
                <a:spcPts val="105"/>
              </a:spcBef>
            </a:pPr>
            <a:r>
              <a:rPr lang="fr-FR" sz="1600" b="1" dirty="0" smtClean="0">
                <a:solidFill>
                  <a:srgbClr val="FFC000"/>
                </a:solidFill>
                <a:latin typeface="Calibri"/>
                <a:cs typeface="Calibri"/>
              </a:rPr>
              <a:t>Rappel : Types d’ordonnanceur :</a:t>
            </a:r>
          </a:p>
          <a:p>
            <a:pPr marL="12700">
              <a:spcBef>
                <a:spcPts val="105"/>
              </a:spcBef>
            </a:pPr>
            <a:r>
              <a:rPr lang="fr-FR" sz="1600" b="1" dirty="0">
                <a:solidFill>
                  <a:srgbClr val="FFC000"/>
                </a:solidFill>
                <a:latin typeface="Calibri"/>
                <a:cs typeface="Calibri"/>
              </a:rPr>
              <a:t> </a:t>
            </a:r>
          </a:p>
          <a:p>
            <a:pPr marL="298450" indent="-285750">
              <a:spcBef>
                <a:spcPts val="105"/>
              </a:spcBef>
              <a:buFont typeface="Wingdings" panose="05000000000000000000" pitchFamily="2" charset="2"/>
              <a:buChar char="§"/>
            </a:pPr>
            <a:r>
              <a:rPr lang="fr-FR" sz="1600" dirty="0" smtClean="0">
                <a:solidFill>
                  <a:schemeClr val="tx1"/>
                </a:solidFill>
                <a:latin typeface="Calibri"/>
                <a:cs typeface="Calibri"/>
              </a:rPr>
              <a:t>Préemptive</a:t>
            </a:r>
          </a:p>
          <a:p>
            <a:pPr marL="298450" indent="-285750">
              <a:spcBef>
                <a:spcPts val="105"/>
              </a:spcBef>
              <a:buFont typeface="Wingdings" panose="05000000000000000000" pitchFamily="2" charset="2"/>
              <a:buChar char="§"/>
            </a:pPr>
            <a:r>
              <a:rPr lang="fr-FR" sz="1600" dirty="0" smtClean="0">
                <a:solidFill>
                  <a:schemeClr val="tx1"/>
                </a:solidFill>
                <a:latin typeface="Calibri"/>
                <a:cs typeface="Calibri"/>
              </a:rPr>
              <a:t>Non Préemptive</a:t>
            </a:r>
          </a:p>
          <a:p>
            <a:pPr marL="12700">
              <a:spcBef>
                <a:spcPts val="105"/>
              </a:spcBef>
            </a:pPr>
            <a:endParaRPr lang="fr-FR" sz="1600" b="1" dirty="0">
              <a:solidFill>
                <a:srgbClr val="FFC000"/>
              </a:solidFill>
              <a:latin typeface="Calibri"/>
              <a:cs typeface="Calibri"/>
            </a:endParaRPr>
          </a:p>
          <a:p>
            <a:pPr marL="12700">
              <a:spcBef>
                <a:spcPts val="105"/>
              </a:spcBef>
            </a:pPr>
            <a:endParaRPr sz="1600" b="1" dirty="0">
              <a:solidFill>
                <a:srgbClr val="FFC000"/>
              </a:solidFill>
              <a:latin typeface="Calibri"/>
              <a:cs typeface="Calibri"/>
            </a:endParaRPr>
          </a:p>
        </p:txBody>
      </p:sp>
      <p:sp>
        <p:nvSpPr>
          <p:cNvPr id="18" name="object 11"/>
          <p:cNvSpPr txBox="1">
            <a:spLocks noGrp="1"/>
          </p:cNvSpPr>
          <p:nvPr>
            <p:ph type="title"/>
          </p:nvPr>
        </p:nvSpPr>
        <p:spPr>
          <a:xfrm>
            <a:off x="228600" y="304800"/>
            <a:ext cx="11664492" cy="452868"/>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p:txBody>
      </p:sp>
      <p:sp>
        <p:nvSpPr>
          <p:cNvPr id="19"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pic>
        <p:nvPicPr>
          <p:cNvPr id="11" name="Image 10"/>
          <p:cNvPicPr/>
          <p:nvPr/>
        </p:nvPicPr>
        <p:blipFill>
          <a:blip r:embed="rId3">
            <a:extLst>
              <a:ext uri="{28A0092B-C50C-407E-A947-70E740481C1C}">
                <a14:useLocalDpi xmlns:a14="http://schemas.microsoft.com/office/drawing/2010/main" val="0"/>
              </a:ext>
            </a:extLst>
          </a:blip>
          <a:srcRect/>
          <a:stretch>
            <a:fillRect/>
          </a:stretch>
        </p:blipFill>
        <p:spPr bwMode="auto">
          <a:xfrm>
            <a:off x="1461794" y="3057293"/>
            <a:ext cx="9268409" cy="3295584"/>
          </a:xfrm>
          <a:prstGeom prst="rect">
            <a:avLst/>
          </a:prstGeom>
          <a:noFill/>
          <a:ln>
            <a:noFill/>
          </a:ln>
        </p:spPr>
      </p:pic>
    </p:spTree>
    <p:extLst>
      <p:ext uri="{BB962C8B-B14F-4D97-AF65-F5344CB8AC3E}">
        <p14:creationId xmlns:p14="http://schemas.microsoft.com/office/powerpoint/2010/main" val="8507532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2"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52</a:t>
            </a:fld>
            <a:endParaRPr spc="-25" dirty="0"/>
          </a:p>
        </p:txBody>
      </p:sp>
      <p:sp>
        <p:nvSpPr>
          <p:cNvPr id="12" name="object 12"/>
          <p:cNvSpPr txBox="1"/>
          <p:nvPr/>
        </p:nvSpPr>
        <p:spPr>
          <a:xfrm>
            <a:off x="762000" y="1598573"/>
            <a:ext cx="9296400" cy="1295868"/>
          </a:xfrm>
          <a:prstGeom prst="rect">
            <a:avLst/>
          </a:prstGeom>
        </p:spPr>
        <p:txBody>
          <a:bodyPr vert="horz" wrap="square" lIns="0" tIns="13335" rIns="0" bIns="0" rtlCol="0">
            <a:spAutoFit/>
          </a:bodyPr>
          <a:lstStyle/>
          <a:p>
            <a:pPr marL="12700">
              <a:spcBef>
                <a:spcPts val="105"/>
              </a:spcBef>
            </a:pPr>
            <a:r>
              <a:rPr lang="fr-FR" sz="1600" b="1" dirty="0" smtClean="0">
                <a:solidFill>
                  <a:srgbClr val="FFC000"/>
                </a:solidFill>
                <a:latin typeface="Calibri"/>
                <a:cs typeface="Calibri"/>
              </a:rPr>
              <a:t>Rappel : Types d’ordonnanceur :</a:t>
            </a:r>
          </a:p>
          <a:p>
            <a:pPr marL="12700">
              <a:spcBef>
                <a:spcPts val="105"/>
              </a:spcBef>
            </a:pPr>
            <a:r>
              <a:rPr lang="fr-FR" sz="1600" b="1" dirty="0">
                <a:solidFill>
                  <a:srgbClr val="FFC000"/>
                </a:solidFill>
                <a:latin typeface="Calibri"/>
                <a:cs typeface="Calibri"/>
              </a:rPr>
              <a:t> </a:t>
            </a:r>
          </a:p>
          <a:p>
            <a:pPr marL="298450" indent="-285750">
              <a:spcBef>
                <a:spcPts val="105"/>
              </a:spcBef>
              <a:buFont typeface="Wingdings" panose="05000000000000000000" pitchFamily="2" charset="2"/>
              <a:buChar char="§"/>
            </a:pPr>
            <a:r>
              <a:rPr lang="fr-FR" sz="1600" dirty="0" smtClean="0">
                <a:solidFill>
                  <a:schemeClr val="tx1"/>
                </a:solidFill>
                <a:latin typeface="Calibri"/>
                <a:cs typeface="Calibri"/>
              </a:rPr>
              <a:t>Algorithmes Non Préemptive</a:t>
            </a:r>
          </a:p>
          <a:p>
            <a:pPr marL="12700">
              <a:spcBef>
                <a:spcPts val="105"/>
              </a:spcBef>
            </a:pPr>
            <a:endParaRPr lang="fr-FR" sz="1600" b="1" dirty="0">
              <a:solidFill>
                <a:srgbClr val="FFC000"/>
              </a:solidFill>
              <a:latin typeface="Calibri"/>
              <a:cs typeface="Calibri"/>
            </a:endParaRPr>
          </a:p>
          <a:p>
            <a:pPr marL="12700">
              <a:spcBef>
                <a:spcPts val="105"/>
              </a:spcBef>
            </a:pPr>
            <a:endParaRPr sz="1600" b="1" dirty="0">
              <a:solidFill>
                <a:srgbClr val="FFC000"/>
              </a:solidFill>
              <a:latin typeface="Calibri"/>
              <a:cs typeface="Calibri"/>
            </a:endParaRPr>
          </a:p>
        </p:txBody>
      </p:sp>
      <p:sp>
        <p:nvSpPr>
          <p:cNvPr id="18" name="object 11"/>
          <p:cNvSpPr txBox="1">
            <a:spLocks noGrp="1"/>
          </p:cNvSpPr>
          <p:nvPr>
            <p:ph type="title"/>
          </p:nvPr>
        </p:nvSpPr>
        <p:spPr>
          <a:xfrm>
            <a:off x="228600" y="304800"/>
            <a:ext cx="11664492" cy="452868"/>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p:txBody>
      </p:sp>
      <p:sp>
        <p:nvSpPr>
          <p:cNvPr id="19"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pic>
        <p:nvPicPr>
          <p:cNvPr id="13" name="Image 12"/>
          <p:cNvPicPr/>
          <p:nvPr/>
        </p:nvPicPr>
        <p:blipFill>
          <a:blip r:embed="rId3">
            <a:extLst>
              <a:ext uri="{28A0092B-C50C-407E-A947-70E740481C1C}">
                <a14:useLocalDpi xmlns:a14="http://schemas.microsoft.com/office/drawing/2010/main" val="0"/>
              </a:ext>
            </a:extLst>
          </a:blip>
          <a:srcRect/>
          <a:stretch>
            <a:fillRect/>
          </a:stretch>
        </p:blipFill>
        <p:spPr bwMode="auto">
          <a:xfrm>
            <a:off x="800671" y="2514600"/>
            <a:ext cx="10057257" cy="3577309"/>
          </a:xfrm>
          <a:prstGeom prst="rect">
            <a:avLst/>
          </a:prstGeom>
          <a:noFill/>
          <a:ln>
            <a:noFill/>
          </a:ln>
        </p:spPr>
      </p:pic>
    </p:spTree>
    <p:extLst>
      <p:ext uri="{BB962C8B-B14F-4D97-AF65-F5344CB8AC3E}">
        <p14:creationId xmlns:p14="http://schemas.microsoft.com/office/powerpoint/2010/main" val="12692594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3"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53</a:t>
            </a:fld>
            <a:endParaRPr spc="-25" dirty="0"/>
          </a:p>
        </p:txBody>
      </p:sp>
      <p:sp>
        <p:nvSpPr>
          <p:cNvPr id="12" name="object 12"/>
          <p:cNvSpPr txBox="1"/>
          <p:nvPr/>
        </p:nvSpPr>
        <p:spPr>
          <a:xfrm>
            <a:off x="762000" y="1598573"/>
            <a:ext cx="9296400" cy="1295868"/>
          </a:xfrm>
          <a:prstGeom prst="rect">
            <a:avLst/>
          </a:prstGeom>
        </p:spPr>
        <p:txBody>
          <a:bodyPr vert="horz" wrap="square" lIns="0" tIns="13335" rIns="0" bIns="0" rtlCol="0">
            <a:spAutoFit/>
          </a:bodyPr>
          <a:lstStyle/>
          <a:p>
            <a:pPr marL="12700">
              <a:spcBef>
                <a:spcPts val="105"/>
              </a:spcBef>
            </a:pPr>
            <a:r>
              <a:rPr lang="fr-FR" sz="1600" b="1" dirty="0" smtClean="0">
                <a:solidFill>
                  <a:srgbClr val="FFC000"/>
                </a:solidFill>
                <a:latin typeface="Calibri"/>
                <a:cs typeface="Calibri"/>
              </a:rPr>
              <a:t>Rappel : Types d’ordonnanceur :</a:t>
            </a:r>
          </a:p>
          <a:p>
            <a:pPr marL="12700">
              <a:spcBef>
                <a:spcPts val="105"/>
              </a:spcBef>
            </a:pPr>
            <a:r>
              <a:rPr lang="fr-FR" sz="1600" b="1" dirty="0">
                <a:solidFill>
                  <a:srgbClr val="FFC000"/>
                </a:solidFill>
                <a:latin typeface="Calibri"/>
                <a:cs typeface="Calibri"/>
              </a:rPr>
              <a:t> </a:t>
            </a:r>
          </a:p>
          <a:p>
            <a:pPr marL="298450" indent="-285750">
              <a:spcBef>
                <a:spcPts val="105"/>
              </a:spcBef>
              <a:buFont typeface="Wingdings" panose="05000000000000000000" pitchFamily="2" charset="2"/>
              <a:buChar char="§"/>
            </a:pPr>
            <a:r>
              <a:rPr lang="fr-FR" sz="1600" dirty="0" smtClean="0">
                <a:solidFill>
                  <a:schemeClr val="tx1"/>
                </a:solidFill>
                <a:latin typeface="Calibri"/>
                <a:cs typeface="Calibri"/>
              </a:rPr>
              <a:t>Algorithmes Préemptive</a:t>
            </a:r>
          </a:p>
          <a:p>
            <a:pPr marL="12700">
              <a:spcBef>
                <a:spcPts val="105"/>
              </a:spcBef>
            </a:pPr>
            <a:endParaRPr lang="fr-FR" sz="1600" b="1" dirty="0">
              <a:solidFill>
                <a:srgbClr val="FFC000"/>
              </a:solidFill>
              <a:latin typeface="Calibri"/>
              <a:cs typeface="Calibri"/>
            </a:endParaRPr>
          </a:p>
          <a:p>
            <a:pPr marL="12700">
              <a:spcBef>
                <a:spcPts val="105"/>
              </a:spcBef>
            </a:pPr>
            <a:endParaRPr sz="1600" b="1" dirty="0">
              <a:solidFill>
                <a:srgbClr val="FFC000"/>
              </a:solidFill>
              <a:latin typeface="Calibri"/>
              <a:cs typeface="Calibri"/>
            </a:endParaRPr>
          </a:p>
        </p:txBody>
      </p:sp>
      <p:sp>
        <p:nvSpPr>
          <p:cNvPr id="18" name="object 11"/>
          <p:cNvSpPr txBox="1">
            <a:spLocks noGrp="1"/>
          </p:cNvSpPr>
          <p:nvPr>
            <p:ph type="title"/>
          </p:nvPr>
        </p:nvSpPr>
        <p:spPr>
          <a:xfrm>
            <a:off x="228600" y="304800"/>
            <a:ext cx="11664492" cy="452868"/>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p:txBody>
      </p:sp>
      <p:sp>
        <p:nvSpPr>
          <p:cNvPr id="19"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pic>
        <p:nvPicPr>
          <p:cNvPr id="14" name="Image 13"/>
          <p:cNvPicPr/>
          <p:nvPr/>
        </p:nvPicPr>
        <p:blipFill>
          <a:blip r:embed="rId4">
            <a:extLst>
              <a:ext uri="{28A0092B-C50C-407E-A947-70E740481C1C}">
                <a14:useLocalDpi xmlns:a14="http://schemas.microsoft.com/office/drawing/2010/main" val="0"/>
              </a:ext>
            </a:extLst>
          </a:blip>
          <a:srcRect/>
          <a:stretch>
            <a:fillRect/>
          </a:stretch>
        </p:blipFill>
        <p:spPr bwMode="auto">
          <a:xfrm>
            <a:off x="919695" y="2590801"/>
            <a:ext cx="10282301" cy="3581400"/>
          </a:xfrm>
          <a:prstGeom prst="rect">
            <a:avLst/>
          </a:prstGeom>
          <a:noFill/>
          <a:ln>
            <a:noFill/>
          </a:ln>
        </p:spPr>
      </p:pic>
    </p:spTree>
    <p:extLst>
      <p:ext uri="{BB962C8B-B14F-4D97-AF65-F5344CB8AC3E}">
        <p14:creationId xmlns:p14="http://schemas.microsoft.com/office/powerpoint/2010/main" val="36939090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2"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54</a:t>
            </a:fld>
            <a:endParaRPr spc="-25" dirty="0"/>
          </a:p>
        </p:txBody>
      </p:sp>
      <p:sp>
        <p:nvSpPr>
          <p:cNvPr id="12" name="object 12"/>
          <p:cNvSpPr txBox="1"/>
          <p:nvPr/>
        </p:nvSpPr>
        <p:spPr>
          <a:xfrm>
            <a:off x="762000" y="1643684"/>
            <a:ext cx="6440018" cy="259686"/>
          </a:xfrm>
          <a:prstGeom prst="rect">
            <a:avLst/>
          </a:prstGeom>
        </p:spPr>
        <p:txBody>
          <a:bodyPr vert="horz" wrap="square" lIns="0" tIns="13335" rIns="0" bIns="0" rtlCol="0">
            <a:spAutoFit/>
          </a:bodyPr>
          <a:lstStyle/>
          <a:p>
            <a:pPr marL="12700">
              <a:lnSpc>
                <a:spcPct val="100000"/>
              </a:lnSpc>
              <a:spcBef>
                <a:spcPts val="105"/>
              </a:spcBef>
            </a:pPr>
            <a:r>
              <a:rPr lang="fr-FR" sz="1600" b="1" dirty="0" smtClean="0">
                <a:solidFill>
                  <a:srgbClr val="FFC000"/>
                </a:solidFill>
                <a:latin typeface="Calibri"/>
                <a:cs typeface="Calibri"/>
              </a:rPr>
              <a:t>Rappel : Création des processus </a:t>
            </a:r>
            <a:endParaRPr sz="1600" dirty="0">
              <a:solidFill>
                <a:srgbClr val="FFC000"/>
              </a:solidFill>
              <a:latin typeface="Calibri"/>
              <a:cs typeface="Calibri"/>
            </a:endParaRPr>
          </a:p>
        </p:txBody>
      </p:sp>
      <p:sp>
        <p:nvSpPr>
          <p:cNvPr id="18" name="object 11"/>
          <p:cNvSpPr txBox="1">
            <a:spLocks noGrp="1"/>
          </p:cNvSpPr>
          <p:nvPr>
            <p:ph type="title"/>
          </p:nvPr>
        </p:nvSpPr>
        <p:spPr>
          <a:xfrm>
            <a:off x="228600" y="304800"/>
            <a:ext cx="11664492" cy="452868"/>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p:txBody>
      </p:sp>
      <p:sp>
        <p:nvSpPr>
          <p:cNvPr id="19"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pic>
        <p:nvPicPr>
          <p:cNvPr id="16" name="Image 15"/>
          <p:cNvPicPr/>
          <p:nvPr/>
        </p:nvPicPr>
        <p:blipFill>
          <a:blip r:embed="rId3"/>
          <a:stretch>
            <a:fillRect/>
          </a:stretch>
        </p:blipFill>
        <p:spPr>
          <a:xfrm>
            <a:off x="2057400" y="2209801"/>
            <a:ext cx="7315200" cy="3819090"/>
          </a:xfrm>
          <a:prstGeom prst="rect">
            <a:avLst/>
          </a:prstGeom>
        </p:spPr>
      </p:pic>
    </p:spTree>
    <p:extLst>
      <p:ext uri="{BB962C8B-B14F-4D97-AF65-F5344CB8AC3E}">
        <p14:creationId xmlns:p14="http://schemas.microsoft.com/office/powerpoint/2010/main" val="42690595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2"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55</a:t>
            </a:fld>
            <a:endParaRPr spc="-25" dirty="0"/>
          </a:p>
        </p:txBody>
      </p:sp>
      <p:sp>
        <p:nvSpPr>
          <p:cNvPr id="12" name="object 12"/>
          <p:cNvSpPr txBox="1"/>
          <p:nvPr/>
        </p:nvSpPr>
        <p:spPr>
          <a:xfrm>
            <a:off x="762000" y="1643684"/>
            <a:ext cx="6440018" cy="259686"/>
          </a:xfrm>
          <a:prstGeom prst="rect">
            <a:avLst/>
          </a:prstGeom>
        </p:spPr>
        <p:txBody>
          <a:bodyPr vert="horz" wrap="square" lIns="0" tIns="13335" rIns="0" bIns="0" rtlCol="0">
            <a:spAutoFit/>
          </a:bodyPr>
          <a:lstStyle/>
          <a:p>
            <a:pPr marL="12700">
              <a:lnSpc>
                <a:spcPct val="100000"/>
              </a:lnSpc>
              <a:spcBef>
                <a:spcPts val="105"/>
              </a:spcBef>
            </a:pPr>
            <a:r>
              <a:rPr lang="fr-FR" sz="1600" b="1" dirty="0" smtClean="0">
                <a:solidFill>
                  <a:srgbClr val="FFC000"/>
                </a:solidFill>
                <a:latin typeface="Calibri"/>
                <a:cs typeface="Calibri"/>
              </a:rPr>
              <a:t>Rappel : Création des processus (exemple) </a:t>
            </a:r>
            <a:endParaRPr sz="1600" dirty="0">
              <a:solidFill>
                <a:srgbClr val="FFC000"/>
              </a:solidFill>
              <a:latin typeface="Calibri"/>
              <a:cs typeface="Calibri"/>
            </a:endParaRPr>
          </a:p>
        </p:txBody>
      </p:sp>
      <p:sp>
        <p:nvSpPr>
          <p:cNvPr id="18" name="object 11"/>
          <p:cNvSpPr txBox="1">
            <a:spLocks noGrp="1"/>
          </p:cNvSpPr>
          <p:nvPr>
            <p:ph type="title"/>
          </p:nvPr>
        </p:nvSpPr>
        <p:spPr>
          <a:xfrm>
            <a:off x="228600" y="304800"/>
            <a:ext cx="11664492" cy="452868"/>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p:txBody>
      </p:sp>
      <p:sp>
        <p:nvSpPr>
          <p:cNvPr id="19"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pic>
        <p:nvPicPr>
          <p:cNvPr id="7" name="Image 6"/>
          <p:cNvPicPr>
            <a:picLocks noChangeAspect="1"/>
          </p:cNvPicPr>
          <p:nvPr/>
        </p:nvPicPr>
        <p:blipFill>
          <a:blip r:embed="rId3"/>
          <a:stretch>
            <a:fillRect/>
          </a:stretch>
        </p:blipFill>
        <p:spPr>
          <a:xfrm>
            <a:off x="2895600" y="2158458"/>
            <a:ext cx="4819650" cy="3333750"/>
          </a:xfrm>
          <a:prstGeom prst="rect">
            <a:avLst/>
          </a:prstGeom>
        </p:spPr>
      </p:pic>
    </p:spTree>
    <p:extLst>
      <p:ext uri="{BB962C8B-B14F-4D97-AF65-F5344CB8AC3E}">
        <p14:creationId xmlns:p14="http://schemas.microsoft.com/office/powerpoint/2010/main" val="6420546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2"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56</a:t>
            </a:fld>
            <a:endParaRPr spc="-25" dirty="0"/>
          </a:p>
        </p:txBody>
      </p:sp>
      <p:sp>
        <p:nvSpPr>
          <p:cNvPr id="12" name="object 12"/>
          <p:cNvSpPr txBox="1"/>
          <p:nvPr/>
        </p:nvSpPr>
        <p:spPr>
          <a:xfrm>
            <a:off x="762000" y="1643684"/>
            <a:ext cx="6440018" cy="259686"/>
          </a:xfrm>
          <a:prstGeom prst="rect">
            <a:avLst/>
          </a:prstGeom>
        </p:spPr>
        <p:txBody>
          <a:bodyPr vert="horz" wrap="square" lIns="0" tIns="13335" rIns="0" bIns="0" rtlCol="0">
            <a:spAutoFit/>
          </a:bodyPr>
          <a:lstStyle/>
          <a:p>
            <a:pPr marL="12700">
              <a:lnSpc>
                <a:spcPct val="100000"/>
              </a:lnSpc>
              <a:spcBef>
                <a:spcPts val="105"/>
              </a:spcBef>
            </a:pPr>
            <a:r>
              <a:rPr lang="fr-FR" sz="1600" b="1" dirty="0" smtClean="0">
                <a:solidFill>
                  <a:srgbClr val="FFC000"/>
                </a:solidFill>
                <a:latin typeface="Calibri"/>
                <a:cs typeface="Calibri"/>
              </a:rPr>
              <a:t>Rappel : Création des processus (exemple) </a:t>
            </a:r>
            <a:endParaRPr sz="1600" dirty="0">
              <a:solidFill>
                <a:srgbClr val="FFC000"/>
              </a:solidFill>
              <a:latin typeface="Calibri"/>
              <a:cs typeface="Calibri"/>
            </a:endParaRPr>
          </a:p>
        </p:txBody>
      </p:sp>
      <p:sp>
        <p:nvSpPr>
          <p:cNvPr id="18" name="object 11"/>
          <p:cNvSpPr txBox="1">
            <a:spLocks noGrp="1"/>
          </p:cNvSpPr>
          <p:nvPr>
            <p:ph type="title"/>
          </p:nvPr>
        </p:nvSpPr>
        <p:spPr>
          <a:xfrm>
            <a:off x="228600" y="304800"/>
            <a:ext cx="11664492" cy="452868"/>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p:txBody>
      </p:sp>
      <p:sp>
        <p:nvSpPr>
          <p:cNvPr id="19"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pic>
        <p:nvPicPr>
          <p:cNvPr id="8" name="Image 7"/>
          <p:cNvPicPr>
            <a:picLocks noChangeAspect="1"/>
          </p:cNvPicPr>
          <p:nvPr/>
        </p:nvPicPr>
        <p:blipFill>
          <a:blip r:embed="rId3"/>
          <a:stretch>
            <a:fillRect/>
          </a:stretch>
        </p:blipFill>
        <p:spPr>
          <a:xfrm>
            <a:off x="762000" y="2460980"/>
            <a:ext cx="10363200" cy="2609850"/>
          </a:xfrm>
          <a:prstGeom prst="rect">
            <a:avLst/>
          </a:prstGeom>
        </p:spPr>
      </p:pic>
    </p:spTree>
    <p:extLst>
      <p:ext uri="{BB962C8B-B14F-4D97-AF65-F5344CB8AC3E}">
        <p14:creationId xmlns:p14="http://schemas.microsoft.com/office/powerpoint/2010/main" val="31644963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2"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57</a:t>
            </a:fld>
            <a:endParaRPr spc="-25" dirty="0"/>
          </a:p>
        </p:txBody>
      </p:sp>
      <p:sp>
        <p:nvSpPr>
          <p:cNvPr id="12" name="object 12"/>
          <p:cNvSpPr txBox="1"/>
          <p:nvPr/>
        </p:nvSpPr>
        <p:spPr>
          <a:xfrm>
            <a:off x="762000" y="1643684"/>
            <a:ext cx="6440018" cy="259686"/>
          </a:xfrm>
          <a:prstGeom prst="rect">
            <a:avLst/>
          </a:prstGeom>
        </p:spPr>
        <p:txBody>
          <a:bodyPr vert="horz" wrap="square" lIns="0" tIns="13335" rIns="0" bIns="0" rtlCol="0">
            <a:spAutoFit/>
          </a:bodyPr>
          <a:lstStyle/>
          <a:p>
            <a:pPr marL="12700">
              <a:lnSpc>
                <a:spcPct val="100000"/>
              </a:lnSpc>
              <a:spcBef>
                <a:spcPts val="105"/>
              </a:spcBef>
            </a:pPr>
            <a:r>
              <a:rPr lang="fr-FR" sz="1600" b="1" dirty="0" smtClean="0">
                <a:solidFill>
                  <a:srgbClr val="FFC000"/>
                </a:solidFill>
                <a:latin typeface="Calibri"/>
                <a:cs typeface="Calibri"/>
              </a:rPr>
              <a:t>Rappel : Création des processus (exemple) </a:t>
            </a:r>
            <a:endParaRPr sz="1600" dirty="0">
              <a:solidFill>
                <a:srgbClr val="FFC000"/>
              </a:solidFill>
              <a:latin typeface="Calibri"/>
              <a:cs typeface="Calibri"/>
            </a:endParaRPr>
          </a:p>
        </p:txBody>
      </p:sp>
      <p:sp>
        <p:nvSpPr>
          <p:cNvPr id="18" name="object 11"/>
          <p:cNvSpPr txBox="1">
            <a:spLocks noGrp="1"/>
          </p:cNvSpPr>
          <p:nvPr>
            <p:ph type="title"/>
          </p:nvPr>
        </p:nvSpPr>
        <p:spPr>
          <a:xfrm>
            <a:off x="228600" y="304800"/>
            <a:ext cx="11664492" cy="452868"/>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p:txBody>
      </p:sp>
      <p:sp>
        <p:nvSpPr>
          <p:cNvPr id="19"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pic>
        <p:nvPicPr>
          <p:cNvPr id="8" name="Image 7"/>
          <p:cNvPicPr>
            <a:picLocks noChangeAspect="1"/>
          </p:cNvPicPr>
          <p:nvPr/>
        </p:nvPicPr>
        <p:blipFill>
          <a:blip r:embed="rId3"/>
          <a:stretch>
            <a:fillRect/>
          </a:stretch>
        </p:blipFill>
        <p:spPr>
          <a:xfrm>
            <a:off x="762000" y="2460980"/>
            <a:ext cx="10363200" cy="2609850"/>
          </a:xfrm>
          <a:prstGeom prst="rect">
            <a:avLst/>
          </a:prstGeom>
        </p:spPr>
      </p:pic>
      <p:cxnSp>
        <p:nvCxnSpPr>
          <p:cNvPr id="9" name="Connecteur droit avec flèche 8"/>
          <p:cNvCxnSpPr/>
          <p:nvPr/>
        </p:nvCxnSpPr>
        <p:spPr>
          <a:xfrm flipV="1">
            <a:off x="5715000" y="3962400"/>
            <a:ext cx="1600200" cy="175260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14" name="Connecteur droit avec flèche 13"/>
          <p:cNvCxnSpPr/>
          <p:nvPr/>
        </p:nvCxnSpPr>
        <p:spPr>
          <a:xfrm flipV="1">
            <a:off x="5715000" y="5001196"/>
            <a:ext cx="2514600" cy="713804"/>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16" name="ZoneTexte 15"/>
          <p:cNvSpPr txBox="1"/>
          <p:nvPr/>
        </p:nvSpPr>
        <p:spPr>
          <a:xfrm>
            <a:off x="4327195" y="5628142"/>
            <a:ext cx="2514600" cy="338554"/>
          </a:xfrm>
          <a:prstGeom prst="rect">
            <a:avLst/>
          </a:prstGeom>
          <a:noFill/>
        </p:spPr>
        <p:txBody>
          <a:bodyPr wrap="square" rtlCol="0">
            <a:spAutoFit/>
          </a:bodyPr>
          <a:lstStyle/>
          <a:p>
            <a:r>
              <a:rPr lang="fr-FR" sz="1600" b="1" dirty="0">
                <a:solidFill>
                  <a:srgbClr val="FF0000"/>
                </a:solidFill>
                <a:latin typeface="Calibri"/>
                <a:cs typeface="Calibri"/>
              </a:rPr>
              <a:t>Retournent 1</a:t>
            </a:r>
          </a:p>
        </p:txBody>
      </p:sp>
    </p:spTree>
    <p:extLst>
      <p:ext uri="{BB962C8B-B14F-4D97-AF65-F5344CB8AC3E}">
        <p14:creationId xmlns:p14="http://schemas.microsoft.com/office/powerpoint/2010/main" val="14614048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3"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58</a:t>
            </a:fld>
            <a:endParaRPr spc="-25" dirty="0"/>
          </a:p>
        </p:txBody>
      </p:sp>
      <p:sp>
        <p:nvSpPr>
          <p:cNvPr id="12" name="object 12"/>
          <p:cNvSpPr txBox="1"/>
          <p:nvPr/>
        </p:nvSpPr>
        <p:spPr>
          <a:xfrm>
            <a:off x="762000" y="1643684"/>
            <a:ext cx="10210800" cy="1326645"/>
          </a:xfrm>
          <a:prstGeom prst="rect">
            <a:avLst/>
          </a:prstGeom>
        </p:spPr>
        <p:txBody>
          <a:bodyPr vert="horz" wrap="square" lIns="0" tIns="13335" rIns="0" bIns="0" rtlCol="0">
            <a:spAutoFit/>
          </a:bodyPr>
          <a:lstStyle/>
          <a:p>
            <a:pPr marL="12700">
              <a:lnSpc>
                <a:spcPct val="100000"/>
              </a:lnSpc>
              <a:spcBef>
                <a:spcPts val="105"/>
              </a:spcBef>
            </a:pPr>
            <a:r>
              <a:rPr lang="fr-FR" b="1" dirty="0" smtClean="0">
                <a:solidFill>
                  <a:srgbClr val="FFC000"/>
                </a:solidFill>
                <a:latin typeface="Calibri"/>
                <a:cs typeface="Calibri"/>
              </a:rPr>
              <a:t>La différence entre fork() et </a:t>
            </a:r>
            <a:r>
              <a:rPr lang="fr-FR" b="1" dirty="0" err="1" smtClean="0">
                <a:solidFill>
                  <a:srgbClr val="FFC000"/>
                </a:solidFill>
                <a:latin typeface="Calibri"/>
                <a:cs typeface="Calibri"/>
              </a:rPr>
              <a:t>exec</a:t>
            </a:r>
            <a:r>
              <a:rPr lang="fr-FR" b="1" dirty="0" smtClean="0">
                <a:solidFill>
                  <a:srgbClr val="FFC000"/>
                </a:solidFill>
                <a:latin typeface="Calibri"/>
                <a:cs typeface="Calibri"/>
              </a:rPr>
              <a:t>()</a:t>
            </a:r>
          </a:p>
          <a:p>
            <a:pPr marL="12700">
              <a:lnSpc>
                <a:spcPct val="100000"/>
              </a:lnSpc>
              <a:spcBef>
                <a:spcPts val="105"/>
              </a:spcBef>
            </a:pPr>
            <a:endParaRPr lang="fr-FR" sz="1600" b="1" dirty="0">
              <a:solidFill>
                <a:srgbClr val="FFC000"/>
              </a:solidFill>
              <a:latin typeface="Calibri"/>
              <a:cs typeface="Calibri"/>
            </a:endParaRPr>
          </a:p>
          <a:p>
            <a:pPr marL="298450" indent="-285750">
              <a:lnSpc>
                <a:spcPct val="100000"/>
              </a:lnSpc>
              <a:spcBef>
                <a:spcPts val="105"/>
              </a:spcBef>
              <a:buFont typeface="Arial" panose="020B0604020202020204" pitchFamily="34" charset="0"/>
              <a:buChar char="•"/>
            </a:pPr>
            <a:r>
              <a:rPr lang="fr-FR" sz="1600" b="1" u="sng" dirty="0" smtClean="0">
                <a:solidFill>
                  <a:schemeClr val="tx1"/>
                </a:solidFill>
                <a:latin typeface="Calibri"/>
                <a:cs typeface="Calibri"/>
              </a:rPr>
              <a:t>fork() </a:t>
            </a:r>
            <a:r>
              <a:rPr lang="fr-FR" sz="1600" dirty="0" smtClean="0">
                <a:solidFill>
                  <a:schemeClr val="tx1"/>
                </a:solidFill>
                <a:latin typeface="Calibri"/>
                <a:cs typeface="Calibri"/>
              </a:rPr>
              <a:t>est un appel système qui crée un nouveau processus enfant en dupliquant le processus parent</a:t>
            </a:r>
          </a:p>
          <a:p>
            <a:pPr marL="298450" indent="-285750">
              <a:lnSpc>
                <a:spcPct val="100000"/>
              </a:lnSpc>
              <a:spcBef>
                <a:spcPts val="105"/>
              </a:spcBef>
              <a:buFont typeface="Arial" panose="020B0604020202020204" pitchFamily="34" charset="0"/>
              <a:buChar char="•"/>
            </a:pPr>
            <a:r>
              <a:rPr lang="fr-FR" sz="1600" b="1" u="sng" dirty="0" err="1" smtClean="0">
                <a:solidFill>
                  <a:schemeClr val="tx1"/>
                </a:solidFill>
                <a:latin typeface="Calibri"/>
                <a:cs typeface="Calibri"/>
              </a:rPr>
              <a:t>exec</a:t>
            </a:r>
            <a:r>
              <a:rPr lang="fr-FR" sz="1600" b="1" u="sng" dirty="0" smtClean="0">
                <a:solidFill>
                  <a:schemeClr val="tx1"/>
                </a:solidFill>
                <a:latin typeface="Calibri"/>
                <a:cs typeface="Calibri"/>
              </a:rPr>
              <a:t>() </a:t>
            </a:r>
            <a:r>
              <a:rPr lang="fr-FR" sz="1600" dirty="0" smtClean="0">
                <a:solidFill>
                  <a:schemeClr val="tx1"/>
                </a:solidFill>
                <a:latin typeface="Calibri"/>
                <a:cs typeface="Calibri"/>
              </a:rPr>
              <a:t>est un appel système qui est utilisé pour remplacer le code d'un processus par celui d'un nouveau programme</a:t>
            </a:r>
          </a:p>
          <a:p>
            <a:pPr marL="12700">
              <a:lnSpc>
                <a:spcPct val="100000"/>
              </a:lnSpc>
              <a:spcBef>
                <a:spcPts val="105"/>
              </a:spcBef>
            </a:pPr>
            <a:endParaRPr sz="1600" dirty="0">
              <a:solidFill>
                <a:srgbClr val="FFC000"/>
              </a:solidFill>
              <a:latin typeface="Calibri"/>
              <a:cs typeface="Calibri"/>
            </a:endParaRPr>
          </a:p>
        </p:txBody>
      </p:sp>
      <p:sp>
        <p:nvSpPr>
          <p:cNvPr id="18" name="object 11"/>
          <p:cNvSpPr txBox="1">
            <a:spLocks noGrp="1"/>
          </p:cNvSpPr>
          <p:nvPr>
            <p:ph type="title"/>
          </p:nvPr>
        </p:nvSpPr>
        <p:spPr>
          <a:xfrm>
            <a:off x="228600" y="304800"/>
            <a:ext cx="11664492" cy="452868"/>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p:txBody>
      </p:sp>
      <p:sp>
        <p:nvSpPr>
          <p:cNvPr id="19"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pic>
        <p:nvPicPr>
          <p:cNvPr id="13" name="Image 12"/>
          <p:cNvPicPr/>
          <p:nvPr/>
        </p:nvPicPr>
        <p:blipFill>
          <a:blip r:embed="rId4">
            <a:extLst>
              <a:ext uri="{28A0092B-C50C-407E-A947-70E740481C1C}">
                <a14:useLocalDpi xmlns:a14="http://schemas.microsoft.com/office/drawing/2010/main" val="0"/>
              </a:ext>
            </a:extLst>
          </a:blip>
          <a:srcRect/>
          <a:stretch>
            <a:fillRect/>
          </a:stretch>
        </p:blipFill>
        <p:spPr bwMode="auto">
          <a:xfrm>
            <a:off x="3962400" y="2939552"/>
            <a:ext cx="4610100" cy="3092450"/>
          </a:xfrm>
          <a:prstGeom prst="rect">
            <a:avLst/>
          </a:prstGeom>
          <a:noFill/>
          <a:ln>
            <a:noFill/>
          </a:ln>
        </p:spPr>
      </p:pic>
    </p:spTree>
    <p:extLst>
      <p:ext uri="{BB962C8B-B14F-4D97-AF65-F5344CB8AC3E}">
        <p14:creationId xmlns:p14="http://schemas.microsoft.com/office/powerpoint/2010/main" val="33482443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3"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59</a:t>
            </a:fld>
            <a:endParaRPr spc="-25" dirty="0"/>
          </a:p>
        </p:txBody>
      </p:sp>
      <p:sp>
        <p:nvSpPr>
          <p:cNvPr id="12" name="object 12"/>
          <p:cNvSpPr txBox="1"/>
          <p:nvPr/>
        </p:nvSpPr>
        <p:spPr>
          <a:xfrm>
            <a:off x="762000" y="1643684"/>
            <a:ext cx="10210800" cy="518732"/>
          </a:xfrm>
          <a:prstGeom prst="rect">
            <a:avLst/>
          </a:prstGeom>
        </p:spPr>
        <p:txBody>
          <a:bodyPr vert="horz" wrap="square" lIns="0" tIns="13335" rIns="0" bIns="0" rtlCol="0">
            <a:spAutoFit/>
          </a:bodyPr>
          <a:lstStyle/>
          <a:p>
            <a:pPr marL="12700">
              <a:lnSpc>
                <a:spcPct val="100000"/>
              </a:lnSpc>
              <a:spcBef>
                <a:spcPts val="105"/>
              </a:spcBef>
            </a:pPr>
            <a:endParaRPr lang="fr-FR" sz="1600" b="1" dirty="0">
              <a:solidFill>
                <a:srgbClr val="FFC000"/>
              </a:solidFill>
              <a:latin typeface="Calibri"/>
              <a:cs typeface="Calibri"/>
            </a:endParaRPr>
          </a:p>
          <a:p>
            <a:pPr marL="298450" indent="-285750">
              <a:lnSpc>
                <a:spcPct val="100000"/>
              </a:lnSpc>
              <a:spcBef>
                <a:spcPts val="105"/>
              </a:spcBef>
              <a:buFont typeface="Arial" panose="020B0604020202020204" pitchFamily="34" charset="0"/>
              <a:buChar char="•"/>
            </a:pPr>
            <a:r>
              <a:rPr lang="fr-FR" sz="1600" b="1" u="sng" dirty="0" smtClean="0">
                <a:solidFill>
                  <a:schemeClr val="tx1"/>
                </a:solidFill>
                <a:latin typeface="Calibri"/>
                <a:cs typeface="Calibri"/>
              </a:rPr>
              <a:t> </a:t>
            </a:r>
            <a:r>
              <a:rPr lang="fr-FR" sz="1600" b="1" u="sng" dirty="0" err="1">
                <a:solidFill>
                  <a:schemeClr val="tx1"/>
                </a:solidFill>
                <a:latin typeface="Calibri"/>
                <a:cs typeface="Calibri"/>
              </a:rPr>
              <a:t>Tread</a:t>
            </a:r>
            <a:r>
              <a:rPr lang="fr-FR" sz="1600" dirty="0" smtClean="0">
                <a:solidFill>
                  <a:schemeClr val="tx1"/>
                </a:solidFill>
                <a:latin typeface="Calibri"/>
                <a:cs typeface="Calibri"/>
              </a:rPr>
              <a:t> : c’est un processus léger, représentant l’exécution parallèle d’un ensemble d’instructions</a:t>
            </a:r>
            <a:endParaRPr sz="1600" dirty="0">
              <a:solidFill>
                <a:srgbClr val="FFC000"/>
              </a:solidFill>
              <a:latin typeface="Calibri"/>
              <a:cs typeface="Calibri"/>
            </a:endParaRPr>
          </a:p>
        </p:txBody>
      </p:sp>
      <p:sp>
        <p:nvSpPr>
          <p:cNvPr id="18" name="object 11"/>
          <p:cNvSpPr txBox="1">
            <a:spLocks noGrp="1"/>
          </p:cNvSpPr>
          <p:nvPr>
            <p:ph type="title"/>
          </p:nvPr>
        </p:nvSpPr>
        <p:spPr>
          <a:xfrm>
            <a:off x="228600" y="304800"/>
            <a:ext cx="11664492" cy="452868"/>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p:txBody>
      </p:sp>
      <p:sp>
        <p:nvSpPr>
          <p:cNvPr id="19"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pic>
        <p:nvPicPr>
          <p:cNvPr id="14" name="Image 13"/>
          <p:cNvPicPr/>
          <p:nvPr/>
        </p:nvPicPr>
        <p:blipFill>
          <a:blip r:embed="rId4"/>
          <a:stretch>
            <a:fillRect/>
          </a:stretch>
        </p:blipFill>
        <p:spPr>
          <a:xfrm>
            <a:off x="2133600" y="2514600"/>
            <a:ext cx="6346901" cy="3418951"/>
          </a:xfrm>
          <a:prstGeom prst="rect">
            <a:avLst/>
          </a:prstGeom>
        </p:spPr>
      </p:pic>
    </p:spTree>
    <p:extLst>
      <p:ext uri="{BB962C8B-B14F-4D97-AF65-F5344CB8AC3E}">
        <p14:creationId xmlns:p14="http://schemas.microsoft.com/office/powerpoint/2010/main" val="17582163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3"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60</a:t>
            </a:fld>
            <a:endParaRPr spc="-25" dirty="0"/>
          </a:p>
        </p:txBody>
      </p:sp>
      <p:sp>
        <p:nvSpPr>
          <p:cNvPr id="12" name="object 12"/>
          <p:cNvSpPr txBox="1"/>
          <p:nvPr/>
        </p:nvSpPr>
        <p:spPr>
          <a:xfrm>
            <a:off x="762000" y="1643684"/>
            <a:ext cx="10210800" cy="2983509"/>
          </a:xfrm>
          <a:prstGeom prst="rect">
            <a:avLst/>
          </a:prstGeom>
        </p:spPr>
        <p:txBody>
          <a:bodyPr vert="horz" wrap="square" lIns="0" tIns="13335" rIns="0" bIns="0" rtlCol="0">
            <a:spAutoFit/>
          </a:bodyPr>
          <a:lstStyle/>
          <a:p>
            <a:pPr marL="12700">
              <a:lnSpc>
                <a:spcPct val="100000"/>
              </a:lnSpc>
              <a:spcBef>
                <a:spcPts val="105"/>
              </a:spcBef>
            </a:pPr>
            <a:r>
              <a:rPr lang="fr-FR" b="1" dirty="0" smtClean="0">
                <a:solidFill>
                  <a:srgbClr val="FFC000"/>
                </a:solidFill>
                <a:latin typeface="Calibri"/>
                <a:cs typeface="Calibri"/>
              </a:rPr>
              <a:t>La communication interprocessus</a:t>
            </a:r>
          </a:p>
          <a:p>
            <a:pPr marL="12700">
              <a:lnSpc>
                <a:spcPct val="100000"/>
              </a:lnSpc>
              <a:spcBef>
                <a:spcPts val="105"/>
              </a:spcBef>
            </a:pPr>
            <a:endParaRPr lang="fr-FR" b="1" dirty="0" smtClean="0">
              <a:solidFill>
                <a:srgbClr val="FFC000"/>
              </a:solidFill>
              <a:latin typeface="Calibri"/>
              <a:cs typeface="Calibri"/>
            </a:endParaRPr>
          </a:p>
          <a:p>
            <a:pPr marL="12700">
              <a:lnSpc>
                <a:spcPct val="100000"/>
              </a:lnSpc>
              <a:spcBef>
                <a:spcPts val="105"/>
              </a:spcBef>
            </a:pPr>
            <a:r>
              <a:rPr lang="fr-FR" sz="1600" b="1" dirty="0" smtClean="0">
                <a:solidFill>
                  <a:srgbClr val="FFC000"/>
                </a:solidFill>
                <a:latin typeface="Calibri"/>
                <a:cs typeface="Calibri"/>
              </a:rPr>
              <a:t> </a:t>
            </a:r>
            <a:r>
              <a:rPr lang="fr-FR" sz="1600" dirty="0" smtClean="0">
                <a:solidFill>
                  <a:schemeClr val="tx1"/>
                </a:solidFill>
                <a:latin typeface="Calibri"/>
                <a:cs typeface="Calibri"/>
              </a:rPr>
              <a:t>Les </a:t>
            </a:r>
            <a:r>
              <a:rPr lang="fr-FR" sz="1600" dirty="0">
                <a:solidFill>
                  <a:schemeClr val="tx1"/>
                </a:solidFill>
                <a:latin typeface="Calibri"/>
                <a:cs typeface="Calibri"/>
              </a:rPr>
              <a:t>méthodes couramment utilisées pour la communication </a:t>
            </a:r>
            <a:r>
              <a:rPr lang="fr-FR" sz="1600" dirty="0" smtClean="0">
                <a:solidFill>
                  <a:schemeClr val="tx1"/>
                </a:solidFill>
                <a:latin typeface="Calibri"/>
                <a:cs typeface="Calibri"/>
              </a:rPr>
              <a:t>interprocessus sont:</a:t>
            </a:r>
          </a:p>
          <a:p>
            <a:pPr marL="12700">
              <a:lnSpc>
                <a:spcPct val="100000"/>
              </a:lnSpc>
              <a:spcBef>
                <a:spcPts val="105"/>
              </a:spcBef>
            </a:pPr>
            <a:endParaRPr lang="fr-FR" sz="1600" dirty="0" smtClean="0">
              <a:solidFill>
                <a:schemeClr val="tx1"/>
              </a:solidFill>
              <a:latin typeface="Calibri"/>
              <a:cs typeface="Calibri"/>
            </a:endParaRPr>
          </a:p>
          <a:p>
            <a:pPr marL="298450" indent="-285750">
              <a:lnSpc>
                <a:spcPct val="150000"/>
              </a:lnSpc>
              <a:spcBef>
                <a:spcPts val="105"/>
              </a:spcBef>
              <a:buFont typeface="Arial" panose="020B0604020202020204" pitchFamily="34" charset="0"/>
              <a:buChar char="•"/>
            </a:pPr>
            <a:r>
              <a:rPr lang="fr-FR" sz="1600" b="1" dirty="0" smtClean="0">
                <a:solidFill>
                  <a:schemeClr val="tx1"/>
                </a:solidFill>
                <a:latin typeface="Calibri"/>
                <a:cs typeface="Calibri"/>
              </a:rPr>
              <a:t>Pipes </a:t>
            </a:r>
            <a:r>
              <a:rPr lang="fr-FR" sz="1600" dirty="0" smtClean="0">
                <a:solidFill>
                  <a:schemeClr val="tx1"/>
                </a:solidFill>
                <a:latin typeface="Calibri"/>
                <a:cs typeface="Calibri"/>
              </a:rPr>
              <a:t>: canaux de communication qui relient la sortie standard d'un processus à l'entrée standard d'un autre processus</a:t>
            </a:r>
          </a:p>
          <a:p>
            <a:pPr marL="298450" indent="-285750">
              <a:lnSpc>
                <a:spcPct val="150000"/>
              </a:lnSpc>
              <a:spcBef>
                <a:spcPts val="105"/>
              </a:spcBef>
              <a:buFont typeface="Arial" panose="020B0604020202020204" pitchFamily="34" charset="0"/>
              <a:buChar char="•"/>
            </a:pPr>
            <a:r>
              <a:rPr lang="fr-FR" sz="1600" b="1" dirty="0" smtClean="0">
                <a:solidFill>
                  <a:schemeClr val="tx1"/>
                </a:solidFill>
                <a:latin typeface="Calibri"/>
                <a:cs typeface="Calibri"/>
              </a:rPr>
              <a:t>Sockets : </a:t>
            </a:r>
            <a:r>
              <a:rPr lang="fr-FR" sz="1600" dirty="0" smtClean="0">
                <a:solidFill>
                  <a:schemeClr val="tx1"/>
                </a:solidFill>
                <a:latin typeface="Calibri"/>
                <a:cs typeface="Calibri"/>
              </a:rPr>
              <a:t>Les sockets permettent la communication entre des processus s'exécutant sur des machines différentes, ainsi que sur la même machine. Ils sont couramment utilisés pour la communication réseau.</a:t>
            </a:r>
          </a:p>
          <a:p>
            <a:pPr marL="298450" indent="-285750">
              <a:lnSpc>
                <a:spcPct val="150000"/>
              </a:lnSpc>
              <a:spcBef>
                <a:spcPts val="105"/>
              </a:spcBef>
              <a:buFont typeface="Arial" panose="020B0604020202020204" pitchFamily="34" charset="0"/>
              <a:buChar char="•"/>
            </a:pPr>
            <a:r>
              <a:rPr lang="fr-FR" sz="1600" b="1" dirty="0" smtClean="0">
                <a:solidFill>
                  <a:schemeClr val="tx1"/>
                </a:solidFill>
                <a:latin typeface="Calibri"/>
                <a:cs typeface="Calibri"/>
              </a:rPr>
              <a:t>Signaux : </a:t>
            </a:r>
            <a:r>
              <a:rPr lang="fr-FR" sz="1600" dirty="0" smtClean="0">
                <a:solidFill>
                  <a:schemeClr val="tx1"/>
                </a:solidFill>
                <a:latin typeface="Calibri"/>
                <a:cs typeface="Calibri"/>
              </a:rPr>
              <a:t>Les signaux sont des notifications asynchrones envoyées à un processus pour indiquer un événement ou une condition particulière. </a:t>
            </a:r>
            <a:endParaRPr sz="1600" dirty="0">
              <a:solidFill>
                <a:schemeClr val="tx1"/>
              </a:solidFill>
              <a:latin typeface="Calibri"/>
              <a:cs typeface="Calibri"/>
            </a:endParaRPr>
          </a:p>
        </p:txBody>
      </p:sp>
      <p:sp>
        <p:nvSpPr>
          <p:cNvPr id="18" name="object 11"/>
          <p:cNvSpPr txBox="1">
            <a:spLocks noGrp="1"/>
          </p:cNvSpPr>
          <p:nvPr>
            <p:ph type="title"/>
          </p:nvPr>
        </p:nvSpPr>
        <p:spPr>
          <a:xfrm>
            <a:off x="228600" y="304800"/>
            <a:ext cx="11664492" cy="452868"/>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p:txBody>
      </p:sp>
      <p:sp>
        <p:nvSpPr>
          <p:cNvPr id="19"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Tree>
    <p:extLst>
      <p:ext uri="{BB962C8B-B14F-4D97-AF65-F5344CB8AC3E}">
        <p14:creationId xmlns:p14="http://schemas.microsoft.com/office/powerpoint/2010/main" val="11849690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3"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61</a:t>
            </a:fld>
            <a:endParaRPr spc="-25" dirty="0"/>
          </a:p>
        </p:txBody>
      </p:sp>
      <p:sp>
        <p:nvSpPr>
          <p:cNvPr id="12" name="object 12"/>
          <p:cNvSpPr txBox="1"/>
          <p:nvPr/>
        </p:nvSpPr>
        <p:spPr>
          <a:xfrm>
            <a:off x="762000" y="1643684"/>
            <a:ext cx="10210800" cy="839332"/>
          </a:xfrm>
          <a:prstGeom prst="rect">
            <a:avLst/>
          </a:prstGeom>
        </p:spPr>
        <p:txBody>
          <a:bodyPr vert="horz" wrap="square" lIns="0" tIns="13335" rIns="0" bIns="0" rtlCol="0">
            <a:spAutoFit/>
          </a:bodyPr>
          <a:lstStyle/>
          <a:p>
            <a:pPr marL="12700">
              <a:lnSpc>
                <a:spcPct val="100000"/>
              </a:lnSpc>
              <a:spcBef>
                <a:spcPts val="105"/>
              </a:spcBef>
            </a:pPr>
            <a:r>
              <a:rPr lang="fr-FR" b="1" dirty="0" smtClean="0">
                <a:solidFill>
                  <a:srgbClr val="FFC000"/>
                </a:solidFill>
                <a:latin typeface="Calibri"/>
                <a:cs typeface="Calibri"/>
              </a:rPr>
              <a:t>La communication interprocessus (Pipes)</a:t>
            </a:r>
          </a:p>
          <a:p>
            <a:pPr marL="12700">
              <a:lnSpc>
                <a:spcPct val="100000"/>
              </a:lnSpc>
              <a:spcBef>
                <a:spcPts val="105"/>
              </a:spcBef>
            </a:pPr>
            <a:endParaRPr lang="fr-FR" b="1" dirty="0" smtClean="0">
              <a:solidFill>
                <a:srgbClr val="FFC000"/>
              </a:solidFill>
              <a:latin typeface="Calibri"/>
              <a:cs typeface="Calibri"/>
            </a:endParaRPr>
          </a:p>
          <a:p>
            <a:pPr marL="12700">
              <a:lnSpc>
                <a:spcPct val="100000"/>
              </a:lnSpc>
              <a:spcBef>
                <a:spcPts val="105"/>
              </a:spcBef>
            </a:pPr>
            <a:r>
              <a:rPr lang="fr-FR" sz="1600" b="1" dirty="0" smtClean="0">
                <a:solidFill>
                  <a:schemeClr val="tx1"/>
                </a:solidFill>
                <a:latin typeface="Calibri"/>
                <a:cs typeface="Calibri"/>
              </a:rPr>
              <a:t>Un pipe est un canal de communication unidirectionnel </a:t>
            </a:r>
            <a:endParaRPr sz="1600" dirty="0">
              <a:solidFill>
                <a:schemeClr val="tx1"/>
              </a:solidFill>
              <a:latin typeface="Calibri"/>
              <a:cs typeface="Calibri"/>
            </a:endParaRPr>
          </a:p>
        </p:txBody>
      </p:sp>
      <p:sp>
        <p:nvSpPr>
          <p:cNvPr id="18" name="object 11"/>
          <p:cNvSpPr txBox="1">
            <a:spLocks noGrp="1"/>
          </p:cNvSpPr>
          <p:nvPr>
            <p:ph type="title"/>
          </p:nvPr>
        </p:nvSpPr>
        <p:spPr>
          <a:xfrm>
            <a:off x="228600" y="304800"/>
            <a:ext cx="11664492" cy="452868"/>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p:txBody>
      </p:sp>
      <p:sp>
        <p:nvSpPr>
          <p:cNvPr id="19"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pic>
        <p:nvPicPr>
          <p:cNvPr id="14" name="Image 13"/>
          <p:cNvPicPr/>
          <p:nvPr/>
        </p:nvPicPr>
        <p:blipFill>
          <a:blip r:embed="rId4">
            <a:extLst>
              <a:ext uri="{28A0092B-C50C-407E-A947-70E740481C1C}">
                <a14:useLocalDpi xmlns:a14="http://schemas.microsoft.com/office/drawing/2010/main" val="0"/>
              </a:ext>
            </a:extLst>
          </a:blip>
          <a:srcRect/>
          <a:stretch>
            <a:fillRect/>
          </a:stretch>
        </p:blipFill>
        <p:spPr bwMode="auto">
          <a:xfrm>
            <a:off x="1071499" y="2856660"/>
            <a:ext cx="10287000" cy="3382712"/>
          </a:xfrm>
          <a:prstGeom prst="rect">
            <a:avLst/>
          </a:prstGeom>
          <a:noFill/>
          <a:ln>
            <a:noFill/>
          </a:ln>
        </p:spPr>
      </p:pic>
    </p:spTree>
    <p:extLst>
      <p:ext uri="{BB962C8B-B14F-4D97-AF65-F5344CB8AC3E}">
        <p14:creationId xmlns:p14="http://schemas.microsoft.com/office/powerpoint/2010/main" val="21019551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3"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62</a:t>
            </a:fld>
            <a:endParaRPr spc="-25" dirty="0"/>
          </a:p>
        </p:txBody>
      </p:sp>
      <p:sp>
        <p:nvSpPr>
          <p:cNvPr id="12" name="object 12"/>
          <p:cNvSpPr txBox="1"/>
          <p:nvPr/>
        </p:nvSpPr>
        <p:spPr>
          <a:xfrm>
            <a:off x="762000" y="1643684"/>
            <a:ext cx="10210800" cy="839332"/>
          </a:xfrm>
          <a:prstGeom prst="rect">
            <a:avLst/>
          </a:prstGeom>
        </p:spPr>
        <p:txBody>
          <a:bodyPr vert="horz" wrap="square" lIns="0" tIns="13335" rIns="0" bIns="0" rtlCol="0">
            <a:spAutoFit/>
          </a:bodyPr>
          <a:lstStyle/>
          <a:p>
            <a:pPr marL="12700">
              <a:lnSpc>
                <a:spcPct val="100000"/>
              </a:lnSpc>
              <a:spcBef>
                <a:spcPts val="105"/>
              </a:spcBef>
            </a:pPr>
            <a:r>
              <a:rPr lang="fr-FR" b="1" dirty="0" smtClean="0">
                <a:solidFill>
                  <a:srgbClr val="FFC000"/>
                </a:solidFill>
                <a:latin typeface="Calibri"/>
                <a:cs typeface="Calibri"/>
              </a:rPr>
              <a:t>La communication interprocessus (Pipes) (Exemple)</a:t>
            </a:r>
          </a:p>
          <a:p>
            <a:pPr marL="12700">
              <a:lnSpc>
                <a:spcPct val="100000"/>
              </a:lnSpc>
              <a:spcBef>
                <a:spcPts val="105"/>
              </a:spcBef>
            </a:pPr>
            <a:endParaRPr lang="fr-FR" b="1" dirty="0" smtClean="0">
              <a:solidFill>
                <a:srgbClr val="FFC000"/>
              </a:solidFill>
              <a:latin typeface="Calibri"/>
              <a:cs typeface="Calibri"/>
            </a:endParaRPr>
          </a:p>
          <a:p>
            <a:pPr marL="12700">
              <a:lnSpc>
                <a:spcPct val="100000"/>
              </a:lnSpc>
              <a:spcBef>
                <a:spcPts val="105"/>
              </a:spcBef>
            </a:pPr>
            <a:r>
              <a:rPr lang="fr-FR" sz="1600" b="1" dirty="0" smtClean="0">
                <a:solidFill>
                  <a:schemeClr val="tx1"/>
                </a:solidFill>
                <a:latin typeface="Calibri"/>
                <a:cs typeface="Calibri"/>
              </a:rPr>
              <a:t> </a:t>
            </a:r>
            <a:endParaRPr sz="1600" dirty="0">
              <a:solidFill>
                <a:schemeClr val="tx1"/>
              </a:solidFill>
              <a:latin typeface="Calibri"/>
              <a:cs typeface="Calibri"/>
            </a:endParaRPr>
          </a:p>
        </p:txBody>
      </p:sp>
      <p:sp>
        <p:nvSpPr>
          <p:cNvPr id="18" name="object 11"/>
          <p:cNvSpPr txBox="1">
            <a:spLocks noGrp="1"/>
          </p:cNvSpPr>
          <p:nvPr>
            <p:ph type="title"/>
          </p:nvPr>
        </p:nvSpPr>
        <p:spPr>
          <a:xfrm>
            <a:off x="228600" y="304800"/>
            <a:ext cx="11664492" cy="452868"/>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p:txBody>
      </p:sp>
      <p:sp>
        <p:nvSpPr>
          <p:cNvPr id="19"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pic>
        <p:nvPicPr>
          <p:cNvPr id="7" name="Image 6"/>
          <p:cNvPicPr>
            <a:picLocks noChangeAspect="1"/>
          </p:cNvPicPr>
          <p:nvPr/>
        </p:nvPicPr>
        <p:blipFill>
          <a:blip r:embed="rId4"/>
          <a:stretch>
            <a:fillRect/>
          </a:stretch>
        </p:blipFill>
        <p:spPr>
          <a:xfrm>
            <a:off x="1524000" y="2063350"/>
            <a:ext cx="8686800" cy="4197349"/>
          </a:xfrm>
          <a:prstGeom prst="rect">
            <a:avLst/>
          </a:prstGeom>
        </p:spPr>
      </p:pic>
    </p:spTree>
    <p:extLst>
      <p:ext uri="{BB962C8B-B14F-4D97-AF65-F5344CB8AC3E}">
        <p14:creationId xmlns:p14="http://schemas.microsoft.com/office/powerpoint/2010/main" val="3061891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3"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63</a:t>
            </a:fld>
            <a:endParaRPr spc="-25" dirty="0"/>
          </a:p>
        </p:txBody>
      </p:sp>
      <p:sp>
        <p:nvSpPr>
          <p:cNvPr id="12" name="object 12"/>
          <p:cNvSpPr txBox="1"/>
          <p:nvPr/>
        </p:nvSpPr>
        <p:spPr>
          <a:xfrm>
            <a:off x="762000" y="1643684"/>
            <a:ext cx="10210800" cy="839332"/>
          </a:xfrm>
          <a:prstGeom prst="rect">
            <a:avLst/>
          </a:prstGeom>
        </p:spPr>
        <p:txBody>
          <a:bodyPr vert="horz" wrap="square" lIns="0" tIns="13335" rIns="0" bIns="0" rtlCol="0">
            <a:spAutoFit/>
          </a:bodyPr>
          <a:lstStyle/>
          <a:p>
            <a:pPr marL="12700">
              <a:lnSpc>
                <a:spcPct val="100000"/>
              </a:lnSpc>
              <a:spcBef>
                <a:spcPts val="105"/>
              </a:spcBef>
            </a:pPr>
            <a:r>
              <a:rPr lang="fr-FR" b="1" dirty="0" smtClean="0">
                <a:solidFill>
                  <a:srgbClr val="FFC000"/>
                </a:solidFill>
                <a:latin typeface="Calibri"/>
                <a:cs typeface="Calibri"/>
              </a:rPr>
              <a:t>La communication interprocessus (Pipes) (Exemple)</a:t>
            </a:r>
          </a:p>
          <a:p>
            <a:pPr marL="12700">
              <a:lnSpc>
                <a:spcPct val="100000"/>
              </a:lnSpc>
              <a:spcBef>
                <a:spcPts val="105"/>
              </a:spcBef>
            </a:pPr>
            <a:endParaRPr lang="fr-FR" b="1" dirty="0" smtClean="0">
              <a:solidFill>
                <a:srgbClr val="FFC000"/>
              </a:solidFill>
              <a:latin typeface="Calibri"/>
              <a:cs typeface="Calibri"/>
            </a:endParaRPr>
          </a:p>
          <a:p>
            <a:pPr marL="12700">
              <a:lnSpc>
                <a:spcPct val="100000"/>
              </a:lnSpc>
              <a:spcBef>
                <a:spcPts val="105"/>
              </a:spcBef>
            </a:pPr>
            <a:r>
              <a:rPr lang="fr-FR" sz="1600" b="1" dirty="0" smtClean="0">
                <a:solidFill>
                  <a:schemeClr val="tx1"/>
                </a:solidFill>
                <a:latin typeface="Calibri"/>
                <a:cs typeface="Calibri"/>
              </a:rPr>
              <a:t> </a:t>
            </a:r>
            <a:endParaRPr sz="1600" dirty="0">
              <a:solidFill>
                <a:schemeClr val="tx1"/>
              </a:solidFill>
              <a:latin typeface="Calibri"/>
              <a:cs typeface="Calibri"/>
            </a:endParaRPr>
          </a:p>
        </p:txBody>
      </p:sp>
      <p:sp>
        <p:nvSpPr>
          <p:cNvPr id="18" name="object 11"/>
          <p:cNvSpPr txBox="1">
            <a:spLocks noGrp="1"/>
          </p:cNvSpPr>
          <p:nvPr>
            <p:ph type="title"/>
          </p:nvPr>
        </p:nvSpPr>
        <p:spPr>
          <a:xfrm>
            <a:off x="228600" y="304800"/>
            <a:ext cx="11664492" cy="452868"/>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p:txBody>
      </p:sp>
      <p:sp>
        <p:nvSpPr>
          <p:cNvPr id="19"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pic>
        <p:nvPicPr>
          <p:cNvPr id="7" name="Image 6"/>
          <p:cNvPicPr>
            <a:picLocks noChangeAspect="1"/>
          </p:cNvPicPr>
          <p:nvPr/>
        </p:nvPicPr>
        <p:blipFill>
          <a:blip r:embed="rId4"/>
          <a:stretch>
            <a:fillRect/>
          </a:stretch>
        </p:blipFill>
        <p:spPr>
          <a:xfrm>
            <a:off x="631496" y="2063350"/>
            <a:ext cx="4854904" cy="4197349"/>
          </a:xfrm>
          <a:prstGeom prst="rect">
            <a:avLst/>
          </a:prstGeom>
        </p:spPr>
      </p:pic>
      <p:pic>
        <p:nvPicPr>
          <p:cNvPr id="8" name="Image 7"/>
          <p:cNvPicPr>
            <a:picLocks noChangeAspect="1"/>
          </p:cNvPicPr>
          <p:nvPr/>
        </p:nvPicPr>
        <p:blipFill>
          <a:blip r:embed="rId5"/>
          <a:stretch>
            <a:fillRect/>
          </a:stretch>
        </p:blipFill>
        <p:spPr>
          <a:xfrm>
            <a:off x="5614416" y="3228597"/>
            <a:ext cx="5915025" cy="819150"/>
          </a:xfrm>
          <a:prstGeom prst="rect">
            <a:avLst/>
          </a:prstGeom>
        </p:spPr>
      </p:pic>
      <p:sp>
        <p:nvSpPr>
          <p:cNvPr id="9" name="Flèche courbée vers le haut 8"/>
          <p:cNvSpPr/>
          <p:nvPr/>
        </p:nvSpPr>
        <p:spPr>
          <a:xfrm rot="20350297">
            <a:off x="5486400" y="4572000"/>
            <a:ext cx="3352800" cy="1070219"/>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0" name="ZoneTexte 9"/>
          <p:cNvSpPr txBox="1"/>
          <p:nvPr/>
        </p:nvSpPr>
        <p:spPr>
          <a:xfrm flipH="1">
            <a:off x="7520496" y="5452411"/>
            <a:ext cx="1954788" cy="369332"/>
          </a:xfrm>
          <a:prstGeom prst="rect">
            <a:avLst/>
          </a:prstGeom>
          <a:noFill/>
        </p:spPr>
        <p:txBody>
          <a:bodyPr wrap="square" rtlCol="0">
            <a:spAutoFit/>
          </a:bodyPr>
          <a:lstStyle/>
          <a:p>
            <a:r>
              <a:rPr lang="fr-FR" b="1" dirty="0">
                <a:solidFill>
                  <a:srgbClr val="FF0000"/>
                </a:solidFill>
                <a:latin typeface="+mj-lt"/>
              </a:rPr>
              <a:t>Résultat</a:t>
            </a:r>
          </a:p>
        </p:txBody>
      </p:sp>
    </p:spTree>
    <p:extLst>
      <p:ext uri="{BB962C8B-B14F-4D97-AF65-F5344CB8AC3E}">
        <p14:creationId xmlns:p14="http://schemas.microsoft.com/office/powerpoint/2010/main" val="16197849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3"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64</a:t>
            </a:fld>
            <a:endParaRPr spc="-25" dirty="0"/>
          </a:p>
        </p:txBody>
      </p:sp>
      <p:sp>
        <p:nvSpPr>
          <p:cNvPr id="12" name="object 12"/>
          <p:cNvSpPr txBox="1"/>
          <p:nvPr/>
        </p:nvSpPr>
        <p:spPr>
          <a:xfrm>
            <a:off x="707237" y="1655159"/>
            <a:ext cx="10707218" cy="1910779"/>
          </a:xfrm>
          <a:prstGeom prst="rect">
            <a:avLst/>
          </a:prstGeom>
        </p:spPr>
        <p:txBody>
          <a:bodyPr vert="horz" wrap="square" lIns="0" tIns="12700" rIns="0" bIns="0" rtlCol="0">
            <a:spAutoFit/>
          </a:bodyPr>
          <a:lstStyle/>
          <a:p>
            <a:pPr marL="12700">
              <a:spcBef>
                <a:spcPts val="100"/>
              </a:spcBef>
            </a:pPr>
            <a:r>
              <a:rPr lang="fr-FR" sz="1600" b="1" dirty="0" smtClean="0">
                <a:solidFill>
                  <a:srgbClr val="FFC000"/>
                </a:solidFill>
                <a:latin typeface="Calibri"/>
                <a:cs typeface="Calibri"/>
              </a:rPr>
              <a:t>La communication interprocessus (Signaux)</a:t>
            </a:r>
          </a:p>
          <a:p>
            <a:pPr marL="12700">
              <a:lnSpc>
                <a:spcPct val="100000"/>
              </a:lnSpc>
              <a:spcBef>
                <a:spcPts val="1320"/>
              </a:spcBef>
            </a:pPr>
            <a:r>
              <a:rPr sz="1600" dirty="0" smtClean="0">
                <a:solidFill>
                  <a:srgbClr val="585858"/>
                </a:solidFill>
                <a:latin typeface="Calibri"/>
                <a:cs typeface="Calibri"/>
              </a:rPr>
              <a:t>Il</a:t>
            </a:r>
            <a:r>
              <a:rPr sz="1600" spc="-55" dirty="0" smtClean="0">
                <a:solidFill>
                  <a:srgbClr val="585858"/>
                </a:solidFill>
                <a:latin typeface="Calibri"/>
                <a:cs typeface="Calibri"/>
              </a:rPr>
              <a:t> </a:t>
            </a:r>
            <a:r>
              <a:rPr sz="1600" dirty="0">
                <a:solidFill>
                  <a:srgbClr val="585858"/>
                </a:solidFill>
                <a:latin typeface="Calibri"/>
                <a:cs typeface="Calibri"/>
              </a:rPr>
              <a:t>y’a</a:t>
            </a:r>
            <a:r>
              <a:rPr sz="1600" spc="-25" dirty="0">
                <a:solidFill>
                  <a:srgbClr val="585858"/>
                </a:solidFill>
                <a:latin typeface="Calibri"/>
                <a:cs typeface="Calibri"/>
              </a:rPr>
              <a:t> </a:t>
            </a:r>
            <a:r>
              <a:rPr sz="1600" dirty="0">
                <a:solidFill>
                  <a:srgbClr val="585858"/>
                </a:solidFill>
                <a:latin typeface="Calibri"/>
                <a:cs typeface="Calibri"/>
              </a:rPr>
              <a:t>64</a:t>
            </a:r>
            <a:r>
              <a:rPr sz="1600" spc="-30" dirty="0">
                <a:solidFill>
                  <a:srgbClr val="585858"/>
                </a:solidFill>
                <a:latin typeface="Calibri"/>
                <a:cs typeface="Calibri"/>
              </a:rPr>
              <a:t> </a:t>
            </a:r>
            <a:r>
              <a:rPr sz="1600" dirty="0">
                <a:solidFill>
                  <a:srgbClr val="585858"/>
                </a:solidFill>
                <a:latin typeface="Calibri"/>
                <a:cs typeface="Calibri"/>
              </a:rPr>
              <a:t>signaux</a:t>
            </a:r>
            <a:r>
              <a:rPr sz="1600" spc="-30" dirty="0">
                <a:solidFill>
                  <a:srgbClr val="585858"/>
                </a:solidFill>
                <a:latin typeface="Calibri"/>
                <a:cs typeface="Calibri"/>
              </a:rPr>
              <a:t> </a:t>
            </a:r>
            <a:r>
              <a:rPr sz="1600" dirty="0">
                <a:solidFill>
                  <a:srgbClr val="585858"/>
                </a:solidFill>
                <a:latin typeface="Calibri"/>
                <a:cs typeface="Calibri"/>
              </a:rPr>
              <a:t>avec</a:t>
            </a:r>
            <a:r>
              <a:rPr sz="1600" spc="-45" dirty="0">
                <a:solidFill>
                  <a:srgbClr val="585858"/>
                </a:solidFill>
                <a:latin typeface="Calibri"/>
                <a:cs typeface="Calibri"/>
              </a:rPr>
              <a:t> </a:t>
            </a:r>
            <a:r>
              <a:rPr sz="1600" dirty="0">
                <a:solidFill>
                  <a:srgbClr val="585858"/>
                </a:solidFill>
                <a:latin typeface="Calibri"/>
                <a:cs typeface="Calibri"/>
              </a:rPr>
              <a:t>des</a:t>
            </a:r>
            <a:r>
              <a:rPr sz="1600" spc="-35" dirty="0">
                <a:solidFill>
                  <a:srgbClr val="585858"/>
                </a:solidFill>
                <a:latin typeface="Calibri"/>
                <a:cs typeface="Calibri"/>
              </a:rPr>
              <a:t> </a:t>
            </a:r>
            <a:r>
              <a:rPr sz="1600" dirty="0">
                <a:solidFill>
                  <a:srgbClr val="585858"/>
                </a:solidFill>
                <a:latin typeface="Calibri"/>
                <a:cs typeface="Calibri"/>
              </a:rPr>
              <a:t>identifiants</a:t>
            </a:r>
            <a:r>
              <a:rPr sz="1600" spc="-5" dirty="0">
                <a:solidFill>
                  <a:srgbClr val="585858"/>
                </a:solidFill>
                <a:latin typeface="Calibri"/>
                <a:cs typeface="Calibri"/>
              </a:rPr>
              <a:t> </a:t>
            </a:r>
            <a:r>
              <a:rPr sz="1600" spc="-10" dirty="0">
                <a:solidFill>
                  <a:srgbClr val="585858"/>
                </a:solidFill>
                <a:latin typeface="Calibri"/>
                <a:cs typeface="Calibri"/>
              </a:rPr>
              <a:t>différents</a:t>
            </a:r>
            <a:r>
              <a:rPr sz="1600" spc="-35" dirty="0">
                <a:solidFill>
                  <a:srgbClr val="585858"/>
                </a:solidFill>
                <a:latin typeface="Calibri"/>
                <a:cs typeface="Calibri"/>
              </a:rPr>
              <a:t> </a:t>
            </a:r>
            <a:r>
              <a:rPr sz="1600" spc="-50" dirty="0">
                <a:solidFill>
                  <a:srgbClr val="585858"/>
                </a:solidFill>
                <a:latin typeface="Calibri"/>
                <a:cs typeface="Calibri"/>
              </a:rPr>
              <a:t>:</a:t>
            </a:r>
            <a:endParaRPr sz="1600" dirty="0">
              <a:latin typeface="Calibri"/>
              <a:cs typeface="Calibri"/>
            </a:endParaRPr>
          </a:p>
          <a:p>
            <a:pPr marL="438784" indent="-81915">
              <a:lnSpc>
                <a:spcPct val="100000"/>
              </a:lnSpc>
              <a:spcBef>
                <a:spcPts val="1320"/>
              </a:spcBef>
              <a:buChar char="-"/>
              <a:tabLst>
                <a:tab pos="438784" algn="l"/>
              </a:tabLst>
            </a:pPr>
            <a:r>
              <a:rPr sz="1600" dirty="0">
                <a:solidFill>
                  <a:srgbClr val="585858"/>
                </a:solidFill>
                <a:latin typeface="Calibri"/>
                <a:cs typeface="Calibri"/>
              </a:rPr>
              <a:t>0</a:t>
            </a:r>
            <a:r>
              <a:rPr sz="1600" spc="-15" dirty="0">
                <a:solidFill>
                  <a:srgbClr val="585858"/>
                </a:solidFill>
                <a:latin typeface="Calibri"/>
                <a:cs typeface="Calibri"/>
              </a:rPr>
              <a:t> </a:t>
            </a:r>
            <a:r>
              <a:rPr sz="1600" dirty="0">
                <a:solidFill>
                  <a:srgbClr val="585858"/>
                </a:solidFill>
                <a:latin typeface="Calibri"/>
                <a:cs typeface="Calibri"/>
              </a:rPr>
              <a:t>:</a:t>
            </a:r>
            <a:r>
              <a:rPr sz="1600" spc="-10" dirty="0">
                <a:solidFill>
                  <a:srgbClr val="585858"/>
                </a:solidFill>
                <a:latin typeface="Calibri"/>
                <a:cs typeface="Calibri"/>
              </a:rPr>
              <a:t> </a:t>
            </a:r>
            <a:r>
              <a:rPr sz="1600" dirty="0">
                <a:solidFill>
                  <a:srgbClr val="585858"/>
                </a:solidFill>
                <a:latin typeface="Calibri"/>
                <a:cs typeface="Calibri"/>
              </a:rPr>
              <a:t>le</a:t>
            </a:r>
            <a:r>
              <a:rPr sz="1600" spc="-25" dirty="0">
                <a:solidFill>
                  <a:srgbClr val="585858"/>
                </a:solidFill>
                <a:latin typeface="Calibri"/>
                <a:cs typeface="Calibri"/>
              </a:rPr>
              <a:t> </a:t>
            </a:r>
            <a:r>
              <a:rPr sz="1600" dirty="0">
                <a:solidFill>
                  <a:srgbClr val="585858"/>
                </a:solidFill>
                <a:latin typeface="Calibri"/>
                <a:cs typeface="Calibri"/>
              </a:rPr>
              <a:t>seul</a:t>
            </a:r>
            <a:r>
              <a:rPr sz="1600" spc="-10" dirty="0">
                <a:solidFill>
                  <a:srgbClr val="585858"/>
                </a:solidFill>
                <a:latin typeface="Calibri"/>
                <a:cs typeface="Calibri"/>
              </a:rPr>
              <a:t> </a:t>
            </a:r>
            <a:r>
              <a:rPr sz="1600" dirty="0">
                <a:solidFill>
                  <a:srgbClr val="585858"/>
                </a:solidFill>
                <a:latin typeface="Calibri"/>
                <a:cs typeface="Calibri"/>
              </a:rPr>
              <a:t>signal</a:t>
            </a:r>
            <a:r>
              <a:rPr sz="1600" spc="-15" dirty="0">
                <a:solidFill>
                  <a:srgbClr val="585858"/>
                </a:solidFill>
                <a:latin typeface="Calibri"/>
                <a:cs typeface="Calibri"/>
              </a:rPr>
              <a:t> </a:t>
            </a:r>
            <a:r>
              <a:rPr sz="1600" dirty="0">
                <a:solidFill>
                  <a:srgbClr val="585858"/>
                </a:solidFill>
                <a:latin typeface="Calibri"/>
                <a:cs typeface="Calibri"/>
              </a:rPr>
              <a:t>qui</a:t>
            </a:r>
            <a:r>
              <a:rPr sz="1600" spc="-15" dirty="0">
                <a:solidFill>
                  <a:srgbClr val="585858"/>
                </a:solidFill>
                <a:latin typeface="Calibri"/>
                <a:cs typeface="Calibri"/>
              </a:rPr>
              <a:t> </a:t>
            </a:r>
            <a:r>
              <a:rPr sz="1600" dirty="0">
                <a:solidFill>
                  <a:srgbClr val="585858"/>
                </a:solidFill>
                <a:latin typeface="Calibri"/>
                <a:cs typeface="Calibri"/>
              </a:rPr>
              <a:t>n'a</a:t>
            </a:r>
            <a:r>
              <a:rPr sz="1600" spc="-25" dirty="0">
                <a:solidFill>
                  <a:srgbClr val="585858"/>
                </a:solidFill>
                <a:latin typeface="Calibri"/>
                <a:cs typeface="Calibri"/>
              </a:rPr>
              <a:t> </a:t>
            </a:r>
            <a:r>
              <a:rPr sz="1600" dirty="0">
                <a:solidFill>
                  <a:srgbClr val="585858"/>
                </a:solidFill>
                <a:latin typeface="Calibri"/>
                <a:cs typeface="Calibri"/>
              </a:rPr>
              <a:t>pas</a:t>
            </a:r>
            <a:r>
              <a:rPr sz="1600" spc="-20" dirty="0">
                <a:solidFill>
                  <a:srgbClr val="585858"/>
                </a:solidFill>
                <a:latin typeface="Calibri"/>
                <a:cs typeface="Calibri"/>
              </a:rPr>
              <a:t> </a:t>
            </a:r>
            <a:r>
              <a:rPr sz="1600" dirty="0">
                <a:solidFill>
                  <a:srgbClr val="585858"/>
                </a:solidFill>
                <a:latin typeface="Calibri"/>
                <a:cs typeface="Calibri"/>
              </a:rPr>
              <a:t>de</a:t>
            </a:r>
            <a:r>
              <a:rPr sz="1600" spc="-5" dirty="0">
                <a:solidFill>
                  <a:srgbClr val="585858"/>
                </a:solidFill>
                <a:latin typeface="Calibri"/>
                <a:cs typeface="Calibri"/>
              </a:rPr>
              <a:t> </a:t>
            </a:r>
            <a:r>
              <a:rPr sz="1600" dirty="0">
                <a:solidFill>
                  <a:srgbClr val="585858"/>
                </a:solidFill>
                <a:latin typeface="Calibri"/>
                <a:cs typeface="Calibri"/>
              </a:rPr>
              <a:t>nom </a:t>
            </a:r>
            <a:r>
              <a:rPr sz="1600" spc="-50" dirty="0">
                <a:solidFill>
                  <a:srgbClr val="585858"/>
                </a:solidFill>
                <a:latin typeface="Calibri"/>
                <a:cs typeface="Calibri"/>
              </a:rPr>
              <a:t>;</a:t>
            </a:r>
            <a:endParaRPr sz="1600" dirty="0">
              <a:latin typeface="Calibri"/>
              <a:cs typeface="Calibri"/>
            </a:endParaRPr>
          </a:p>
          <a:p>
            <a:pPr marL="438784" indent="-81915">
              <a:lnSpc>
                <a:spcPct val="100000"/>
              </a:lnSpc>
              <a:spcBef>
                <a:spcPts val="1325"/>
              </a:spcBef>
              <a:buChar char="-"/>
              <a:tabLst>
                <a:tab pos="438784" algn="l"/>
              </a:tabLst>
            </a:pPr>
            <a:r>
              <a:rPr sz="1600" dirty="0">
                <a:solidFill>
                  <a:srgbClr val="585858"/>
                </a:solidFill>
                <a:latin typeface="Calibri"/>
                <a:cs typeface="Calibri"/>
              </a:rPr>
              <a:t>1</a:t>
            </a:r>
            <a:r>
              <a:rPr sz="1600" spc="-25" dirty="0">
                <a:solidFill>
                  <a:srgbClr val="585858"/>
                </a:solidFill>
                <a:latin typeface="Calibri"/>
                <a:cs typeface="Calibri"/>
              </a:rPr>
              <a:t> </a:t>
            </a:r>
            <a:r>
              <a:rPr sz="1600" dirty="0">
                <a:solidFill>
                  <a:srgbClr val="585858"/>
                </a:solidFill>
                <a:latin typeface="Calibri"/>
                <a:cs typeface="Calibri"/>
              </a:rPr>
              <a:t>à</a:t>
            </a:r>
            <a:r>
              <a:rPr sz="1600" spc="-35" dirty="0">
                <a:solidFill>
                  <a:srgbClr val="585858"/>
                </a:solidFill>
                <a:latin typeface="Calibri"/>
                <a:cs typeface="Calibri"/>
              </a:rPr>
              <a:t> </a:t>
            </a:r>
            <a:r>
              <a:rPr sz="1600" dirty="0">
                <a:solidFill>
                  <a:srgbClr val="585858"/>
                </a:solidFill>
                <a:latin typeface="Calibri"/>
                <a:cs typeface="Calibri"/>
              </a:rPr>
              <a:t>31</a:t>
            </a:r>
            <a:r>
              <a:rPr sz="1600" spc="-25" dirty="0">
                <a:solidFill>
                  <a:srgbClr val="585858"/>
                </a:solidFill>
                <a:latin typeface="Calibri"/>
                <a:cs typeface="Calibri"/>
              </a:rPr>
              <a:t> </a:t>
            </a:r>
            <a:r>
              <a:rPr sz="1600" dirty="0">
                <a:solidFill>
                  <a:srgbClr val="585858"/>
                </a:solidFill>
                <a:latin typeface="Calibri"/>
                <a:cs typeface="Calibri"/>
              </a:rPr>
              <a:t>:</a:t>
            </a:r>
            <a:r>
              <a:rPr sz="1600" spc="-25" dirty="0">
                <a:solidFill>
                  <a:srgbClr val="585858"/>
                </a:solidFill>
                <a:latin typeface="Calibri"/>
                <a:cs typeface="Calibri"/>
              </a:rPr>
              <a:t> </a:t>
            </a:r>
            <a:r>
              <a:rPr sz="1600" dirty="0">
                <a:solidFill>
                  <a:srgbClr val="585858"/>
                </a:solidFill>
                <a:latin typeface="Calibri"/>
                <a:cs typeface="Calibri"/>
              </a:rPr>
              <a:t>signaux</a:t>
            </a:r>
            <a:r>
              <a:rPr sz="1600" spc="-5" dirty="0">
                <a:solidFill>
                  <a:srgbClr val="585858"/>
                </a:solidFill>
                <a:latin typeface="Calibri"/>
                <a:cs typeface="Calibri"/>
              </a:rPr>
              <a:t> </a:t>
            </a:r>
            <a:r>
              <a:rPr sz="1600" dirty="0">
                <a:solidFill>
                  <a:srgbClr val="585858"/>
                </a:solidFill>
                <a:latin typeface="Calibri"/>
                <a:cs typeface="Calibri"/>
              </a:rPr>
              <a:t>classiques</a:t>
            </a:r>
            <a:r>
              <a:rPr sz="1600" spc="5" dirty="0">
                <a:solidFill>
                  <a:srgbClr val="585858"/>
                </a:solidFill>
                <a:latin typeface="Calibri"/>
                <a:cs typeface="Calibri"/>
              </a:rPr>
              <a:t> </a:t>
            </a:r>
            <a:r>
              <a:rPr sz="1600" spc="-50" dirty="0">
                <a:solidFill>
                  <a:srgbClr val="585858"/>
                </a:solidFill>
                <a:latin typeface="Calibri"/>
                <a:cs typeface="Calibri"/>
              </a:rPr>
              <a:t>;</a:t>
            </a:r>
            <a:endParaRPr sz="1600" dirty="0">
              <a:latin typeface="Calibri"/>
              <a:cs typeface="Calibri"/>
            </a:endParaRPr>
          </a:p>
          <a:p>
            <a:pPr marL="438784" indent="-81915">
              <a:lnSpc>
                <a:spcPct val="100000"/>
              </a:lnSpc>
              <a:spcBef>
                <a:spcPts val="1320"/>
              </a:spcBef>
              <a:buChar char="-"/>
              <a:tabLst>
                <a:tab pos="438784" algn="l"/>
              </a:tabLst>
            </a:pPr>
            <a:r>
              <a:rPr sz="1600" dirty="0">
                <a:solidFill>
                  <a:srgbClr val="585858"/>
                </a:solidFill>
                <a:latin typeface="Calibri"/>
                <a:cs typeface="Calibri"/>
              </a:rPr>
              <a:t>32</a:t>
            </a:r>
            <a:r>
              <a:rPr sz="1600" spc="-20" dirty="0">
                <a:solidFill>
                  <a:srgbClr val="585858"/>
                </a:solidFill>
                <a:latin typeface="Calibri"/>
                <a:cs typeface="Calibri"/>
              </a:rPr>
              <a:t> </a:t>
            </a:r>
            <a:r>
              <a:rPr sz="1600" dirty="0">
                <a:solidFill>
                  <a:srgbClr val="585858"/>
                </a:solidFill>
                <a:latin typeface="Calibri"/>
                <a:cs typeface="Calibri"/>
              </a:rPr>
              <a:t>à</a:t>
            </a:r>
            <a:r>
              <a:rPr sz="1600" spc="-25" dirty="0">
                <a:solidFill>
                  <a:srgbClr val="585858"/>
                </a:solidFill>
                <a:latin typeface="Calibri"/>
                <a:cs typeface="Calibri"/>
              </a:rPr>
              <a:t> </a:t>
            </a:r>
            <a:r>
              <a:rPr sz="1600" dirty="0">
                <a:solidFill>
                  <a:srgbClr val="585858"/>
                </a:solidFill>
                <a:latin typeface="Calibri"/>
                <a:cs typeface="Calibri"/>
              </a:rPr>
              <a:t>63</a:t>
            </a:r>
            <a:r>
              <a:rPr sz="1600" spc="5" dirty="0">
                <a:solidFill>
                  <a:srgbClr val="585858"/>
                </a:solidFill>
                <a:latin typeface="Calibri"/>
                <a:cs typeface="Calibri"/>
              </a:rPr>
              <a:t> </a:t>
            </a:r>
            <a:r>
              <a:rPr sz="1600" dirty="0">
                <a:solidFill>
                  <a:srgbClr val="585858"/>
                </a:solidFill>
                <a:latin typeface="Calibri"/>
                <a:cs typeface="Calibri"/>
              </a:rPr>
              <a:t>:</a:t>
            </a:r>
            <a:r>
              <a:rPr sz="1600" spc="-15" dirty="0">
                <a:solidFill>
                  <a:srgbClr val="585858"/>
                </a:solidFill>
                <a:latin typeface="Calibri"/>
                <a:cs typeface="Calibri"/>
              </a:rPr>
              <a:t> </a:t>
            </a:r>
            <a:r>
              <a:rPr sz="1600" dirty="0">
                <a:solidFill>
                  <a:srgbClr val="585858"/>
                </a:solidFill>
                <a:latin typeface="Calibri"/>
                <a:cs typeface="Calibri"/>
              </a:rPr>
              <a:t>signaux</a:t>
            </a:r>
            <a:r>
              <a:rPr sz="1600" spc="-20" dirty="0">
                <a:solidFill>
                  <a:srgbClr val="585858"/>
                </a:solidFill>
                <a:latin typeface="Calibri"/>
                <a:cs typeface="Calibri"/>
              </a:rPr>
              <a:t> </a:t>
            </a:r>
            <a:r>
              <a:rPr sz="1600" dirty="0">
                <a:solidFill>
                  <a:srgbClr val="585858"/>
                </a:solidFill>
                <a:latin typeface="Calibri"/>
                <a:cs typeface="Calibri"/>
              </a:rPr>
              <a:t>temps</a:t>
            </a:r>
            <a:r>
              <a:rPr sz="1600" spc="-15" dirty="0">
                <a:solidFill>
                  <a:srgbClr val="585858"/>
                </a:solidFill>
                <a:latin typeface="Calibri"/>
                <a:cs typeface="Calibri"/>
              </a:rPr>
              <a:t> </a:t>
            </a:r>
            <a:r>
              <a:rPr sz="1600" spc="-10" dirty="0">
                <a:solidFill>
                  <a:srgbClr val="585858"/>
                </a:solidFill>
                <a:latin typeface="Calibri"/>
                <a:cs typeface="Calibri"/>
              </a:rPr>
              <a:t>réels.</a:t>
            </a:r>
            <a:endParaRPr sz="1600" dirty="0">
              <a:latin typeface="Calibri"/>
              <a:cs typeface="Calibri"/>
            </a:endParaRPr>
          </a:p>
        </p:txBody>
      </p:sp>
      <p:graphicFrame>
        <p:nvGraphicFramePr>
          <p:cNvPr id="13" name="object 13"/>
          <p:cNvGraphicFramePr>
            <a:graphicFrameLocks noGrp="1"/>
          </p:cNvGraphicFramePr>
          <p:nvPr>
            <p:extLst>
              <p:ext uri="{D42A27DB-BD31-4B8C-83A1-F6EECF244321}">
                <p14:modId xmlns:p14="http://schemas.microsoft.com/office/powerpoint/2010/main" val="1139202000"/>
              </p:ext>
            </p:extLst>
          </p:nvPr>
        </p:nvGraphicFramePr>
        <p:xfrm>
          <a:off x="1071499" y="3841803"/>
          <a:ext cx="9808844" cy="1482090"/>
        </p:xfrm>
        <a:graphic>
          <a:graphicData uri="http://schemas.openxmlformats.org/drawingml/2006/table">
            <a:tbl>
              <a:tblPr firstRow="1" bandRow="1">
                <a:tableStyleId>{2D5ABB26-0587-4C30-8999-92F81FD0307C}</a:tableStyleId>
              </a:tblPr>
              <a:tblGrid>
                <a:gridCol w="2567940">
                  <a:extLst>
                    <a:ext uri="{9D8B030D-6E8A-4147-A177-3AD203B41FA5}">
                      <a16:colId xmlns:a16="http://schemas.microsoft.com/office/drawing/2014/main" val="20000"/>
                    </a:ext>
                  </a:extLst>
                </a:gridCol>
                <a:gridCol w="7240904">
                  <a:extLst>
                    <a:ext uri="{9D8B030D-6E8A-4147-A177-3AD203B41FA5}">
                      <a16:colId xmlns:a16="http://schemas.microsoft.com/office/drawing/2014/main" val="20001"/>
                    </a:ext>
                  </a:extLst>
                </a:gridCol>
              </a:tblGrid>
              <a:tr h="370205">
                <a:tc>
                  <a:txBody>
                    <a:bodyPr/>
                    <a:lstStyle/>
                    <a:p>
                      <a:pPr algn="ctr">
                        <a:lnSpc>
                          <a:spcPct val="100000"/>
                        </a:lnSpc>
                        <a:spcBef>
                          <a:spcPts val="300"/>
                        </a:spcBef>
                      </a:pPr>
                      <a:r>
                        <a:rPr sz="1200" b="1" spc="-10" dirty="0">
                          <a:latin typeface="Calibri"/>
                          <a:cs typeface="Calibri"/>
                        </a:rPr>
                        <a:t>Commande</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300"/>
                        </a:spcBef>
                      </a:pPr>
                      <a:r>
                        <a:rPr sz="1200" b="1" spc="-10" dirty="0">
                          <a:latin typeface="Calibri"/>
                          <a:cs typeface="Calibri"/>
                        </a:rPr>
                        <a:t>Fonctionnement</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840">
                <a:tc>
                  <a:txBody>
                    <a:bodyPr/>
                    <a:lstStyle/>
                    <a:p>
                      <a:pPr marL="1270" algn="ctr">
                        <a:lnSpc>
                          <a:spcPct val="100000"/>
                        </a:lnSpc>
                        <a:spcBef>
                          <a:spcPts val="300"/>
                        </a:spcBef>
                      </a:pPr>
                      <a:r>
                        <a:rPr sz="1200" spc="-10" dirty="0">
                          <a:latin typeface="Calibri"/>
                          <a:cs typeface="Calibri"/>
                        </a:rPr>
                        <a:t>Ctrl+Z</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200" dirty="0">
                          <a:latin typeface="Calibri"/>
                          <a:cs typeface="Calibri"/>
                        </a:rPr>
                        <a:t>Un</a:t>
                      </a:r>
                      <a:r>
                        <a:rPr sz="1200" spc="-20" dirty="0">
                          <a:latin typeface="Calibri"/>
                          <a:cs typeface="Calibri"/>
                        </a:rPr>
                        <a:t> </a:t>
                      </a:r>
                      <a:r>
                        <a:rPr sz="1200" dirty="0">
                          <a:latin typeface="Calibri"/>
                          <a:cs typeface="Calibri"/>
                        </a:rPr>
                        <a:t>signal</a:t>
                      </a:r>
                      <a:r>
                        <a:rPr sz="1200" spc="-40" dirty="0">
                          <a:latin typeface="Calibri"/>
                          <a:cs typeface="Calibri"/>
                        </a:rPr>
                        <a:t> </a:t>
                      </a:r>
                      <a:r>
                        <a:rPr sz="1200" dirty="0">
                          <a:latin typeface="Calibri"/>
                          <a:cs typeface="Calibri"/>
                        </a:rPr>
                        <a:t>numéro</a:t>
                      </a:r>
                      <a:r>
                        <a:rPr sz="1200" spc="5" dirty="0">
                          <a:latin typeface="Calibri"/>
                          <a:cs typeface="Calibri"/>
                        </a:rPr>
                        <a:t> </a:t>
                      </a:r>
                      <a:r>
                        <a:rPr sz="1200" dirty="0">
                          <a:latin typeface="Calibri"/>
                          <a:cs typeface="Calibri"/>
                        </a:rPr>
                        <a:t>19</a:t>
                      </a:r>
                      <a:r>
                        <a:rPr sz="1200" spc="-15" dirty="0">
                          <a:latin typeface="Calibri"/>
                          <a:cs typeface="Calibri"/>
                        </a:rPr>
                        <a:t> </a:t>
                      </a:r>
                      <a:r>
                        <a:rPr sz="1200" spc="-10" dirty="0">
                          <a:latin typeface="Calibri"/>
                          <a:cs typeface="Calibri"/>
                        </a:rPr>
                        <a:t>(SIGSTOP)</a:t>
                      </a:r>
                      <a:r>
                        <a:rPr sz="1200" spc="-30" dirty="0">
                          <a:latin typeface="Calibri"/>
                          <a:cs typeface="Calibri"/>
                        </a:rPr>
                        <a:t> </a:t>
                      </a:r>
                      <a:r>
                        <a:rPr sz="1200" dirty="0">
                          <a:latin typeface="Calibri"/>
                          <a:cs typeface="Calibri"/>
                        </a:rPr>
                        <a:t>est</a:t>
                      </a:r>
                      <a:r>
                        <a:rPr sz="1200" spc="-10" dirty="0">
                          <a:latin typeface="Calibri"/>
                          <a:cs typeface="Calibri"/>
                        </a:rPr>
                        <a:t> envoyé</a:t>
                      </a:r>
                      <a:r>
                        <a:rPr sz="1200" spc="-50" dirty="0">
                          <a:latin typeface="Calibri"/>
                          <a:cs typeface="Calibri"/>
                        </a:rPr>
                        <a:t> </a:t>
                      </a:r>
                      <a:r>
                        <a:rPr sz="1200" dirty="0">
                          <a:latin typeface="Calibri"/>
                          <a:cs typeface="Calibri"/>
                        </a:rPr>
                        <a:t>au</a:t>
                      </a:r>
                      <a:r>
                        <a:rPr sz="1200" spc="-15" dirty="0">
                          <a:latin typeface="Calibri"/>
                          <a:cs typeface="Calibri"/>
                        </a:rPr>
                        <a:t> </a:t>
                      </a:r>
                      <a:r>
                        <a:rPr sz="1200" dirty="0">
                          <a:latin typeface="Calibri"/>
                          <a:cs typeface="Calibri"/>
                        </a:rPr>
                        <a:t>processus en</a:t>
                      </a:r>
                      <a:r>
                        <a:rPr sz="1200" spc="-20" dirty="0">
                          <a:latin typeface="Calibri"/>
                          <a:cs typeface="Calibri"/>
                        </a:rPr>
                        <a:t> </a:t>
                      </a:r>
                      <a:r>
                        <a:rPr sz="1200" dirty="0">
                          <a:latin typeface="Calibri"/>
                          <a:cs typeface="Calibri"/>
                        </a:rPr>
                        <a:t>cours </a:t>
                      </a:r>
                      <a:r>
                        <a:rPr sz="1200" spc="-10" dirty="0">
                          <a:latin typeface="Calibri"/>
                          <a:cs typeface="Calibri"/>
                        </a:rPr>
                        <a:t>d'exécution.</a:t>
                      </a:r>
                      <a:r>
                        <a:rPr sz="1200" spc="-5" dirty="0">
                          <a:latin typeface="Calibri"/>
                          <a:cs typeface="Calibri"/>
                        </a:rPr>
                        <a:t> </a:t>
                      </a:r>
                      <a:r>
                        <a:rPr sz="1200" dirty="0">
                          <a:latin typeface="Calibri"/>
                          <a:cs typeface="Calibri"/>
                        </a:rPr>
                        <a:t>Ce</a:t>
                      </a:r>
                      <a:r>
                        <a:rPr sz="1200" spc="-25" dirty="0">
                          <a:latin typeface="Calibri"/>
                          <a:cs typeface="Calibri"/>
                        </a:rPr>
                        <a:t> </a:t>
                      </a:r>
                      <a:r>
                        <a:rPr sz="1200" dirty="0">
                          <a:latin typeface="Calibri"/>
                          <a:cs typeface="Calibri"/>
                        </a:rPr>
                        <a:t>qui</a:t>
                      </a:r>
                      <a:r>
                        <a:rPr sz="1200" spc="-20" dirty="0">
                          <a:latin typeface="Calibri"/>
                          <a:cs typeface="Calibri"/>
                        </a:rPr>
                        <a:t> </a:t>
                      </a:r>
                      <a:r>
                        <a:rPr sz="1200" dirty="0">
                          <a:latin typeface="Calibri"/>
                          <a:cs typeface="Calibri"/>
                        </a:rPr>
                        <a:t>stoppe</a:t>
                      </a:r>
                      <a:r>
                        <a:rPr sz="1200" spc="-25" dirty="0">
                          <a:latin typeface="Calibri"/>
                          <a:cs typeface="Calibri"/>
                        </a:rPr>
                        <a:t> </a:t>
                      </a:r>
                      <a:r>
                        <a:rPr sz="1200" dirty="0">
                          <a:latin typeface="Calibri"/>
                          <a:cs typeface="Calibri"/>
                        </a:rPr>
                        <a:t>son</a:t>
                      </a:r>
                      <a:r>
                        <a:rPr sz="1200" spc="-15" dirty="0">
                          <a:latin typeface="Calibri"/>
                          <a:cs typeface="Calibri"/>
                        </a:rPr>
                        <a:t> </a:t>
                      </a:r>
                      <a:r>
                        <a:rPr sz="1200" spc="-10" dirty="0">
                          <a:latin typeface="Calibri"/>
                          <a:cs typeface="Calibri"/>
                        </a:rPr>
                        <a:t>traitement.</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205">
                <a:tc>
                  <a:txBody>
                    <a:bodyPr/>
                    <a:lstStyle/>
                    <a:p>
                      <a:pPr algn="ctr">
                        <a:lnSpc>
                          <a:spcPct val="100000"/>
                        </a:lnSpc>
                        <a:spcBef>
                          <a:spcPts val="305"/>
                        </a:spcBef>
                      </a:pPr>
                      <a:r>
                        <a:rPr sz="1200" spc="-10" dirty="0">
                          <a:latin typeface="Calibri"/>
                          <a:cs typeface="Calibri"/>
                        </a:rPr>
                        <a:t>Déconnexion</a:t>
                      </a:r>
                      <a:endParaRPr sz="12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200" dirty="0">
                          <a:latin typeface="Calibri"/>
                          <a:cs typeface="Calibri"/>
                        </a:rPr>
                        <a:t>Envoi</a:t>
                      </a:r>
                      <a:r>
                        <a:rPr sz="1200" spc="-35" dirty="0">
                          <a:latin typeface="Calibri"/>
                          <a:cs typeface="Calibri"/>
                        </a:rPr>
                        <a:t> </a:t>
                      </a:r>
                      <a:r>
                        <a:rPr sz="1200" dirty="0">
                          <a:latin typeface="Calibri"/>
                          <a:cs typeface="Calibri"/>
                        </a:rPr>
                        <a:t>d’un</a:t>
                      </a:r>
                      <a:r>
                        <a:rPr sz="1200" spc="-30" dirty="0">
                          <a:latin typeface="Calibri"/>
                          <a:cs typeface="Calibri"/>
                        </a:rPr>
                        <a:t> </a:t>
                      </a:r>
                      <a:r>
                        <a:rPr sz="1200" dirty="0">
                          <a:latin typeface="Calibri"/>
                          <a:cs typeface="Calibri"/>
                        </a:rPr>
                        <a:t>SIGHUP</a:t>
                      </a:r>
                      <a:r>
                        <a:rPr sz="1200" spc="-40" dirty="0">
                          <a:latin typeface="Calibri"/>
                          <a:cs typeface="Calibri"/>
                        </a:rPr>
                        <a:t> </a:t>
                      </a:r>
                      <a:r>
                        <a:rPr sz="1200" dirty="0">
                          <a:latin typeface="Calibri"/>
                          <a:cs typeface="Calibri"/>
                        </a:rPr>
                        <a:t>(signal</a:t>
                      </a:r>
                      <a:r>
                        <a:rPr sz="1200" spc="-25" dirty="0">
                          <a:latin typeface="Calibri"/>
                          <a:cs typeface="Calibri"/>
                        </a:rPr>
                        <a:t> </a:t>
                      </a:r>
                      <a:r>
                        <a:rPr sz="1200" dirty="0">
                          <a:latin typeface="Calibri"/>
                          <a:cs typeface="Calibri"/>
                        </a:rPr>
                        <a:t>1)</a:t>
                      </a:r>
                      <a:r>
                        <a:rPr sz="1200" spc="-25" dirty="0">
                          <a:latin typeface="Calibri"/>
                          <a:cs typeface="Calibri"/>
                        </a:rPr>
                        <a:t> </a:t>
                      </a:r>
                      <a:r>
                        <a:rPr sz="1200" dirty="0">
                          <a:latin typeface="Calibri"/>
                          <a:cs typeface="Calibri"/>
                        </a:rPr>
                        <a:t>à</a:t>
                      </a:r>
                      <a:r>
                        <a:rPr sz="1200" spc="-20" dirty="0">
                          <a:latin typeface="Calibri"/>
                          <a:cs typeface="Calibri"/>
                        </a:rPr>
                        <a:t> </a:t>
                      </a:r>
                      <a:r>
                        <a:rPr sz="1200" dirty="0">
                          <a:latin typeface="Calibri"/>
                          <a:cs typeface="Calibri"/>
                        </a:rPr>
                        <a:t>tous</a:t>
                      </a:r>
                      <a:r>
                        <a:rPr sz="1200" spc="-30" dirty="0">
                          <a:latin typeface="Calibri"/>
                          <a:cs typeface="Calibri"/>
                        </a:rPr>
                        <a:t> </a:t>
                      </a:r>
                      <a:r>
                        <a:rPr sz="1200" dirty="0">
                          <a:latin typeface="Calibri"/>
                          <a:cs typeface="Calibri"/>
                        </a:rPr>
                        <a:t>les</a:t>
                      </a:r>
                      <a:r>
                        <a:rPr sz="1200" spc="-35" dirty="0">
                          <a:latin typeface="Calibri"/>
                          <a:cs typeface="Calibri"/>
                        </a:rPr>
                        <a:t> </a:t>
                      </a:r>
                      <a:r>
                        <a:rPr sz="1200" spc="-10" dirty="0">
                          <a:latin typeface="Calibri"/>
                          <a:cs typeface="Calibri"/>
                        </a:rPr>
                        <a:t>processus.</a:t>
                      </a:r>
                      <a:endParaRPr sz="12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0840">
                <a:tc>
                  <a:txBody>
                    <a:bodyPr/>
                    <a:lstStyle/>
                    <a:p>
                      <a:pPr algn="ctr">
                        <a:lnSpc>
                          <a:spcPct val="100000"/>
                        </a:lnSpc>
                        <a:spcBef>
                          <a:spcPts val="305"/>
                        </a:spcBef>
                      </a:pPr>
                      <a:r>
                        <a:rPr sz="1200" spc="-10" dirty="0">
                          <a:latin typeface="Calibri"/>
                          <a:cs typeface="Calibri"/>
                        </a:rPr>
                        <a:t>Ctrl+C</a:t>
                      </a:r>
                      <a:endParaRPr sz="12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200" dirty="0">
                          <a:latin typeface="Calibri"/>
                          <a:cs typeface="Calibri"/>
                        </a:rPr>
                        <a:t>Envoi</a:t>
                      </a:r>
                      <a:r>
                        <a:rPr sz="1200" spc="-45" dirty="0">
                          <a:latin typeface="Calibri"/>
                          <a:cs typeface="Calibri"/>
                        </a:rPr>
                        <a:t> </a:t>
                      </a:r>
                      <a:r>
                        <a:rPr sz="1200" dirty="0">
                          <a:latin typeface="Calibri"/>
                          <a:cs typeface="Calibri"/>
                        </a:rPr>
                        <a:t>d’un</a:t>
                      </a:r>
                      <a:r>
                        <a:rPr sz="1200" spc="-35" dirty="0">
                          <a:latin typeface="Calibri"/>
                          <a:cs typeface="Calibri"/>
                        </a:rPr>
                        <a:t> </a:t>
                      </a:r>
                      <a:r>
                        <a:rPr sz="1200" dirty="0">
                          <a:latin typeface="Calibri"/>
                          <a:cs typeface="Calibri"/>
                        </a:rPr>
                        <a:t>SIGINT)</a:t>
                      </a:r>
                      <a:r>
                        <a:rPr sz="1200" spc="-55" dirty="0">
                          <a:latin typeface="Calibri"/>
                          <a:cs typeface="Calibri"/>
                        </a:rPr>
                        <a:t> </a:t>
                      </a:r>
                      <a:r>
                        <a:rPr sz="1200" dirty="0">
                          <a:latin typeface="Calibri"/>
                          <a:cs typeface="Calibri"/>
                        </a:rPr>
                        <a:t>(signal</a:t>
                      </a:r>
                      <a:r>
                        <a:rPr sz="1200" spc="-35" dirty="0">
                          <a:latin typeface="Calibri"/>
                          <a:cs typeface="Calibri"/>
                        </a:rPr>
                        <a:t> </a:t>
                      </a:r>
                      <a:r>
                        <a:rPr sz="1200" dirty="0">
                          <a:latin typeface="Calibri"/>
                          <a:cs typeface="Calibri"/>
                        </a:rPr>
                        <a:t>2)</a:t>
                      </a:r>
                      <a:r>
                        <a:rPr sz="1200" spc="-35" dirty="0">
                          <a:latin typeface="Calibri"/>
                          <a:cs typeface="Calibri"/>
                        </a:rPr>
                        <a:t> </a:t>
                      </a:r>
                      <a:r>
                        <a:rPr sz="1200" dirty="0">
                          <a:latin typeface="Calibri"/>
                          <a:cs typeface="Calibri"/>
                        </a:rPr>
                        <a:t>au</a:t>
                      </a:r>
                      <a:r>
                        <a:rPr sz="1200" spc="-55" dirty="0">
                          <a:latin typeface="Calibri"/>
                          <a:cs typeface="Calibri"/>
                        </a:rPr>
                        <a:t> </a:t>
                      </a:r>
                      <a:r>
                        <a:rPr sz="1200" dirty="0">
                          <a:latin typeface="Calibri"/>
                          <a:cs typeface="Calibri"/>
                        </a:rPr>
                        <a:t>processus </a:t>
                      </a:r>
                      <a:r>
                        <a:rPr sz="1200" spc="-10" dirty="0">
                          <a:latin typeface="Calibri"/>
                          <a:cs typeface="Calibri"/>
                        </a:rPr>
                        <a:t>courant.</a:t>
                      </a:r>
                      <a:endParaRPr sz="1200" dirty="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14" name="object 14"/>
          <p:cNvSpPr txBox="1"/>
          <p:nvPr/>
        </p:nvSpPr>
        <p:spPr>
          <a:xfrm>
            <a:off x="3505200" y="5444729"/>
            <a:ext cx="3701415" cy="197490"/>
          </a:xfrm>
          <a:prstGeom prst="rect">
            <a:avLst/>
          </a:prstGeom>
        </p:spPr>
        <p:txBody>
          <a:bodyPr vert="horz" wrap="square" lIns="0" tIns="12700" rIns="0" bIns="0" rtlCol="0">
            <a:spAutoFit/>
          </a:bodyPr>
          <a:lstStyle/>
          <a:p>
            <a:pPr marL="12700">
              <a:lnSpc>
                <a:spcPct val="100000"/>
              </a:lnSpc>
              <a:spcBef>
                <a:spcPts val="100"/>
              </a:spcBef>
            </a:pPr>
            <a:r>
              <a:rPr sz="1200" i="1" dirty="0">
                <a:solidFill>
                  <a:srgbClr val="A6A6A6"/>
                </a:solidFill>
                <a:latin typeface="Calibri"/>
                <a:cs typeface="Calibri"/>
              </a:rPr>
              <a:t>Table</a:t>
            </a:r>
            <a:r>
              <a:rPr sz="1200" i="1" spc="240" dirty="0">
                <a:solidFill>
                  <a:srgbClr val="A6A6A6"/>
                </a:solidFill>
                <a:latin typeface="Calibri"/>
                <a:cs typeface="Calibri"/>
              </a:rPr>
              <a:t> </a:t>
            </a:r>
            <a:r>
              <a:rPr sz="1200" i="1" dirty="0" smtClean="0">
                <a:solidFill>
                  <a:srgbClr val="A6A6A6"/>
                </a:solidFill>
                <a:latin typeface="Calibri"/>
                <a:cs typeface="Calibri"/>
              </a:rPr>
              <a:t>1</a:t>
            </a:r>
            <a:r>
              <a:rPr sz="1200" i="1" spc="-20" dirty="0" smtClean="0">
                <a:solidFill>
                  <a:srgbClr val="A6A6A6"/>
                </a:solidFill>
                <a:latin typeface="Calibri"/>
                <a:cs typeface="Calibri"/>
              </a:rPr>
              <a:t> </a:t>
            </a:r>
            <a:r>
              <a:rPr sz="1200" i="1" dirty="0">
                <a:solidFill>
                  <a:srgbClr val="A6A6A6"/>
                </a:solidFill>
                <a:latin typeface="Calibri"/>
                <a:cs typeface="Calibri"/>
              </a:rPr>
              <a:t>:</a:t>
            </a:r>
            <a:r>
              <a:rPr sz="1200" i="1" spc="-15" dirty="0">
                <a:solidFill>
                  <a:srgbClr val="A6A6A6"/>
                </a:solidFill>
                <a:latin typeface="Calibri"/>
                <a:cs typeface="Calibri"/>
              </a:rPr>
              <a:t> </a:t>
            </a:r>
            <a:r>
              <a:rPr sz="1200" i="1" dirty="0">
                <a:solidFill>
                  <a:srgbClr val="A6A6A6"/>
                </a:solidFill>
                <a:latin typeface="Calibri"/>
                <a:cs typeface="Calibri"/>
              </a:rPr>
              <a:t>Commande</a:t>
            </a:r>
            <a:r>
              <a:rPr sz="1200" i="1" spc="-65" dirty="0">
                <a:solidFill>
                  <a:srgbClr val="A6A6A6"/>
                </a:solidFill>
                <a:latin typeface="Calibri"/>
                <a:cs typeface="Calibri"/>
              </a:rPr>
              <a:t> </a:t>
            </a:r>
            <a:r>
              <a:rPr sz="1200" i="1" dirty="0">
                <a:solidFill>
                  <a:srgbClr val="A6A6A6"/>
                </a:solidFill>
                <a:latin typeface="Calibri"/>
                <a:cs typeface="Calibri"/>
              </a:rPr>
              <a:t>de</a:t>
            </a:r>
            <a:r>
              <a:rPr sz="1200" i="1" spc="-25" dirty="0">
                <a:solidFill>
                  <a:srgbClr val="A6A6A6"/>
                </a:solidFill>
                <a:latin typeface="Calibri"/>
                <a:cs typeface="Calibri"/>
              </a:rPr>
              <a:t> </a:t>
            </a:r>
            <a:r>
              <a:rPr sz="1200" i="1" dirty="0">
                <a:solidFill>
                  <a:srgbClr val="A6A6A6"/>
                </a:solidFill>
                <a:latin typeface="Calibri"/>
                <a:cs typeface="Calibri"/>
              </a:rPr>
              <a:t>gestion</a:t>
            </a:r>
            <a:r>
              <a:rPr sz="1200" i="1" spc="-25" dirty="0">
                <a:solidFill>
                  <a:srgbClr val="A6A6A6"/>
                </a:solidFill>
                <a:latin typeface="Calibri"/>
                <a:cs typeface="Calibri"/>
              </a:rPr>
              <a:t> </a:t>
            </a:r>
            <a:r>
              <a:rPr sz="1200" i="1" dirty="0">
                <a:solidFill>
                  <a:srgbClr val="A6A6A6"/>
                </a:solidFill>
                <a:latin typeface="Calibri"/>
                <a:cs typeface="Calibri"/>
              </a:rPr>
              <a:t>des</a:t>
            </a:r>
            <a:r>
              <a:rPr sz="1200" i="1" spc="-35" dirty="0">
                <a:solidFill>
                  <a:srgbClr val="A6A6A6"/>
                </a:solidFill>
                <a:latin typeface="Calibri"/>
                <a:cs typeface="Calibri"/>
              </a:rPr>
              <a:t> </a:t>
            </a:r>
            <a:r>
              <a:rPr sz="1200" i="1" dirty="0">
                <a:solidFill>
                  <a:srgbClr val="A6A6A6"/>
                </a:solidFill>
                <a:latin typeface="Calibri"/>
                <a:cs typeface="Calibri"/>
              </a:rPr>
              <a:t>signaux</a:t>
            </a:r>
            <a:r>
              <a:rPr sz="1200" i="1" spc="-45" dirty="0">
                <a:solidFill>
                  <a:srgbClr val="A6A6A6"/>
                </a:solidFill>
                <a:latin typeface="Calibri"/>
                <a:cs typeface="Calibri"/>
              </a:rPr>
              <a:t> </a:t>
            </a:r>
            <a:r>
              <a:rPr sz="1200" i="1" dirty="0">
                <a:solidFill>
                  <a:srgbClr val="A6A6A6"/>
                </a:solidFill>
                <a:latin typeface="Calibri"/>
                <a:cs typeface="Calibri"/>
              </a:rPr>
              <a:t>et</a:t>
            </a:r>
            <a:r>
              <a:rPr sz="1200" i="1" spc="-20" dirty="0">
                <a:solidFill>
                  <a:srgbClr val="A6A6A6"/>
                </a:solidFill>
                <a:latin typeface="Calibri"/>
                <a:cs typeface="Calibri"/>
              </a:rPr>
              <a:t> </a:t>
            </a:r>
            <a:r>
              <a:rPr sz="1200" i="1" dirty="0">
                <a:solidFill>
                  <a:srgbClr val="A6A6A6"/>
                </a:solidFill>
                <a:latin typeface="Calibri"/>
                <a:cs typeface="Calibri"/>
              </a:rPr>
              <a:t>ses</a:t>
            </a:r>
            <a:r>
              <a:rPr sz="1200" i="1" spc="-15" dirty="0">
                <a:solidFill>
                  <a:srgbClr val="A6A6A6"/>
                </a:solidFill>
                <a:latin typeface="Calibri"/>
                <a:cs typeface="Calibri"/>
              </a:rPr>
              <a:t> </a:t>
            </a:r>
            <a:r>
              <a:rPr sz="1200" i="1" spc="-10" dirty="0">
                <a:solidFill>
                  <a:srgbClr val="A6A6A6"/>
                </a:solidFill>
                <a:latin typeface="Calibri"/>
                <a:cs typeface="Calibri"/>
              </a:rPr>
              <a:t>options</a:t>
            </a:r>
            <a:endParaRPr sz="1200" dirty="0">
              <a:latin typeface="Calibri"/>
              <a:cs typeface="Calibri"/>
            </a:endParaRPr>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19" name="object 11"/>
          <p:cNvSpPr txBox="1">
            <a:spLocks noGrp="1"/>
          </p:cNvSpPr>
          <p:nvPr>
            <p:ph type="title"/>
          </p:nvPr>
        </p:nvSpPr>
        <p:spPr>
          <a:xfrm>
            <a:off x="228600" y="304800"/>
            <a:ext cx="11664492" cy="452868"/>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p:txBody>
      </p:sp>
    </p:spTree>
    <p:extLst>
      <p:ext uri="{BB962C8B-B14F-4D97-AF65-F5344CB8AC3E}">
        <p14:creationId xmlns:p14="http://schemas.microsoft.com/office/powerpoint/2010/main" val="48823533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3"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65</a:t>
            </a:fld>
            <a:endParaRPr spc="-25" dirty="0"/>
          </a:p>
        </p:txBody>
      </p:sp>
      <p:sp>
        <p:nvSpPr>
          <p:cNvPr id="12" name="object 12"/>
          <p:cNvSpPr txBox="1"/>
          <p:nvPr/>
        </p:nvSpPr>
        <p:spPr>
          <a:xfrm>
            <a:off x="707237" y="1655159"/>
            <a:ext cx="10707218" cy="2964914"/>
          </a:xfrm>
          <a:prstGeom prst="rect">
            <a:avLst/>
          </a:prstGeom>
        </p:spPr>
        <p:txBody>
          <a:bodyPr vert="horz" wrap="square" lIns="0" tIns="12700" rIns="0" bIns="0" rtlCol="0">
            <a:spAutoFit/>
          </a:bodyPr>
          <a:lstStyle/>
          <a:p>
            <a:pPr marL="12700">
              <a:spcBef>
                <a:spcPts val="100"/>
              </a:spcBef>
            </a:pPr>
            <a:r>
              <a:rPr lang="fr-FR" sz="1600" b="1" dirty="0" smtClean="0">
                <a:solidFill>
                  <a:srgbClr val="FFC000"/>
                </a:solidFill>
                <a:latin typeface="Calibri"/>
                <a:cs typeface="Calibri"/>
              </a:rPr>
              <a:t>Synchronisation : Ressource et section critique </a:t>
            </a:r>
          </a:p>
          <a:p>
            <a:pPr marL="12700">
              <a:spcBef>
                <a:spcPts val="100"/>
              </a:spcBef>
            </a:pPr>
            <a:endParaRPr lang="fr-FR" sz="1600" b="1" dirty="0" smtClean="0">
              <a:solidFill>
                <a:srgbClr val="FFC000"/>
              </a:solidFill>
              <a:latin typeface="Calibri"/>
              <a:cs typeface="Calibri"/>
            </a:endParaRPr>
          </a:p>
          <a:p>
            <a:pPr marL="298450" indent="-285750">
              <a:lnSpc>
                <a:spcPct val="150000"/>
              </a:lnSpc>
              <a:spcBef>
                <a:spcPts val="100"/>
              </a:spcBef>
              <a:buFont typeface="Arial" panose="020B0604020202020204" pitchFamily="34" charset="0"/>
              <a:buChar char="•"/>
            </a:pPr>
            <a:r>
              <a:rPr lang="fr-FR" sz="1600" b="1" dirty="0" smtClean="0">
                <a:solidFill>
                  <a:schemeClr val="tx1"/>
                </a:solidFill>
                <a:latin typeface="Calibri"/>
                <a:cs typeface="Calibri"/>
              </a:rPr>
              <a:t>Synchronisation : </a:t>
            </a:r>
            <a:r>
              <a:rPr lang="fr-FR" sz="1600" dirty="0" smtClean="0">
                <a:solidFill>
                  <a:schemeClr val="tx1"/>
                </a:solidFill>
                <a:latin typeface="Calibri"/>
                <a:cs typeface="Calibri"/>
              </a:rPr>
              <a:t>mécanisme qui vise à bloquer l’exécution de certains processus et à laisser passer un processus dans une section critique pour obtenir le résultat désiré</a:t>
            </a:r>
          </a:p>
          <a:p>
            <a:pPr marL="298450" indent="-285750">
              <a:lnSpc>
                <a:spcPct val="150000"/>
              </a:lnSpc>
              <a:spcBef>
                <a:spcPts val="100"/>
              </a:spcBef>
              <a:buFont typeface="Arial" panose="020B0604020202020204" pitchFamily="34" charset="0"/>
              <a:buChar char="•"/>
            </a:pPr>
            <a:r>
              <a:rPr lang="fr-FR" sz="1600" b="1" dirty="0" smtClean="0">
                <a:solidFill>
                  <a:schemeClr val="tx1"/>
                </a:solidFill>
                <a:latin typeface="Calibri"/>
                <a:cs typeface="Calibri"/>
              </a:rPr>
              <a:t>Ressource Critique : </a:t>
            </a:r>
            <a:r>
              <a:rPr lang="fr-FR" sz="1600" dirty="0" smtClean="0">
                <a:solidFill>
                  <a:schemeClr val="tx1"/>
                </a:solidFill>
                <a:latin typeface="Calibri"/>
                <a:cs typeface="Calibri"/>
              </a:rPr>
              <a:t>Ressource qui ne peut être utiliser que par un seul processus à la fois, comme fichier, tableau….</a:t>
            </a:r>
          </a:p>
          <a:p>
            <a:pPr marL="298450" indent="-285750">
              <a:lnSpc>
                <a:spcPct val="150000"/>
              </a:lnSpc>
              <a:spcBef>
                <a:spcPts val="100"/>
              </a:spcBef>
              <a:buFont typeface="Arial" panose="020B0604020202020204" pitchFamily="34" charset="0"/>
              <a:buChar char="•"/>
            </a:pPr>
            <a:r>
              <a:rPr lang="fr-FR" sz="1600" b="1" dirty="0" smtClean="0">
                <a:solidFill>
                  <a:schemeClr val="tx1"/>
                </a:solidFill>
                <a:latin typeface="Calibri"/>
                <a:cs typeface="Calibri"/>
              </a:rPr>
              <a:t>Section Critique : </a:t>
            </a:r>
            <a:r>
              <a:rPr lang="fr-FR" sz="1600" dirty="0" smtClean="0">
                <a:solidFill>
                  <a:schemeClr val="tx1"/>
                </a:solidFill>
                <a:latin typeface="Calibri"/>
                <a:cs typeface="Calibri"/>
              </a:rPr>
              <a:t>Région d’un programme qui tente d’accéder à des ressources partagées.</a:t>
            </a:r>
          </a:p>
          <a:p>
            <a:pPr marL="12700">
              <a:spcBef>
                <a:spcPts val="100"/>
              </a:spcBef>
            </a:pPr>
            <a:endParaRPr lang="fr-FR" sz="1600" dirty="0" smtClean="0">
              <a:solidFill>
                <a:schemeClr val="tx1"/>
              </a:solidFill>
              <a:latin typeface="Calibri"/>
              <a:cs typeface="Calibri"/>
            </a:endParaRPr>
          </a:p>
          <a:p>
            <a:pPr marL="12700">
              <a:spcBef>
                <a:spcPts val="100"/>
              </a:spcBef>
            </a:pPr>
            <a:endParaRPr lang="fr-FR" sz="1600" b="1" dirty="0" smtClean="0">
              <a:solidFill>
                <a:srgbClr val="FFC000"/>
              </a:solidFill>
              <a:latin typeface="Calibri"/>
              <a:cs typeface="Calibri"/>
            </a:endParaRPr>
          </a:p>
          <a:p>
            <a:pPr marL="12700">
              <a:lnSpc>
                <a:spcPct val="100000"/>
              </a:lnSpc>
              <a:spcBef>
                <a:spcPts val="1320"/>
              </a:spcBef>
            </a:pPr>
            <a:r>
              <a:rPr sz="1600" spc="-10" dirty="0" smtClean="0">
                <a:solidFill>
                  <a:srgbClr val="585858"/>
                </a:solidFill>
                <a:latin typeface="Calibri"/>
                <a:cs typeface="Calibri"/>
              </a:rPr>
              <a:t>.</a:t>
            </a:r>
            <a:endParaRPr sz="1600" dirty="0">
              <a:latin typeface="Calibri"/>
              <a:cs typeface="Calibri"/>
            </a:endParaRPr>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19" name="object 11"/>
          <p:cNvSpPr txBox="1">
            <a:spLocks noGrp="1"/>
          </p:cNvSpPr>
          <p:nvPr>
            <p:ph type="title"/>
          </p:nvPr>
        </p:nvSpPr>
        <p:spPr>
          <a:xfrm>
            <a:off x="228600" y="304800"/>
            <a:ext cx="11664492" cy="452868"/>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p:txBody>
      </p:sp>
      <p:pic>
        <p:nvPicPr>
          <p:cNvPr id="16" name="Image 15"/>
          <p:cNvPicPr/>
          <p:nvPr/>
        </p:nvPicPr>
        <p:blipFill>
          <a:blip r:embed="rId4"/>
          <a:stretch>
            <a:fillRect/>
          </a:stretch>
        </p:blipFill>
        <p:spPr>
          <a:xfrm>
            <a:off x="2971800" y="3828843"/>
            <a:ext cx="4648200" cy="2702336"/>
          </a:xfrm>
          <a:prstGeom prst="rect">
            <a:avLst/>
          </a:prstGeom>
        </p:spPr>
      </p:pic>
    </p:spTree>
    <p:extLst>
      <p:ext uri="{BB962C8B-B14F-4D97-AF65-F5344CB8AC3E}">
        <p14:creationId xmlns:p14="http://schemas.microsoft.com/office/powerpoint/2010/main" val="60140351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3"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66</a:t>
            </a:fld>
            <a:endParaRPr spc="-25" dirty="0"/>
          </a:p>
        </p:txBody>
      </p:sp>
      <p:sp>
        <p:nvSpPr>
          <p:cNvPr id="12" name="object 12"/>
          <p:cNvSpPr txBox="1"/>
          <p:nvPr/>
        </p:nvSpPr>
        <p:spPr>
          <a:xfrm>
            <a:off x="707237" y="1655159"/>
            <a:ext cx="10707218" cy="1941557"/>
          </a:xfrm>
          <a:prstGeom prst="rect">
            <a:avLst/>
          </a:prstGeom>
        </p:spPr>
        <p:txBody>
          <a:bodyPr vert="horz" wrap="square" lIns="0" tIns="12700" rIns="0" bIns="0" rtlCol="0">
            <a:spAutoFit/>
          </a:bodyPr>
          <a:lstStyle/>
          <a:p>
            <a:pPr marL="12700">
              <a:spcBef>
                <a:spcPts val="100"/>
              </a:spcBef>
            </a:pPr>
            <a:r>
              <a:rPr lang="fr-FR" sz="1600" b="1" dirty="0" smtClean="0">
                <a:solidFill>
                  <a:srgbClr val="FFC000"/>
                </a:solidFill>
                <a:latin typeface="Calibri"/>
                <a:cs typeface="Calibri"/>
              </a:rPr>
              <a:t>Synchronisation : Exclusion Mutuelle :</a:t>
            </a:r>
          </a:p>
          <a:p>
            <a:pPr marL="12700">
              <a:spcBef>
                <a:spcPts val="100"/>
              </a:spcBef>
            </a:pPr>
            <a:endParaRPr lang="fr-FR" sz="1600" b="1" dirty="0" smtClean="0">
              <a:solidFill>
                <a:srgbClr val="FFC000"/>
              </a:solidFill>
              <a:latin typeface="Calibri"/>
              <a:cs typeface="Calibri"/>
            </a:endParaRPr>
          </a:p>
          <a:p>
            <a:pPr marL="298450" indent="-285750">
              <a:lnSpc>
                <a:spcPct val="150000"/>
              </a:lnSpc>
              <a:spcBef>
                <a:spcPts val="100"/>
              </a:spcBef>
              <a:buFont typeface="Arial" panose="020B0604020202020204" pitchFamily="34" charset="0"/>
              <a:buChar char="•"/>
            </a:pPr>
            <a:r>
              <a:rPr lang="fr-FR" sz="1600" b="1" dirty="0" smtClean="0">
                <a:solidFill>
                  <a:schemeClr val="tx1"/>
                </a:solidFill>
                <a:latin typeface="Calibri"/>
                <a:cs typeface="Calibri"/>
              </a:rPr>
              <a:t>Exclusion Mutuelle : </a:t>
            </a:r>
            <a:r>
              <a:rPr lang="fr-FR" sz="1600" dirty="0" smtClean="0">
                <a:solidFill>
                  <a:schemeClr val="tx1"/>
                </a:solidFill>
                <a:latin typeface="Calibri"/>
                <a:cs typeface="Calibri"/>
              </a:rPr>
              <a:t>Par exclusion mutuelle, nous entendons que si un processus s’exécute dans la section critique, alors l’autre processus ne doit pas enter dans le section critique </a:t>
            </a:r>
          </a:p>
          <a:p>
            <a:pPr marL="12700">
              <a:spcBef>
                <a:spcPts val="100"/>
              </a:spcBef>
            </a:pPr>
            <a:endParaRPr lang="fr-FR" sz="1600" b="1" dirty="0" smtClean="0">
              <a:solidFill>
                <a:srgbClr val="FFC000"/>
              </a:solidFill>
              <a:latin typeface="Calibri"/>
              <a:cs typeface="Calibri"/>
            </a:endParaRPr>
          </a:p>
          <a:p>
            <a:pPr marL="12700">
              <a:lnSpc>
                <a:spcPct val="100000"/>
              </a:lnSpc>
              <a:spcBef>
                <a:spcPts val="1320"/>
              </a:spcBef>
            </a:pPr>
            <a:r>
              <a:rPr sz="1600" spc="-10" dirty="0" smtClean="0">
                <a:solidFill>
                  <a:srgbClr val="585858"/>
                </a:solidFill>
                <a:latin typeface="Calibri"/>
                <a:cs typeface="Calibri"/>
              </a:rPr>
              <a:t>.</a:t>
            </a:r>
            <a:endParaRPr sz="1600" dirty="0">
              <a:latin typeface="Calibri"/>
              <a:cs typeface="Calibri"/>
            </a:endParaRPr>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19" name="object 11"/>
          <p:cNvSpPr txBox="1">
            <a:spLocks noGrp="1"/>
          </p:cNvSpPr>
          <p:nvPr>
            <p:ph type="title"/>
          </p:nvPr>
        </p:nvSpPr>
        <p:spPr>
          <a:xfrm>
            <a:off x="228600" y="304800"/>
            <a:ext cx="11664492" cy="452868"/>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p:txBody>
      </p:sp>
      <p:pic>
        <p:nvPicPr>
          <p:cNvPr id="13" name="Image 12"/>
          <p:cNvPicPr/>
          <p:nvPr/>
        </p:nvPicPr>
        <p:blipFill>
          <a:blip r:embed="rId4"/>
          <a:stretch>
            <a:fillRect/>
          </a:stretch>
        </p:blipFill>
        <p:spPr>
          <a:xfrm>
            <a:off x="3505200" y="3276600"/>
            <a:ext cx="3571875" cy="2886075"/>
          </a:xfrm>
          <a:prstGeom prst="rect">
            <a:avLst/>
          </a:prstGeom>
        </p:spPr>
      </p:pic>
    </p:spTree>
    <p:extLst>
      <p:ext uri="{BB962C8B-B14F-4D97-AF65-F5344CB8AC3E}">
        <p14:creationId xmlns:p14="http://schemas.microsoft.com/office/powerpoint/2010/main" val="21010353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3"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67</a:t>
            </a:fld>
            <a:endParaRPr spc="-25" dirty="0"/>
          </a:p>
        </p:txBody>
      </p:sp>
      <p:sp>
        <p:nvSpPr>
          <p:cNvPr id="12" name="object 12"/>
          <p:cNvSpPr txBox="1"/>
          <p:nvPr/>
        </p:nvSpPr>
        <p:spPr>
          <a:xfrm>
            <a:off x="707237" y="1655159"/>
            <a:ext cx="10707218" cy="5329664"/>
          </a:xfrm>
          <a:prstGeom prst="rect">
            <a:avLst/>
          </a:prstGeom>
        </p:spPr>
        <p:txBody>
          <a:bodyPr vert="horz" wrap="square" lIns="0" tIns="12700" rIns="0" bIns="0" rtlCol="0">
            <a:spAutoFit/>
          </a:bodyPr>
          <a:lstStyle/>
          <a:p>
            <a:pPr marL="12700">
              <a:spcBef>
                <a:spcPts val="100"/>
              </a:spcBef>
            </a:pPr>
            <a:r>
              <a:rPr lang="fr-FR" sz="1600" b="1" dirty="0" smtClean="0">
                <a:solidFill>
                  <a:srgbClr val="FFC000"/>
                </a:solidFill>
                <a:latin typeface="Calibri"/>
                <a:cs typeface="Calibri"/>
              </a:rPr>
              <a:t>Algorithme de Synchronisation : :</a:t>
            </a:r>
          </a:p>
          <a:p>
            <a:pPr marL="12700">
              <a:spcBef>
                <a:spcPts val="100"/>
              </a:spcBef>
            </a:pPr>
            <a:endParaRPr lang="fr-FR" sz="1600" b="1" dirty="0" smtClean="0">
              <a:solidFill>
                <a:srgbClr val="FFC000"/>
              </a:solidFill>
              <a:latin typeface="Calibri"/>
              <a:cs typeface="Calibri"/>
            </a:endParaRPr>
          </a:p>
          <a:p>
            <a:pPr marL="298450" indent="-285750">
              <a:lnSpc>
                <a:spcPct val="150000"/>
              </a:lnSpc>
              <a:spcBef>
                <a:spcPts val="100"/>
              </a:spcBef>
              <a:buFont typeface="Arial" panose="020B0604020202020204" pitchFamily="34" charset="0"/>
              <a:buChar char="•"/>
            </a:pPr>
            <a:r>
              <a:rPr lang="fr-FR" sz="1600" b="1" dirty="0" smtClean="0">
                <a:solidFill>
                  <a:schemeClr val="tx1"/>
                </a:solidFill>
                <a:latin typeface="Calibri"/>
                <a:cs typeface="Calibri"/>
              </a:rPr>
              <a:t>Variable de Verrouillage : </a:t>
            </a:r>
            <a:r>
              <a:rPr lang="fr-FR" sz="1600" dirty="0" smtClean="0">
                <a:solidFill>
                  <a:schemeClr val="tx1"/>
                </a:solidFill>
                <a:latin typeface="Calibri"/>
                <a:cs typeface="Calibri"/>
              </a:rPr>
              <a:t>Lorsqu'un thread souhaite accéder à la ressource, il acquiert le verrou sur la variable de verrouillage. Les autres threads qui tentent d'accéder à la même ressource doivent attendre que le verrou soit libéré par le premier thread avant de pouvoir accéder à la ressource.</a:t>
            </a:r>
          </a:p>
          <a:p>
            <a:pPr marL="12700">
              <a:lnSpc>
                <a:spcPct val="150000"/>
              </a:lnSpc>
              <a:spcBef>
                <a:spcPts val="100"/>
              </a:spcBef>
            </a:pPr>
            <a:endParaRPr lang="fr-FR" sz="1600" b="1" dirty="0" smtClean="0">
              <a:solidFill>
                <a:schemeClr val="tx1"/>
              </a:solidFill>
              <a:latin typeface="Calibri"/>
              <a:cs typeface="Calibri"/>
            </a:endParaRPr>
          </a:p>
          <a:p>
            <a:pPr marL="298450" indent="-285750">
              <a:lnSpc>
                <a:spcPct val="150000"/>
              </a:lnSpc>
              <a:spcBef>
                <a:spcPts val="100"/>
              </a:spcBef>
              <a:buFont typeface="Arial" panose="020B0604020202020204" pitchFamily="34" charset="0"/>
              <a:buChar char="•"/>
            </a:pPr>
            <a:r>
              <a:rPr lang="fr-FR" sz="1600" b="1" dirty="0" smtClean="0">
                <a:solidFill>
                  <a:schemeClr val="tx1"/>
                </a:solidFill>
                <a:latin typeface="Calibri"/>
                <a:cs typeface="Calibri"/>
              </a:rPr>
              <a:t>L’alternance : </a:t>
            </a:r>
            <a:r>
              <a:rPr lang="fr-FR" sz="1600" dirty="0">
                <a:solidFill>
                  <a:schemeClr val="tx1"/>
                </a:solidFill>
                <a:latin typeface="Calibri"/>
                <a:cs typeface="Calibri"/>
              </a:rPr>
              <a:t>L</a:t>
            </a:r>
            <a:r>
              <a:rPr lang="fr-FR" sz="1600" dirty="0" smtClean="0">
                <a:solidFill>
                  <a:schemeClr val="tx1"/>
                </a:solidFill>
                <a:latin typeface="Calibri"/>
                <a:cs typeface="Calibri"/>
              </a:rPr>
              <a:t>es threads peuvent s'exécuter de manière séquentielle en alternance;</a:t>
            </a:r>
          </a:p>
          <a:p>
            <a:pPr marL="12700">
              <a:lnSpc>
                <a:spcPct val="150000"/>
              </a:lnSpc>
              <a:spcBef>
                <a:spcPts val="100"/>
              </a:spcBef>
            </a:pPr>
            <a:endParaRPr lang="fr-FR" sz="1600" dirty="0">
              <a:solidFill>
                <a:schemeClr val="tx1"/>
              </a:solidFill>
              <a:latin typeface="Calibri"/>
              <a:cs typeface="Calibri"/>
            </a:endParaRPr>
          </a:p>
          <a:p>
            <a:pPr marL="298450" indent="-285750">
              <a:lnSpc>
                <a:spcPct val="150000"/>
              </a:lnSpc>
              <a:spcBef>
                <a:spcPts val="100"/>
              </a:spcBef>
              <a:buFont typeface="Arial" panose="020B0604020202020204" pitchFamily="34" charset="0"/>
              <a:buChar char="•"/>
            </a:pPr>
            <a:r>
              <a:rPr lang="fr-FR" sz="1600" b="1" dirty="0" smtClean="0">
                <a:solidFill>
                  <a:schemeClr val="tx1"/>
                </a:solidFill>
                <a:latin typeface="Calibri"/>
                <a:cs typeface="Calibri"/>
              </a:rPr>
              <a:t>Sémaphore : </a:t>
            </a:r>
            <a:r>
              <a:rPr lang="fr-FR" sz="1600" kern="1200" dirty="0">
                <a:solidFill>
                  <a:schemeClr val="tx1"/>
                </a:solidFill>
                <a:latin typeface="+mj-lt"/>
              </a:rPr>
              <a:t>Lorsqu'un thread souhaite accéder à la ressource, il effectue une opération P sur le sémaphore. Si le compteur est supérieur à zéro, le thread peut accéder à la ressource et le compteur est décrémenté. Sinon, le thread est mis en attente. Lorsqu'un thread a terminé d'utiliser la ressource, il effectue une opération V sur le sémaphore pour libérer la ressource et incrémenter le compteur, ce qui permet à d'autres threads en attente d'accéder à la ressource.</a:t>
            </a:r>
          </a:p>
          <a:p>
            <a:pPr marL="12700">
              <a:lnSpc>
                <a:spcPct val="150000"/>
              </a:lnSpc>
              <a:spcBef>
                <a:spcPts val="100"/>
              </a:spcBef>
            </a:pPr>
            <a:endParaRPr lang="fr-FR" sz="1600" b="1" dirty="0">
              <a:solidFill>
                <a:schemeClr val="tx1"/>
              </a:solidFill>
              <a:latin typeface="Calibri"/>
              <a:cs typeface="Calibri"/>
            </a:endParaRPr>
          </a:p>
          <a:p>
            <a:pPr marL="12700">
              <a:spcBef>
                <a:spcPts val="100"/>
              </a:spcBef>
            </a:pPr>
            <a:endParaRPr lang="fr-FR" sz="1600" b="1" dirty="0" smtClean="0">
              <a:solidFill>
                <a:srgbClr val="FFC000"/>
              </a:solidFill>
              <a:latin typeface="Calibri"/>
              <a:cs typeface="Calibri"/>
            </a:endParaRPr>
          </a:p>
          <a:p>
            <a:pPr marL="12700">
              <a:lnSpc>
                <a:spcPct val="100000"/>
              </a:lnSpc>
              <a:spcBef>
                <a:spcPts val="1320"/>
              </a:spcBef>
            </a:pPr>
            <a:r>
              <a:rPr sz="1600" spc="-10" dirty="0" smtClean="0">
                <a:solidFill>
                  <a:srgbClr val="585858"/>
                </a:solidFill>
                <a:latin typeface="Calibri"/>
                <a:cs typeface="Calibri"/>
              </a:rPr>
              <a:t>.</a:t>
            </a:r>
            <a:endParaRPr sz="1600" dirty="0">
              <a:latin typeface="Calibri"/>
              <a:cs typeface="Calibri"/>
            </a:endParaRPr>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19" name="object 11"/>
          <p:cNvSpPr txBox="1">
            <a:spLocks noGrp="1"/>
          </p:cNvSpPr>
          <p:nvPr>
            <p:ph type="title"/>
          </p:nvPr>
        </p:nvSpPr>
        <p:spPr>
          <a:xfrm>
            <a:off x="228600" y="304800"/>
            <a:ext cx="11664492" cy="452868"/>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p:txBody>
      </p:sp>
    </p:spTree>
    <p:extLst>
      <p:ext uri="{BB962C8B-B14F-4D97-AF65-F5344CB8AC3E}">
        <p14:creationId xmlns:p14="http://schemas.microsoft.com/office/powerpoint/2010/main" val="31620987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3"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68</a:t>
            </a:fld>
            <a:endParaRPr spc="-25" dirty="0"/>
          </a:p>
        </p:txBody>
      </p:sp>
      <p:sp>
        <p:nvSpPr>
          <p:cNvPr id="12" name="object 12"/>
          <p:cNvSpPr txBox="1"/>
          <p:nvPr/>
        </p:nvSpPr>
        <p:spPr>
          <a:xfrm>
            <a:off x="707237" y="1655159"/>
            <a:ext cx="10707218" cy="1190069"/>
          </a:xfrm>
          <a:prstGeom prst="rect">
            <a:avLst/>
          </a:prstGeom>
        </p:spPr>
        <p:txBody>
          <a:bodyPr vert="horz" wrap="square" lIns="0" tIns="12700" rIns="0" bIns="0" rtlCol="0">
            <a:spAutoFit/>
          </a:bodyPr>
          <a:lstStyle/>
          <a:p>
            <a:pPr marL="12700">
              <a:spcBef>
                <a:spcPts val="100"/>
              </a:spcBef>
            </a:pPr>
            <a:r>
              <a:rPr lang="fr-FR" sz="1600" b="1" dirty="0" smtClean="0">
                <a:solidFill>
                  <a:srgbClr val="FFC000"/>
                </a:solidFill>
                <a:latin typeface="Calibri"/>
                <a:cs typeface="Calibri"/>
              </a:rPr>
              <a:t>Algorithme de Synchronisation : Variable de Verrouillage  :</a:t>
            </a:r>
          </a:p>
          <a:p>
            <a:pPr marL="12700">
              <a:spcBef>
                <a:spcPts val="100"/>
              </a:spcBef>
            </a:pPr>
            <a:endParaRPr lang="fr-FR" sz="1600" b="1" dirty="0" smtClean="0">
              <a:solidFill>
                <a:srgbClr val="FFC000"/>
              </a:solidFill>
              <a:latin typeface="Calibri"/>
              <a:cs typeface="Calibri"/>
            </a:endParaRPr>
          </a:p>
          <a:p>
            <a:pPr marL="12700">
              <a:spcBef>
                <a:spcPts val="100"/>
              </a:spcBef>
            </a:pPr>
            <a:endParaRPr lang="fr-FR" sz="1600" b="1" dirty="0" smtClean="0">
              <a:solidFill>
                <a:srgbClr val="FFC000"/>
              </a:solidFill>
              <a:latin typeface="Calibri"/>
              <a:cs typeface="Calibri"/>
            </a:endParaRPr>
          </a:p>
          <a:p>
            <a:pPr marL="12700">
              <a:lnSpc>
                <a:spcPct val="100000"/>
              </a:lnSpc>
              <a:spcBef>
                <a:spcPts val="1320"/>
              </a:spcBef>
            </a:pPr>
            <a:r>
              <a:rPr sz="1600" spc="-10" dirty="0" smtClean="0">
                <a:solidFill>
                  <a:srgbClr val="585858"/>
                </a:solidFill>
                <a:latin typeface="Calibri"/>
                <a:cs typeface="Calibri"/>
              </a:rPr>
              <a:t>.</a:t>
            </a:r>
            <a:endParaRPr sz="1600" dirty="0">
              <a:latin typeface="Calibri"/>
              <a:cs typeface="Calibri"/>
            </a:endParaRPr>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19" name="object 11"/>
          <p:cNvSpPr txBox="1">
            <a:spLocks noGrp="1"/>
          </p:cNvSpPr>
          <p:nvPr>
            <p:ph type="title"/>
          </p:nvPr>
        </p:nvSpPr>
        <p:spPr>
          <a:xfrm>
            <a:off x="228600" y="304800"/>
            <a:ext cx="11664492" cy="452868"/>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p:txBody>
      </p:sp>
      <p:sp>
        <p:nvSpPr>
          <p:cNvPr id="11" name="Rectangle 10"/>
          <p:cNvSpPr/>
          <p:nvPr/>
        </p:nvSpPr>
        <p:spPr>
          <a:xfrm>
            <a:off x="914400" y="2514600"/>
            <a:ext cx="2667000" cy="221452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marL="12700">
              <a:spcBef>
                <a:spcPts val="100"/>
              </a:spcBef>
            </a:pPr>
            <a:r>
              <a:rPr lang="fr-FR" b="1" dirty="0">
                <a:solidFill>
                  <a:schemeClr val="tx1"/>
                </a:solidFill>
                <a:cs typeface="Calibri"/>
              </a:rPr>
              <a:t>Entrée dans section</a:t>
            </a:r>
          </a:p>
          <a:p>
            <a:pPr marL="12700">
              <a:spcBef>
                <a:spcPts val="100"/>
              </a:spcBef>
            </a:pPr>
            <a:r>
              <a:rPr lang="fr-FR" b="1" dirty="0" err="1">
                <a:solidFill>
                  <a:schemeClr val="tx1"/>
                </a:solidFill>
                <a:cs typeface="Calibri"/>
              </a:rPr>
              <a:t>While</a:t>
            </a:r>
            <a:r>
              <a:rPr lang="fr-FR" b="1" dirty="0">
                <a:solidFill>
                  <a:schemeClr val="tx1"/>
                </a:solidFill>
                <a:cs typeface="Calibri"/>
              </a:rPr>
              <a:t> ( verrou==0)</a:t>
            </a:r>
          </a:p>
          <a:p>
            <a:pPr marL="12700">
              <a:spcBef>
                <a:spcPts val="100"/>
              </a:spcBef>
            </a:pPr>
            <a:r>
              <a:rPr lang="fr-FR" b="1" dirty="0">
                <a:solidFill>
                  <a:srgbClr val="FF0000"/>
                </a:solidFill>
                <a:cs typeface="Calibri"/>
              </a:rPr>
              <a:t>Verrou=1 ;</a:t>
            </a:r>
          </a:p>
          <a:p>
            <a:pPr marL="12700">
              <a:spcBef>
                <a:spcPts val="100"/>
              </a:spcBef>
            </a:pPr>
            <a:r>
              <a:rPr lang="fr-FR" b="1" dirty="0">
                <a:solidFill>
                  <a:schemeClr val="tx1"/>
                </a:solidFill>
                <a:cs typeface="Calibri"/>
              </a:rPr>
              <a:t>//section critique </a:t>
            </a:r>
          </a:p>
          <a:p>
            <a:pPr marL="12700">
              <a:spcBef>
                <a:spcPts val="100"/>
              </a:spcBef>
            </a:pPr>
            <a:r>
              <a:rPr lang="fr-FR" b="1" dirty="0">
                <a:solidFill>
                  <a:schemeClr val="tx1"/>
                </a:solidFill>
                <a:cs typeface="Calibri"/>
              </a:rPr>
              <a:t>Sortir de la section </a:t>
            </a:r>
          </a:p>
          <a:p>
            <a:pPr marL="12700">
              <a:spcBef>
                <a:spcPts val="100"/>
              </a:spcBef>
            </a:pPr>
            <a:r>
              <a:rPr lang="fr-FR" b="1" dirty="0">
                <a:solidFill>
                  <a:srgbClr val="FF0000"/>
                </a:solidFill>
                <a:cs typeface="Calibri"/>
              </a:rPr>
              <a:t>Verrou=0 ;</a:t>
            </a:r>
          </a:p>
        </p:txBody>
      </p:sp>
      <p:sp>
        <p:nvSpPr>
          <p:cNvPr id="7" name="Flèche droite 6"/>
          <p:cNvSpPr/>
          <p:nvPr/>
        </p:nvSpPr>
        <p:spPr>
          <a:xfrm>
            <a:off x="3886200" y="3393261"/>
            <a:ext cx="1676400" cy="4167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p:cNvSpPr/>
          <p:nvPr/>
        </p:nvSpPr>
        <p:spPr>
          <a:xfrm>
            <a:off x="5867472" y="2494369"/>
            <a:ext cx="5410127" cy="2214522"/>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marL="12700">
              <a:spcBef>
                <a:spcPts val="100"/>
              </a:spcBef>
            </a:pPr>
            <a:r>
              <a:rPr lang="fr-FR" b="1" dirty="0" smtClean="0">
                <a:solidFill>
                  <a:srgbClr val="FF0000"/>
                </a:solidFill>
                <a:cs typeface="Calibri"/>
              </a:rPr>
              <a:t>Problème:</a:t>
            </a:r>
          </a:p>
          <a:p>
            <a:pPr marL="12700">
              <a:spcBef>
                <a:spcPts val="100"/>
              </a:spcBef>
            </a:pPr>
            <a:r>
              <a:rPr lang="fr-FR" sz="1800" dirty="0" smtClean="0">
                <a:solidFill>
                  <a:schemeClr val="dk1"/>
                </a:solidFill>
                <a:latin typeface="+mn-lt"/>
                <a:ea typeface="+mn-ea"/>
                <a:cs typeface="+mn-cs"/>
              </a:rPr>
              <a:t>Supposons </a:t>
            </a:r>
            <a:r>
              <a:rPr lang="fr-FR" sz="1800" dirty="0">
                <a:solidFill>
                  <a:schemeClr val="dk1"/>
                </a:solidFill>
                <a:latin typeface="+mn-lt"/>
                <a:ea typeface="+mn-ea"/>
                <a:cs typeface="+mn-cs"/>
              </a:rPr>
              <a:t>que le processus P1 a lu le </a:t>
            </a:r>
            <a:r>
              <a:rPr lang="fr-FR" sz="1800" dirty="0" err="1">
                <a:solidFill>
                  <a:schemeClr val="dk1"/>
                </a:solidFill>
                <a:latin typeface="+mn-lt"/>
                <a:ea typeface="+mn-ea"/>
                <a:cs typeface="+mn-cs"/>
              </a:rPr>
              <a:t>verou</a:t>
            </a:r>
            <a:r>
              <a:rPr lang="fr-FR" sz="1800" dirty="0">
                <a:solidFill>
                  <a:schemeClr val="dk1"/>
                </a:solidFill>
                <a:latin typeface="+mn-lt"/>
                <a:ea typeface="+mn-ea"/>
                <a:cs typeface="+mn-cs"/>
              </a:rPr>
              <a:t> </a:t>
            </a:r>
            <a:r>
              <a:rPr lang="fr-FR" sz="1800" dirty="0" smtClean="0">
                <a:solidFill>
                  <a:schemeClr val="dk1"/>
                </a:solidFill>
                <a:latin typeface="+mn-lt"/>
                <a:ea typeface="+mn-ea"/>
                <a:cs typeface="+mn-cs"/>
              </a:rPr>
              <a:t>et trouve 0 et avant </a:t>
            </a:r>
            <a:r>
              <a:rPr lang="fr-FR" sz="1800" dirty="0">
                <a:solidFill>
                  <a:schemeClr val="dk1"/>
                </a:solidFill>
                <a:latin typeface="+mn-lt"/>
                <a:ea typeface="+mn-ea"/>
                <a:cs typeface="+mn-cs"/>
              </a:rPr>
              <a:t>de mettre le </a:t>
            </a:r>
            <a:r>
              <a:rPr lang="fr-FR" sz="1800" dirty="0" err="1">
                <a:solidFill>
                  <a:schemeClr val="dk1"/>
                </a:solidFill>
                <a:latin typeface="+mn-lt"/>
                <a:ea typeface="+mn-ea"/>
                <a:cs typeface="+mn-cs"/>
              </a:rPr>
              <a:t>verou</a:t>
            </a:r>
            <a:r>
              <a:rPr lang="fr-FR" sz="1800" dirty="0">
                <a:solidFill>
                  <a:schemeClr val="dk1"/>
                </a:solidFill>
                <a:latin typeface="+mn-lt"/>
                <a:ea typeface="+mn-ea"/>
                <a:cs typeface="+mn-cs"/>
              </a:rPr>
              <a:t> à 1 il s’est interrompu. Puis un processus P2 a lu le verrou et le trouve aussi égale à 0, alors les deux processus seront présents dans la </a:t>
            </a:r>
            <a:r>
              <a:rPr lang="fr-FR" sz="1800" b="1" dirty="0" smtClean="0">
                <a:solidFill>
                  <a:schemeClr val="dk1"/>
                </a:solidFill>
              </a:rPr>
              <a:t>section </a:t>
            </a:r>
            <a:r>
              <a:rPr lang="fr-FR" sz="1800" b="1" dirty="0">
                <a:solidFill>
                  <a:schemeClr val="dk1"/>
                </a:solidFill>
              </a:rPr>
              <a:t>critique</a:t>
            </a:r>
            <a:endParaRPr lang="fr-FR" b="1" dirty="0">
              <a:solidFill>
                <a:srgbClr val="FF0000"/>
              </a:solidFill>
              <a:cs typeface="Calibri"/>
            </a:endParaRPr>
          </a:p>
        </p:txBody>
      </p:sp>
    </p:spTree>
    <p:extLst>
      <p:ext uri="{BB962C8B-B14F-4D97-AF65-F5344CB8AC3E}">
        <p14:creationId xmlns:p14="http://schemas.microsoft.com/office/powerpoint/2010/main" val="282732799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3"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69</a:t>
            </a:fld>
            <a:endParaRPr spc="-25" dirty="0"/>
          </a:p>
        </p:txBody>
      </p:sp>
      <p:sp>
        <p:nvSpPr>
          <p:cNvPr id="12" name="object 12"/>
          <p:cNvSpPr txBox="1"/>
          <p:nvPr/>
        </p:nvSpPr>
        <p:spPr>
          <a:xfrm>
            <a:off x="707237" y="1655159"/>
            <a:ext cx="10707218" cy="1190069"/>
          </a:xfrm>
          <a:prstGeom prst="rect">
            <a:avLst/>
          </a:prstGeom>
        </p:spPr>
        <p:txBody>
          <a:bodyPr vert="horz" wrap="square" lIns="0" tIns="12700" rIns="0" bIns="0" rtlCol="0">
            <a:spAutoFit/>
          </a:bodyPr>
          <a:lstStyle/>
          <a:p>
            <a:pPr marL="12700">
              <a:spcBef>
                <a:spcPts val="100"/>
              </a:spcBef>
            </a:pPr>
            <a:r>
              <a:rPr lang="fr-FR" sz="1600" b="1" dirty="0" smtClean="0">
                <a:solidFill>
                  <a:srgbClr val="FFC000"/>
                </a:solidFill>
                <a:latin typeface="Calibri"/>
                <a:cs typeface="Calibri"/>
              </a:rPr>
              <a:t>Algorithme de Synchronisation : L’alternance:</a:t>
            </a:r>
          </a:p>
          <a:p>
            <a:pPr marL="12700">
              <a:spcBef>
                <a:spcPts val="100"/>
              </a:spcBef>
            </a:pPr>
            <a:endParaRPr lang="fr-FR" sz="1600" b="1" dirty="0" smtClean="0">
              <a:solidFill>
                <a:srgbClr val="FFC000"/>
              </a:solidFill>
              <a:latin typeface="Calibri"/>
              <a:cs typeface="Calibri"/>
            </a:endParaRPr>
          </a:p>
          <a:p>
            <a:pPr marL="12700">
              <a:spcBef>
                <a:spcPts val="100"/>
              </a:spcBef>
            </a:pPr>
            <a:endParaRPr lang="fr-FR" sz="1600" b="1" dirty="0" smtClean="0">
              <a:solidFill>
                <a:srgbClr val="FFC000"/>
              </a:solidFill>
              <a:latin typeface="Calibri"/>
              <a:cs typeface="Calibri"/>
            </a:endParaRPr>
          </a:p>
          <a:p>
            <a:pPr marL="12700">
              <a:lnSpc>
                <a:spcPct val="100000"/>
              </a:lnSpc>
              <a:spcBef>
                <a:spcPts val="1320"/>
              </a:spcBef>
            </a:pPr>
            <a:r>
              <a:rPr sz="1600" spc="-10" dirty="0" smtClean="0">
                <a:solidFill>
                  <a:srgbClr val="585858"/>
                </a:solidFill>
                <a:latin typeface="Calibri"/>
                <a:cs typeface="Calibri"/>
              </a:rPr>
              <a:t>.</a:t>
            </a:r>
            <a:endParaRPr sz="1600" dirty="0">
              <a:latin typeface="Calibri"/>
              <a:cs typeface="Calibri"/>
            </a:endParaRPr>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19" name="object 11"/>
          <p:cNvSpPr txBox="1">
            <a:spLocks noGrp="1"/>
          </p:cNvSpPr>
          <p:nvPr>
            <p:ph type="title"/>
          </p:nvPr>
        </p:nvSpPr>
        <p:spPr>
          <a:xfrm>
            <a:off x="228600" y="304800"/>
            <a:ext cx="11664492" cy="452868"/>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p:txBody>
      </p:sp>
      <p:pic>
        <p:nvPicPr>
          <p:cNvPr id="7" name="Image 6"/>
          <p:cNvPicPr>
            <a:picLocks noChangeAspect="1"/>
          </p:cNvPicPr>
          <p:nvPr/>
        </p:nvPicPr>
        <p:blipFill>
          <a:blip r:embed="rId4"/>
          <a:stretch>
            <a:fillRect/>
          </a:stretch>
        </p:blipFill>
        <p:spPr>
          <a:xfrm>
            <a:off x="1981200" y="1897183"/>
            <a:ext cx="7400925" cy="1981200"/>
          </a:xfrm>
          <a:prstGeom prst="rect">
            <a:avLst/>
          </a:prstGeom>
        </p:spPr>
      </p:pic>
      <p:pic>
        <p:nvPicPr>
          <p:cNvPr id="13" name="Image 12"/>
          <p:cNvPicPr/>
          <p:nvPr/>
        </p:nvPicPr>
        <p:blipFill>
          <a:blip r:embed="rId5">
            <a:extLst>
              <a:ext uri="{28A0092B-C50C-407E-A947-70E740481C1C}">
                <a14:useLocalDpi xmlns:a14="http://schemas.microsoft.com/office/drawing/2010/main" val="0"/>
              </a:ext>
            </a:extLst>
          </a:blip>
          <a:stretch>
            <a:fillRect/>
          </a:stretch>
        </p:blipFill>
        <p:spPr>
          <a:xfrm>
            <a:off x="2801302" y="3681290"/>
            <a:ext cx="5760720" cy="2871910"/>
          </a:xfrm>
          <a:prstGeom prst="rect">
            <a:avLst/>
          </a:prstGeom>
        </p:spPr>
      </p:pic>
    </p:spTree>
    <p:extLst>
      <p:ext uri="{BB962C8B-B14F-4D97-AF65-F5344CB8AC3E}">
        <p14:creationId xmlns:p14="http://schemas.microsoft.com/office/powerpoint/2010/main" val="7690354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3"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70</a:t>
            </a:fld>
            <a:endParaRPr spc="-25" dirty="0"/>
          </a:p>
        </p:txBody>
      </p:sp>
      <p:sp>
        <p:nvSpPr>
          <p:cNvPr id="12" name="object 12"/>
          <p:cNvSpPr txBox="1"/>
          <p:nvPr/>
        </p:nvSpPr>
        <p:spPr>
          <a:xfrm>
            <a:off x="707237" y="1655159"/>
            <a:ext cx="10707218" cy="3470181"/>
          </a:xfrm>
          <a:prstGeom prst="rect">
            <a:avLst/>
          </a:prstGeom>
        </p:spPr>
        <p:txBody>
          <a:bodyPr vert="horz" wrap="square" lIns="0" tIns="12700" rIns="0" bIns="0" rtlCol="0">
            <a:spAutoFit/>
          </a:bodyPr>
          <a:lstStyle/>
          <a:p>
            <a:pPr marL="12700">
              <a:spcBef>
                <a:spcPts val="100"/>
              </a:spcBef>
            </a:pPr>
            <a:r>
              <a:rPr lang="fr-FR" sz="1600" b="1" dirty="0" smtClean="0">
                <a:solidFill>
                  <a:srgbClr val="FFC000"/>
                </a:solidFill>
                <a:latin typeface="Calibri"/>
                <a:cs typeface="Calibri"/>
              </a:rPr>
              <a:t>Algorithme de Synchronisation : Sémaphore  :</a:t>
            </a:r>
          </a:p>
          <a:p>
            <a:pPr marL="12700">
              <a:spcBef>
                <a:spcPts val="100"/>
              </a:spcBef>
            </a:pPr>
            <a:endParaRPr lang="fr-FR" sz="1600" b="1" dirty="0">
              <a:solidFill>
                <a:srgbClr val="FFC000"/>
              </a:solidFill>
              <a:latin typeface="Calibri"/>
              <a:cs typeface="Calibri"/>
            </a:endParaRPr>
          </a:p>
          <a:p>
            <a:pPr marL="298450" indent="-285750">
              <a:lnSpc>
                <a:spcPct val="150000"/>
              </a:lnSpc>
              <a:spcBef>
                <a:spcPts val="100"/>
              </a:spcBef>
              <a:buFont typeface="Arial" panose="020B0604020202020204" pitchFamily="34" charset="0"/>
              <a:buChar char="•"/>
            </a:pPr>
            <a:r>
              <a:rPr lang="fr-FR" sz="1600" b="1" dirty="0" err="1" smtClean="0">
                <a:solidFill>
                  <a:schemeClr val="tx1"/>
                </a:solidFill>
                <a:latin typeface="Calibri"/>
                <a:cs typeface="Calibri"/>
              </a:rPr>
              <a:t>Mutex</a:t>
            </a:r>
            <a:r>
              <a:rPr lang="fr-FR" sz="1600" b="1" dirty="0" smtClean="0">
                <a:solidFill>
                  <a:schemeClr val="tx1"/>
                </a:solidFill>
                <a:latin typeface="Calibri"/>
                <a:cs typeface="Calibri"/>
              </a:rPr>
              <a:t> : </a:t>
            </a:r>
            <a:r>
              <a:rPr lang="fr-FR" sz="1600" dirty="0">
                <a:solidFill>
                  <a:schemeClr val="tx1"/>
                </a:solidFill>
                <a:latin typeface="Calibri"/>
                <a:cs typeface="Calibri"/>
              </a:rPr>
              <a:t>M</a:t>
            </a:r>
            <a:r>
              <a:rPr lang="fr-FR" sz="1600" dirty="0" smtClean="0">
                <a:solidFill>
                  <a:schemeClr val="tx1"/>
                </a:solidFill>
                <a:latin typeface="Calibri"/>
                <a:cs typeface="Calibri"/>
              </a:rPr>
              <a:t>écanisme de synchronisation utilisé dans la programmation </a:t>
            </a:r>
            <a:r>
              <a:rPr lang="fr-FR" sz="1600" dirty="0" err="1" smtClean="0">
                <a:solidFill>
                  <a:schemeClr val="tx1"/>
                </a:solidFill>
                <a:latin typeface="Calibri"/>
                <a:cs typeface="Calibri"/>
              </a:rPr>
              <a:t>multi-threading</a:t>
            </a:r>
            <a:r>
              <a:rPr lang="fr-FR" sz="1600" dirty="0" smtClean="0">
                <a:solidFill>
                  <a:schemeClr val="tx1"/>
                </a:solidFill>
                <a:latin typeface="Calibri"/>
                <a:cs typeface="Calibri"/>
              </a:rPr>
              <a:t> pour garantir qu'une seule thread peut accéder à une ressource partagée à la fois</a:t>
            </a:r>
          </a:p>
          <a:p>
            <a:pPr marL="298450" indent="-285750">
              <a:lnSpc>
                <a:spcPct val="150000"/>
              </a:lnSpc>
              <a:spcBef>
                <a:spcPts val="100"/>
              </a:spcBef>
              <a:buFont typeface="Arial" panose="020B0604020202020204" pitchFamily="34" charset="0"/>
              <a:buChar char="•"/>
            </a:pPr>
            <a:r>
              <a:rPr lang="fr-FR" sz="1600" b="1" dirty="0" err="1" smtClean="0">
                <a:solidFill>
                  <a:schemeClr val="tx1"/>
                </a:solidFill>
                <a:latin typeface="Calibri"/>
                <a:cs typeface="Calibri"/>
              </a:rPr>
              <a:t>Counting</a:t>
            </a:r>
            <a:r>
              <a:rPr lang="fr-FR" sz="1600" b="1" dirty="0" smtClean="0">
                <a:solidFill>
                  <a:schemeClr val="tx1"/>
                </a:solidFill>
                <a:latin typeface="Calibri"/>
                <a:cs typeface="Calibri"/>
              </a:rPr>
              <a:t> </a:t>
            </a:r>
            <a:r>
              <a:rPr lang="fr-FR" sz="1600" b="1" dirty="0" err="1" smtClean="0">
                <a:solidFill>
                  <a:schemeClr val="tx1"/>
                </a:solidFill>
                <a:latin typeface="Calibri"/>
                <a:cs typeface="Calibri"/>
              </a:rPr>
              <a:t>semaphore</a:t>
            </a:r>
            <a:r>
              <a:rPr lang="fr-FR" sz="1600" b="1" dirty="0" smtClean="0">
                <a:solidFill>
                  <a:schemeClr val="tx1"/>
                </a:solidFill>
                <a:latin typeface="Calibri"/>
                <a:cs typeface="Calibri"/>
              </a:rPr>
              <a:t> : </a:t>
            </a:r>
            <a:r>
              <a:rPr lang="fr-FR" sz="1600" dirty="0" smtClean="0">
                <a:solidFill>
                  <a:schemeClr val="tx1"/>
                </a:solidFill>
                <a:latin typeface="Calibri"/>
                <a:cs typeface="Calibri"/>
              </a:rPr>
              <a:t>Mécanisme de synchronisation qui permet de limiter le nombre de threads qui peuvent accéder simultanément à une ressource partagée</a:t>
            </a:r>
          </a:p>
          <a:p>
            <a:pPr marL="12700">
              <a:spcBef>
                <a:spcPts val="100"/>
              </a:spcBef>
            </a:pPr>
            <a:endParaRPr lang="fr-FR" sz="1600" b="1" dirty="0" smtClean="0">
              <a:solidFill>
                <a:srgbClr val="FFC000"/>
              </a:solidFill>
              <a:latin typeface="Calibri"/>
              <a:cs typeface="Calibri"/>
            </a:endParaRPr>
          </a:p>
          <a:p>
            <a:pPr marL="12700">
              <a:spcBef>
                <a:spcPts val="100"/>
              </a:spcBef>
            </a:pPr>
            <a:endParaRPr lang="fr-FR" sz="1600" b="1" dirty="0" smtClean="0">
              <a:solidFill>
                <a:srgbClr val="FFC000"/>
              </a:solidFill>
              <a:latin typeface="Calibri"/>
              <a:cs typeface="Calibri"/>
            </a:endParaRPr>
          </a:p>
          <a:p>
            <a:pPr marL="12700">
              <a:spcBef>
                <a:spcPts val="100"/>
              </a:spcBef>
            </a:pPr>
            <a:endParaRPr lang="fr-FR" sz="1600" b="1" dirty="0" smtClean="0">
              <a:solidFill>
                <a:srgbClr val="FFC000"/>
              </a:solidFill>
              <a:latin typeface="Calibri"/>
              <a:cs typeface="Calibri"/>
            </a:endParaRPr>
          </a:p>
          <a:p>
            <a:pPr marL="12700">
              <a:spcBef>
                <a:spcPts val="100"/>
              </a:spcBef>
            </a:pPr>
            <a:endParaRPr lang="fr-FR" sz="1600" b="1" dirty="0" smtClean="0">
              <a:solidFill>
                <a:srgbClr val="FFC000"/>
              </a:solidFill>
              <a:latin typeface="Calibri"/>
              <a:cs typeface="Calibri"/>
            </a:endParaRPr>
          </a:p>
          <a:p>
            <a:pPr marL="12700">
              <a:lnSpc>
                <a:spcPct val="100000"/>
              </a:lnSpc>
              <a:spcBef>
                <a:spcPts val="1320"/>
              </a:spcBef>
            </a:pPr>
            <a:r>
              <a:rPr sz="1600" spc="-10" dirty="0" smtClean="0">
                <a:solidFill>
                  <a:srgbClr val="585858"/>
                </a:solidFill>
                <a:latin typeface="Calibri"/>
                <a:cs typeface="Calibri"/>
              </a:rPr>
              <a:t>.</a:t>
            </a:r>
            <a:endParaRPr sz="1600" dirty="0">
              <a:latin typeface="Calibri"/>
              <a:cs typeface="Calibri"/>
            </a:endParaRPr>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19" name="object 11"/>
          <p:cNvSpPr txBox="1">
            <a:spLocks noGrp="1"/>
          </p:cNvSpPr>
          <p:nvPr>
            <p:ph type="title"/>
          </p:nvPr>
        </p:nvSpPr>
        <p:spPr>
          <a:xfrm>
            <a:off x="228600" y="304800"/>
            <a:ext cx="11664492" cy="452868"/>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p:txBody>
      </p:sp>
      <p:pic>
        <p:nvPicPr>
          <p:cNvPr id="8" name="Image 7"/>
          <p:cNvPicPr>
            <a:picLocks noChangeAspect="1"/>
          </p:cNvPicPr>
          <p:nvPr/>
        </p:nvPicPr>
        <p:blipFill>
          <a:blip r:embed="rId4"/>
          <a:stretch>
            <a:fillRect/>
          </a:stretch>
        </p:blipFill>
        <p:spPr>
          <a:xfrm>
            <a:off x="2057400" y="3664177"/>
            <a:ext cx="9077325" cy="3045791"/>
          </a:xfrm>
          <a:prstGeom prst="rect">
            <a:avLst/>
          </a:prstGeom>
        </p:spPr>
      </p:pic>
    </p:spTree>
    <p:extLst>
      <p:ext uri="{BB962C8B-B14F-4D97-AF65-F5344CB8AC3E}">
        <p14:creationId xmlns:p14="http://schemas.microsoft.com/office/powerpoint/2010/main" val="23379260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3"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71</a:t>
            </a:fld>
            <a:endParaRPr spc="-25" dirty="0"/>
          </a:p>
        </p:txBody>
      </p:sp>
      <p:sp>
        <p:nvSpPr>
          <p:cNvPr id="12" name="object 12"/>
          <p:cNvSpPr txBox="1"/>
          <p:nvPr/>
        </p:nvSpPr>
        <p:spPr>
          <a:xfrm>
            <a:off x="707237" y="1655159"/>
            <a:ext cx="10707218" cy="1708160"/>
          </a:xfrm>
          <a:prstGeom prst="rect">
            <a:avLst/>
          </a:prstGeom>
        </p:spPr>
        <p:txBody>
          <a:bodyPr vert="horz" wrap="square" lIns="0" tIns="12700" rIns="0" bIns="0" rtlCol="0">
            <a:spAutoFit/>
          </a:bodyPr>
          <a:lstStyle/>
          <a:p>
            <a:pPr marL="12700">
              <a:spcBef>
                <a:spcPts val="100"/>
              </a:spcBef>
            </a:pPr>
            <a:r>
              <a:rPr lang="fr-FR" sz="1600" b="1" dirty="0" smtClean="0">
                <a:solidFill>
                  <a:srgbClr val="FFC000"/>
                </a:solidFill>
                <a:latin typeface="Calibri"/>
                <a:cs typeface="Calibri"/>
              </a:rPr>
              <a:t>Algorithme de Synchronisation : Sémaphore  : </a:t>
            </a:r>
            <a:r>
              <a:rPr lang="fr-FR" sz="1600" b="1" dirty="0" err="1" smtClean="0">
                <a:solidFill>
                  <a:srgbClr val="FFC000"/>
                </a:solidFill>
                <a:latin typeface="Calibri"/>
                <a:cs typeface="Calibri"/>
              </a:rPr>
              <a:t>Counting</a:t>
            </a:r>
            <a:r>
              <a:rPr lang="fr-FR" sz="1600" b="1" dirty="0" smtClean="0">
                <a:solidFill>
                  <a:srgbClr val="FFC000"/>
                </a:solidFill>
                <a:latin typeface="Calibri"/>
                <a:cs typeface="Calibri"/>
              </a:rPr>
              <a:t> </a:t>
            </a:r>
            <a:r>
              <a:rPr lang="fr-FR" sz="1600" b="1" dirty="0" err="1" smtClean="0">
                <a:solidFill>
                  <a:srgbClr val="FFC000"/>
                </a:solidFill>
                <a:latin typeface="Calibri"/>
                <a:cs typeface="Calibri"/>
              </a:rPr>
              <a:t>semaphore</a:t>
            </a:r>
            <a:endParaRPr lang="fr-FR" sz="1600" b="1" dirty="0" smtClean="0">
              <a:solidFill>
                <a:srgbClr val="FFC000"/>
              </a:solidFill>
              <a:latin typeface="Calibri"/>
              <a:cs typeface="Calibri"/>
            </a:endParaRPr>
          </a:p>
          <a:p>
            <a:pPr marL="12700">
              <a:spcBef>
                <a:spcPts val="100"/>
              </a:spcBef>
            </a:pPr>
            <a:endParaRPr lang="fr-FR" sz="1600" b="1" dirty="0" smtClean="0">
              <a:solidFill>
                <a:srgbClr val="FFC000"/>
              </a:solidFill>
              <a:latin typeface="Calibri"/>
              <a:cs typeface="Calibri"/>
            </a:endParaRPr>
          </a:p>
          <a:p>
            <a:pPr marL="12700">
              <a:spcBef>
                <a:spcPts val="100"/>
              </a:spcBef>
            </a:pPr>
            <a:endParaRPr lang="fr-FR" sz="1600" b="1" dirty="0" smtClean="0">
              <a:solidFill>
                <a:srgbClr val="FFC000"/>
              </a:solidFill>
              <a:latin typeface="Calibri"/>
              <a:cs typeface="Calibri"/>
            </a:endParaRPr>
          </a:p>
          <a:p>
            <a:pPr marL="12700">
              <a:spcBef>
                <a:spcPts val="100"/>
              </a:spcBef>
            </a:pPr>
            <a:endParaRPr lang="fr-FR" sz="1600" b="1" dirty="0" smtClean="0">
              <a:solidFill>
                <a:srgbClr val="FFC000"/>
              </a:solidFill>
              <a:latin typeface="Calibri"/>
              <a:cs typeface="Calibri"/>
            </a:endParaRPr>
          </a:p>
          <a:p>
            <a:pPr marL="12700">
              <a:spcBef>
                <a:spcPts val="100"/>
              </a:spcBef>
            </a:pPr>
            <a:endParaRPr lang="fr-FR" sz="1600" b="1" dirty="0" smtClean="0">
              <a:solidFill>
                <a:srgbClr val="FFC000"/>
              </a:solidFill>
              <a:latin typeface="Calibri"/>
              <a:cs typeface="Calibri"/>
            </a:endParaRPr>
          </a:p>
          <a:p>
            <a:pPr marL="12700">
              <a:lnSpc>
                <a:spcPct val="100000"/>
              </a:lnSpc>
              <a:spcBef>
                <a:spcPts val="1320"/>
              </a:spcBef>
            </a:pPr>
            <a:r>
              <a:rPr sz="1600" spc="-10" dirty="0" smtClean="0">
                <a:solidFill>
                  <a:srgbClr val="585858"/>
                </a:solidFill>
                <a:latin typeface="Calibri"/>
                <a:cs typeface="Calibri"/>
              </a:rPr>
              <a:t>.</a:t>
            </a:r>
            <a:endParaRPr sz="1600" dirty="0">
              <a:latin typeface="Calibri"/>
              <a:cs typeface="Calibri"/>
            </a:endParaRPr>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19" name="object 11"/>
          <p:cNvSpPr txBox="1">
            <a:spLocks noGrp="1"/>
          </p:cNvSpPr>
          <p:nvPr>
            <p:ph type="title"/>
          </p:nvPr>
        </p:nvSpPr>
        <p:spPr>
          <a:xfrm>
            <a:off x="228600" y="304800"/>
            <a:ext cx="11664492" cy="452868"/>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p:txBody>
      </p:sp>
      <p:pic>
        <p:nvPicPr>
          <p:cNvPr id="7" name="Image 6"/>
          <p:cNvPicPr>
            <a:picLocks noChangeAspect="1"/>
          </p:cNvPicPr>
          <p:nvPr/>
        </p:nvPicPr>
        <p:blipFill>
          <a:blip r:embed="rId4"/>
          <a:stretch>
            <a:fillRect/>
          </a:stretch>
        </p:blipFill>
        <p:spPr>
          <a:xfrm>
            <a:off x="594250" y="2072423"/>
            <a:ext cx="10544175" cy="4284171"/>
          </a:xfrm>
          <a:prstGeom prst="rect">
            <a:avLst/>
          </a:prstGeom>
        </p:spPr>
      </p:pic>
    </p:spTree>
    <p:extLst>
      <p:ext uri="{BB962C8B-B14F-4D97-AF65-F5344CB8AC3E}">
        <p14:creationId xmlns:p14="http://schemas.microsoft.com/office/powerpoint/2010/main" val="249044980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3"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72</a:t>
            </a:fld>
            <a:endParaRPr spc="-25" dirty="0"/>
          </a:p>
        </p:txBody>
      </p:sp>
      <p:sp>
        <p:nvSpPr>
          <p:cNvPr id="12" name="object 12"/>
          <p:cNvSpPr txBox="1"/>
          <p:nvPr/>
        </p:nvSpPr>
        <p:spPr>
          <a:xfrm>
            <a:off x="707237" y="1655159"/>
            <a:ext cx="10707218" cy="1708160"/>
          </a:xfrm>
          <a:prstGeom prst="rect">
            <a:avLst/>
          </a:prstGeom>
        </p:spPr>
        <p:txBody>
          <a:bodyPr vert="horz" wrap="square" lIns="0" tIns="12700" rIns="0" bIns="0" rtlCol="0">
            <a:spAutoFit/>
          </a:bodyPr>
          <a:lstStyle/>
          <a:p>
            <a:pPr marL="12700">
              <a:spcBef>
                <a:spcPts val="100"/>
              </a:spcBef>
            </a:pPr>
            <a:r>
              <a:rPr lang="fr-FR" sz="1600" b="1" dirty="0" smtClean="0">
                <a:solidFill>
                  <a:srgbClr val="FFC000"/>
                </a:solidFill>
                <a:latin typeface="Calibri"/>
                <a:cs typeface="Calibri"/>
              </a:rPr>
              <a:t>Algorithme de Synchronisation : Sémaphore  : </a:t>
            </a:r>
            <a:r>
              <a:rPr lang="fr-FR" sz="1600" b="1" dirty="0" err="1" smtClean="0">
                <a:solidFill>
                  <a:srgbClr val="FFC000"/>
                </a:solidFill>
                <a:latin typeface="Calibri"/>
                <a:cs typeface="Calibri"/>
              </a:rPr>
              <a:t>Counting</a:t>
            </a:r>
            <a:r>
              <a:rPr lang="fr-FR" sz="1600" b="1" dirty="0" smtClean="0">
                <a:solidFill>
                  <a:srgbClr val="FFC000"/>
                </a:solidFill>
                <a:latin typeface="Calibri"/>
                <a:cs typeface="Calibri"/>
              </a:rPr>
              <a:t> </a:t>
            </a:r>
            <a:r>
              <a:rPr lang="fr-FR" sz="1600" b="1" dirty="0" err="1" smtClean="0">
                <a:solidFill>
                  <a:srgbClr val="FFC000"/>
                </a:solidFill>
                <a:latin typeface="Calibri"/>
                <a:cs typeface="Calibri"/>
              </a:rPr>
              <a:t>semaphore</a:t>
            </a:r>
            <a:endParaRPr lang="fr-FR" sz="1600" b="1" dirty="0" smtClean="0">
              <a:solidFill>
                <a:srgbClr val="FFC000"/>
              </a:solidFill>
              <a:latin typeface="Calibri"/>
              <a:cs typeface="Calibri"/>
            </a:endParaRPr>
          </a:p>
          <a:p>
            <a:pPr marL="12700">
              <a:spcBef>
                <a:spcPts val="100"/>
              </a:spcBef>
            </a:pPr>
            <a:endParaRPr lang="fr-FR" sz="1600" b="1" dirty="0" smtClean="0">
              <a:solidFill>
                <a:srgbClr val="FFC000"/>
              </a:solidFill>
              <a:latin typeface="Calibri"/>
              <a:cs typeface="Calibri"/>
            </a:endParaRPr>
          </a:p>
          <a:p>
            <a:pPr marL="12700">
              <a:spcBef>
                <a:spcPts val="100"/>
              </a:spcBef>
            </a:pPr>
            <a:endParaRPr lang="fr-FR" sz="1600" b="1" dirty="0" smtClean="0">
              <a:solidFill>
                <a:srgbClr val="FFC000"/>
              </a:solidFill>
              <a:latin typeface="Calibri"/>
              <a:cs typeface="Calibri"/>
            </a:endParaRPr>
          </a:p>
          <a:p>
            <a:pPr marL="12700">
              <a:spcBef>
                <a:spcPts val="100"/>
              </a:spcBef>
            </a:pPr>
            <a:endParaRPr lang="fr-FR" sz="1600" b="1" dirty="0" smtClean="0">
              <a:solidFill>
                <a:srgbClr val="FFC000"/>
              </a:solidFill>
              <a:latin typeface="Calibri"/>
              <a:cs typeface="Calibri"/>
            </a:endParaRPr>
          </a:p>
          <a:p>
            <a:pPr marL="12700">
              <a:spcBef>
                <a:spcPts val="100"/>
              </a:spcBef>
            </a:pPr>
            <a:endParaRPr lang="fr-FR" sz="1600" b="1" dirty="0" smtClean="0">
              <a:solidFill>
                <a:srgbClr val="FFC000"/>
              </a:solidFill>
              <a:latin typeface="Calibri"/>
              <a:cs typeface="Calibri"/>
            </a:endParaRPr>
          </a:p>
          <a:p>
            <a:pPr marL="12700">
              <a:lnSpc>
                <a:spcPct val="100000"/>
              </a:lnSpc>
              <a:spcBef>
                <a:spcPts val="1320"/>
              </a:spcBef>
            </a:pPr>
            <a:r>
              <a:rPr sz="1600" spc="-10" dirty="0" smtClean="0">
                <a:solidFill>
                  <a:srgbClr val="585858"/>
                </a:solidFill>
                <a:latin typeface="Calibri"/>
                <a:cs typeface="Calibri"/>
              </a:rPr>
              <a:t>.</a:t>
            </a:r>
            <a:endParaRPr sz="1600" dirty="0">
              <a:latin typeface="Calibri"/>
              <a:cs typeface="Calibri"/>
            </a:endParaRPr>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19" name="object 11"/>
          <p:cNvSpPr txBox="1">
            <a:spLocks noGrp="1"/>
          </p:cNvSpPr>
          <p:nvPr>
            <p:ph type="title"/>
          </p:nvPr>
        </p:nvSpPr>
        <p:spPr>
          <a:xfrm>
            <a:off x="228600" y="304800"/>
            <a:ext cx="11664492" cy="452868"/>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p:txBody>
      </p:sp>
      <p:sp>
        <p:nvSpPr>
          <p:cNvPr id="8" name="ZoneTexte 7"/>
          <p:cNvSpPr txBox="1"/>
          <p:nvPr/>
        </p:nvSpPr>
        <p:spPr>
          <a:xfrm>
            <a:off x="707237" y="2286000"/>
            <a:ext cx="3559963" cy="3733800"/>
          </a:xfrm>
          <a:prstGeom prst="rect">
            <a:avLst/>
          </a:prstGeom>
          <a:noFill/>
        </p:spPr>
        <p:txBody>
          <a:bodyPr wrap="square" rtlCol="0">
            <a:spAutoFit/>
          </a:bodyPr>
          <a:lstStyle/>
          <a:p>
            <a:endParaRPr lang="fr-FR" dirty="0"/>
          </a:p>
        </p:txBody>
      </p:sp>
      <p:sp>
        <p:nvSpPr>
          <p:cNvPr id="9" name="Rectangle 8"/>
          <p:cNvSpPr/>
          <p:nvPr/>
        </p:nvSpPr>
        <p:spPr>
          <a:xfrm>
            <a:off x="697338" y="2280359"/>
            <a:ext cx="3722262" cy="343464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endParaRPr lang="fr-FR" sz="1400" b="1" dirty="0" smtClean="0">
              <a:solidFill>
                <a:schemeClr val="accent3">
                  <a:lumMod val="75000"/>
                </a:schemeClr>
              </a:solidFill>
              <a:latin typeface="+mn-lt"/>
              <a:ea typeface="+mn-ea"/>
              <a:cs typeface="+mn-cs"/>
            </a:endParaRPr>
          </a:p>
          <a:p>
            <a:r>
              <a:rPr lang="fr-FR" sz="1400" b="1" dirty="0" smtClean="0">
                <a:solidFill>
                  <a:schemeClr val="accent3">
                    <a:lumMod val="75000"/>
                  </a:schemeClr>
                </a:solidFill>
                <a:latin typeface="+mn-lt"/>
                <a:ea typeface="+mn-ea"/>
                <a:cs typeface="+mn-cs"/>
              </a:rPr>
              <a:t>Down(</a:t>
            </a:r>
            <a:r>
              <a:rPr lang="fr-FR" sz="1400" b="1" dirty="0" err="1" smtClean="0">
                <a:solidFill>
                  <a:schemeClr val="accent3">
                    <a:lumMod val="75000"/>
                  </a:schemeClr>
                </a:solidFill>
                <a:latin typeface="+mn-lt"/>
                <a:ea typeface="+mn-ea"/>
                <a:cs typeface="+mn-cs"/>
              </a:rPr>
              <a:t>semaphore</a:t>
            </a:r>
            <a:r>
              <a:rPr lang="fr-FR" sz="1400" b="1" dirty="0" smtClean="0">
                <a:solidFill>
                  <a:schemeClr val="accent3">
                    <a:lumMod val="75000"/>
                  </a:schemeClr>
                </a:solidFill>
                <a:latin typeface="+mn-lt"/>
                <a:ea typeface="+mn-ea"/>
                <a:cs typeface="+mn-cs"/>
              </a:rPr>
              <a:t> </a:t>
            </a:r>
            <a:r>
              <a:rPr lang="fr-FR" sz="1400" b="1" dirty="0">
                <a:solidFill>
                  <a:schemeClr val="accent3">
                    <a:lumMod val="75000"/>
                  </a:schemeClr>
                </a:solidFill>
                <a:latin typeface="+mn-lt"/>
                <a:ea typeface="+mn-ea"/>
                <a:cs typeface="+mn-cs"/>
              </a:rPr>
              <a:t>S){</a:t>
            </a:r>
          </a:p>
          <a:p>
            <a:r>
              <a:rPr lang="fr-FR" sz="1400" b="1" dirty="0">
                <a:solidFill>
                  <a:schemeClr val="accent3">
                    <a:lumMod val="75000"/>
                  </a:schemeClr>
                </a:solidFill>
                <a:latin typeface="+mn-lt"/>
                <a:ea typeface="+mn-ea"/>
                <a:cs typeface="+mn-cs"/>
              </a:rPr>
              <a:t>S = S-1 ;</a:t>
            </a:r>
          </a:p>
          <a:p>
            <a:r>
              <a:rPr lang="fr-FR" sz="1400" b="1" dirty="0">
                <a:solidFill>
                  <a:schemeClr val="accent3">
                    <a:lumMod val="75000"/>
                  </a:schemeClr>
                </a:solidFill>
                <a:latin typeface="+mn-lt"/>
                <a:ea typeface="+mn-ea"/>
                <a:cs typeface="+mn-cs"/>
              </a:rPr>
              <a:t>If(S&lt;0){</a:t>
            </a:r>
          </a:p>
          <a:p>
            <a:r>
              <a:rPr lang="fr-FR" sz="1400" b="1" dirty="0" err="1">
                <a:solidFill>
                  <a:schemeClr val="accent3">
                    <a:lumMod val="75000"/>
                  </a:schemeClr>
                </a:solidFill>
                <a:latin typeface="+mn-lt"/>
                <a:ea typeface="+mn-ea"/>
                <a:cs typeface="+mn-cs"/>
              </a:rPr>
              <a:t>Mettre_en_liste_dattente</a:t>
            </a:r>
            <a:r>
              <a:rPr lang="fr-FR" sz="1400" b="1" dirty="0">
                <a:solidFill>
                  <a:schemeClr val="accent3">
                    <a:lumMod val="75000"/>
                  </a:schemeClr>
                </a:solidFill>
                <a:latin typeface="+mn-lt"/>
                <a:ea typeface="+mn-ea"/>
                <a:cs typeface="+mn-cs"/>
              </a:rPr>
              <a:t>(processus) ;</a:t>
            </a:r>
          </a:p>
          <a:p>
            <a:r>
              <a:rPr lang="fr-FR" sz="1400" b="1" dirty="0" err="1">
                <a:solidFill>
                  <a:schemeClr val="accent3">
                    <a:lumMod val="75000"/>
                  </a:schemeClr>
                </a:solidFill>
                <a:latin typeface="+mn-lt"/>
                <a:ea typeface="+mn-ea"/>
                <a:cs typeface="+mn-cs"/>
              </a:rPr>
              <a:t>Sleep</a:t>
            </a:r>
            <a:r>
              <a:rPr lang="fr-FR" sz="1400" b="1" dirty="0">
                <a:solidFill>
                  <a:schemeClr val="accent3">
                    <a:lumMod val="75000"/>
                  </a:schemeClr>
                </a:solidFill>
                <a:latin typeface="+mn-lt"/>
                <a:ea typeface="+mn-ea"/>
                <a:cs typeface="+mn-cs"/>
              </a:rPr>
              <a:t>() ;</a:t>
            </a:r>
          </a:p>
          <a:p>
            <a:r>
              <a:rPr lang="fr-FR" sz="1400" b="1" dirty="0">
                <a:solidFill>
                  <a:schemeClr val="accent3">
                    <a:lumMod val="75000"/>
                  </a:schemeClr>
                </a:solidFill>
                <a:latin typeface="+mn-lt"/>
                <a:ea typeface="+mn-ea"/>
                <a:cs typeface="+mn-cs"/>
              </a:rPr>
              <a:t>}</a:t>
            </a:r>
          </a:p>
          <a:p>
            <a:r>
              <a:rPr lang="fr-FR" sz="1400" b="1" dirty="0" err="1">
                <a:solidFill>
                  <a:schemeClr val="accent3">
                    <a:lumMod val="75000"/>
                  </a:schemeClr>
                </a:solidFill>
                <a:latin typeface="+mn-lt"/>
                <a:ea typeface="+mn-ea"/>
                <a:cs typeface="+mn-cs"/>
              </a:rPr>
              <a:t>Else</a:t>
            </a:r>
            <a:r>
              <a:rPr lang="fr-FR" sz="1400" b="1" dirty="0">
                <a:solidFill>
                  <a:schemeClr val="accent3">
                    <a:lumMod val="75000"/>
                  </a:schemeClr>
                </a:solidFill>
                <a:latin typeface="+mn-lt"/>
                <a:ea typeface="+mn-ea"/>
                <a:cs typeface="+mn-cs"/>
              </a:rPr>
              <a:t> return ;</a:t>
            </a:r>
          </a:p>
          <a:p>
            <a:r>
              <a:rPr lang="fr-FR" sz="1400" b="1" dirty="0">
                <a:solidFill>
                  <a:schemeClr val="accent3">
                    <a:lumMod val="75000"/>
                  </a:schemeClr>
                </a:solidFill>
                <a:latin typeface="+mn-lt"/>
                <a:ea typeface="+mn-ea"/>
                <a:cs typeface="+mn-cs"/>
              </a:rPr>
              <a:t>}</a:t>
            </a:r>
          </a:p>
          <a:p>
            <a:r>
              <a:rPr lang="fr-FR" sz="1400" b="1" dirty="0">
                <a:solidFill>
                  <a:schemeClr val="accent6">
                    <a:lumMod val="75000"/>
                  </a:schemeClr>
                </a:solidFill>
                <a:latin typeface="+mn-lt"/>
                <a:ea typeface="+mn-ea"/>
                <a:cs typeface="+mn-cs"/>
              </a:rPr>
              <a:t>Up (</a:t>
            </a:r>
            <a:r>
              <a:rPr lang="fr-FR" sz="1400" b="1" dirty="0" err="1">
                <a:solidFill>
                  <a:schemeClr val="accent6">
                    <a:lumMod val="75000"/>
                  </a:schemeClr>
                </a:solidFill>
                <a:latin typeface="+mn-lt"/>
                <a:ea typeface="+mn-ea"/>
                <a:cs typeface="+mn-cs"/>
              </a:rPr>
              <a:t>semaphore</a:t>
            </a:r>
            <a:r>
              <a:rPr lang="fr-FR" sz="1400" b="1" dirty="0">
                <a:solidFill>
                  <a:schemeClr val="accent6">
                    <a:lumMod val="75000"/>
                  </a:schemeClr>
                </a:solidFill>
                <a:latin typeface="+mn-lt"/>
                <a:ea typeface="+mn-ea"/>
                <a:cs typeface="+mn-cs"/>
              </a:rPr>
              <a:t> S){</a:t>
            </a:r>
          </a:p>
          <a:p>
            <a:r>
              <a:rPr lang="fr-FR" sz="1400" b="1" dirty="0">
                <a:solidFill>
                  <a:schemeClr val="accent6">
                    <a:lumMod val="75000"/>
                  </a:schemeClr>
                </a:solidFill>
                <a:latin typeface="+mn-lt"/>
                <a:ea typeface="+mn-ea"/>
                <a:cs typeface="+mn-cs"/>
              </a:rPr>
              <a:t>S=S+1 ;</a:t>
            </a:r>
          </a:p>
          <a:p>
            <a:r>
              <a:rPr lang="fr-FR" sz="1400" b="1" dirty="0">
                <a:solidFill>
                  <a:schemeClr val="accent6">
                    <a:lumMod val="75000"/>
                  </a:schemeClr>
                </a:solidFill>
                <a:latin typeface="+mn-lt"/>
                <a:ea typeface="+mn-ea"/>
                <a:cs typeface="+mn-cs"/>
              </a:rPr>
              <a:t>If(S&lt;0){</a:t>
            </a:r>
          </a:p>
          <a:p>
            <a:r>
              <a:rPr lang="fr-FR" sz="1400" b="1" dirty="0" err="1">
                <a:solidFill>
                  <a:schemeClr val="accent6">
                    <a:lumMod val="75000"/>
                  </a:schemeClr>
                </a:solidFill>
                <a:latin typeface="+mn-lt"/>
                <a:ea typeface="+mn-ea"/>
                <a:cs typeface="+mn-cs"/>
              </a:rPr>
              <a:t>Selectionner_processus_suivant</a:t>
            </a:r>
            <a:r>
              <a:rPr lang="fr-FR" sz="1400" b="1" dirty="0">
                <a:solidFill>
                  <a:schemeClr val="accent6">
                    <a:lumMod val="75000"/>
                  </a:schemeClr>
                </a:solidFill>
                <a:latin typeface="+mn-lt"/>
                <a:ea typeface="+mn-ea"/>
                <a:cs typeface="+mn-cs"/>
              </a:rPr>
              <a:t>()  ;</a:t>
            </a:r>
          </a:p>
          <a:p>
            <a:r>
              <a:rPr lang="fr-FR" sz="1400" b="1" dirty="0" err="1">
                <a:solidFill>
                  <a:schemeClr val="accent6">
                    <a:lumMod val="75000"/>
                  </a:schemeClr>
                </a:solidFill>
                <a:latin typeface="+mn-lt"/>
                <a:ea typeface="+mn-ea"/>
                <a:cs typeface="+mn-cs"/>
              </a:rPr>
              <a:t>wakeup</a:t>
            </a:r>
            <a:r>
              <a:rPr lang="fr-FR" sz="1400" b="1" dirty="0">
                <a:solidFill>
                  <a:schemeClr val="accent6">
                    <a:lumMod val="75000"/>
                  </a:schemeClr>
                </a:solidFill>
                <a:latin typeface="+mn-lt"/>
                <a:ea typeface="+mn-ea"/>
                <a:cs typeface="+mn-cs"/>
              </a:rPr>
              <a:t>() ;</a:t>
            </a:r>
          </a:p>
          <a:p>
            <a:r>
              <a:rPr lang="fr-FR" sz="1400" b="1" dirty="0">
                <a:solidFill>
                  <a:schemeClr val="accent6">
                    <a:lumMod val="75000"/>
                  </a:schemeClr>
                </a:solidFill>
                <a:latin typeface="+mn-lt"/>
                <a:ea typeface="+mn-ea"/>
                <a:cs typeface="+mn-cs"/>
              </a:rPr>
              <a:t>}</a:t>
            </a:r>
          </a:p>
          <a:p>
            <a:r>
              <a:rPr lang="fr-FR" sz="1400" b="1" dirty="0">
                <a:solidFill>
                  <a:schemeClr val="accent6">
                    <a:lumMod val="75000"/>
                  </a:schemeClr>
                </a:solidFill>
                <a:latin typeface="+mn-lt"/>
                <a:ea typeface="+mn-ea"/>
                <a:cs typeface="+mn-cs"/>
              </a:rPr>
              <a:t>}</a:t>
            </a:r>
          </a:p>
          <a:p>
            <a:pPr algn="ctr"/>
            <a:endParaRPr lang="fr-FR" dirty="0"/>
          </a:p>
        </p:txBody>
      </p:sp>
      <p:pic>
        <p:nvPicPr>
          <p:cNvPr id="14" name="Image 13"/>
          <p:cNvPicPr/>
          <p:nvPr/>
        </p:nvPicPr>
        <p:blipFill>
          <a:blip r:embed="rId4"/>
          <a:stretch>
            <a:fillRect/>
          </a:stretch>
        </p:blipFill>
        <p:spPr>
          <a:xfrm>
            <a:off x="4600016" y="2280359"/>
            <a:ext cx="6601384" cy="3117917"/>
          </a:xfrm>
          <a:prstGeom prst="rect">
            <a:avLst/>
          </a:prstGeom>
        </p:spPr>
      </p:pic>
    </p:spTree>
    <p:extLst>
      <p:ext uri="{BB962C8B-B14F-4D97-AF65-F5344CB8AC3E}">
        <p14:creationId xmlns:p14="http://schemas.microsoft.com/office/powerpoint/2010/main" val="389170942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3"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73</a:t>
            </a:fld>
            <a:endParaRPr spc="-25" dirty="0"/>
          </a:p>
        </p:txBody>
      </p:sp>
      <p:sp>
        <p:nvSpPr>
          <p:cNvPr id="12" name="object 12"/>
          <p:cNvSpPr txBox="1"/>
          <p:nvPr/>
        </p:nvSpPr>
        <p:spPr>
          <a:xfrm>
            <a:off x="707237" y="1655159"/>
            <a:ext cx="10707218" cy="1190069"/>
          </a:xfrm>
          <a:prstGeom prst="rect">
            <a:avLst/>
          </a:prstGeom>
        </p:spPr>
        <p:txBody>
          <a:bodyPr vert="horz" wrap="square" lIns="0" tIns="12700" rIns="0" bIns="0" rtlCol="0">
            <a:spAutoFit/>
          </a:bodyPr>
          <a:lstStyle/>
          <a:p>
            <a:pPr marL="12700">
              <a:spcBef>
                <a:spcPts val="100"/>
              </a:spcBef>
            </a:pPr>
            <a:r>
              <a:rPr lang="fr-FR" sz="1600" b="1" dirty="0" smtClean="0">
                <a:solidFill>
                  <a:srgbClr val="FFC000"/>
                </a:solidFill>
                <a:latin typeface="Calibri"/>
                <a:cs typeface="Calibri"/>
              </a:rPr>
              <a:t>Algorithme de Synchronisation : Problème de producteur et </a:t>
            </a:r>
            <a:r>
              <a:rPr lang="fr-FR" sz="1600" b="1" dirty="0" err="1" smtClean="0">
                <a:solidFill>
                  <a:srgbClr val="FFC000"/>
                </a:solidFill>
                <a:latin typeface="Calibri"/>
                <a:cs typeface="Calibri"/>
              </a:rPr>
              <a:t>consomateur</a:t>
            </a:r>
            <a:r>
              <a:rPr lang="fr-FR" sz="1600" b="1" dirty="0" smtClean="0">
                <a:solidFill>
                  <a:srgbClr val="FFC000"/>
                </a:solidFill>
                <a:latin typeface="Calibri"/>
                <a:cs typeface="Calibri"/>
              </a:rPr>
              <a:t>  :</a:t>
            </a:r>
          </a:p>
          <a:p>
            <a:pPr marL="12700">
              <a:spcBef>
                <a:spcPts val="100"/>
              </a:spcBef>
            </a:pPr>
            <a:endParaRPr lang="fr-FR" sz="1600" b="1" dirty="0" smtClean="0">
              <a:solidFill>
                <a:srgbClr val="FFC000"/>
              </a:solidFill>
              <a:latin typeface="Calibri"/>
              <a:cs typeface="Calibri"/>
            </a:endParaRPr>
          </a:p>
          <a:p>
            <a:pPr marL="12700">
              <a:spcBef>
                <a:spcPts val="100"/>
              </a:spcBef>
            </a:pPr>
            <a:endParaRPr lang="fr-FR" sz="1600" b="1" dirty="0" smtClean="0">
              <a:solidFill>
                <a:srgbClr val="FFC000"/>
              </a:solidFill>
              <a:latin typeface="Calibri"/>
              <a:cs typeface="Calibri"/>
            </a:endParaRPr>
          </a:p>
          <a:p>
            <a:pPr marL="12700">
              <a:lnSpc>
                <a:spcPct val="100000"/>
              </a:lnSpc>
              <a:spcBef>
                <a:spcPts val="1320"/>
              </a:spcBef>
            </a:pPr>
            <a:r>
              <a:rPr sz="1600" spc="-10" dirty="0" smtClean="0">
                <a:solidFill>
                  <a:srgbClr val="585858"/>
                </a:solidFill>
                <a:latin typeface="Calibri"/>
                <a:cs typeface="Calibri"/>
              </a:rPr>
              <a:t>.</a:t>
            </a:r>
            <a:endParaRPr sz="1600" dirty="0">
              <a:latin typeface="Calibri"/>
              <a:cs typeface="Calibri"/>
            </a:endParaRPr>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19" name="object 11"/>
          <p:cNvSpPr txBox="1">
            <a:spLocks noGrp="1"/>
          </p:cNvSpPr>
          <p:nvPr>
            <p:ph type="title"/>
          </p:nvPr>
        </p:nvSpPr>
        <p:spPr>
          <a:xfrm>
            <a:off x="228600" y="304800"/>
            <a:ext cx="11664492" cy="452868"/>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p:txBody>
      </p:sp>
      <p:pic>
        <p:nvPicPr>
          <p:cNvPr id="11" name="Image 10"/>
          <p:cNvPicPr/>
          <p:nvPr/>
        </p:nvPicPr>
        <p:blipFill>
          <a:blip r:embed="rId4"/>
          <a:stretch>
            <a:fillRect/>
          </a:stretch>
        </p:blipFill>
        <p:spPr>
          <a:xfrm>
            <a:off x="5775236" y="2253765"/>
            <a:ext cx="5760720" cy="3893820"/>
          </a:xfrm>
          <a:prstGeom prst="rect">
            <a:avLst/>
          </a:prstGeom>
        </p:spPr>
      </p:pic>
      <p:sp>
        <p:nvSpPr>
          <p:cNvPr id="7" name="Rectangle 6"/>
          <p:cNvSpPr/>
          <p:nvPr/>
        </p:nvSpPr>
        <p:spPr>
          <a:xfrm>
            <a:off x="676871" y="2022767"/>
            <a:ext cx="4855363" cy="459024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fr-FR" sz="1400" b="1" dirty="0" err="1">
                <a:solidFill>
                  <a:schemeClr val="dk1"/>
                </a:solidFill>
                <a:latin typeface="+mn-lt"/>
                <a:ea typeface="+mn-ea"/>
                <a:cs typeface="+mn-cs"/>
              </a:rPr>
              <a:t>Sleep</a:t>
            </a:r>
            <a:r>
              <a:rPr lang="fr-FR" sz="1400" b="1" dirty="0">
                <a:solidFill>
                  <a:schemeClr val="dk1"/>
                </a:solidFill>
                <a:latin typeface="+mn-lt"/>
                <a:ea typeface="+mn-ea"/>
                <a:cs typeface="+mn-cs"/>
              </a:rPr>
              <a:t> &amp; </a:t>
            </a:r>
            <a:r>
              <a:rPr lang="fr-FR" sz="1400" b="1" dirty="0" err="1">
                <a:solidFill>
                  <a:schemeClr val="dk1"/>
                </a:solidFill>
                <a:latin typeface="+mn-lt"/>
                <a:ea typeface="+mn-ea"/>
                <a:cs typeface="+mn-cs"/>
              </a:rPr>
              <a:t>wakeup</a:t>
            </a:r>
            <a:endParaRPr lang="fr-FR" sz="1400" b="1" dirty="0">
              <a:solidFill>
                <a:schemeClr val="dk1"/>
              </a:solidFill>
              <a:latin typeface="+mn-lt"/>
              <a:ea typeface="+mn-ea"/>
              <a:cs typeface="+mn-cs"/>
            </a:endParaRPr>
          </a:p>
          <a:p>
            <a:r>
              <a:rPr lang="fr-FR" sz="1400" dirty="0">
                <a:solidFill>
                  <a:schemeClr val="dk1"/>
                </a:solidFill>
                <a:latin typeface="+mn-lt"/>
                <a:ea typeface="+mn-ea"/>
                <a:cs typeface="+mn-cs"/>
              </a:rPr>
              <a:t>#</a:t>
            </a:r>
            <a:r>
              <a:rPr lang="fr-FR" sz="1400" dirty="0" err="1">
                <a:solidFill>
                  <a:schemeClr val="dk1"/>
                </a:solidFill>
                <a:latin typeface="+mn-lt"/>
                <a:ea typeface="+mn-ea"/>
                <a:cs typeface="+mn-cs"/>
              </a:rPr>
              <a:t>define</a:t>
            </a:r>
            <a:r>
              <a:rPr lang="fr-FR" sz="1400" dirty="0">
                <a:solidFill>
                  <a:schemeClr val="dk1"/>
                </a:solidFill>
                <a:latin typeface="+mn-lt"/>
                <a:ea typeface="+mn-ea"/>
                <a:cs typeface="+mn-cs"/>
              </a:rPr>
              <a:t> N 100 /*taille du buffer*/</a:t>
            </a:r>
          </a:p>
          <a:p>
            <a:r>
              <a:rPr lang="fr-FR" sz="1400" dirty="0">
                <a:solidFill>
                  <a:schemeClr val="dk1"/>
                </a:solidFill>
                <a:latin typeface="+mn-lt"/>
                <a:ea typeface="+mn-ea"/>
                <a:cs typeface="+mn-cs"/>
              </a:rPr>
              <a:t>Int compteur=0/*nombre d’objets des buffer*/</a:t>
            </a:r>
          </a:p>
          <a:p>
            <a:r>
              <a:rPr lang="fr-FR" sz="1400" dirty="0">
                <a:solidFill>
                  <a:schemeClr val="accent6">
                    <a:lumMod val="75000"/>
                  </a:schemeClr>
                </a:solidFill>
                <a:latin typeface="+mn-lt"/>
                <a:ea typeface="+mn-ea"/>
                <a:cs typeface="+mn-cs"/>
              </a:rPr>
              <a:t>Producteur()</a:t>
            </a:r>
          </a:p>
          <a:p>
            <a:r>
              <a:rPr lang="fr-FR" sz="1400" dirty="0" smtClean="0">
                <a:solidFill>
                  <a:schemeClr val="accent6">
                    <a:lumMod val="75000"/>
                  </a:schemeClr>
                </a:solidFill>
                <a:latin typeface="+mn-lt"/>
                <a:ea typeface="+mn-ea"/>
                <a:cs typeface="+mn-cs"/>
              </a:rPr>
              <a:t>{ </a:t>
            </a:r>
            <a:r>
              <a:rPr lang="fr-FR" sz="1400" dirty="0" err="1" smtClean="0">
                <a:solidFill>
                  <a:schemeClr val="accent6">
                    <a:lumMod val="75000"/>
                  </a:schemeClr>
                </a:solidFill>
                <a:latin typeface="+mn-lt"/>
                <a:ea typeface="+mn-ea"/>
                <a:cs typeface="+mn-cs"/>
              </a:rPr>
              <a:t>while</a:t>
            </a:r>
            <a:r>
              <a:rPr lang="fr-FR" sz="1400" dirty="0" smtClean="0">
                <a:solidFill>
                  <a:schemeClr val="accent6">
                    <a:lumMod val="75000"/>
                  </a:schemeClr>
                </a:solidFill>
                <a:latin typeface="+mn-lt"/>
                <a:ea typeface="+mn-ea"/>
                <a:cs typeface="+mn-cs"/>
              </a:rPr>
              <a:t> </a:t>
            </a:r>
            <a:r>
              <a:rPr lang="fr-FR" sz="1400" dirty="0" err="1">
                <a:solidFill>
                  <a:schemeClr val="accent6">
                    <a:lumMod val="75000"/>
                  </a:schemeClr>
                </a:solidFill>
                <a:latin typeface="+mn-lt"/>
                <a:ea typeface="+mn-ea"/>
                <a:cs typeface="+mn-cs"/>
              </a:rPr>
              <a:t>True</a:t>
            </a:r>
            <a:endParaRPr lang="fr-FR" sz="1400" dirty="0">
              <a:solidFill>
                <a:schemeClr val="accent6">
                  <a:lumMod val="75000"/>
                </a:schemeClr>
              </a:solidFill>
              <a:latin typeface="+mn-lt"/>
              <a:ea typeface="+mn-ea"/>
              <a:cs typeface="+mn-cs"/>
            </a:endParaRPr>
          </a:p>
          <a:p>
            <a:r>
              <a:rPr lang="fr-FR" sz="1400" dirty="0" smtClean="0">
                <a:solidFill>
                  <a:schemeClr val="accent6">
                    <a:lumMod val="75000"/>
                  </a:schemeClr>
                </a:solidFill>
                <a:latin typeface="+mn-lt"/>
                <a:ea typeface="+mn-ea"/>
                <a:cs typeface="+mn-cs"/>
              </a:rPr>
              <a:t>{</a:t>
            </a:r>
            <a:r>
              <a:rPr lang="fr-FR" sz="1400" dirty="0" err="1" smtClean="0">
                <a:solidFill>
                  <a:schemeClr val="accent6">
                    <a:lumMod val="75000"/>
                  </a:schemeClr>
                </a:solidFill>
                <a:latin typeface="+mn-lt"/>
                <a:ea typeface="+mn-ea"/>
                <a:cs typeface="+mn-cs"/>
              </a:rPr>
              <a:t>produire_objet</a:t>
            </a:r>
            <a:endParaRPr lang="fr-FR" sz="1400" dirty="0">
              <a:solidFill>
                <a:schemeClr val="accent6">
                  <a:lumMod val="75000"/>
                </a:schemeClr>
              </a:solidFill>
              <a:latin typeface="+mn-lt"/>
              <a:ea typeface="+mn-ea"/>
              <a:cs typeface="+mn-cs"/>
            </a:endParaRPr>
          </a:p>
          <a:p>
            <a:r>
              <a:rPr lang="fr-FR" sz="1400" dirty="0">
                <a:solidFill>
                  <a:schemeClr val="accent6">
                    <a:lumMod val="75000"/>
                  </a:schemeClr>
                </a:solidFill>
                <a:latin typeface="+mn-lt"/>
                <a:ea typeface="+mn-ea"/>
                <a:cs typeface="+mn-cs"/>
              </a:rPr>
              <a:t>If (compteur==N) </a:t>
            </a:r>
            <a:r>
              <a:rPr lang="fr-FR" sz="1400" dirty="0" err="1">
                <a:solidFill>
                  <a:schemeClr val="accent6">
                    <a:lumMod val="75000"/>
                  </a:schemeClr>
                </a:solidFill>
                <a:latin typeface="+mn-lt"/>
                <a:ea typeface="+mn-ea"/>
                <a:cs typeface="+mn-cs"/>
              </a:rPr>
              <a:t>sleep</a:t>
            </a:r>
            <a:r>
              <a:rPr lang="fr-FR" sz="1400" dirty="0">
                <a:solidFill>
                  <a:schemeClr val="accent6">
                    <a:lumMod val="75000"/>
                  </a:schemeClr>
                </a:solidFill>
                <a:latin typeface="+mn-lt"/>
                <a:ea typeface="+mn-ea"/>
                <a:cs typeface="+mn-cs"/>
              </a:rPr>
              <a:t>() /*buffer plein*/</a:t>
            </a:r>
          </a:p>
          <a:p>
            <a:r>
              <a:rPr lang="fr-FR" sz="1400" dirty="0" err="1">
                <a:solidFill>
                  <a:schemeClr val="accent6">
                    <a:lumMod val="75000"/>
                  </a:schemeClr>
                </a:solidFill>
                <a:latin typeface="+mn-lt"/>
                <a:ea typeface="+mn-ea"/>
                <a:cs typeface="+mn-cs"/>
              </a:rPr>
              <a:t>Mettre_objet</a:t>
            </a:r>
            <a:r>
              <a:rPr lang="fr-FR" sz="1400" dirty="0">
                <a:solidFill>
                  <a:schemeClr val="accent6">
                    <a:lumMod val="75000"/>
                  </a:schemeClr>
                </a:solidFill>
                <a:latin typeface="+mn-lt"/>
                <a:ea typeface="+mn-ea"/>
                <a:cs typeface="+mn-cs"/>
              </a:rPr>
              <a:t> </a:t>
            </a:r>
          </a:p>
          <a:p>
            <a:r>
              <a:rPr lang="fr-FR" sz="1400" dirty="0">
                <a:solidFill>
                  <a:schemeClr val="accent6">
                    <a:lumMod val="75000"/>
                  </a:schemeClr>
                </a:solidFill>
                <a:latin typeface="+mn-lt"/>
                <a:ea typeface="+mn-ea"/>
                <a:cs typeface="+mn-cs"/>
              </a:rPr>
              <a:t>Compteur=compteur+1</a:t>
            </a:r>
          </a:p>
          <a:p>
            <a:r>
              <a:rPr lang="fr-FR" sz="1400" dirty="0">
                <a:solidFill>
                  <a:schemeClr val="accent6">
                    <a:lumMod val="75000"/>
                  </a:schemeClr>
                </a:solidFill>
                <a:latin typeface="+mn-lt"/>
                <a:ea typeface="+mn-ea"/>
                <a:cs typeface="+mn-cs"/>
              </a:rPr>
              <a:t> </a:t>
            </a:r>
            <a:r>
              <a:rPr lang="fr-FR" sz="1400" dirty="0" smtClean="0">
                <a:solidFill>
                  <a:schemeClr val="accent6">
                    <a:lumMod val="75000"/>
                  </a:schemeClr>
                </a:solidFill>
                <a:latin typeface="+mn-lt"/>
                <a:ea typeface="+mn-ea"/>
                <a:cs typeface="+mn-cs"/>
              </a:rPr>
              <a:t>If </a:t>
            </a:r>
            <a:r>
              <a:rPr lang="fr-FR" sz="1400" dirty="0">
                <a:solidFill>
                  <a:schemeClr val="accent6">
                    <a:lumMod val="75000"/>
                  </a:schemeClr>
                </a:solidFill>
                <a:latin typeface="+mn-lt"/>
                <a:ea typeface="+mn-ea"/>
                <a:cs typeface="+mn-cs"/>
              </a:rPr>
              <a:t>(compteur==1)  /*compteur était à 0*/</a:t>
            </a:r>
          </a:p>
          <a:p>
            <a:r>
              <a:rPr lang="fr-FR" sz="1400" dirty="0" err="1">
                <a:solidFill>
                  <a:schemeClr val="accent6">
                    <a:lumMod val="75000"/>
                  </a:schemeClr>
                </a:solidFill>
                <a:latin typeface="+mn-lt"/>
                <a:ea typeface="+mn-ea"/>
                <a:cs typeface="+mn-cs"/>
              </a:rPr>
              <a:t>Wakeup</a:t>
            </a:r>
            <a:r>
              <a:rPr lang="fr-FR" sz="1400" dirty="0">
                <a:solidFill>
                  <a:schemeClr val="accent6">
                    <a:lumMod val="75000"/>
                  </a:schemeClr>
                </a:solidFill>
                <a:latin typeface="+mn-lt"/>
                <a:ea typeface="+mn-ea"/>
                <a:cs typeface="+mn-cs"/>
              </a:rPr>
              <a:t> (consommateur</a:t>
            </a:r>
            <a:r>
              <a:rPr lang="fr-FR" sz="1400" dirty="0" smtClean="0">
                <a:solidFill>
                  <a:schemeClr val="accent6">
                    <a:lumMod val="75000"/>
                  </a:schemeClr>
                </a:solidFill>
                <a:latin typeface="+mn-lt"/>
                <a:ea typeface="+mn-ea"/>
                <a:cs typeface="+mn-cs"/>
              </a:rPr>
              <a:t>)</a:t>
            </a:r>
          </a:p>
          <a:p>
            <a:r>
              <a:rPr lang="fr-FR" sz="1400" dirty="0" smtClean="0">
                <a:solidFill>
                  <a:schemeClr val="accent6">
                    <a:lumMod val="75000"/>
                  </a:schemeClr>
                </a:solidFill>
                <a:latin typeface="+mn-lt"/>
                <a:ea typeface="+mn-ea"/>
                <a:cs typeface="+mn-cs"/>
              </a:rPr>
              <a:t>}}</a:t>
            </a:r>
            <a:endParaRPr lang="fr-FR" sz="1400" dirty="0">
              <a:solidFill>
                <a:schemeClr val="accent6">
                  <a:lumMod val="75000"/>
                </a:schemeClr>
              </a:solidFill>
              <a:latin typeface="+mn-lt"/>
              <a:ea typeface="+mn-ea"/>
              <a:cs typeface="+mn-cs"/>
            </a:endParaRPr>
          </a:p>
          <a:p>
            <a:r>
              <a:rPr lang="fr-FR" sz="1400" dirty="0">
                <a:solidFill>
                  <a:srgbClr val="00B050"/>
                </a:solidFill>
                <a:latin typeface="+mn-lt"/>
                <a:ea typeface="+mn-ea"/>
                <a:cs typeface="+mn-cs"/>
              </a:rPr>
              <a:t>Consommateur()</a:t>
            </a:r>
          </a:p>
          <a:p>
            <a:r>
              <a:rPr lang="fr-FR" sz="1400" dirty="0">
                <a:solidFill>
                  <a:srgbClr val="00B050"/>
                </a:solidFill>
                <a:latin typeface="+mn-lt"/>
                <a:ea typeface="+mn-ea"/>
                <a:cs typeface="+mn-cs"/>
              </a:rPr>
              <a:t>{</a:t>
            </a:r>
            <a:r>
              <a:rPr lang="fr-FR" sz="1400" dirty="0" err="1">
                <a:solidFill>
                  <a:srgbClr val="00B050"/>
                </a:solidFill>
                <a:latin typeface="+mn-lt"/>
                <a:ea typeface="+mn-ea"/>
                <a:cs typeface="+mn-cs"/>
              </a:rPr>
              <a:t>while</a:t>
            </a:r>
            <a:r>
              <a:rPr lang="fr-FR" sz="1400" dirty="0">
                <a:solidFill>
                  <a:srgbClr val="00B050"/>
                </a:solidFill>
                <a:latin typeface="+mn-lt"/>
                <a:ea typeface="+mn-ea"/>
                <a:cs typeface="+mn-cs"/>
              </a:rPr>
              <a:t> TRUE</a:t>
            </a:r>
          </a:p>
          <a:p>
            <a:r>
              <a:rPr lang="fr-FR" sz="1400" dirty="0">
                <a:solidFill>
                  <a:srgbClr val="00B050"/>
                </a:solidFill>
                <a:latin typeface="+mn-lt"/>
                <a:ea typeface="+mn-ea"/>
                <a:cs typeface="+mn-cs"/>
              </a:rPr>
              <a:t>{if (compteur==0) </a:t>
            </a:r>
            <a:r>
              <a:rPr lang="fr-FR" sz="1400" dirty="0" err="1">
                <a:solidFill>
                  <a:srgbClr val="00B050"/>
                </a:solidFill>
                <a:latin typeface="+mn-lt"/>
                <a:ea typeface="+mn-ea"/>
                <a:cs typeface="+mn-cs"/>
              </a:rPr>
              <a:t>sleep</a:t>
            </a:r>
            <a:r>
              <a:rPr lang="fr-FR" sz="1400" dirty="0">
                <a:solidFill>
                  <a:srgbClr val="00B050"/>
                </a:solidFill>
                <a:latin typeface="+mn-lt"/>
                <a:ea typeface="+mn-ea"/>
                <a:cs typeface="+mn-cs"/>
              </a:rPr>
              <a:t>()</a:t>
            </a:r>
          </a:p>
          <a:p>
            <a:r>
              <a:rPr lang="fr-FR" sz="1400" dirty="0" err="1">
                <a:solidFill>
                  <a:srgbClr val="00B050"/>
                </a:solidFill>
                <a:latin typeface="+mn-lt"/>
                <a:ea typeface="+mn-ea"/>
                <a:cs typeface="+mn-cs"/>
              </a:rPr>
              <a:t>Retirer_objet</a:t>
            </a:r>
            <a:endParaRPr lang="fr-FR" sz="1400" dirty="0">
              <a:solidFill>
                <a:srgbClr val="00B050"/>
              </a:solidFill>
              <a:latin typeface="+mn-lt"/>
              <a:ea typeface="+mn-ea"/>
              <a:cs typeface="+mn-cs"/>
            </a:endParaRPr>
          </a:p>
          <a:p>
            <a:r>
              <a:rPr lang="fr-FR" sz="1400" dirty="0">
                <a:solidFill>
                  <a:srgbClr val="00B050"/>
                </a:solidFill>
                <a:latin typeface="+mn-lt"/>
                <a:ea typeface="+mn-ea"/>
                <a:cs typeface="+mn-cs"/>
              </a:rPr>
              <a:t>Compteur=compteur-1</a:t>
            </a:r>
          </a:p>
          <a:p>
            <a:r>
              <a:rPr lang="fr-FR" sz="1400" dirty="0">
                <a:solidFill>
                  <a:srgbClr val="00B050"/>
                </a:solidFill>
                <a:latin typeface="+mn-lt"/>
                <a:ea typeface="+mn-ea"/>
                <a:cs typeface="+mn-cs"/>
              </a:rPr>
              <a:t>If (compteur==N-1) /*avant compteur=N*/</a:t>
            </a:r>
          </a:p>
          <a:p>
            <a:r>
              <a:rPr lang="fr-FR" sz="1400" dirty="0" err="1">
                <a:solidFill>
                  <a:srgbClr val="00B050"/>
                </a:solidFill>
                <a:latin typeface="+mn-lt"/>
                <a:ea typeface="+mn-ea"/>
                <a:cs typeface="+mn-cs"/>
              </a:rPr>
              <a:t>Wakeup</a:t>
            </a:r>
            <a:r>
              <a:rPr lang="fr-FR" sz="1400" dirty="0">
                <a:solidFill>
                  <a:srgbClr val="00B050"/>
                </a:solidFill>
                <a:latin typeface="+mn-lt"/>
                <a:ea typeface="+mn-ea"/>
                <a:cs typeface="+mn-cs"/>
              </a:rPr>
              <a:t> (producteur</a:t>
            </a:r>
            <a:r>
              <a:rPr lang="fr-FR" sz="1400" dirty="0" smtClean="0">
                <a:solidFill>
                  <a:srgbClr val="00B050"/>
                </a:solidFill>
                <a:latin typeface="+mn-lt"/>
                <a:ea typeface="+mn-ea"/>
                <a:cs typeface="+mn-cs"/>
              </a:rPr>
              <a:t>)</a:t>
            </a:r>
          </a:p>
          <a:p>
            <a:r>
              <a:rPr lang="fr-FR" sz="1400" dirty="0" smtClean="0">
                <a:solidFill>
                  <a:srgbClr val="00B050"/>
                </a:solidFill>
                <a:latin typeface="+mn-lt"/>
                <a:ea typeface="+mn-ea"/>
                <a:cs typeface="+mn-cs"/>
              </a:rPr>
              <a:t>}}</a:t>
            </a:r>
            <a:endParaRPr lang="fr-FR" sz="1400" dirty="0">
              <a:solidFill>
                <a:srgbClr val="00B050"/>
              </a:solidFill>
              <a:latin typeface="+mn-lt"/>
              <a:ea typeface="+mn-ea"/>
              <a:cs typeface="+mn-cs"/>
            </a:endParaRPr>
          </a:p>
        </p:txBody>
      </p:sp>
    </p:spTree>
    <p:extLst>
      <p:ext uri="{BB962C8B-B14F-4D97-AF65-F5344CB8AC3E}">
        <p14:creationId xmlns:p14="http://schemas.microsoft.com/office/powerpoint/2010/main" val="333654329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3"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74</a:t>
            </a:fld>
            <a:endParaRPr spc="-25" dirty="0"/>
          </a:p>
        </p:txBody>
      </p:sp>
      <p:sp>
        <p:nvSpPr>
          <p:cNvPr id="12" name="object 12"/>
          <p:cNvSpPr txBox="1"/>
          <p:nvPr/>
        </p:nvSpPr>
        <p:spPr>
          <a:xfrm>
            <a:off x="707237" y="1655159"/>
            <a:ext cx="10707218" cy="1190069"/>
          </a:xfrm>
          <a:prstGeom prst="rect">
            <a:avLst/>
          </a:prstGeom>
        </p:spPr>
        <p:txBody>
          <a:bodyPr vert="horz" wrap="square" lIns="0" tIns="12700" rIns="0" bIns="0" rtlCol="0">
            <a:spAutoFit/>
          </a:bodyPr>
          <a:lstStyle/>
          <a:p>
            <a:pPr marL="12700">
              <a:spcBef>
                <a:spcPts val="100"/>
              </a:spcBef>
            </a:pPr>
            <a:r>
              <a:rPr lang="fr-FR" sz="1600" b="1" dirty="0" smtClean="0">
                <a:solidFill>
                  <a:srgbClr val="FFC000"/>
                </a:solidFill>
                <a:latin typeface="Calibri"/>
                <a:cs typeface="Calibri"/>
              </a:rPr>
              <a:t>L’</a:t>
            </a:r>
            <a:r>
              <a:rPr lang="fr-FR" sz="1600" b="1" dirty="0" err="1" smtClean="0">
                <a:solidFill>
                  <a:srgbClr val="FFC000"/>
                </a:solidFill>
                <a:latin typeface="Calibri"/>
                <a:cs typeface="Calibri"/>
              </a:rPr>
              <a:t>interblocage</a:t>
            </a:r>
            <a:r>
              <a:rPr lang="fr-FR" sz="1600" b="1" dirty="0" smtClean="0">
                <a:solidFill>
                  <a:srgbClr val="FFC000"/>
                </a:solidFill>
                <a:latin typeface="Calibri"/>
                <a:cs typeface="Calibri"/>
              </a:rPr>
              <a:t>  :</a:t>
            </a:r>
          </a:p>
          <a:p>
            <a:pPr marL="12700">
              <a:spcBef>
                <a:spcPts val="100"/>
              </a:spcBef>
            </a:pPr>
            <a:endParaRPr lang="fr-FR" sz="1600" b="1" dirty="0" smtClean="0">
              <a:solidFill>
                <a:srgbClr val="FFC000"/>
              </a:solidFill>
              <a:latin typeface="Calibri"/>
              <a:cs typeface="Calibri"/>
            </a:endParaRPr>
          </a:p>
          <a:p>
            <a:pPr marL="12700">
              <a:spcBef>
                <a:spcPts val="100"/>
              </a:spcBef>
            </a:pPr>
            <a:endParaRPr lang="fr-FR" sz="1600" b="1" dirty="0" smtClean="0">
              <a:solidFill>
                <a:srgbClr val="FFC000"/>
              </a:solidFill>
              <a:latin typeface="Calibri"/>
              <a:cs typeface="Calibri"/>
            </a:endParaRPr>
          </a:p>
          <a:p>
            <a:pPr marL="12700">
              <a:lnSpc>
                <a:spcPct val="100000"/>
              </a:lnSpc>
              <a:spcBef>
                <a:spcPts val="1320"/>
              </a:spcBef>
            </a:pPr>
            <a:r>
              <a:rPr sz="1600" spc="-10" dirty="0" smtClean="0">
                <a:solidFill>
                  <a:srgbClr val="585858"/>
                </a:solidFill>
                <a:latin typeface="Calibri"/>
                <a:cs typeface="Calibri"/>
              </a:rPr>
              <a:t>.</a:t>
            </a:r>
            <a:endParaRPr sz="1600" dirty="0">
              <a:latin typeface="Calibri"/>
              <a:cs typeface="Calibri"/>
            </a:endParaRPr>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19" name="object 11"/>
          <p:cNvSpPr txBox="1">
            <a:spLocks noGrp="1"/>
          </p:cNvSpPr>
          <p:nvPr>
            <p:ph type="title"/>
          </p:nvPr>
        </p:nvSpPr>
        <p:spPr>
          <a:xfrm>
            <a:off x="228600" y="304800"/>
            <a:ext cx="11664492" cy="452868"/>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p:txBody>
      </p:sp>
      <p:sp>
        <p:nvSpPr>
          <p:cNvPr id="7" name="Rectangle 6"/>
          <p:cNvSpPr/>
          <p:nvPr/>
        </p:nvSpPr>
        <p:spPr>
          <a:xfrm>
            <a:off x="845908" y="4151643"/>
            <a:ext cx="10338506" cy="102995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fr-FR" sz="1600" b="1" dirty="0" smtClean="0">
                <a:solidFill>
                  <a:srgbClr val="FF0000"/>
                </a:solidFill>
              </a:rPr>
              <a:t>QUESTION:</a:t>
            </a:r>
          </a:p>
          <a:p>
            <a:pPr marL="342900" indent="-342900">
              <a:buFont typeface="+mj-lt"/>
              <a:buAutoNum type="arabicPeriod"/>
            </a:pPr>
            <a:r>
              <a:rPr lang="fr-FR" sz="1600" b="1" dirty="0" smtClean="0">
                <a:solidFill>
                  <a:schemeClr val="dk1"/>
                </a:solidFill>
              </a:rPr>
              <a:t>Montrer que le processus A et B entrent systématiquement en </a:t>
            </a:r>
            <a:r>
              <a:rPr lang="fr-FR" sz="1600" b="1" dirty="0" err="1" smtClean="0">
                <a:solidFill>
                  <a:schemeClr val="dk1"/>
                </a:solidFill>
              </a:rPr>
              <a:t>interblocage</a:t>
            </a:r>
            <a:r>
              <a:rPr lang="fr-FR" sz="1600" b="1" dirty="0" smtClean="0">
                <a:solidFill>
                  <a:schemeClr val="dk1"/>
                </a:solidFill>
              </a:rPr>
              <a:t>.</a:t>
            </a:r>
          </a:p>
          <a:p>
            <a:pPr marL="342900" indent="-342900">
              <a:buFont typeface="+mj-lt"/>
              <a:buAutoNum type="arabicPeriod"/>
            </a:pPr>
            <a:r>
              <a:rPr lang="fr-FR" sz="1600" b="1" dirty="0" smtClean="0">
                <a:solidFill>
                  <a:schemeClr val="dk1"/>
                </a:solidFill>
              </a:rPr>
              <a:t>Proposer une modification pour prévenir les </a:t>
            </a:r>
            <a:r>
              <a:rPr lang="fr-FR" sz="1600" b="1" dirty="0" err="1" smtClean="0">
                <a:solidFill>
                  <a:schemeClr val="dk1"/>
                </a:solidFill>
              </a:rPr>
              <a:t>interblocages</a:t>
            </a:r>
            <a:r>
              <a:rPr lang="fr-FR" sz="1600" b="1" dirty="0" smtClean="0">
                <a:solidFill>
                  <a:schemeClr val="dk1"/>
                </a:solidFill>
              </a:rPr>
              <a:t>, justifier votre réponse</a:t>
            </a:r>
            <a:r>
              <a:rPr lang="fr-FR" sz="1400" b="1" dirty="0" smtClean="0">
                <a:solidFill>
                  <a:schemeClr val="dk1"/>
                </a:solidFill>
                <a:latin typeface="+mn-lt"/>
                <a:ea typeface="+mn-ea"/>
                <a:cs typeface="+mn-cs"/>
              </a:rPr>
              <a:t>.</a:t>
            </a:r>
          </a:p>
        </p:txBody>
      </p:sp>
      <p:pic>
        <p:nvPicPr>
          <p:cNvPr id="8" name="Image 7"/>
          <p:cNvPicPr>
            <a:picLocks noChangeAspect="1"/>
          </p:cNvPicPr>
          <p:nvPr/>
        </p:nvPicPr>
        <p:blipFill>
          <a:blip r:embed="rId4"/>
          <a:stretch>
            <a:fillRect/>
          </a:stretch>
        </p:blipFill>
        <p:spPr>
          <a:xfrm>
            <a:off x="845908" y="1975501"/>
            <a:ext cx="10429875" cy="2114550"/>
          </a:xfrm>
          <a:prstGeom prst="rect">
            <a:avLst/>
          </a:prstGeom>
        </p:spPr>
      </p:pic>
    </p:spTree>
    <p:extLst>
      <p:ext uri="{BB962C8B-B14F-4D97-AF65-F5344CB8AC3E}">
        <p14:creationId xmlns:p14="http://schemas.microsoft.com/office/powerpoint/2010/main" val="70936188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3"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75</a:t>
            </a:fld>
            <a:endParaRPr spc="-25" dirty="0"/>
          </a:p>
        </p:txBody>
      </p:sp>
      <p:sp>
        <p:nvSpPr>
          <p:cNvPr id="12" name="object 12"/>
          <p:cNvSpPr txBox="1"/>
          <p:nvPr/>
        </p:nvSpPr>
        <p:spPr>
          <a:xfrm>
            <a:off x="707237" y="1655159"/>
            <a:ext cx="10707218" cy="1190069"/>
          </a:xfrm>
          <a:prstGeom prst="rect">
            <a:avLst/>
          </a:prstGeom>
        </p:spPr>
        <p:txBody>
          <a:bodyPr vert="horz" wrap="square" lIns="0" tIns="12700" rIns="0" bIns="0" rtlCol="0">
            <a:spAutoFit/>
          </a:bodyPr>
          <a:lstStyle/>
          <a:p>
            <a:pPr marL="12700">
              <a:spcBef>
                <a:spcPts val="100"/>
              </a:spcBef>
            </a:pPr>
            <a:r>
              <a:rPr lang="fr-FR" sz="1600" b="1" dirty="0" smtClean="0">
                <a:solidFill>
                  <a:srgbClr val="FFC000"/>
                </a:solidFill>
                <a:latin typeface="Calibri"/>
                <a:cs typeface="Calibri"/>
              </a:rPr>
              <a:t>L’</a:t>
            </a:r>
            <a:r>
              <a:rPr lang="fr-FR" sz="1600" b="1" dirty="0" err="1" smtClean="0">
                <a:solidFill>
                  <a:srgbClr val="FFC000"/>
                </a:solidFill>
                <a:latin typeface="Calibri"/>
                <a:cs typeface="Calibri"/>
              </a:rPr>
              <a:t>interblocage</a:t>
            </a:r>
            <a:r>
              <a:rPr lang="fr-FR" sz="1600" b="1" dirty="0" smtClean="0">
                <a:solidFill>
                  <a:srgbClr val="FFC000"/>
                </a:solidFill>
                <a:latin typeface="Calibri"/>
                <a:cs typeface="Calibri"/>
              </a:rPr>
              <a:t>  :</a:t>
            </a:r>
          </a:p>
          <a:p>
            <a:pPr marL="12700">
              <a:spcBef>
                <a:spcPts val="100"/>
              </a:spcBef>
            </a:pPr>
            <a:endParaRPr lang="fr-FR" sz="1600" b="1" dirty="0" smtClean="0">
              <a:solidFill>
                <a:srgbClr val="FFC000"/>
              </a:solidFill>
              <a:latin typeface="Calibri"/>
              <a:cs typeface="Calibri"/>
            </a:endParaRPr>
          </a:p>
          <a:p>
            <a:pPr marL="12700">
              <a:spcBef>
                <a:spcPts val="100"/>
              </a:spcBef>
            </a:pPr>
            <a:endParaRPr lang="fr-FR" sz="1600" b="1" dirty="0" smtClean="0">
              <a:solidFill>
                <a:srgbClr val="FFC000"/>
              </a:solidFill>
              <a:latin typeface="Calibri"/>
              <a:cs typeface="Calibri"/>
            </a:endParaRPr>
          </a:p>
          <a:p>
            <a:pPr marL="12700">
              <a:lnSpc>
                <a:spcPct val="100000"/>
              </a:lnSpc>
              <a:spcBef>
                <a:spcPts val="1320"/>
              </a:spcBef>
            </a:pPr>
            <a:r>
              <a:rPr sz="1600" spc="-10" dirty="0" smtClean="0">
                <a:solidFill>
                  <a:srgbClr val="585858"/>
                </a:solidFill>
                <a:latin typeface="Calibri"/>
                <a:cs typeface="Calibri"/>
              </a:rPr>
              <a:t>.</a:t>
            </a:r>
            <a:endParaRPr sz="1600" dirty="0">
              <a:latin typeface="Calibri"/>
              <a:cs typeface="Calibri"/>
            </a:endParaRPr>
          </a:p>
        </p:txBody>
      </p:sp>
      <p:sp>
        <p:nvSpPr>
          <p:cNvPr id="17" name="object 7"/>
          <p:cNvSpPr txBox="1"/>
          <p:nvPr/>
        </p:nvSpPr>
        <p:spPr>
          <a:xfrm>
            <a:off x="163811" y="4931562"/>
            <a:ext cx="243656"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4</a:t>
            </a:r>
            <a:endParaRPr sz="1900" dirty="0">
              <a:latin typeface="Calibri"/>
              <a:cs typeface="Calibri"/>
            </a:endParaRPr>
          </a:p>
        </p:txBody>
      </p:sp>
      <p:sp>
        <p:nvSpPr>
          <p:cNvPr id="19" name="object 11"/>
          <p:cNvSpPr txBox="1">
            <a:spLocks noGrp="1"/>
          </p:cNvSpPr>
          <p:nvPr>
            <p:ph type="title"/>
          </p:nvPr>
        </p:nvSpPr>
        <p:spPr>
          <a:xfrm>
            <a:off x="228600" y="304800"/>
            <a:ext cx="11664492" cy="452868"/>
          </a:xfrm>
          <a:prstGeom prst="rect">
            <a:avLst/>
          </a:prstGeom>
        </p:spPr>
        <p:txBody>
          <a:bodyPr vert="horz" wrap="square" lIns="0" tIns="143688" rIns="0" bIns="0" rtlCol="0">
            <a:spAutoFit/>
          </a:bodyPr>
          <a:lstStyle/>
          <a:p>
            <a:pPr marL="6985">
              <a:lnSpc>
                <a:spcPct val="100000"/>
              </a:lnSpc>
              <a:spcBef>
                <a:spcPts val="90"/>
              </a:spcBef>
            </a:pPr>
            <a:r>
              <a:rPr dirty="0" smtClean="0">
                <a:solidFill>
                  <a:srgbClr val="0058A0"/>
                </a:solidFill>
              </a:rPr>
              <a:t>0</a:t>
            </a:r>
            <a:r>
              <a:rPr lang="fr-FR" dirty="0" smtClean="0">
                <a:solidFill>
                  <a:srgbClr val="0058A0"/>
                </a:solidFill>
              </a:rPr>
              <a:t>4</a:t>
            </a:r>
            <a:r>
              <a:rPr spc="-35" dirty="0" smtClean="0">
                <a:solidFill>
                  <a:srgbClr val="0058A0"/>
                </a:solidFill>
              </a:rPr>
              <a:t> </a:t>
            </a:r>
            <a:r>
              <a:rPr dirty="0">
                <a:solidFill>
                  <a:srgbClr val="0058A0"/>
                </a:solidFill>
              </a:rPr>
              <a:t>–</a:t>
            </a:r>
            <a:r>
              <a:rPr spc="-15" dirty="0">
                <a:solidFill>
                  <a:srgbClr val="0058A0"/>
                </a:solidFill>
              </a:rPr>
              <a:t> </a:t>
            </a:r>
            <a:r>
              <a:rPr lang="fr-FR" dirty="0" smtClean="0">
                <a:solidFill>
                  <a:srgbClr val="0058A0"/>
                </a:solidFill>
              </a:rPr>
              <a:t>Gestion des processus</a:t>
            </a:r>
            <a:endParaRPr spc="-20" dirty="0">
              <a:solidFill>
                <a:srgbClr val="0058A0"/>
              </a:solidFill>
            </a:endParaRPr>
          </a:p>
        </p:txBody>
      </p:sp>
      <p:sp>
        <p:nvSpPr>
          <p:cNvPr id="7" name="Rectangle 6"/>
          <p:cNvSpPr/>
          <p:nvPr/>
        </p:nvSpPr>
        <p:spPr>
          <a:xfrm>
            <a:off x="845908" y="4151642"/>
            <a:ext cx="10338506" cy="246137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fr-FR" sz="1600" b="1" dirty="0" smtClean="0">
                <a:solidFill>
                  <a:srgbClr val="FF0000"/>
                </a:solidFill>
              </a:rPr>
              <a:t>Réponse:</a:t>
            </a:r>
          </a:p>
          <a:p>
            <a:pPr marL="342900" indent="-342900">
              <a:buFont typeface="+mj-lt"/>
              <a:buAutoNum type="arabicPeriod"/>
            </a:pPr>
            <a:r>
              <a:rPr lang="fr-FR" sz="1600" b="1" dirty="0"/>
              <a:t>C</a:t>
            </a:r>
            <a:r>
              <a:rPr lang="fr-FR" sz="1600" b="1" dirty="0" smtClean="0">
                <a:solidFill>
                  <a:schemeClr val="dk1"/>
                </a:solidFill>
              </a:rPr>
              <a:t>onsidérons que le processus A commence le premier et après down(a) il donne la main au processus B, ce dernier va exécuter down(b). dans ce cas le processus B ne peut avancer puisque la variable sémaphore est déjà prise par le processus A. De même le processus A ne peut pas avancer car B le bloque, c’est l’</a:t>
            </a:r>
            <a:r>
              <a:rPr lang="fr-FR" sz="1600" b="1" dirty="0" err="1" smtClean="0">
                <a:solidFill>
                  <a:schemeClr val="dk1"/>
                </a:solidFill>
              </a:rPr>
              <a:t>interblocage</a:t>
            </a:r>
            <a:endParaRPr lang="fr-FR" sz="1600" b="1" dirty="0" smtClean="0">
              <a:solidFill>
                <a:schemeClr val="dk1"/>
              </a:solidFill>
            </a:endParaRPr>
          </a:p>
          <a:p>
            <a:pPr marL="342900" indent="-342900">
              <a:buFont typeface="+mj-lt"/>
              <a:buAutoNum type="arabicPeriod"/>
            </a:pPr>
            <a:r>
              <a:rPr lang="fr-FR" sz="1600" b="1" dirty="0" smtClean="0"/>
              <a:t> </a:t>
            </a:r>
            <a:r>
              <a:rPr lang="fr-FR" sz="1600" b="1" dirty="0"/>
              <a:t>C</a:t>
            </a:r>
            <a:r>
              <a:rPr lang="fr-FR" sz="1600" b="1" dirty="0" smtClean="0">
                <a:solidFill>
                  <a:schemeClr val="dk1"/>
                </a:solidFill>
              </a:rPr>
              <a:t>hanger dans le processus B les 2 première lignes : </a:t>
            </a:r>
          </a:p>
          <a:p>
            <a:r>
              <a:rPr lang="fr-FR" sz="1600" b="1" dirty="0" smtClean="0">
                <a:solidFill>
                  <a:schemeClr val="dk1"/>
                </a:solidFill>
              </a:rPr>
              <a:t>        Down(a)</a:t>
            </a:r>
          </a:p>
          <a:p>
            <a:r>
              <a:rPr lang="fr-FR" sz="1600" b="1" dirty="0" smtClean="0">
                <a:solidFill>
                  <a:schemeClr val="dk1"/>
                </a:solidFill>
              </a:rPr>
              <a:t>        Down(b)</a:t>
            </a:r>
          </a:p>
          <a:p>
            <a:r>
              <a:rPr lang="fr-FR" sz="1600" b="1" dirty="0" smtClean="0">
                <a:solidFill>
                  <a:schemeClr val="dk1"/>
                </a:solidFill>
              </a:rPr>
              <a:t>Les sections imbriquées dans le même ordre protègent l’</a:t>
            </a:r>
            <a:r>
              <a:rPr lang="fr-FR" sz="1600" b="1" dirty="0" err="1" smtClean="0">
                <a:solidFill>
                  <a:schemeClr val="dk1"/>
                </a:solidFill>
              </a:rPr>
              <a:t>interblocage</a:t>
            </a:r>
            <a:endParaRPr lang="fr-FR" sz="1600" b="1" dirty="0" smtClean="0">
              <a:solidFill>
                <a:schemeClr val="dk1"/>
              </a:solidFill>
            </a:endParaRPr>
          </a:p>
        </p:txBody>
      </p:sp>
      <p:pic>
        <p:nvPicPr>
          <p:cNvPr id="8" name="Image 7"/>
          <p:cNvPicPr>
            <a:picLocks noChangeAspect="1"/>
          </p:cNvPicPr>
          <p:nvPr/>
        </p:nvPicPr>
        <p:blipFill>
          <a:blip r:embed="rId4"/>
          <a:stretch>
            <a:fillRect/>
          </a:stretch>
        </p:blipFill>
        <p:spPr>
          <a:xfrm>
            <a:off x="845908" y="1975501"/>
            <a:ext cx="10429875" cy="2114550"/>
          </a:xfrm>
          <a:prstGeom prst="rect">
            <a:avLst/>
          </a:prstGeom>
        </p:spPr>
      </p:pic>
    </p:spTree>
    <p:extLst>
      <p:ext uri="{BB962C8B-B14F-4D97-AF65-F5344CB8AC3E}">
        <p14:creationId xmlns:p14="http://schemas.microsoft.com/office/powerpoint/2010/main" val="30695741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4670</TotalTime>
  <Words>8499</Words>
  <Application>Microsoft Office PowerPoint</Application>
  <PresentationFormat>Grand écran</PresentationFormat>
  <Paragraphs>916</Paragraphs>
  <Slides>75</Slides>
  <Notes>61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75</vt:i4>
      </vt:variant>
    </vt:vector>
  </HeadingPairs>
  <TitlesOfParts>
    <vt:vector size="81" baseType="lpstr">
      <vt:lpstr>Arial</vt:lpstr>
      <vt:lpstr>Calibri</vt:lpstr>
      <vt:lpstr>Courier New</vt:lpstr>
      <vt:lpstr>Times New Roman</vt:lpstr>
      <vt:lpstr>Wingdings</vt:lpstr>
      <vt:lpstr>Office Theme</vt:lpstr>
      <vt:lpstr>Présentation PowerPoint</vt:lpstr>
      <vt:lpstr>CHAPITRE 4</vt:lpstr>
      <vt:lpstr>04 – Gestion des processus Rappeler les concepts fondamentaux d’un SE</vt:lpstr>
      <vt:lpstr>04 – Gestion des processus Composants d’un processus</vt:lpstr>
      <vt:lpstr>04 – Gestion des processus Espace d’adressage d’un processus</vt:lpstr>
      <vt:lpstr>04 – Gestion des processus  Etats d’un processus</vt:lpstr>
      <vt:lpstr>04 – Gestion des processus  Etats d’un processus</vt:lpstr>
      <vt:lpstr>04 – Gestion des processus  Bloc de contrôle de processus</vt:lpstr>
      <vt:lpstr>04 – Gestion des processus  Scénario d’exécution de deux processus </vt:lpstr>
      <vt:lpstr>04 – Gestion des processus  Techniques de gestion des processus</vt:lpstr>
      <vt:lpstr>04 – Gestion des processus  Algorithmes d'ordonnancement </vt:lpstr>
      <vt:lpstr>04 – Gestion des processus  Algorithmes d'ordonnancement </vt:lpstr>
      <vt:lpstr>04 – Gestion des processus  L’argorithme FCFS : Premier arrivé, premier servi </vt:lpstr>
      <vt:lpstr>04 – Gestion des processus  L’argorithme FCFS : Premier arrivé, premier servi </vt:lpstr>
      <vt:lpstr>04 – Gestion des processus  L’argorithme FCFS : Premier arrivé, premier servi </vt:lpstr>
      <vt:lpstr>04 – Gestion des processus  L’argorithme FCFS : Premier arrivé, premier servi </vt:lpstr>
      <vt:lpstr>04 – Gestion des processus  Shortest Job First (SJF): (Algorithme du plus court d’abord)</vt:lpstr>
      <vt:lpstr>04 – Gestion des processus  Shortest Job First (SJF): (Algorithme du plus court d’abord)</vt:lpstr>
      <vt:lpstr>04 – Gestion des processus  Shortest Job First (SJF): (Algorithme du plus court d’abord)</vt:lpstr>
      <vt:lpstr>04 – Gestion des processus  Shortest Job First (SJF): (Algorithme du plus court d’abord)</vt:lpstr>
      <vt:lpstr>04 – Gestion des processus  Shortest Remaining Time First/Next (SRTF - SRTN):  Plus court temps d'exécution version préemptive</vt:lpstr>
      <vt:lpstr>04 – Gestion des processus  Shortest Remaining Time First/Next (SRTF - SRTN):  Plus court temps d'exécution version préemptive</vt:lpstr>
      <vt:lpstr>Présentation PowerPoint</vt:lpstr>
      <vt:lpstr>04 – Gestion des processus  Shortest Remaining Time First/Next (SRTF - SRTN):  Plus court temps d'exécution version préemptive</vt:lpstr>
      <vt:lpstr>04 – Gestion des processus  Algorithme Round Robin (RR) </vt:lpstr>
      <vt:lpstr>04 – Gestion des processus  Algorithme Round Robin (RR) </vt:lpstr>
      <vt:lpstr>04 – Gestion des processus  Algorithme Round Robin (RR) </vt:lpstr>
      <vt:lpstr>04 – Gestion des processus  Shortest Remaining Time First/Next (SRTF - SRTN):  Plus court temps d'exécution version préemptive</vt:lpstr>
      <vt:lpstr>04 – Gestion des processus  Algorithme d’Ordonnancement par priorité </vt:lpstr>
      <vt:lpstr>04 – Gestion des processus  Algorithme d’Ordonnancement par priorité </vt:lpstr>
      <vt:lpstr>04 – Gestion des processus  Algorithme d’Ordonnancement par priorité </vt:lpstr>
      <vt:lpstr>04 – Gestion des processus  Algorithme d’Ordonnancement par priorité </vt:lpstr>
      <vt:lpstr>04 – Gestion des processus  Algorithme d’Ordonnancement par priorité </vt:lpstr>
      <vt:lpstr>04 – Gestion des processus  Algorithme d’Ordonnancement par priorité </vt:lpstr>
      <vt:lpstr>04 – Gestion des processus  Création et destruction des processus</vt:lpstr>
      <vt:lpstr>04 – Gestion des processus  Création et destruction des processus</vt:lpstr>
      <vt:lpstr>04 – Gestion des processus  Création et destruction des processus</vt:lpstr>
      <vt:lpstr>04 – Gestion des processus  Création et destruction des processus</vt:lpstr>
      <vt:lpstr>04 – Gestion des processus  Création et destruction des processus</vt:lpstr>
      <vt:lpstr>04 – Gestion des processus  Gestion des processus sous Windows</vt:lpstr>
      <vt:lpstr>04 – Gestion des processus  Gestion des processus sous Windows</vt:lpstr>
      <vt:lpstr>04 – Gestion des processus  Gestion des processus sous Windows</vt:lpstr>
      <vt:lpstr>04 – Gestion des processus  Gestion des processus sous Windows</vt:lpstr>
      <vt:lpstr>04 – Gestion des processus  Gestion des processus sous Windows</vt:lpstr>
      <vt:lpstr>04 – Gestion des processus Gestion des processus sous Linux</vt:lpstr>
      <vt:lpstr>04 – Gestion des processus Gestion des processus sous Linux</vt:lpstr>
      <vt:lpstr>04 – Gestion des processus Gestion des processus sous Linux</vt:lpstr>
      <vt:lpstr>04 – Gestion des processus Gestion des processus sous Linux</vt:lpstr>
      <vt:lpstr>04 – Gestion des processus Gestion des processus sous Linux</vt:lpstr>
      <vt:lpstr>04 – Gestion des processus</vt:lpstr>
      <vt:lpstr>04 – Gestion des processus</vt:lpstr>
      <vt:lpstr>04 – Gestion des processus</vt:lpstr>
      <vt:lpstr>04 – Gestion des processus</vt:lpstr>
      <vt:lpstr>04 – Gestion des processus</vt:lpstr>
      <vt:lpstr>04 – Gestion des processus</vt:lpstr>
      <vt:lpstr>04 – Gestion des processus</vt:lpstr>
      <vt:lpstr>04 – Gestion des processus</vt:lpstr>
      <vt:lpstr>04 – Gestion des processus</vt:lpstr>
      <vt:lpstr>04 – Gestion des processus</vt:lpstr>
      <vt:lpstr>04 – Gestion des processus</vt:lpstr>
      <vt:lpstr>04 – Gestion des processus</vt:lpstr>
      <vt:lpstr>04 – Gestion des processus</vt:lpstr>
      <vt:lpstr>04 – Gestion des processus</vt:lpstr>
      <vt:lpstr>04 – Gestion des processus</vt:lpstr>
      <vt:lpstr>04 – Gestion des processus</vt:lpstr>
      <vt:lpstr>04 – Gestion des processus</vt:lpstr>
      <vt:lpstr>04 – Gestion des processus</vt:lpstr>
      <vt:lpstr>04 – Gestion des processus</vt:lpstr>
      <vt:lpstr>04 – Gestion des processus</vt:lpstr>
      <vt:lpstr>04 – Gestion des processus</vt:lpstr>
      <vt:lpstr>04 – Gestion des processus</vt:lpstr>
      <vt:lpstr>04 – Gestion des processus</vt:lpstr>
      <vt:lpstr>04 – Gestion des processus</vt:lpstr>
      <vt:lpstr>04 – Gestion des processus</vt:lpstr>
      <vt:lpstr>04 – Gestion des processus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S</dc:creator>
  <cp:lastModifiedBy>amina</cp:lastModifiedBy>
  <cp:revision>318</cp:revision>
  <dcterms:created xsi:type="dcterms:W3CDTF">2024-03-16T11:10:38Z</dcterms:created>
  <dcterms:modified xsi:type="dcterms:W3CDTF">2024-05-13T09:30:35Z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2021-12-24T00:00:00Z</vt:filetime>
  </property>
  <property fmtid="{D5CDD505-2E9C-101B-9397-08002B2CF9AE}" pid="3" name="Creator">
    <vt:lpwstr>Microsoft® PowerPoint® pour Microsoft 365</vt:lpwstr>
  </property>
  <property fmtid="{D5CDD505-2E9C-101B-9397-08002B2CF9AE}" pid="4" name="LastSaved">
    <vt:filetime>2024-03-16T00:00:00Z</vt:filetime>
  </property>
  <property fmtid="{D5CDD505-2E9C-101B-9397-08002B2CF9AE}" pid="5" name="Producer">
    <vt:lpwstr>Microsoft® PowerPoint® pour Microsoft 365</vt:lpwstr>
  </property>
</Properties>
</file>