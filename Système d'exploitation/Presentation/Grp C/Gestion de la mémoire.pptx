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63" r:id="rId3"/>
    <p:sldId id="287" r:id="rId4"/>
    <p:sldId id="288" r:id="rId5"/>
    <p:sldId id="289" r:id="rId6"/>
    <p:sldId id="264" r:id="rId7"/>
    <p:sldId id="291" r:id="rId8"/>
    <p:sldId id="292" r:id="rId9"/>
    <p:sldId id="293" r:id="rId10"/>
    <p:sldId id="294" r:id="rId11"/>
    <p:sldId id="297" r:id="rId12"/>
    <p:sldId id="282" r:id="rId13"/>
    <p:sldId id="304" r:id="rId14"/>
    <p:sldId id="305" r:id="rId15"/>
    <p:sldId id="306" r:id="rId16"/>
    <p:sldId id="307" r:id="rId17"/>
    <p:sldId id="308" r:id="rId18"/>
    <p:sldId id="309" r:id="rId19"/>
    <p:sldId id="310" r:id="rId20"/>
    <p:sldId id="311" r:id="rId21"/>
    <p:sldId id="312" r:id="rId22"/>
    <p:sldId id="261" r:id="rId23"/>
    <p:sldId id="268" r:id="rId24"/>
    <p:sldId id="316" r:id="rId25"/>
    <p:sldId id="299" r:id="rId26"/>
    <p:sldId id="315" r:id="rId27"/>
    <p:sldId id="301" r:id="rId28"/>
    <p:sldId id="302" r:id="rId29"/>
    <p:sldId id="317" r:id="rId30"/>
    <p:sldId id="318" r:id="rId31"/>
    <p:sldId id="303" r:id="rId32"/>
  </p:sldIdLst>
  <p:sldSz cx="9144000" cy="5143500" type="screen16x9"/>
  <p:notesSz cx="6858000" cy="9144000"/>
  <p:embeddedFontLst>
    <p:embeddedFont>
      <p:font typeface="Arial Black" panose="020B0A04020102020204" pitchFamily="34" charset="0"/>
      <p:bold r:id="rId34"/>
    </p:embeddedFont>
    <p:embeddedFont>
      <p:font typeface="Bahnschrift SemiBold" panose="020B0502040204020203" pitchFamily="34" charset="0"/>
      <p:bold r:id="rId35"/>
    </p:embeddedFont>
    <p:embeddedFont>
      <p:font typeface="Fira Sans Extra Condensed Medium" panose="020B0604020202020204" charset="0"/>
      <p:regular r:id="rId36"/>
      <p:bold r:id="rId37"/>
      <p:italic r:id="rId38"/>
      <p:boldItalic r:id="rId39"/>
    </p:embeddedFont>
    <p:embeddedFont>
      <p:font typeface="Fira Sans Extra Condensed SemiBold" panose="020B0604020202020204" charset="0"/>
      <p:regular r:id="rId40"/>
      <p:bold r:id="rId41"/>
      <p:italic r:id="rId42"/>
      <p:boldItalic r:id="rId43"/>
    </p:embeddedFont>
    <p:embeddedFont>
      <p:font typeface="Fira Sans Medium" panose="020B06030500000200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
          <p15:clr>
            <a:srgbClr val="EA4335"/>
          </p15:clr>
        </p15:guide>
        <p15:guide id="2" pos="288">
          <p15:clr>
            <a:srgbClr val="EA4335"/>
          </p15:clr>
        </p15:guide>
        <p15:guide id="3" pos="5472">
          <p15:clr>
            <a:srgbClr val="EA4335"/>
          </p15:clr>
        </p15:guide>
        <p15:guide id="4" orient="horz" pos="2984">
          <p15:clr>
            <a:srgbClr val="EA4335"/>
          </p15:clr>
        </p15:guide>
        <p15:guide id="5" orient="horz" pos="5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258" autoAdjust="0"/>
    <p:restoredTop sz="93093" autoAdjust="0"/>
  </p:normalViewPr>
  <p:slideViewPr>
    <p:cSldViewPr snapToGrid="0">
      <p:cViewPr>
        <p:scale>
          <a:sx n="78" d="100"/>
          <a:sy n="78" d="100"/>
        </p:scale>
        <p:origin x="416" y="168"/>
      </p:cViewPr>
      <p:guideLst>
        <p:guide orient="horz" pos="259"/>
        <p:guide pos="288"/>
        <p:guide pos="5472"/>
        <p:guide orient="horz" pos="2984"/>
        <p:guide orient="horz" pos="5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2a1ad2113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2a1ad2113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g929290261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608195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7"/>
        <p:cNvGrpSpPr/>
        <p:nvPr/>
      </p:nvGrpSpPr>
      <p:grpSpPr>
        <a:xfrm>
          <a:off x="0" y="0"/>
          <a:ext cx="0" cy="0"/>
          <a:chOff x="0" y="0"/>
          <a:chExt cx="0" cy="0"/>
        </a:xfrm>
      </p:grpSpPr>
      <p:sp>
        <p:nvSpPr>
          <p:cNvPr id="1688" name="Google Shape;1688;g929290261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9" name="Google Shape;1689;g929290261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2"/>
        <p:cNvGrpSpPr/>
        <p:nvPr/>
      </p:nvGrpSpPr>
      <p:grpSpPr>
        <a:xfrm>
          <a:off x="0" y="0"/>
          <a:ext cx="0" cy="0"/>
          <a:chOff x="0" y="0"/>
          <a:chExt cx="0" cy="0"/>
        </a:xfrm>
      </p:grpSpPr>
      <p:sp>
        <p:nvSpPr>
          <p:cNvPr id="4453" name="Google Shape;4453;g94a06c92dc_0_1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4" name="Google Shape;4454;g94a06c92dc_0_1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9026751953_0_1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9026751953_0_1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5"/>
        <p:cNvGrpSpPr/>
        <p:nvPr/>
      </p:nvGrpSpPr>
      <p:grpSpPr>
        <a:xfrm>
          <a:off x="0" y="0"/>
          <a:ext cx="0" cy="0"/>
          <a:chOff x="0" y="0"/>
          <a:chExt cx="0" cy="0"/>
        </a:xfrm>
      </p:grpSpPr>
      <p:sp>
        <p:nvSpPr>
          <p:cNvPr id="2216" name="Google Shape;2216;g929290261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7" name="Google Shape;2217;g929290261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ites.uclouvain.be/SystInfo/notes/Theorie/html/glossaire.html#term-mmu" TargetMode="Externa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pSp>
        <p:nvGrpSpPr>
          <p:cNvPr id="54" name="Google Shape;54;p13"/>
          <p:cNvGrpSpPr/>
          <p:nvPr/>
        </p:nvGrpSpPr>
        <p:grpSpPr>
          <a:xfrm>
            <a:off x="4333282" y="1088670"/>
            <a:ext cx="4105459" cy="2966160"/>
            <a:chOff x="2632300" y="1354400"/>
            <a:chExt cx="4367975" cy="3155825"/>
          </a:xfrm>
        </p:grpSpPr>
        <p:sp>
          <p:nvSpPr>
            <p:cNvPr id="55" name="Google Shape;55;p13"/>
            <p:cNvSpPr/>
            <p:nvPr/>
          </p:nvSpPr>
          <p:spPr>
            <a:xfrm>
              <a:off x="5135725" y="2136600"/>
              <a:ext cx="424400" cy="668250"/>
            </a:xfrm>
            <a:custGeom>
              <a:avLst/>
              <a:gdLst/>
              <a:ahLst/>
              <a:cxnLst/>
              <a:rect l="l" t="t" r="r" b="b"/>
              <a:pathLst>
                <a:path w="16976" h="26730" extrusionOk="0">
                  <a:moveTo>
                    <a:pt x="159" y="1"/>
                  </a:moveTo>
                  <a:cubicBezTo>
                    <a:pt x="96" y="1"/>
                    <a:pt x="1" y="64"/>
                    <a:pt x="1" y="159"/>
                  </a:cubicBezTo>
                  <a:lnTo>
                    <a:pt x="1" y="16500"/>
                  </a:lnTo>
                  <a:cubicBezTo>
                    <a:pt x="1" y="16564"/>
                    <a:pt x="33" y="16595"/>
                    <a:pt x="64" y="16627"/>
                  </a:cubicBezTo>
                  <a:lnTo>
                    <a:pt x="10103" y="26698"/>
                  </a:lnTo>
                  <a:cubicBezTo>
                    <a:pt x="10135" y="26730"/>
                    <a:pt x="10198" y="26730"/>
                    <a:pt x="10230" y="26730"/>
                  </a:cubicBezTo>
                  <a:lnTo>
                    <a:pt x="16817" y="26730"/>
                  </a:lnTo>
                  <a:cubicBezTo>
                    <a:pt x="16912" y="26730"/>
                    <a:pt x="16975" y="26666"/>
                    <a:pt x="16975" y="26571"/>
                  </a:cubicBezTo>
                  <a:cubicBezTo>
                    <a:pt x="16975" y="26476"/>
                    <a:pt x="16880" y="26413"/>
                    <a:pt x="16817" y="26413"/>
                  </a:cubicBezTo>
                  <a:lnTo>
                    <a:pt x="10293" y="26413"/>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5908450" y="1686925"/>
              <a:ext cx="424400" cy="544725"/>
            </a:xfrm>
            <a:custGeom>
              <a:avLst/>
              <a:gdLst/>
              <a:ahLst/>
              <a:cxnLst/>
              <a:rect l="l" t="t" r="r" b="b"/>
              <a:pathLst>
                <a:path w="16976" h="21789" extrusionOk="0">
                  <a:moveTo>
                    <a:pt x="16817" y="0"/>
                  </a:moveTo>
                  <a:cubicBezTo>
                    <a:pt x="16722" y="0"/>
                    <a:pt x="16627" y="63"/>
                    <a:pt x="16627" y="158"/>
                  </a:cubicBezTo>
                  <a:lnTo>
                    <a:pt x="16627" y="11496"/>
                  </a:lnTo>
                  <a:lnTo>
                    <a:pt x="6683" y="21440"/>
                  </a:lnTo>
                  <a:lnTo>
                    <a:pt x="191" y="21440"/>
                  </a:lnTo>
                  <a:cubicBezTo>
                    <a:pt x="96" y="21440"/>
                    <a:pt x="1" y="21535"/>
                    <a:pt x="1" y="21598"/>
                  </a:cubicBezTo>
                  <a:cubicBezTo>
                    <a:pt x="1" y="21693"/>
                    <a:pt x="64" y="21788"/>
                    <a:pt x="159" y="21788"/>
                  </a:cubicBezTo>
                  <a:lnTo>
                    <a:pt x="6746" y="21788"/>
                  </a:lnTo>
                  <a:cubicBezTo>
                    <a:pt x="6778" y="21788"/>
                    <a:pt x="6841" y="21757"/>
                    <a:pt x="6873" y="21725"/>
                  </a:cubicBezTo>
                  <a:lnTo>
                    <a:pt x="16912" y="11686"/>
                  </a:lnTo>
                  <a:cubicBezTo>
                    <a:pt x="16944" y="11654"/>
                    <a:pt x="16975" y="11591"/>
                    <a:pt x="16975" y="11559"/>
                  </a:cubicBezTo>
                  <a:lnTo>
                    <a:pt x="16975" y="158"/>
                  </a:lnTo>
                  <a:cubicBezTo>
                    <a:pt x="16975" y="63"/>
                    <a:pt x="16880" y="0"/>
                    <a:pt x="1681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5649575" y="1566175"/>
              <a:ext cx="265250" cy="530875"/>
            </a:xfrm>
            <a:custGeom>
              <a:avLst/>
              <a:gdLst/>
              <a:ahLst/>
              <a:cxnLst/>
              <a:rect l="l" t="t" r="r" b="b"/>
              <a:pathLst>
                <a:path w="10610" h="21235" extrusionOk="0">
                  <a:moveTo>
                    <a:pt x="174" y="1"/>
                  </a:moveTo>
                  <a:cubicBezTo>
                    <a:pt x="135" y="1"/>
                    <a:pt x="95" y="16"/>
                    <a:pt x="63" y="48"/>
                  </a:cubicBezTo>
                  <a:cubicBezTo>
                    <a:pt x="0" y="111"/>
                    <a:pt x="0" y="206"/>
                    <a:pt x="63" y="270"/>
                  </a:cubicBezTo>
                  <a:lnTo>
                    <a:pt x="10293" y="10499"/>
                  </a:lnTo>
                  <a:lnTo>
                    <a:pt x="10293" y="21076"/>
                  </a:lnTo>
                  <a:cubicBezTo>
                    <a:pt x="10293" y="21171"/>
                    <a:pt x="10356" y="21235"/>
                    <a:pt x="10451" y="21235"/>
                  </a:cubicBezTo>
                  <a:cubicBezTo>
                    <a:pt x="10546" y="21235"/>
                    <a:pt x="10609" y="21171"/>
                    <a:pt x="10609" y="21076"/>
                  </a:cubicBezTo>
                  <a:lnTo>
                    <a:pt x="10609" y="10435"/>
                  </a:lnTo>
                  <a:cubicBezTo>
                    <a:pt x="10609" y="10404"/>
                    <a:pt x="10609" y="10340"/>
                    <a:pt x="10578" y="10309"/>
                  </a:cubicBezTo>
                  <a:lnTo>
                    <a:pt x="285" y="48"/>
                  </a:lnTo>
                  <a:cubicBezTo>
                    <a:pt x="253" y="16"/>
                    <a:pt x="214" y="1"/>
                    <a:pt x="17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5423925" y="1354400"/>
              <a:ext cx="266825" cy="266825"/>
            </a:xfrm>
            <a:custGeom>
              <a:avLst/>
              <a:gdLst/>
              <a:ahLst/>
              <a:cxnLst/>
              <a:rect l="l" t="t" r="r" b="b"/>
              <a:pathLst>
                <a:path w="10673" h="10673" extrusionOk="0">
                  <a:moveTo>
                    <a:pt x="5352" y="317"/>
                  </a:moveTo>
                  <a:cubicBezTo>
                    <a:pt x="8108" y="317"/>
                    <a:pt x="10356" y="2565"/>
                    <a:pt x="10356" y="5320"/>
                  </a:cubicBezTo>
                  <a:cubicBezTo>
                    <a:pt x="10356" y="8076"/>
                    <a:pt x="8108" y="10324"/>
                    <a:pt x="5352" y="10324"/>
                  </a:cubicBezTo>
                  <a:cubicBezTo>
                    <a:pt x="2597" y="10324"/>
                    <a:pt x="349" y="8076"/>
                    <a:pt x="349" y="5320"/>
                  </a:cubicBezTo>
                  <a:cubicBezTo>
                    <a:pt x="349" y="2565"/>
                    <a:pt x="2597" y="317"/>
                    <a:pt x="5352" y="317"/>
                  </a:cubicBezTo>
                  <a:close/>
                  <a:moveTo>
                    <a:pt x="5352" y="0"/>
                  </a:moveTo>
                  <a:cubicBezTo>
                    <a:pt x="2407" y="0"/>
                    <a:pt x="0" y="2375"/>
                    <a:pt x="0" y="5320"/>
                  </a:cubicBezTo>
                  <a:cubicBezTo>
                    <a:pt x="0" y="8266"/>
                    <a:pt x="2407" y="10673"/>
                    <a:pt x="5352" y="10673"/>
                  </a:cubicBezTo>
                  <a:cubicBezTo>
                    <a:pt x="8298" y="10673"/>
                    <a:pt x="10673" y="8266"/>
                    <a:pt x="10673" y="5320"/>
                  </a:cubicBezTo>
                  <a:cubicBezTo>
                    <a:pt x="10673" y="2375"/>
                    <a:pt x="8298" y="0"/>
                    <a:pt x="53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5454000" y="1392975"/>
              <a:ext cx="206675" cy="188875"/>
            </a:xfrm>
            <a:custGeom>
              <a:avLst/>
              <a:gdLst/>
              <a:ahLst/>
              <a:cxnLst/>
              <a:rect l="l" t="t" r="r" b="b"/>
              <a:pathLst>
                <a:path w="8267" h="7555" extrusionOk="0">
                  <a:moveTo>
                    <a:pt x="4134" y="1"/>
                  </a:moveTo>
                  <a:cubicBezTo>
                    <a:pt x="3168" y="1"/>
                    <a:pt x="2202" y="373"/>
                    <a:pt x="1458" y="1117"/>
                  </a:cubicBezTo>
                  <a:cubicBezTo>
                    <a:pt x="1" y="2574"/>
                    <a:pt x="1" y="4981"/>
                    <a:pt x="1458" y="6438"/>
                  </a:cubicBezTo>
                  <a:cubicBezTo>
                    <a:pt x="2202" y="7182"/>
                    <a:pt x="3168" y="7554"/>
                    <a:pt x="4134" y="7554"/>
                  </a:cubicBezTo>
                  <a:cubicBezTo>
                    <a:pt x="5100" y="7554"/>
                    <a:pt x="6065" y="7182"/>
                    <a:pt x="6810" y="6438"/>
                  </a:cubicBezTo>
                  <a:cubicBezTo>
                    <a:pt x="8266" y="4981"/>
                    <a:pt x="8266" y="2574"/>
                    <a:pt x="6810" y="1117"/>
                  </a:cubicBezTo>
                  <a:cubicBezTo>
                    <a:pt x="6065" y="373"/>
                    <a:pt x="5100" y="1"/>
                    <a:pt x="413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2750250" y="4349475"/>
              <a:ext cx="4052875" cy="160750"/>
            </a:xfrm>
            <a:custGeom>
              <a:avLst/>
              <a:gdLst/>
              <a:ahLst/>
              <a:cxnLst/>
              <a:rect l="l" t="t" r="r" b="b"/>
              <a:pathLst>
                <a:path w="162115" h="6430" extrusionOk="0">
                  <a:moveTo>
                    <a:pt x="81074" y="1"/>
                  </a:moveTo>
                  <a:cubicBezTo>
                    <a:pt x="36294" y="1"/>
                    <a:pt x="1" y="1426"/>
                    <a:pt x="1" y="3199"/>
                  </a:cubicBezTo>
                  <a:cubicBezTo>
                    <a:pt x="1" y="5004"/>
                    <a:pt x="36294" y="6429"/>
                    <a:pt x="81074" y="6429"/>
                  </a:cubicBezTo>
                  <a:cubicBezTo>
                    <a:pt x="125822" y="6429"/>
                    <a:pt x="162115" y="5004"/>
                    <a:pt x="162115" y="3199"/>
                  </a:cubicBezTo>
                  <a:cubicBezTo>
                    <a:pt x="162115" y="1426"/>
                    <a:pt x="125822" y="1"/>
                    <a:pt x="81074"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2780350" y="3089799"/>
              <a:ext cx="443400" cy="216175"/>
            </a:xfrm>
            <a:custGeom>
              <a:avLst/>
              <a:gdLst/>
              <a:ahLst/>
              <a:cxnLst/>
              <a:rect l="l" t="t" r="r" b="b"/>
              <a:pathLst>
                <a:path w="17736" h="8647" extrusionOk="0">
                  <a:moveTo>
                    <a:pt x="2756" y="0"/>
                  </a:moveTo>
                  <a:cubicBezTo>
                    <a:pt x="1236" y="0"/>
                    <a:pt x="1" y="1236"/>
                    <a:pt x="1" y="2756"/>
                  </a:cubicBezTo>
                  <a:lnTo>
                    <a:pt x="1" y="5891"/>
                  </a:lnTo>
                  <a:cubicBezTo>
                    <a:pt x="1" y="7411"/>
                    <a:pt x="1236" y="8646"/>
                    <a:pt x="2756" y="8646"/>
                  </a:cubicBezTo>
                  <a:lnTo>
                    <a:pt x="14980" y="8646"/>
                  </a:lnTo>
                  <a:cubicBezTo>
                    <a:pt x="16500" y="8646"/>
                    <a:pt x="17735" y="7411"/>
                    <a:pt x="17735" y="5891"/>
                  </a:cubicBezTo>
                  <a:lnTo>
                    <a:pt x="17735" y="2756"/>
                  </a:lnTo>
                  <a:cubicBezTo>
                    <a:pt x="17735" y="1236"/>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13"/>
            <p:cNvSpPr/>
            <p:nvPr/>
          </p:nvSpPr>
          <p:spPr>
            <a:xfrm>
              <a:off x="2632300" y="3202275"/>
              <a:ext cx="124325" cy="24575"/>
            </a:xfrm>
            <a:custGeom>
              <a:avLst/>
              <a:gdLst/>
              <a:ahLst/>
              <a:cxnLst/>
              <a:rect l="l" t="t" r="r" b="b"/>
              <a:pathLst>
                <a:path w="4973" h="983" extrusionOk="0">
                  <a:moveTo>
                    <a:pt x="507" y="0"/>
                  </a:moveTo>
                  <a:cubicBezTo>
                    <a:pt x="222" y="0"/>
                    <a:pt x="0" y="222"/>
                    <a:pt x="0" y="475"/>
                  </a:cubicBezTo>
                  <a:cubicBezTo>
                    <a:pt x="0" y="760"/>
                    <a:pt x="222" y="982"/>
                    <a:pt x="507" y="982"/>
                  </a:cubicBezTo>
                  <a:lnTo>
                    <a:pt x="4466" y="982"/>
                  </a:lnTo>
                  <a:cubicBezTo>
                    <a:pt x="4751" y="982"/>
                    <a:pt x="4972" y="760"/>
                    <a:pt x="4972" y="475"/>
                  </a:cubicBezTo>
                  <a:cubicBezTo>
                    <a:pt x="4972" y="222"/>
                    <a:pt x="4751" y="0"/>
                    <a:pt x="44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3"/>
            <p:cNvSpPr/>
            <p:nvPr/>
          </p:nvSpPr>
          <p:spPr>
            <a:xfrm>
              <a:off x="2788275" y="3202275"/>
              <a:ext cx="68900" cy="24575"/>
            </a:xfrm>
            <a:custGeom>
              <a:avLst/>
              <a:gdLst/>
              <a:ahLst/>
              <a:cxnLst/>
              <a:rect l="l" t="t" r="r" b="b"/>
              <a:pathLst>
                <a:path w="2756" h="983" extrusionOk="0">
                  <a:moveTo>
                    <a:pt x="507" y="0"/>
                  </a:moveTo>
                  <a:cubicBezTo>
                    <a:pt x="222" y="0"/>
                    <a:pt x="0" y="222"/>
                    <a:pt x="0" y="475"/>
                  </a:cubicBezTo>
                  <a:cubicBezTo>
                    <a:pt x="0" y="760"/>
                    <a:pt x="222" y="982"/>
                    <a:pt x="507" y="982"/>
                  </a:cubicBezTo>
                  <a:lnTo>
                    <a:pt x="2249" y="982"/>
                  </a:lnTo>
                  <a:cubicBezTo>
                    <a:pt x="2534" y="982"/>
                    <a:pt x="2755" y="760"/>
                    <a:pt x="2755" y="475"/>
                  </a:cubicBezTo>
                  <a:cubicBezTo>
                    <a:pt x="2755" y="222"/>
                    <a:pt x="2502" y="0"/>
                    <a:pt x="22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5697075" y="2062200"/>
              <a:ext cx="443375" cy="215375"/>
            </a:xfrm>
            <a:custGeom>
              <a:avLst/>
              <a:gdLst/>
              <a:ahLst/>
              <a:cxnLst/>
              <a:rect l="l" t="t" r="r" b="b"/>
              <a:pathLst>
                <a:path w="17735" h="8615" extrusionOk="0">
                  <a:moveTo>
                    <a:pt x="2724" y="0"/>
                  </a:moveTo>
                  <a:cubicBezTo>
                    <a:pt x="1204" y="0"/>
                    <a:pt x="0" y="1204"/>
                    <a:pt x="0" y="2724"/>
                  </a:cubicBezTo>
                  <a:lnTo>
                    <a:pt x="0" y="5859"/>
                  </a:lnTo>
                  <a:cubicBezTo>
                    <a:pt x="0" y="7379"/>
                    <a:pt x="1204" y="8614"/>
                    <a:pt x="2724" y="8614"/>
                  </a:cubicBezTo>
                  <a:lnTo>
                    <a:pt x="14980" y="8614"/>
                  </a:lnTo>
                  <a:cubicBezTo>
                    <a:pt x="16500" y="8614"/>
                    <a:pt x="17735" y="7379"/>
                    <a:pt x="17735" y="5859"/>
                  </a:cubicBezTo>
                  <a:lnTo>
                    <a:pt x="17735" y="2724"/>
                  </a:lnTo>
                  <a:cubicBezTo>
                    <a:pt x="17735" y="1204"/>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5754075" y="2127100"/>
              <a:ext cx="99775" cy="25375"/>
            </a:xfrm>
            <a:custGeom>
              <a:avLst/>
              <a:gdLst/>
              <a:ahLst/>
              <a:cxnLst/>
              <a:rect l="l" t="t" r="r" b="b"/>
              <a:pathLst>
                <a:path w="3991" h="1015" extrusionOk="0">
                  <a:moveTo>
                    <a:pt x="507" y="1"/>
                  </a:moveTo>
                  <a:cubicBezTo>
                    <a:pt x="254" y="1"/>
                    <a:pt x="0" y="254"/>
                    <a:pt x="0" y="508"/>
                  </a:cubicBezTo>
                  <a:cubicBezTo>
                    <a:pt x="0" y="793"/>
                    <a:pt x="254" y="1014"/>
                    <a:pt x="507" y="1014"/>
                  </a:cubicBezTo>
                  <a:lnTo>
                    <a:pt x="3516" y="1014"/>
                  </a:lnTo>
                  <a:cubicBezTo>
                    <a:pt x="3769" y="1014"/>
                    <a:pt x="3991" y="793"/>
                    <a:pt x="3991" y="508"/>
                  </a:cubicBezTo>
                  <a:cubicBezTo>
                    <a:pt x="3991" y="254"/>
                    <a:pt x="3769" y="1"/>
                    <a:pt x="35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5879175" y="2127100"/>
              <a:ext cx="63350" cy="25375"/>
            </a:xfrm>
            <a:custGeom>
              <a:avLst/>
              <a:gdLst/>
              <a:ahLst/>
              <a:cxnLst/>
              <a:rect l="l" t="t" r="r" b="b"/>
              <a:pathLst>
                <a:path w="2534" h="1015" extrusionOk="0">
                  <a:moveTo>
                    <a:pt x="507" y="1"/>
                  </a:moveTo>
                  <a:cubicBezTo>
                    <a:pt x="222" y="1"/>
                    <a:pt x="0" y="254"/>
                    <a:pt x="0" y="508"/>
                  </a:cubicBezTo>
                  <a:cubicBezTo>
                    <a:pt x="0" y="793"/>
                    <a:pt x="222" y="1014"/>
                    <a:pt x="507" y="1014"/>
                  </a:cubicBezTo>
                  <a:lnTo>
                    <a:pt x="2027" y="1014"/>
                  </a:lnTo>
                  <a:cubicBezTo>
                    <a:pt x="2312" y="1014"/>
                    <a:pt x="2534" y="793"/>
                    <a:pt x="2534" y="508"/>
                  </a:cubicBezTo>
                  <a:cubicBezTo>
                    <a:pt x="2534" y="254"/>
                    <a:pt x="2312" y="1"/>
                    <a:pt x="20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6028800" y="2127100"/>
              <a:ext cx="53875" cy="25375"/>
            </a:xfrm>
            <a:custGeom>
              <a:avLst/>
              <a:gdLst/>
              <a:ahLst/>
              <a:cxnLst/>
              <a:rect l="l" t="t" r="r" b="b"/>
              <a:pathLst>
                <a:path w="2155" h="1015" extrusionOk="0">
                  <a:moveTo>
                    <a:pt x="507" y="1"/>
                  </a:moveTo>
                  <a:cubicBezTo>
                    <a:pt x="222" y="1"/>
                    <a:pt x="1" y="254"/>
                    <a:pt x="1" y="508"/>
                  </a:cubicBezTo>
                  <a:cubicBezTo>
                    <a:pt x="1" y="793"/>
                    <a:pt x="222" y="1014"/>
                    <a:pt x="507" y="1014"/>
                  </a:cubicBezTo>
                  <a:lnTo>
                    <a:pt x="1647" y="1014"/>
                  </a:lnTo>
                  <a:cubicBezTo>
                    <a:pt x="1932" y="1014"/>
                    <a:pt x="2154" y="793"/>
                    <a:pt x="2154" y="508"/>
                  </a:cubicBezTo>
                  <a:cubicBezTo>
                    <a:pt x="2154" y="254"/>
                    <a:pt x="1932" y="1"/>
                    <a:pt x="16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5879175" y="2186500"/>
              <a:ext cx="136200" cy="25350"/>
            </a:xfrm>
            <a:custGeom>
              <a:avLst/>
              <a:gdLst/>
              <a:ahLst/>
              <a:cxnLst/>
              <a:rect l="l" t="t" r="r" b="b"/>
              <a:pathLst>
                <a:path w="5448" h="1014" extrusionOk="0">
                  <a:moveTo>
                    <a:pt x="507" y="0"/>
                  </a:moveTo>
                  <a:cubicBezTo>
                    <a:pt x="222" y="0"/>
                    <a:pt x="0" y="253"/>
                    <a:pt x="0" y="507"/>
                  </a:cubicBezTo>
                  <a:cubicBezTo>
                    <a:pt x="0" y="792"/>
                    <a:pt x="222" y="1014"/>
                    <a:pt x="507" y="1014"/>
                  </a:cubicBezTo>
                  <a:lnTo>
                    <a:pt x="4972" y="1014"/>
                  </a:lnTo>
                  <a:cubicBezTo>
                    <a:pt x="5226" y="1014"/>
                    <a:pt x="5447" y="792"/>
                    <a:pt x="5447" y="507"/>
                  </a:cubicBezTo>
                  <a:cubicBezTo>
                    <a:pt x="5447" y="253"/>
                    <a:pt x="5226" y="0"/>
                    <a:pt x="49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p:nvPr/>
          </p:nvSpPr>
          <p:spPr>
            <a:xfrm>
              <a:off x="3475475" y="2363050"/>
              <a:ext cx="443400" cy="215375"/>
            </a:xfrm>
            <a:custGeom>
              <a:avLst/>
              <a:gdLst/>
              <a:ahLst/>
              <a:cxnLst/>
              <a:rect l="l" t="t" r="r" b="b"/>
              <a:pathLst>
                <a:path w="17736" h="8615" extrusionOk="0">
                  <a:moveTo>
                    <a:pt x="2756" y="0"/>
                  </a:moveTo>
                  <a:cubicBezTo>
                    <a:pt x="1236" y="0"/>
                    <a:pt x="1" y="1204"/>
                    <a:pt x="1" y="2724"/>
                  </a:cubicBezTo>
                  <a:lnTo>
                    <a:pt x="1" y="5859"/>
                  </a:lnTo>
                  <a:cubicBezTo>
                    <a:pt x="1" y="7379"/>
                    <a:pt x="1236" y="8614"/>
                    <a:pt x="2756" y="8614"/>
                  </a:cubicBezTo>
                  <a:lnTo>
                    <a:pt x="15012" y="8614"/>
                  </a:lnTo>
                  <a:cubicBezTo>
                    <a:pt x="16532" y="8614"/>
                    <a:pt x="17736" y="7379"/>
                    <a:pt x="17736" y="5859"/>
                  </a:cubicBezTo>
                  <a:lnTo>
                    <a:pt x="17736" y="2724"/>
                  </a:lnTo>
                  <a:cubicBezTo>
                    <a:pt x="17736" y="1204"/>
                    <a:pt x="16532" y="0"/>
                    <a:pt x="15012"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3568125" y="2419250"/>
              <a:ext cx="64150" cy="25375"/>
            </a:xfrm>
            <a:custGeom>
              <a:avLst/>
              <a:gdLst/>
              <a:ahLst/>
              <a:cxnLst/>
              <a:rect l="l" t="t" r="r" b="b"/>
              <a:pathLst>
                <a:path w="2566" h="1015" extrusionOk="0">
                  <a:moveTo>
                    <a:pt x="507" y="1"/>
                  </a:moveTo>
                  <a:cubicBezTo>
                    <a:pt x="222" y="1"/>
                    <a:pt x="0" y="222"/>
                    <a:pt x="0" y="507"/>
                  </a:cubicBezTo>
                  <a:cubicBezTo>
                    <a:pt x="0" y="792"/>
                    <a:pt x="222" y="1014"/>
                    <a:pt x="507" y="1014"/>
                  </a:cubicBezTo>
                  <a:lnTo>
                    <a:pt x="2059" y="1014"/>
                  </a:lnTo>
                  <a:cubicBezTo>
                    <a:pt x="2344" y="1014"/>
                    <a:pt x="2565" y="792"/>
                    <a:pt x="2565" y="507"/>
                  </a:cubicBezTo>
                  <a:cubicBezTo>
                    <a:pt x="2565" y="222"/>
                    <a:pt x="2344" y="1"/>
                    <a:pt x="20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3671050" y="2419250"/>
              <a:ext cx="45925" cy="25375"/>
            </a:xfrm>
            <a:custGeom>
              <a:avLst/>
              <a:gdLst/>
              <a:ahLst/>
              <a:cxnLst/>
              <a:rect l="l" t="t" r="r" b="b"/>
              <a:pathLst>
                <a:path w="1837" h="1015" extrusionOk="0">
                  <a:moveTo>
                    <a:pt x="475" y="1"/>
                  </a:moveTo>
                  <a:cubicBezTo>
                    <a:pt x="222" y="1"/>
                    <a:pt x="0" y="222"/>
                    <a:pt x="0" y="507"/>
                  </a:cubicBezTo>
                  <a:cubicBezTo>
                    <a:pt x="0" y="792"/>
                    <a:pt x="222" y="1014"/>
                    <a:pt x="475" y="1014"/>
                  </a:cubicBezTo>
                  <a:lnTo>
                    <a:pt x="1362" y="1014"/>
                  </a:lnTo>
                  <a:cubicBezTo>
                    <a:pt x="1615" y="1014"/>
                    <a:pt x="1837" y="792"/>
                    <a:pt x="1837" y="507"/>
                  </a:cubicBezTo>
                  <a:cubicBezTo>
                    <a:pt x="1837" y="222"/>
                    <a:pt x="1615" y="1"/>
                    <a:pt x="13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3663125" y="2476250"/>
              <a:ext cx="119575" cy="25375"/>
            </a:xfrm>
            <a:custGeom>
              <a:avLst/>
              <a:gdLst/>
              <a:ahLst/>
              <a:cxnLst/>
              <a:rect l="l" t="t" r="r" b="b"/>
              <a:pathLst>
                <a:path w="4783" h="1015" extrusionOk="0">
                  <a:moveTo>
                    <a:pt x="507" y="1"/>
                  </a:moveTo>
                  <a:cubicBezTo>
                    <a:pt x="222" y="1"/>
                    <a:pt x="0" y="223"/>
                    <a:pt x="0" y="508"/>
                  </a:cubicBezTo>
                  <a:cubicBezTo>
                    <a:pt x="0" y="761"/>
                    <a:pt x="222" y="1014"/>
                    <a:pt x="507" y="1014"/>
                  </a:cubicBezTo>
                  <a:lnTo>
                    <a:pt x="4276" y="1014"/>
                  </a:lnTo>
                  <a:cubicBezTo>
                    <a:pt x="4561" y="1014"/>
                    <a:pt x="4782" y="793"/>
                    <a:pt x="4782" y="508"/>
                  </a:cubicBezTo>
                  <a:cubicBezTo>
                    <a:pt x="4782" y="223"/>
                    <a:pt x="4561" y="1"/>
                    <a:pt x="4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3815925" y="2476250"/>
              <a:ext cx="52275" cy="25375"/>
            </a:xfrm>
            <a:custGeom>
              <a:avLst/>
              <a:gdLst/>
              <a:ahLst/>
              <a:cxnLst/>
              <a:rect l="l" t="t" r="r" b="b"/>
              <a:pathLst>
                <a:path w="2091" h="1015" extrusionOk="0">
                  <a:moveTo>
                    <a:pt x="476" y="1"/>
                  </a:moveTo>
                  <a:cubicBezTo>
                    <a:pt x="222" y="1"/>
                    <a:pt x="1" y="223"/>
                    <a:pt x="1" y="508"/>
                  </a:cubicBezTo>
                  <a:cubicBezTo>
                    <a:pt x="1" y="761"/>
                    <a:pt x="222" y="1014"/>
                    <a:pt x="476" y="1014"/>
                  </a:cubicBezTo>
                  <a:lnTo>
                    <a:pt x="1584" y="1014"/>
                  </a:lnTo>
                  <a:cubicBezTo>
                    <a:pt x="1869" y="1014"/>
                    <a:pt x="2091" y="793"/>
                    <a:pt x="2091" y="508"/>
                  </a:cubicBezTo>
                  <a:cubicBezTo>
                    <a:pt x="2091" y="223"/>
                    <a:pt x="1869" y="1"/>
                    <a:pt x="15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5309925" y="2437475"/>
              <a:ext cx="1383150" cy="1963475"/>
            </a:xfrm>
            <a:custGeom>
              <a:avLst/>
              <a:gdLst/>
              <a:ahLst/>
              <a:cxnLst/>
              <a:rect l="l" t="t" r="r" b="b"/>
              <a:pathLst>
                <a:path w="55326" h="78539" extrusionOk="0">
                  <a:moveTo>
                    <a:pt x="4339" y="0"/>
                  </a:moveTo>
                  <a:cubicBezTo>
                    <a:pt x="1964" y="0"/>
                    <a:pt x="0" y="1932"/>
                    <a:pt x="0" y="4339"/>
                  </a:cubicBezTo>
                  <a:lnTo>
                    <a:pt x="0" y="74169"/>
                  </a:lnTo>
                  <a:cubicBezTo>
                    <a:pt x="0" y="76576"/>
                    <a:pt x="1964" y="78539"/>
                    <a:pt x="4339" y="78539"/>
                  </a:cubicBezTo>
                  <a:lnTo>
                    <a:pt x="50987" y="78539"/>
                  </a:lnTo>
                  <a:cubicBezTo>
                    <a:pt x="53394" y="78539"/>
                    <a:pt x="55326" y="76576"/>
                    <a:pt x="55326" y="74169"/>
                  </a:cubicBezTo>
                  <a:lnTo>
                    <a:pt x="55326" y="4339"/>
                  </a:lnTo>
                  <a:cubicBezTo>
                    <a:pt x="55326" y="1932"/>
                    <a:pt x="53394" y="0"/>
                    <a:pt x="5098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5484100" y="2655975"/>
              <a:ext cx="1052225" cy="1524900"/>
            </a:xfrm>
            <a:custGeom>
              <a:avLst/>
              <a:gdLst/>
              <a:ahLst/>
              <a:cxnLst/>
              <a:rect l="l" t="t" r="r" b="b"/>
              <a:pathLst>
                <a:path w="42089" h="60996" extrusionOk="0">
                  <a:moveTo>
                    <a:pt x="41708" y="317"/>
                  </a:moveTo>
                  <a:lnTo>
                    <a:pt x="41708" y="60647"/>
                  </a:lnTo>
                  <a:lnTo>
                    <a:pt x="349" y="60647"/>
                  </a:lnTo>
                  <a:lnTo>
                    <a:pt x="349" y="317"/>
                  </a:lnTo>
                  <a:close/>
                  <a:moveTo>
                    <a:pt x="0" y="1"/>
                  </a:moveTo>
                  <a:lnTo>
                    <a:pt x="0" y="60995"/>
                  </a:lnTo>
                  <a:lnTo>
                    <a:pt x="42088" y="60995"/>
                  </a:lnTo>
                  <a:lnTo>
                    <a:pt x="42088"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5488050" y="3919575"/>
              <a:ext cx="1043525" cy="8725"/>
            </a:xfrm>
            <a:custGeom>
              <a:avLst/>
              <a:gdLst/>
              <a:ahLst/>
              <a:cxnLst/>
              <a:rect l="l" t="t" r="r" b="b"/>
              <a:pathLst>
                <a:path w="41741" h="349" extrusionOk="0">
                  <a:moveTo>
                    <a:pt x="1" y="0"/>
                  </a:moveTo>
                  <a:lnTo>
                    <a:pt x="1" y="349"/>
                  </a:lnTo>
                  <a:lnTo>
                    <a:pt x="41740" y="349"/>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5488050" y="3667000"/>
              <a:ext cx="1043525" cy="7950"/>
            </a:xfrm>
            <a:custGeom>
              <a:avLst/>
              <a:gdLst/>
              <a:ahLst/>
              <a:cxnLst/>
              <a:rect l="l" t="t" r="r" b="b"/>
              <a:pathLst>
                <a:path w="41741" h="318" extrusionOk="0">
                  <a:moveTo>
                    <a:pt x="1" y="1"/>
                  </a:moveTo>
                  <a:lnTo>
                    <a:pt x="1" y="318"/>
                  </a:lnTo>
                  <a:lnTo>
                    <a:pt x="41740" y="318"/>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p:nvPr/>
          </p:nvSpPr>
          <p:spPr>
            <a:xfrm>
              <a:off x="5488050" y="3413650"/>
              <a:ext cx="1043525" cy="8750"/>
            </a:xfrm>
            <a:custGeom>
              <a:avLst/>
              <a:gdLst/>
              <a:ahLst/>
              <a:cxnLst/>
              <a:rect l="l" t="t" r="r" b="b"/>
              <a:pathLst>
                <a:path w="41741" h="350"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5488050" y="3161100"/>
              <a:ext cx="1043525" cy="8725"/>
            </a:xfrm>
            <a:custGeom>
              <a:avLst/>
              <a:gdLst/>
              <a:ahLst/>
              <a:cxnLst/>
              <a:rect l="l" t="t" r="r" b="b"/>
              <a:pathLst>
                <a:path w="41741" h="349"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5488050" y="2908550"/>
              <a:ext cx="1043525" cy="7925"/>
            </a:xfrm>
            <a:custGeom>
              <a:avLst/>
              <a:gdLst/>
              <a:ahLst/>
              <a:cxnLst/>
              <a:rect l="l" t="t" r="r" b="b"/>
              <a:pathLst>
                <a:path w="41741" h="317" extrusionOk="0">
                  <a:moveTo>
                    <a:pt x="1" y="0"/>
                  </a:moveTo>
                  <a:lnTo>
                    <a:pt x="1" y="317"/>
                  </a:lnTo>
                  <a:lnTo>
                    <a:pt x="41740" y="317"/>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3"/>
            <p:cNvSpPr/>
            <p:nvPr/>
          </p:nvSpPr>
          <p:spPr>
            <a:xfrm>
              <a:off x="635340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617922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6005850" y="2659950"/>
              <a:ext cx="8725" cy="1516950"/>
            </a:xfrm>
            <a:custGeom>
              <a:avLst/>
              <a:gdLst/>
              <a:ahLst/>
              <a:cxnLst/>
              <a:rect l="l" t="t" r="r" b="b"/>
              <a:pathLst>
                <a:path w="349" h="60678" extrusionOk="0">
                  <a:moveTo>
                    <a:pt x="0" y="0"/>
                  </a:moveTo>
                  <a:lnTo>
                    <a:pt x="0"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583165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565747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5665400" y="3611600"/>
              <a:ext cx="104525" cy="212200"/>
            </a:xfrm>
            <a:custGeom>
              <a:avLst/>
              <a:gdLst/>
              <a:ahLst/>
              <a:cxnLst/>
              <a:rect l="l" t="t" r="r" b="b"/>
              <a:pathLst>
                <a:path w="4181" h="8488" extrusionOk="0">
                  <a:moveTo>
                    <a:pt x="0" y="0"/>
                  </a:moveTo>
                  <a:lnTo>
                    <a:pt x="0" y="8487"/>
                  </a:lnTo>
                  <a:lnTo>
                    <a:pt x="4181" y="8487"/>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5814250" y="3442950"/>
              <a:ext cx="104525" cy="380850"/>
            </a:xfrm>
            <a:custGeom>
              <a:avLst/>
              <a:gdLst/>
              <a:ahLst/>
              <a:cxnLst/>
              <a:rect l="l" t="t" r="r" b="b"/>
              <a:pathLst>
                <a:path w="4181" h="15234" extrusionOk="0">
                  <a:moveTo>
                    <a:pt x="0" y="1"/>
                  </a:moveTo>
                  <a:lnTo>
                    <a:pt x="0" y="15233"/>
                  </a:lnTo>
                  <a:lnTo>
                    <a:pt x="4181" y="15233"/>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5962300" y="3735900"/>
              <a:ext cx="104525" cy="87900"/>
            </a:xfrm>
            <a:custGeom>
              <a:avLst/>
              <a:gdLst/>
              <a:ahLst/>
              <a:cxnLst/>
              <a:rect l="l" t="t" r="r" b="b"/>
              <a:pathLst>
                <a:path w="4181" h="3516" extrusionOk="0">
                  <a:moveTo>
                    <a:pt x="0" y="0"/>
                  </a:moveTo>
                  <a:lnTo>
                    <a:pt x="0" y="3515"/>
                  </a:lnTo>
                  <a:lnTo>
                    <a:pt x="4181" y="3515"/>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6110350" y="3544300"/>
              <a:ext cx="104525" cy="279500"/>
            </a:xfrm>
            <a:custGeom>
              <a:avLst/>
              <a:gdLst/>
              <a:ahLst/>
              <a:cxnLst/>
              <a:rect l="l" t="t" r="r" b="b"/>
              <a:pathLst>
                <a:path w="4181" h="11180" extrusionOk="0">
                  <a:moveTo>
                    <a:pt x="0" y="0"/>
                  </a:moveTo>
                  <a:lnTo>
                    <a:pt x="0" y="11179"/>
                  </a:lnTo>
                  <a:lnTo>
                    <a:pt x="4181" y="11179"/>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p:nvPr/>
          </p:nvSpPr>
          <p:spPr>
            <a:xfrm>
              <a:off x="6259200" y="3648800"/>
              <a:ext cx="104525" cy="175000"/>
            </a:xfrm>
            <a:custGeom>
              <a:avLst/>
              <a:gdLst/>
              <a:ahLst/>
              <a:cxnLst/>
              <a:rect l="l" t="t" r="r" b="b"/>
              <a:pathLst>
                <a:path w="4181" h="7000" extrusionOk="0">
                  <a:moveTo>
                    <a:pt x="0" y="1"/>
                  </a:moveTo>
                  <a:lnTo>
                    <a:pt x="0" y="6999"/>
                  </a:lnTo>
                  <a:lnTo>
                    <a:pt x="4181" y="6999"/>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6089775" y="3891850"/>
              <a:ext cx="138575" cy="24575"/>
            </a:xfrm>
            <a:custGeom>
              <a:avLst/>
              <a:gdLst/>
              <a:ahLst/>
              <a:cxnLst/>
              <a:rect l="l" t="t" r="r" b="b"/>
              <a:pathLst>
                <a:path w="5543" h="983" extrusionOk="0">
                  <a:moveTo>
                    <a:pt x="507" y="1"/>
                  </a:moveTo>
                  <a:cubicBezTo>
                    <a:pt x="222" y="1"/>
                    <a:pt x="0" y="223"/>
                    <a:pt x="0" y="508"/>
                  </a:cubicBezTo>
                  <a:cubicBezTo>
                    <a:pt x="0" y="761"/>
                    <a:pt x="222" y="983"/>
                    <a:pt x="507" y="983"/>
                  </a:cubicBezTo>
                  <a:lnTo>
                    <a:pt x="5035" y="983"/>
                  </a:lnTo>
                  <a:cubicBezTo>
                    <a:pt x="5289" y="983"/>
                    <a:pt x="5542" y="761"/>
                    <a:pt x="5542" y="508"/>
                  </a:cubicBezTo>
                  <a:cubicBezTo>
                    <a:pt x="5542" y="223"/>
                    <a:pt x="5289" y="1"/>
                    <a:pt x="503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a:off x="6324125" y="3891850"/>
              <a:ext cx="53050" cy="24575"/>
            </a:xfrm>
            <a:custGeom>
              <a:avLst/>
              <a:gdLst/>
              <a:ahLst/>
              <a:cxnLst/>
              <a:rect l="l" t="t" r="r" b="b"/>
              <a:pathLst>
                <a:path w="2122" h="983" extrusionOk="0">
                  <a:moveTo>
                    <a:pt x="507" y="1"/>
                  </a:moveTo>
                  <a:cubicBezTo>
                    <a:pt x="222" y="1"/>
                    <a:pt x="0" y="223"/>
                    <a:pt x="0" y="508"/>
                  </a:cubicBezTo>
                  <a:cubicBezTo>
                    <a:pt x="0" y="761"/>
                    <a:pt x="222" y="983"/>
                    <a:pt x="507" y="983"/>
                  </a:cubicBezTo>
                  <a:lnTo>
                    <a:pt x="1615" y="983"/>
                  </a:lnTo>
                  <a:cubicBezTo>
                    <a:pt x="1900" y="983"/>
                    <a:pt x="2122" y="761"/>
                    <a:pt x="2122" y="508"/>
                  </a:cubicBezTo>
                  <a:cubicBezTo>
                    <a:pt x="2122" y="223"/>
                    <a:pt x="1900" y="1"/>
                    <a:pt x="16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6146775" y="3936200"/>
              <a:ext cx="60200" cy="25350"/>
            </a:xfrm>
            <a:custGeom>
              <a:avLst/>
              <a:gdLst/>
              <a:ahLst/>
              <a:cxnLst/>
              <a:rect l="l" t="t" r="r" b="b"/>
              <a:pathLst>
                <a:path w="2408" h="1014" extrusionOk="0">
                  <a:moveTo>
                    <a:pt x="475" y="0"/>
                  </a:moveTo>
                  <a:cubicBezTo>
                    <a:pt x="222" y="0"/>
                    <a:pt x="0" y="222"/>
                    <a:pt x="0" y="507"/>
                  </a:cubicBezTo>
                  <a:cubicBezTo>
                    <a:pt x="0" y="792"/>
                    <a:pt x="222" y="1014"/>
                    <a:pt x="475" y="1014"/>
                  </a:cubicBezTo>
                  <a:lnTo>
                    <a:pt x="1900" y="1014"/>
                  </a:lnTo>
                  <a:cubicBezTo>
                    <a:pt x="2185" y="1014"/>
                    <a:pt x="2407" y="792"/>
                    <a:pt x="2407" y="507"/>
                  </a:cubicBezTo>
                  <a:cubicBezTo>
                    <a:pt x="2407" y="222"/>
                    <a:pt x="2185" y="0"/>
                    <a:pt x="190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6243350" y="3936200"/>
              <a:ext cx="106125" cy="25350"/>
            </a:xfrm>
            <a:custGeom>
              <a:avLst/>
              <a:gdLst/>
              <a:ahLst/>
              <a:cxnLst/>
              <a:rect l="l" t="t" r="r" b="b"/>
              <a:pathLst>
                <a:path w="4245" h="1014" extrusionOk="0">
                  <a:moveTo>
                    <a:pt x="508" y="0"/>
                  </a:moveTo>
                  <a:cubicBezTo>
                    <a:pt x="223" y="0"/>
                    <a:pt x="1" y="222"/>
                    <a:pt x="1" y="507"/>
                  </a:cubicBezTo>
                  <a:cubicBezTo>
                    <a:pt x="1" y="792"/>
                    <a:pt x="223" y="1014"/>
                    <a:pt x="508" y="1014"/>
                  </a:cubicBezTo>
                  <a:lnTo>
                    <a:pt x="3738" y="1014"/>
                  </a:lnTo>
                  <a:cubicBezTo>
                    <a:pt x="3991" y="1014"/>
                    <a:pt x="4245" y="792"/>
                    <a:pt x="4245" y="507"/>
                  </a:cubicBezTo>
                  <a:cubicBezTo>
                    <a:pt x="4245" y="222"/>
                    <a:pt x="4023" y="0"/>
                    <a:pt x="3738"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6271850" y="3225225"/>
              <a:ext cx="137800" cy="25375"/>
            </a:xfrm>
            <a:custGeom>
              <a:avLst/>
              <a:gdLst/>
              <a:ahLst/>
              <a:cxnLst/>
              <a:rect l="l" t="t" r="r" b="b"/>
              <a:pathLst>
                <a:path w="5512" h="1015" extrusionOk="0">
                  <a:moveTo>
                    <a:pt x="508" y="1"/>
                  </a:moveTo>
                  <a:cubicBezTo>
                    <a:pt x="223" y="1"/>
                    <a:pt x="1" y="254"/>
                    <a:pt x="1" y="507"/>
                  </a:cubicBezTo>
                  <a:cubicBezTo>
                    <a:pt x="1" y="792"/>
                    <a:pt x="223" y="1014"/>
                    <a:pt x="508" y="1014"/>
                  </a:cubicBezTo>
                  <a:lnTo>
                    <a:pt x="5005" y="1014"/>
                  </a:lnTo>
                  <a:cubicBezTo>
                    <a:pt x="5290" y="1014"/>
                    <a:pt x="5511" y="792"/>
                    <a:pt x="5511" y="507"/>
                  </a:cubicBezTo>
                  <a:cubicBezTo>
                    <a:pt x="5511" y="254"/>
                    <a:pt x="5290" y="1"/>
                    <a:pt x="500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6328075" y="3270350"/>
              <a:ext cx="60975" cy="25375"/>
            </a:xfrm>
            <a:custGeom>
              <a:avLst/>
              <a:gdLst/>
              <a:ahLst/>
              <a:cxnLst/>
              <a:rect l="l" t="t" r="r" b="b"/>
              <a:pathLst>
                <a:path w="2439" h="1015" extrusionOk="0">
                  <a:moveTo>
                    <a:pt x="507" y="1"/>
                  </a:moveTo>
                  <a:cubicBezTo>
                    <a:pt x="222" y="1"/>
                    <a:pt x="0" y="223"/>
                    <a:pt x="0" y="508"/>
                  </a:cubicBezTo>
                  <a:cubicBezTo>
                    <a:pt x="0" y="793"/>
                    <a:pt x="222" y="1014"/>
                    <a:pt x="507" y="1014"/>
                  </a:cubicBezTo>
                  <a:lnTo>
                    <a:pt x="1932" y="1014"/>
                  </a:lnTo>
                  <a:cubicBezTo>
                    <a:pt x="2186" y="1014"/>
                    <a:pt x="2439" y="793"/>
                    <a:pt x="2439" y="508"/>
                  </a:cubicBezTo>
                  <a:cubicBezTo>
                    <a:pt x="2439" y="223"/>
                    <a:pt x="2186" y="1"/>
                    <a:pt x="193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a:off x="5649575" y="3891850"/>
              <a:ext cx="113225" cy="24575"/>
            </a:xfrm>
            <a:custGeom>
              <a:avLst/>
              <a:gdLst/>
              <a:ahLst/>
              <a:cxnLst/>
              <a:rect l="l" t="t" r="r" b="b"/>
              <a:pathLst>
                <a:path w="4529" h="983" extrusionOk="0">
                  <a:moveTo>
                    <a:pt x="507" y="1"/>
                  </a:moveTo>
                  <a:cubicBezTo>
                    <a:pt x="222" y="1"/>
                    <a:pt x="0" y="223"/>
                    <a:pt x="0" y="508"/>
                  </a:cubicBezTo>
                  <a:cubicBezTo>
                    <a:pt x="0" y="761"/>
                    <a:pt x="222" y="983"/>
                    <a:pt x="507" y="983"/>
                  </a:cubicBezTo>
                  <a:lnTo>
                    <a:pt x="4022" y="983"/>
                  </a:lnTo>
                  <a:cubicBezTo>
                    <a:pt x="4307" y="983"/>
                    <a:pt x="4529" y="761"/>
                    <a:pt x="4529" y="508"/>
                  </a:cubicBezTo>
                  <a:cubicBezTo>
                    <a:pt x="4529" y="223"/>
                    <a:pt x="4307" y="1"/>
                    <a:pt x="402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5794450" y="3891850"/>
              <a:ext cx="58625" cy="24575"/>
            </a:xfrm>
            <a:custGeom>
              <a:avLst/>
              <a:gdLst/>
              <a:ahLst/>
              <a:cxnLst/>
              <a:rect l="l" t="t" r="r" b="b"/>
              <a:pathLst>
                <a:path w="2345" h="983" extrusionOk="0">
                  <a:moveTo>
                    <a:pt x="507" y="1"/>
                  </a:moveTo>
                  <a:cubicBezTo>
                    <a:pt x="222" y="1"/>
                    <a:pt x="1" y="223"/>
                    <a:pt x="1" y="508"/>
                  </a:cubicBezTo>
                  <a:cubicBezTo>
                    <a:pt x="1" y="761"/>
                    <a:pt x="222" y="983"/>
                    <a:pt x="507" y="983"/>
                  </a:cubicBezTo>
                  <a:lnTo>
                    <a:pt x="1837" y="983"/>
                  </a:lnTo>
                  <a:cubicBezTo>
                    <a:pt x="2122" y="983"/>
                    <a:pt x="2344" y="761"/>
                    <a:pt x="2344" y="508"/>
                  </a:cubicBezTo>
                  <a:cubicBezTo>
                    <a:pt x="2344" y="223"/>
                    <a:pt x="2122" y="1"/>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a:off x="5746150" y="3936200"/>
              <a:ext cx="121950" cy="25350"/>
            </a:xfrm>
            <a:custGeom>
              <a:avLst/>
              <a:gdLst/>
              <a:ahLst/>
              <a:cxnLst/>
              <a:rect l="l" t="t" r="r" b="b"/>
              <a:pathLst>
                <a:path w="4878" h="1014" extrusionOk="0">
                  <a:moveTo>
                    <a:pt x="476" y="0"/>
                  </a:moveTo>
                  <a:cubicBezTo>
                    <a:pt x="222" y="0"/>
                    <a:pt x="1" y="222"/>
                    <a:pt x="1" y="507"/>
                  </a:cubicBezTo>
                  <a:cubicBezTo>
                    <a:pt x="1" y="792"/>
                    <a:pt x="222" y="1014"/>
                    <a:pt x="476" y="1014"/>
                  </a:cubicBezTo>
                  <a:lnTo>
                    <a:pt x="4403" y="1014"/>
                  </a:lnTo>
                  <a:cubicBezTo>
                    <a:pt x="4656" y="1014"/>
                    <a:pt x="4878" y="792"/>
                    <a:pt x="4878" y="507"/>
                  </a:cubicBezTo>
                  <a:cubicBezTo>
                    <a:pt x="4878" y="222"/>
                    <a:pt x="4656" y="0"/>
                    <a:pt x="440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5552175" y="2762075"/>
              <a:ext cx="113250" cy="24575"/>
            </a:xfrm>
            <a:custGeom>
              <a:avLst/>
              <a:gdLst/>
              <a:ahLst/>
              <a:cxnLst/>
              <a:rect l="l" t="t" r="r" b="b"/>
              <a:pathLst>
                <a:path w="4530" h="983" extrusionOk="0">
                  <a:moveTo>
                    <a:pt x="507" y="0"/>
                  </a:moveTo>
                  <a:cubicBezTo>
                    <a:pt x="222" y="0"/>
                    <a:pt x="1" y="222"/>
                    <a:pt x="1" y="475"/>
                  </a:cubicBezTo>
                  <a:cubicBezTo>
                    <a:pt x="1" y="760"/>
                    <a:pt x="222" y="982"/>
                    <a:pt x="507" y="982"/>
                  </a:cubicBezTo>
                  <a:lnTo>
                    <a:pt x="4023" y="982"/>
                  </a:lnTo>
                  <a:cubicBezTo>
                    <a:pt x="4276" y="982"/>
                    <a:pt x="4529" y="760"/>
                    <a:pt x="4529" y="475"/>
                  </a:cubicBezTo>
                  <a:cubicBezTo>
                    <a:pt x="4529" y="222"/>
                    <a:pt x="4276" y="0"/>
                    <a:pt x="402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5697075" y="2762075"/>
              <a:ext cx="58600" cy="24575"/>
            </a:xfrm>
            <a:custGeom>
              <a:avLst/>
              <a:gdLst/>
              <a:ahLst/>
              <a:cxnLst/>
              <a:rect l="l" t="t" r="r" b="b"/>
              <a:pathLst>
                <a:path w="2344" h="983" extrusionOk="0">
                  <a:moveTo>
                    <a:pt x="507" y="0"/>
                  </a:moveTo>
                  <a:cubicBezTo>
                    <a:pt x="222" y="0"/>
                    <a:pt x="0" y="222"/>
                    <a:pt x="0" y="475"/>
                  </a:cubicBezTo>
                  <a:cubicBezTo>
                    <a:pt x="0" y="760"/>
                    <a:pt x="222" y="982"/>
                    <a:pt x="507" y="982"/>
                  </a:cubicBezTo>
                  <a:lnTo>
                    <a:pt x="1837" y="982"/>
                  </a:lnTo>
                  <a:cubicBezTo>
                    <a:pt x="2122" y="982"/>
                    <a:pt x="2344" y="760"/>
                    <a:pt x="2344" y="475"/>
                  </a:cubicBezTo>
                  <a:cubicBezTo>
                    <a:pt x="2344" y="222"/>
                    <a:pt x="2122" y="0"/>
                    <a:pt x="1837"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a:off x="5647975" y="2806400"/>
              <a:ext cx="122750" cy="25375"/>
            </a:xfrm>
            <a:custGeom>
              <a:avLst/>
              <a:gdLst/>
              <a:ahLst/>
              <a:cxnLst/>
              <a:rect l="l" t="t" r="r" b="b"/>
              <a:pathLst>
                <a:path w="4910" h="1015" extrusionOk="0">
                  <a:moveTo>
                    <a:pt x="507" y="1"/>
                  </a:moveTo>
                  <a:cubicBezTo>
                    <a:pt x="222" y="1"/>
                    <a:pt x="1" y="223"/>
                    <a:pt x="1" y="508"/>
                  </a:cubicBezTo>
                  <a:cubicBezTo>
                    <a:pt x="1" y="761"/>
                    <a:pt x="222" y="1014"/>
                    <a:pt x="507" y="1014"/>
                  </a:cubicBezTo>
                  <a:lnTo>
                    <a:pt x="4403" y="1014"/>
                  </a:lnTo>
                  <a:cubicBezTo>
                    <a:pt x="4688" y="1014"/>
                    <a:pt x="4909" y="793"/>
                    <a:pt x="4909" y="508"/>
                  </a:cubicBezTo>
                  <a:cubicBezTo>
                    <a:pt x="4909" y="223"/>
                    <a:pt x="4688" y="1"/>
                    <a:pt x="440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5753275" y="2773150"/>
              <a:ext cx="547125" cy="547100"/>
            </a:xfrm>
            <a:custGeom>
              <a:avLst/>
              <a:gdLst/>
              <a:ahLst/>
              <a:cxnLst/>
              <a:rect l="l" t="t" r="r" b="b"/>
              <a:pathLst>
                <a:path w="21885" h="21884" extrusionOk="0">
                  <a:moveTo>
                    <a:pt x="10927" y="983"/>
                  </a:moveTo>
                  <a:cubicBezTo>
                    <a:pt x="16437" y="983"/>
                    <a:pt x="20902" y="5448"/>
                    <a:pt x="20871" y="10927"/>
                  </a:cubicBezTo>
                  <a:cubicBezTo>
                    <a:pt x="20871" y="16437"/>
                    <a:pt x="16437" y="20902"/>
                    <a:pt x="10927" y="20902"/>
                  </a:cubicBezTo>
                  <a:cubicBezTo>
                    <a:pt x="5448" y="20902"/>
                    <a:pt x="982" y="16437"/>
                    <a:pt x="982" y="10927"/>
                  </a:cubicBezTo>
                  <a:cubicBezTo>
                    <a:pt x="982" y="5448"/>
                    <a:pt x="5448" y="983"/>
                    <a:pt x="10927" y="983"/>
                  </a:cubicBezTo>
                  <a:close/>
                  <a:moveTo>
                    <a:pt x="10927" y="1"/>
                  </a:moveTo>
                  <a:cubicBezTo>
                    <a:pt x="4909" y="1"/>
                    <a:pt x="1" y="4909"/>
                    <a:pt x="1" y="10958"/>
                  </a:cubicBezTo>
                  <a:cubicBezTo>
                    <a:pt x="1" y="16975"/>
                    <a:pt x="4909" y="21884"/>
                    <a:pt x="10927" y="21884"/>
                  </a:cubicBezTo>
                  <a:cubicBezTo>
                    <a:pt x="16975" y="21884"/>
                    <a:pt x="21884" y="16975"/>
                    <a:pt x="21884" y="10958"/>
                  </a:cubicBezTo>
                  <a:cubicBezTo>
                    <a:pt x="21884" y="4909"/>
                    <a:pt x="16975" y="1"/>
                    <a:pt x="1092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6012975" y="2804200"/>
              <a:ext cx="202700" cy="448775"/>
            </a:xfrm>
            <a:custGeom>
              <a:avLst/>
              <a:gdLst/>
              <a:ahLst/>
              <a:cxnLst/>
              <a:rect l="l" t="t" r="r" b="b"/>
              <a:pathLst>
                <a:path w="8108" h="17951" extrusionOk="0">
                  <a:moveTo>
                    <a:pt x="5510" y="0"/>
                  </a:moveTo>
                  <a:cubicBezTo>
                    <a:pt x="5335" y="0"/>
                    <a:pt x="5155" y="93"/>
                    <a:pt x="5067" y="247"/>
                  </a:cubicBezTo>
                  <a:lnTo>
                    <a:pt x="95" y="9463"/>
                  </a:lnTo>
                  <a:cubicBezTo>
                    <a:pt x="0" y="9653"/>
                    <a:pt x="32" y="9875"/>
                    <a:pt x="190" y="10033"/>
                  </a:cubicBezTo>
                  <a:lnTo>
                    <a:pt x="7189" y="17792"/>
                  </a:lnTo>
                  <a:cubicBezTo>
                    <a:pt x="7284" y="17887"/>
                    <a:pt x="7411" y="17950"/>
                    <a:pt x="7569" y="17950"/>
                  </a:cubicBezTo>
                  <a:cubicBezTo>
                    <a:pt x="7664" y="17950"/>
                    <a:pt x="7791" y="17918"/>
                    <a:pt x="7886" y="17823"/>
                  </a:cubicBezTo>
                  <a:cubicBezTo>
                    <a:pt x="8107" y="17633"/>
                    <a:pt x="8107" y="17317"/>
                    <a:pt x="7917" y="17127"/>
                  </a:cubicBezTo>
                  <a:lnTo>
                    <a:pt x="1172" y="9621"/>
                  </a:lnTo>
                  <a:lnTo>
                    <a:pt x="5954" y="722"/>
                  </a:lnTo>
                  <a:cubicBezTo>
                    <a:pt x="6081" y="501"/>
                    <a:pt x="5986" y="184"/>
                    <a:pt x="5732" y="57"/>
                  </a:cubicBezTo>
                  <a:cubicBezTo>
                    <a:pt x="5665" y="18"/>
                    <a:pt x="5588" y="0"/>
                    <a:pt x="551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p:nvPr/>
          </p:nvSpPr>
          <p:spPr>
            <a:xfrm>
              <a:off x="5752500" y="3033625"/>
              <a:ext cx="287400" cy="38025"/>
            </a:xfrm>
            <a:custGeom>
              <a:avLst/>
              <a:gdLst/>
              <a:ahLst/>
              <a:cxnLst/>
              <a:rect l="l" t="t" r="r" b="b"/>
              <a:pathLst>
                <a:path w="11496" h="1521" extrusionOk="0">
                  <a:moveTo>
                    <a:pt x="10958" y="1"/>
                  </a:moveTo>
                  <a:lnTo>
                    <a:pt x="507" y="508"/>
                  </a:lnTo>
                  <a:cubicBezTo>
                    <a:pt x="222" y="539"/>
                    <a:pt x="0" y="761"/>
                    <a:pt x="32" y="1046"/>
                  </a:cubicBezTo>
                  <a:cubicBezTo>
                    <a:pt x="32" y="1331"/>
                    <a:pt x="253" y="1521"/>
                    <a:pt x="507" y="1521"/>
                  </a:cubicBezTo>
                  <a:lnTo>
                    <a:pt x="538" y="1521"/>
                  </a:lnTo>
                  <a:lnTo>
                    <a:pt x="10989" y="1014"/>
                  </a:lnTo>
                  <a:cubicBezTo>
                    <a:pt x="11274" y="1014"/>
                    <a:pt x="11496" y="761"/>
                    <a:pt x="11464" y="476"/>
                  </a:cubicBezTo>
                  <a:cubicBezTo>
                    <a:pt x="11464" y="223"/>
                    <a:pt x="11211" y="1"/>
                    <a:pt x="1095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3"/>
            <p:cNvSpPr/>
            <p:nvPr/>
          </p:nvSpPr>
          <p:spPr>
            <a:xfrm>
              <a:off x="5476175" y="4097700"/>
              <a:ext cx="1068075" cy="25375"/>
            </a:xfrm>
            <a:custGeom>
              <a:avLst/>
              <a:gdLst/>
              <a:ahLst/>
              <a:cxnLst/>
              <a:rect l="l" t="t" r="r" b="b"/>
              <a:pathLst>
                <a:path w="42723" h="1015" extrusionOk="0">
                  <a:moveTo>
                    <a:pt x="476" y="1"/>
                  </a:moveTo>
                  <a:cubicBezTo>
                    <a:pt x="222" y="1"/>
                    <a:pt x="1" y="223"/>
                    <a:pt x="1" y="508"/>
                  </a:cubicBezTo>
                  <a:cubicBezTo>
                    <a:pt x="1" y="793"/>
                    <a:pt x="222" y="1014"/>
                    <a:pt x="476" y="1014"/>
                  </a:cubicBezTo>
                  <a:lnTo>
                    <a:pt x="42215" y="1014"/>
                  </a:lnTo>
                  <a:cubicBezTo>
                    <a:pt x="42500" y="1014"/>
                    <a:pt x="42722" y="793"/>
                    <a:pt x="42722" y="508"/>
                  </a:cubicBezTo>
                  <a:cubicBezTo>
                    <a:pt x="42722" y="223"/>
                    <a:pt x="42500" y="1"/>
                    <a:pt x="422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6432575" y="2697950"/>
              <a:ext cx="70500" cy="69700"/>
            </a:xfrm>
            <a:custGeom>
              <a:avLst/>
              <a:gdLst/>
              <a:ahLst/>
              <a:cxnLst/>
              <a:rect l="l" t="t" r="r" b="b"/>
              <a:pathLst>
                <a:path w="2820" h="2788" extrusionOk="0">
                  <a:moveTo>
                    <a:pt x="2154" y="665"/>
                  </a:moveTo>
                  <a:lnTo>
                    <a:pt x="2154" y="2122"/>
                  </a:lnTo>
                  <a:lnTo>
                    <a:pt x="666" y="2122"/>
                  </a:lnTo>
                  <a:lnTo>
                    <a:pt x="666" y="665"/>
                  </a:lnTo>
                  <a:close/>
                  <a:moveTo>
                    <a:pt x="349" y="0"/>
                  </a:moveTo>
                  <a:cubicBezTo>
                    <a:pt x="159" y="0"/>
                    <a:pt x="1" y="127"/>
                    <a:pt x="1" y="317"/>
                  </a:cubicBezTo>
                  <a:lnTo>
                    <a:pt x="1" y="2470"/>
                  </a:lnTo>
                  <a:cubicBezTo>
                    <a:pt x="1" y="2629"/>
                    <a:pt x="159" y="2787"/>
                    <a:pt x="349" y="2787"/>
                  </a:cubicBezTo>
                  <a:lnTo>
                    <a:pt x="2471" y="2787"/>
                  </a:lnTo>
                  <a:cubicBezTo>
                    <a:pt x="2661" y="2787"/>
                    <a:pt x="2819" y="2629"/>
                    <a:pt x="2819" y="2470"/>
                  </a:cubicBezTo>
                  <a:lnTo>
                    <a:pt x="2819" y="317"/>
                  </a:lnTo>
                  <a:cubicBezTo>
                    <a:pt x="2819" y="127"/>
                    <a:pt x="2661" y="0"/>
                    <a:pt x="2471"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3"/>
            <p:cNvSpPr/>
            <p:nvPr/>
          </p:nvSpPr>
          <p:spPr>
            <a:xfrm>
              <a:off x="5565650" y="3215725"/>
              <a:ext cx="68100" cy="68125"/>
            </a:xfrm>
            <a:custGeom>
              <a:avLst/>
              <a:gdLst/>
              <a:ahLst/>
              <a:cxnLst/>
              <a:rect l="l" t="t" r="r" b="b"/>
              <a:pathLst>
                <a:path w="2724" h="2725" extrusionOk="0">
                  <a:moveTo>
                    <a:pt x="2027" y="666"/>
                  </a:moveTo>
                  <a:lnTo>
                    <a:pt x="2027" y="2059"/>
                  </a:lnTo>
                  <a:lnTo>
                    <a:pt x="665" y="2059"/>
                  </a:lnTo>
                  <a:lnTo>
                    <a:pt x="665" y="666"/>
                  </a:lnTo>
                  <a:close/>
                  <a:moveTo>
                    <a:pt x="317" y="1"/>
                  </a:moveTo>
                  <a:cubicBezTo>
                    <a:pt x="127" y="1"/>
                    <a:pt x="0" y="159"/>
                    <a:pt x="0" y="349"/>
                  </a:cubicBezTo>
                  <a:lnTo>
                    <a:pt x="0" y="2408"/>
                  </a:lnTo>
                  <a:cubicBezTo>
                    <a:pt x="0" y="2566"/>
                    <a:pt x="127" y="2724"/>
                    <a:pt x="317" y="2724"/>
                  </a:cubicBezTo>
                  <a:lnTo>
                    <a:pt x="2375" y="2724"/>
                  </a:lnTo>
                  <a:cubicBezTo>
                    <a:pt x="2565" y="2724"/>
                    <a:pt x="2724" y="2566"/>
                    <a:pt x="2692" y="2408"/>
                  </a:cubicBezTo>
                  <a:lnTo>
                    <a:pt x="2692" y="349"/>
                  </a:lnTo>
                  <a:cubicBezTo>
                    <a:pt x="2692" y="159"/>
                    <a:pt x="2565" y="1"/>
                    <a:pt x="237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p:nvPr/>
          </p:nvSpPr>
          <p:spPr>
            <a:xfrm>
              <a:off x="6265525" y="3410500"/>
              <a:ext cx="182125" cy="75225"/>
            </a:xfrm>
            <a:custGeom>
              <a:avLst/>
              <a:gdLst/>
              <a:ahLst/>
              <a:cxnLst/>
              <a:rect l="l" t="t" r="r" b="b"/>
              <a:pathLst>
                <a:path w="7285" h="3009" extrusionOk="0">
                  <a:moveTo>
                    <a:pt x="6619" y="665"/>
                  </a:moveTo>
                  <a:lnTo>
                    <a:pt x="6619" y="2344"/>
                  </a:lnTo>
                  <a:lnTo>
                    <a:pt x="666" y="2344"/>
                  </a:lnTo>
                  <a:lnTo>
                    <a:pt x="666" y="665"/>
                  </a:lnTo>
                  <a:close/>
                  <a:moveTo>
                    <a:pt x="349" y="0"/>
                  </a:moveTo>
                  <a:cubicBezTo>
                    <a:pt x="159" y="0"/>
                    <a:pt x="1" y="159"/>
                    <a:pt x="1" y="349"/>
                  </a:cubicBezTo>
                  <a:lnTo>
                    <a:pt x="1" y="2660"/>
                  </a:lnTo>
                  <a:cubicBezTo>
                    <a:pt x="1" y="2850"/>
                    <a:pt x="159" y="3009"/>
                    <a:pt x="349" y="3009"/>
                  </a:cubicBezTo>
                  <a:lnTo>
                    <a:pt x="6936" y="3009"/>
                  </a:lnTo>
                  <a:cubicBezTo>
                    <a:pt x="7126" y="3009"/>
                    <a:pt x="7285" y="2850"/>
                    <a:pt x="7285" y="2660"/>
                  </a:cubicBezTo>
                  <a:lnTo>
                    <a:pt x="7285" y="349"/>
                  </a:lnTo>
                  <a:cubicBezTo>
                    <a:pt x="7285" y="159"/>
                    <a:pt x="7126" y="0"/>
                    <a:pt x="6936"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5517350" y="4004275"/>
              <a:ext cx="148875" cy="74450"/>
            </a:xfrm>
            <a:custGeom>
              <a:avLst/>
              <a:gdLst/>
              <a:ahLst/>
              <a:cxnLst/>
              <a:rect l="l" t="t" r="r" b="b"/>
              <a:pathLst>
                <a:path w="5955" h="2978" extrusionOk="0">
                  <a:moveTo>
                    <a:pt x="5289" y="666"/>
                  </a:moveTo>
                  <a:lnTo>
                    <a:pt x="5289" y="2313"/>
                  </a:lnTo>
                  <a:lnTo>
                    <a:pt x="665" y="2313"/>
                  </a:lnTo>
                  <a:lnTo>
                    <a:pt x="665" y="666"/>
                  </a:lnTo>
                  <a:close/>
                  <a:moveTo>
                    <a:pt x="349" y="1"/>
                  </a:moveTo>
                  <a:cubicBezTo>
                    <a:pt x="159" y="1"/>
                    <a:pt x="0" y="128"/>
                    <a:pt x="0" y="318"/>
                  </a:cubicBezTo>
                  <a:lnTo>
                    <a:pt x="0" y="2629"/>
                  </a:lnTo>
                  <a:cubicBezTo>
                    <a:pt x="0" y="2819"/>
                    <a:pt x="159" y="2978"/>
                    <a:pt x="349" y="2978"/>
                  </a:cubicBezTo>
                  <a:lnTo>
                    <a:pt x="5606" y="2978"/>
                  </a:lnTo>
                  <a:cubicBezTo>
                    <a:pt x="5796" y="2978"/>
                    <a:pt x="5954" y="2819"/>
                    <a:pt x="5954" y="2629"/>
                  </a:cubicBezTo>
                  <a:lnTo>
                    <a:pt x="5954" y="318"/>
                  </a:lnTo>
                  <a:cubicBezTo>
                    <a:pt x="5954" y="128"/>
                    <a:pt x="5796" y="1"/>
                    <a:pt x="560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5697850" y="4004275"/>
              <a:ext cx="87125" cy="74450"/>
            </a:xfrm>
            <a:custGeom>
              <a:avLst/>
              <a:gdLst/>
              <a:ahLst/>
              <a:cxnLst/>
              <a:rect l="l" t="t" r="r" b="b"/>
              <a:pathLst>
                <a:path w="3485" h="2978" extrusionOk="0">
                  <a:moveTo>
                    <a:pt x="2819" y="666"/>
                  </a:moveTo>
                  <a:lnTo>
                    <a:pt x="2819" y="2313"/>
                  </a:lnTo>
                  <a:lnTo>
                    <a:pt x="666" y="2313"/>
                  </a:lnTo>
                  <a:lnTo>
                    <a:pt x="666" y="666"/>
                  </a:lnTo>
                  <a:close/>
                  <a:moveTo>
                    <a:pt x="318" y="1"/>
                  </a:moveTo>
                  <a:cubicBezTo>
                    <a:pt x="159" y="1"/>
                    <a:pt x="1" y="128"/>
                    <a:pt x="1" y="318"/>
                  </a:cubicBezTo>
                  <a:lnTo>
                    <a:pt x="1" y="2629"/>
                  </a:lnTo>
                  <a:cubicBezTo>
                    <a:pt x="1" y="2819"/>
                    <a:pt x="159" y="2978"/>
                    <a:pt x="318" y="2978"/>
                  </a:cubicBezTo>
                  <a:lnTo>
                    <a:pt x="3136" y="2978"/>
                  </a:lnTo>
                  <a:cubicBezTo>
                    <a:pt x="3326" y="2978"/>
                    <a:pt x="3484" y="2819"/>
                    <a:pt x="3484" y="2629"/>
                  </a:cubicBezTo>
                  <a:lnTo>
                    <a:pt x="3484" y="318"/>
                  </a:lnTo>
                  <a:cubicBezTo>
                    <a:pt x="3484" y="128"/>
                    <a:pt x="3326" y="1"/>
                    <a:pt x="313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6430200" y="4004275"/>
              <a:ext cx="57825" cy="57050"/>
            </a:xfrm>
            <a:custGeom>
              <a:avLst/>
              <a:gdLst/>
              <a:ahLst/>
              <a:cxnLst/>
              <a:rect l="l" t="t" r="r" b="b"/>
              <a:pathLst>
                <a:path w="2313" h="2282" extrusionOk="0">
                  <a:moveTo>
                    <a:pt x="1648" y="666"/>
                  </a:moveTo>
                  <a:lnTo>
                    <a:pt x="1648" y="1616"/>
                  </a:lnTo>
                  <a:lnTo>
                    <a:pt x="698" y="1616"/>
                  </a:lnTo>
                  <a:lnTo>
                    <a:pt x="698" y="666"/>
                  </a:lnTo>
                  <a:close/>
                  <a:moveTo>
                    <a:pt x="349" y="1"/>
                  </a:moveTo>
                  <a:cubicBezTo>
                    <a:pt x="159" y="1"/>
                    <a:pt x="1" y="128"/>
                    <a:pt x="1" y="318"/>
                  </a:cubicBezTo>
                  <a:lnTo>
                    <a:pt x="1" y="1964"/>
                  </a:lnTo>
                  <a:cubicBezTo>
                    <a:pt x="1" y="2123"/>
                    <a:pt x="159" y="2281"/>
                    <a:pt x="349" y="2281"/>
                  </a:cubicBezTo>
                  <a:lnTo>
                    <a:pt x="1964" y="2281"/>
                  </a:lnTo>
                  <a:cubicBezTo>
                    <a:pt x="2154" y="2281"/>
                    <a:pt x="2313" y="2123"/>
                    <a:pt x="2313" y="1964"/>
                  </a:cubicBezTo>
                  <a:lnTo>
                    <a:pt x="2313" y="318"/>
                  </a:lnTo>
                  <a:cubicBezTo>
                    <a:pt x="2313" y="128"/>
                    <a:pt x="2154" y="1"/>
                    <a:pt x="1964"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3317925" y="3837187"/>
              <a:ext cx="2062475" cy="228050"/>
            </a:xfrm>
            <a:custGeom>
              <a:avLst/>
              <a:gdLst/>
              <a:ahLst/>
              <a:cxnLst/>
              <a:rect l="l" t="t" r="r" b="b"/>
              <a:pathLst>
                <a:path w="82499" h="9122" extrusionOk="0">
                  <a:moveTo>
                    <a:pt x="1" y="0"/>
                  </a:moveTo>
                  <a:lnTo>
                    <a:pt x="1" y="5004"/>
                  </a:lnTo>
                  <a:cubicBezTo>
                    <a:pt x="1" y="7284"/>
                    <a:pt x="1837" y="9121"/>
                    <a:pt x="4118" y="9121"/>
                  </a:cubicBezTo>
                  <a:lnTo>
                    <a:pt x="78350" y="9121"/>
                  </a:lnTo>
                  <a:cubicBezTo>
                    <a:pt x="80630" y="9121"/>
                    <a:pt x="82498" y="7284"/>
                    <a:pt x="82498" y="5004"/>
                  </a:cubicBezTo>
                  <a:lnTo>
                    <a:pt x="82498"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13"/>
            <p:cNvSpPr/>
            <p:nvPr/>
          </p:nvSpPr>
          <p:spPr>
            <a:xfrm>
              <a:off x="4313125" y="4066050"/>
              <a:ext cx="437850" cy="106900"/>
            </a:xfrm>
            <a:custGeom>
              <a:avLst/>
              <a:gdLst/>
              <a:ahLst/>
              <a:cxnLst/>
              <a:rect l="l" t="t" r="r" b="b"/>
              <a:pathLst>
                <a:path w="17514" h="4276" extrusionOk="0">
                  <a:moveTo>
                    <a:pt x="1" y="0"/>
                  </a:moveTo>
                  <a:lnTo>
                    <a:pt x="8425" y="2059"/>
                  </a:lnTo>
                  <a:lnTo>
                    <a:pt x="17514" y="4275"/>
                  </a:lnTo>
                  <a:cubicBezTo>
                    <a:pt x="17102" y="3040"/>
                    <a:pt x="16849" y="1647"/>
                    <a:pt x="1684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p:nvPr/>
          </p:nvSpPr>
          <p:spPr>
            <a:xfrm>
              <a:off x="3303687" y="2784224"/>
              <a:ext cx="2061675" cy="1053800"/>
            </a:xfrm>
            <a:custGeom>
              <a:avLst/>
              <a:gdLst/>
              <a:ahLst/>
              <a:cxnLst/>
              <a:rect l="l" t="t" r="r" b="b"/>
              <a:pathLst>
                <a:path w="82467" h="42152" extrusionOk="0">
                  <a:moveTo>
                    <a:pt x="4118" y="0"/>
                  </a:moveTo>
                  <a:cubicBezTo>
                    <a:pt x="1837" y="0"/>
                    <a:pt x="1" y="1837"/>
                    <a:pt x="1" y="4117"/>
                  </a:cubicBezTo>
                  <a:lnTo>
                    <a:pt x="1" y="42151"/>
                  </a:lnTo>
                  <a:lnTo>
                    <a:pt x="82467" y="42151"/>
                  </a:lnTo>
                  <a:lnTo>
                    <a:pt x="82467" y="4117"/>
                  </a:lnTo>
                  <a:cubicBezTo>
                    <a:pt x="82467" y="1837"/>
                    <a:pt x="80630" y="0"/>
                    <a:pt x="7835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13"/>
            <p:cNvSpPr/>
            <p:nvPr/>
          </p:nvSpPr>
          <p:spPr>
            <a:xfrm>
              <a:off x="4102925" y="4052136"/>
              <a:ext cx="841625" cy="291375"/>
            </a:xfrm>
            <a:custGeom>
              <a:avLst/>
              <a:gdLst/>
              <a:ahLst/>
              <a:cxnLst/>
              <a:rect l="l" t="t" r="r" b="b"/>
              <a:pathLst>
                <a:path w="33665" h="11655" extrusionOk="0">
                  <a:moveTo>
                    <a:pt x="8393" y="0"/>
                  </a:moveTo>
                  <a:cubicBezTo>
                    <a:pt x="8393" y="9596"/>
                    <a:pt x="0" y="11654"/>
                    <a:pt x="0" y="11654"/>
                  </a:cubicBezTo>
                  <a:lnTo>
                    <a:pt x="33665" y="11654"/>
                  </a:lnTo>
                  <a:cubicBezTo>
                    <a:pt x="33665" y="11654"/>
                    <a:pt x="27869" y="10229"/>
                    <a:pt x="25906" y="4275"/>
                  </a:cubicBezTo>
                  <a:lnTo>
                    <a:pt x="16817" y="2059"/>
                  </a:lnTo>
                  <a:lnTo>
                    <a:pt x="8393"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119;p13"/>
            <p:cNvSpPr/>
            <p:nvPr/>
          </p:nvSpPr>
          <p:spPr>
            <a:xfrm>
              <a:off x="4098575" y="4344725"/>
              <a:ext cx="850325" cy="71275"/>
            </a:xfrm>
            <a:custGeom>
              <a:avLst/>
              <a:gdLst/>
              <a:ahLst/>
              <a:cxnLst/>
              <a:rect l="l" t="t" r="r" b="b"/>
              <a:pathLst>
                <a:path w="34013" h="2851" extrusionOk="0">
                  <a:moveTo>
                    <a:pt x="1045" y="1"/>
                  </a:moveTo>
                  <a:cubicBezTo>
                    <a:pt x="475" y="1"/>
                    <a:pt x="0" y="476"/>
                    <a:pt x="0" y="1046"/>
                  </a:cubicBezTo>
                  <a:lnTo>
                    <a:pt x="0" y="1806"/>
                  </a:lnTo>
                  <a:cubicBezTo>
                    <a:pt x="0" y="2376"/>
                    <a:pt x="475" y="2851"/>
                    <a:pt x="1045" y="2851"/>
                  </a:cubicBezTo>
                  <a:lnTo>
                    <a:pt x="32968" y="2851"/>
                  </a:lnTo>
                  <a:cubicBezTo>
                    <a:pt x="33538" y="2851"/>
                    <a:pt x="34013" y="2376"/>
                    <a:pt x="34013" y="1806"/>
                  </a:cubicBezTo>
                  <a:lnTo>
                    <a:pt x="34013" y="1046"/>
                  </a:lnTo>
                  <a:cubicBezTo>
                    <a:pt x="34013" y="476"/>
                    <a:pt x="33538" y="1"/>
                    <a:pt x="329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3644925" y="3248200"/>
              <a:ext cx="1771100" cy="341250"/>
            </a:xfrm>
            <a:custGeom>
              <a:avLst/>
              <a:gdLst/>
              <a:ahLst/>
              <a:cxnLst/>
              <a:rect l="l" t="t" r="r" b="b"/>
              <a:pathLst>
                <a:path w="70844" h="13650" extrusionOk="0">
                  <a:moveTo>
                    <a:pt x="23340" y="0"/>
                  </a:moveTo>
                  <a:cubicBezTo>
                    <a:pt x="21123" y="0"/>
                    <a:pt x="19001" y="887"/>
                    <a:pt x="17418" y="2470"/>
                  </a:cubicBezTo>
                  <a:lnTo>
                    <a:pt x="9374" y="10483"/>
                  </a:lnTo>
                  <a:cubicBezTo>
                    <a:pt x="8012" y="11876"/>
                    <a:pt x="6144" y="12668"/>
                    <a:pt x="4180" y="12668"/>
                  </a:cubicBezTo>
                  <a:lnTo>
                    <a:pt x="0" y="12668"/>
                  </a:lnTo>
                  <a:lnTo>
                    <a:pt x="0" y="13649"/>
                  </a:lnTo>
                  <a:lnTo>
                    <a:pt x="4180" y="13649"/>
                  </a:lnTo>
                  <a:cubicBezTo>
                    <a:pt x="6429" y="13649"/>
                    <a:pt x="8519" y="12794"/>
                    <a:pt x="10102" y="11211"/>
                  </a:cubicBezTo>
                  <a:lnTo>
                    <a:pt x="18146" y="3167"/>
                  </a:lnTo>
                  <a:cubicBezTo>
                    <a:pt x="19571" y="1726"/>
                    <a:pt x="21456" y="1006"/>
                    <a:pt x="23344" y="1006"/>
                  </a:cubicBezTo>
                  <a:cubicBezTo>
                    <a:pt x="25232" y="1006"/>
                    <a:pt x="27125" y="1726"/>
                    <a:pt x="28566" y="3167"/>
                  </a:cubicBezTo>
                  <a:lnTo>
                    <a:pt x="32841" y="7474"/>
                  </a:lnTo>
                  <a:cubicBezTo>
                    <a:pt x="34424" y="9057"/>
                    <a:pt x="36546" y="9912"/>
                    <a:pt x="38763" y="9912"/>
                  </a:cubicBezTo>
                  <a:cubicBezTo>
                    <a:pt x="41011" y="9912"/>
                    <a:pt x="43102" y="9057"/>
                    <a:pt x="44685" y="7474"/>
                  </a:cubicBezTo>
                  <a:cubicBezTo>
                    <a:pt x="46079" y="6081"/>
                    <a:pt x="47947" y="5320"/>
                    <a:pt x="49910" y="5320"/>
                  </a:cubicBezTo>
                  <a:cubicBezTo>
                    <a:pt x="51874" y="5320"/>
                    <a:pt x="53711" y="6081"/>
                    <a:pt x="55104" y="7474"/>
                  </a:cubicBezTo>
                  <a:lnTo>
                    <a:pt x="55706" y="8076"/>
                  </a:lnTo>
                  <a:cubicBezTo>
                    <a:pt x="57337" y="9707"/>
                    <a:pt x="59482" y="10522"/>
                    <a:pt x="61628" y="10522"/>
                  </a:cubicBezTo>
                  <a:cubicBezTo>
                    <a:pt x="63774" y="10522"/>
                    <a:pt x="65919" y="9707"/>
                    <a:pt x="67550" y="8076"/>
                  </a:cubicBezTo>
                  <a:lnTo>
                    <a:pt x="70844" y="4782"/>
                  </a:lnTo>
                  <a:lnTo>
                    <a:pt x="70147" y="4054"/>
                  </a:lnTo>
                  <a:lnTo>
                    <a:pt x="66853" y="7379"/>
                  </a:lnTo>
                  <a:cubicBezTo>
                    <a:pt x="65412" y="8804"/>
                    <a:pt x="63528" y="9517"/>
                    <a:pt x="61644" y="9517"/>
                  </a:cubicBezTo>
                  <a:cubicBezTo>
                    <a:pt x="59760" y="9517"/>
                    <a:pt x="57875" y="8804"/>
                    <a:pt x="56434" y="7379"/>
                  </a:cubicBezTo>
                  <a:lnTo>
                    <a:pt x="55833" y="6746"/>
                  </a:lnTo>
                  <a:cubicBezTo>
                    <a:pt x="54249" y="5194"/>
                    <a:pt x="52127" y="4307"/>
                    <a:pt x="49910" y="4307"/>
                  </a:cubicBezTo>
                  <a:cubicBezTo>
                    <a:pt x="47662" y="4307"/>
                    <a:pt x="45572" y="5194"/>
                    <a:pt x="43988" y="6777"/>
                  </a:cubicBezTo>
                  <a:cubicBezTo>
                    <a:pt x="42547" y="8202"/>
                    <a:pt x="40663" y="8915"/>
                    <a:pt x="38779" y="8915"/>
                  </a:cubicBezTo>
                  <a:cubicBezTo>
                    <a:pt x="36894" y="8915"/>
                    <a:pt x="35010" y="8202"/>
                    <a:pt x="33569" y="6777"/>
                  </a:cubicBezTo>
                  <a:lnTo>
                    <a:pt x="29262" y="2470"/>
                  </a:lnTo>
                  <a:cubicBezTo>
                    <a:pt x="27679" y="887"/>
                    <a:pt x="25589" y="0"/>
                    <a:pt x="2334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4161125" y="3203850"/>
              <a:ext cx="114025" cy="114025"/>
            </a:xfrm>
            <a:custGeom>
              <a:avLst/>
              <a:gdLst/>
              <a:ahLst/>
              <a:cxnLst/>
              <a:rect l="l" t="t" r="r" b="b"/>
              <a:pathLst>
                <a:path w="4561" h="4561" extrusionOk="0">
                  <a:moveTo>
                    <a:pt x="2280" y="349"/>
                  </a:moveTo>
                  <a:cubicBezTo>
                    <a:pt x="3325" y="349"/>
                    <a:pt x="4212" y="1204"/>
                    <a:pt x="4212" y="2281"/>
                  </a:cubicBezTo>
                  <a:cubicBezTo>
                    <a:pt x="4212" y="3358"/>
                    <a:pt x="3325" y="4213"/>
                    <a:pt x="2280" y="4213"/>
                  </a:cubicBezTo>
                  <a:cubicBezTo>
                    <a:pt x="1204" y="4213"/>
                    <a:pt x="317" y="3358"/>
                    <a:pt x="317" y="2281"/>
                  </a:cubicBezTo>
                  <a:cubicBezTo>
                    <a:pt x="317" y="1204"/>
                    <a:pt x="1204" y="349"/>
                    <a:pt x="2280" y="349"/>
                  </a:cubicBezTo>
                  <a:close/>
                  <a:moveTo>
                    <a:pt x="2280" y="1"/>
                  </a:moveTo>
                  <a:cubicBezTo>
                    <a:pt x="1014" y="1"/>
                    <a:pt x="0" y="1014"/>
                    <a:pt x="0" y="2281"/>
                  </a:cubicBezTo>
                  <a:cubicBezTo>
                    <a:pt x="0" y="3548"/>
                    <a:pt x="1014" y="4561"/>
                    <a:pt x="2280" y="4561"/>
                  </a:cubicBezTo>
                  <a:cubicBezTo>
                    <a:pt x="3516" y="4561"/>
                    <a:pt x="4561" y="3548"/>
                    <a:pt x="4561" y="2281"/>
                  </a:cubicBezTo>
                  <a:cubicBezTo>
                    <a:pt x="4561" y="1014"/>
                    <a:pt x="3516" y="1"/>
                    <a:pt x="228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4571225" y="3445325"/>
              <a:ext cx="75250" cy="76025"/>
            </a:xfrm>
            <a:custGeom>
              <a:avLst/>
              <a:gdLst/>
              <a:ahLst/>
              <a:cxnLst/>
              <a:rect l="l" t="t" r="r" b="b"/>
              <a:pathLst>
                <a:path w="3010" h="3041" extrusionOk="0">
                  <a:moveTo>
                    <a:pt x="1489" y="349"/>
                  </a:moveTo>
                  <a:cubicBezTo>
                    <a:pt x="2154" y="349"/>
                    <a:pt x="2661" y="887"/>
                    <a:pt x="2661" y="1521"/>
                  </a:cubicBezTo>
                  <a:cubicBezTo>
                    <a:pt x="2661" y="2186"/>
                    <a:pt x="2154" y="2693"/>
                    <a:pt x="1489" y="2693"/>
                  </a:cubicBezTo>
                  <a:cubicBezTo>
                    <a:pt x="856" y="2693"/>
                    <a:pt x="318" y="2186"/>
                    <a:pt x="318" y="1521"/>
                  </a:cubicBezTo>
                  <a:cubicBezTo>
                    <a:pt x="318" y="887"/>
                    <a:pt x="856" y="349"/>
                    <a:pt x="1489" y="349"/>
                  </a:cubicBezTo>
                  <a:close/>
                  <a:moveTo>
                    <a:pt x="1489" y="1"/>
                  </a:moveTo>
                  <a:cubicBezTo>
                    <a:pt x="666" y="1"/>
                    <a:pt x="1" y="697"/>
                    <a:pt x="1" y="1521"/>
                  </a:cubicBezTo>
                  <a:cubicBezTo>
                    <a:pt x="1" y="2376"/>
                    <a:pt x="666" y="3041"/>
                    <a:pt x="1489" y="3041"/>
                  </a:cubicBezTo>
                  <a:cubicBezTo>
                    <a:pt x="2344" y="3041"/>
                    <a:pt x="3009" y="2376"/>
                    <a:pt x="3009" y="1521"/>
                  </a:cubicBezTo>
                  <a:cubicBezTo>
                    <a:pt x="3009" y="697"/>
                    <a:pt x="2344" y="1"/>
                    <a:pt x="1489"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3"/>
            <p:cNvSpPr/>
            <p:nvPr/>
          </p:nvSpPr>
          <p:spPr>
            <a:xfrm>
              <a:off x="5119100" y="3445325"/>
              <a:ext cx="105325" cy="105325"/>
            </a:xfrm>
            <a:custGeom>
              <a:avLst/>
              <a:gdLst/>
              <a:ahLst/>
              <a:cxnLst/>
              <a:rect l="l" t="t" r="r" b="b"/>
              <a:pathLst>
                <a:path w="4213" h="4213" extrusionOk="0">
                  <a:moveTo>
                    <a:pt x="2123" y="349"/>
                  </a:moveTo>
                  <a:cubicBezTo>
                    <a:pt x="3073" y="349"/>
                    <a:pt x="3864" y="1141"/>
                    <a:pt x="3864" y="2122"/>
                  </a:cubicBezTo>
                  <a:cubicBezTo>
                    <a:pt x="3864" y="3073"/>
                    <a:pt x="3073" y="3864"/>
                    <a:pt x="2123" y="3864"/>
                  </a:cubicBezTo>
                  <a:cubicBezTo>
                    <a:pt x="1141" y="3864"/>
                    <a:pt x="349" y="3073"/>
                    <a:pt x="349" y="2122"/>
                  </a:cubicBezTo>
                  <a:cubicBezTo>
                    <a:pt x="349" y="1141"/>
                    <a:pt x="1141" y="349"/>
                    <a:pt x="2123" y="349"/>
                  </a:cubicBezTo>
                  <a:close/>
                  <a:moveTo>
                    <a:pt x="2123" y="1"/>
                  </a:moveTo>
                  <a:cubicBezTo>
                    <a:pt x="951" y="1"/>
                    <a:pt x="1" y="951"/>
                    <a:pt x="1" y="2122"/>
                  </a:cubicBezTo>
                  <a:cubicBezTo>
                    <a:pt x="1" y="3263"/>
                    <a:pt x="951" y="4213"/>
                    <a:pt x="2123" y="4213"/>
                  </a:cubicBezTo>
                  <a:cubicBezTo>
                    <a:pt x="3263" y="4213"/>
                    <a:pt x="4213" y="3263"/>
                    <a:pt x="4213" y="2122"/>
                  </a:cubicBezTo>
                  <a:cubicBezTo>
                    <a:pt x="4213" y="951"/>
                    <a:pt x="3263" y="1"/>
                    <a:pt x="212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p:nvPr/>
          </p:nvSpPr>
          <p:spPr>
            <a:xfrm>
              <a:off x="5355050" y="3305975"/>
              <a:ext cx="105325" cy="105325"/>
            </a:xfrm>
            <a:custGeom>
              <a:avLst/>
              <a:gdLst/>
              <a:ahLst/>
              <a:cxnLst/>
              <a:rect l="l" t="t" r="r" b="b"/>
              <a:pathLst>
                <a:path w="4213" h="4213" extrusionOk="0">
                  <a:moveTo>
                    <a:pt x="2090" y="349"/>
                  </a:moveTo>
                  <a:cubicBezTo>
                    <a:pt x="3072" y="349"/>
                    <a:pt x="3864" y="1141"/>
                    <a:pt x="3864" y="2123"/>
                  </a:cubicBezTo>
                  <a:cubicBezTo>
                    <a:pt x="3864" y="3073"/>
                    <a:pt x="3072" y="3865"/>
                    <a:pt x="2090" y="3865"/>
                  </a:cubicBezTo>
                  <a:cubicBezTo>
                    <a:pt x="1140" y="3865"/>
                    <a:pt x="349" y="3073"/>
                    <a:pt x="349" y="2091"/>
                  </a:cubicBezTo>
                  <a:cubicBezTo>
                    <a:pt x="349" y="1141"/>
                    <a:pt x="1140" y="349"/>
                    <a:pt x="2090" y="349"/>
                  </a:cubicBezTo>
                  <a:close/>
                  <a:moveTo>
                    <a:pt x="2090" y="1"/>
                  </a:moveTo>
                  <a:cubicBezTo>
                    <a:pt x="950" y="1"/>
                    <a:pt x="0" y="951"/>
                    <a:pt x="0" y="2123"/>
                  </a:cubicBezTo>
                  <a:cubicBezTo>
                    <a:pt x="0" y="3263"/>
                    <a:pt x="950" y="4213"/>
                    <a:pt x="2090" y="4213"/>
                  </a:cubicBezTo>
                  <a:cubicBezTo>
                    <a:pt x="3262" y="4213"/>
                    <a:pt x="4212" y="3263"/>
                    <a:pt x="4212" y="2123"/>
                  </a:cubicBezTo>
                  <a:cubicBezTo>
                    <a:pt x="4212" y="951"/>
                    <a:pt x="3262" y="1"/>
                    <a:pt x="209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5377200" y="3328150"/>
              <a:ext cx="61000" cy="61000"/>
            </a:xfrm>
            <a:custGeom>
              <a:avLst/>
              <a:gdLst/>
              <a:ahLst/>
              <a:cxnLst/>
              <a:rect l="l" t="t" r="r" b="b"/>
              <a:pathLst>
                <a:path w="2440" h="2440" extrusionOk="0">
                  <a:moveTo>
                    <a:pt x="1204" y="1"/>
                  </a:moveTo>
                  <a:cubicBezTo>
                    <a:pt x="539" y="1"/>
                    <a:pt x="1" y="539"/>
                    <a:pt x="1" y="1204"/>
                  </a:cubicBezTo>
                  <a:cubicBezTo>
                    <a:pt x="1" y="1901"/>
                    <a:pt x="539" y="2439"/>
                    <a:pt x="1204" y="2439"/>
                  </a:cubicBezTo>
                  <a:cubicBezTo>
                    <a:pt x="1869" y="2439"/>
                    <a:pt x="2439" y="1901"/>
                    <a:pt x="2439" y="1204"/>
                  </a:cubicBezTo>
                  <a:cubicBezTo>
                    <a:pt x="2439" y="539"/>
                    <a:pt x="1869" y="1"/>
                    <a:pt x="1204"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3592650" y="3524500"/>
              <a:ext cx="104550" cy="105325"/>
            </a:xfrm>
            <a:custGeom>
              <a:avLst/>
              <a:gdLst/>
              <a:ahLst/>
              <a:cxnLst/>
              <a:rect l="l" t="t" r="r" b="b"/>
              <a:pathLst>
                <a:path w="4182" h="4213" extrusionOk="0">
                  <a:moveTo>
                    <a:pt x="2091" y="349"/>
                  </a:moveTo>
                  <a:cubicBezTo>
                    <a:pt x="3073" y="349"/>
                    <a:pt x="3864" y="1109"/>
                    <a:pt x="3864" y="2091"/>
                  </a:cubicBezTo>
                  <a:cubicBezTo>
                    <a:pt x="3864" y="3072"/>
                    <a:pt x="3073" y="3864"/>
                    <a:pt x="2091" y="3864"/>
                  </a:cubicBezTo>
                  <a:cubicBezTo>
                    <a:pt x="1141" y="3864"/>
                    <a:pt x="349" y="3072"/>
                    <a:pt x="349" y="2091"/>
                  </a:cubicBezTo>
                  <a:cubicBezTo>
                    <a:pt x="349" y="1141"/>
                    <a:pt x="1109" y="349"/>
                    <a:pt x="2091" y="349"/>
                  </a:cubicBezTo>
                  <a:close/>
                  <a:moveTo>
                    <a:pt x="2091" y="1"/>
                  </a:moveTo>
                  <a:cubicBezTo>
                    <a:pt x="951" y="1"/>
                    <a:pt x="1" y="951"/>
                    <a:pt x="1" y="2091"/>
                  </a:cubicBezTo>
                  <a:cubicBezTo>
                    <a:pt x="1" y="3262"/>
                    <a:pt x="951" y="4213"/>
                    <a:pt x="2091" y="4213"/>
                  </a:cubicBezTo>
                  <a:cubicBezTo>
                    <a:pt x="3263" y="4213"/>
                    <a:pt x="4181" y="3262"/>
                    <a:pt x="4181" y="2091"/>
                  </a:cubicBezTo>
                  <a:cubicBezTo>
                    <a:pt x="4181" y="951"/>
                    <a:pt x="3263" y="1"/>
                    <a:pt x="209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3614825" y="3546675"/>
              <a:ext cx="61000" cy="60975"/>
            </a:xfrm>
            <a:custGeom>
              <a:avLst/>
              <a:gdLst/>
              <a:ahLst/>
              <a:cxnLst/>
              <a:rect l="l" t="t" r="r" b="b"/>
              <a:pathLst>
                <a:path w="2440" h="2439" extrusionOk="0">
                  <a:moveTo>
                    <a:pt x="1204" y="0"/>
                  </a:moveTo>
                  <a:cubicBezTo>
                    <a:pt x="539" y="0"/>
                    <a:pt x="1" y="539"/>
                    <a:pt x="1" y="1204"/>
                  </a:cubicBezTo>
                  <a:cubicBezTo>
                    <a:pt x="1" y="1900"/>
                    <a:pt x="539" y="2439"/>
                    <a:pt x="1204" y="2439"/>
                  </a:cubicBezTo>
                  <a:cubicBezTo>
                    <a:pt x="1869" y="2439"/>
                    <a:pt x="2439" y="1900"/>
                    <a:pt x="2439" y="1204"/>
                  </a:cubicBezTo>
                  <a:cubicBezTo>
                    <a:pt x="2439" y="539"/>
                    <a:pt x="1869" y="0"/>
                    <a:pt x="1204"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4880000" y="2948925"/>
              <a:ext cx="173425" cy="24550"/>
            </a:xfrm>
            <a:custGeom>
              <a:avLst/>
              <a:gdLst/>
              <a:ahLst/>
              <a:cxnLst/>
              <a:rect l="l" t="t" r="r" b="b"/>
              <a:pathLst>
                <a:path w="6937" h="982" extrusionOk="0">
                  <a:moveTo>
                    <a:pt x="507" y="0"/>
                  </a:moveTo>
                  <a:cubicBezTo>
                    <a:pt x="222" y="0"/>
                    <a:pt x="1" y="222"/>
                    <a:pt x="1" y="507"/>
                  </a:cubicBezTo>
                  <a:cubicBezTo>
                    <a:pt x="1" y="760"/>
                    <a:pt x="222" y="982"/>
                    <a:pt x="507" y="982"/>
                  </a:cubicBezTo>
                  <a:lnTo>
                    <a:pt x="6430" y="982"/>
                  </a:lnTo>
                  <a:cubicBezTo>
                    <a:pt x="6715" y="982"/>
                    <a:pt x="6936" y="760"/>
                    <a:pt x="6936" y="507"/>
                  </a:cubicBezTo>
                  <a:cubicBezTo>
                    <a:pt x="6936" y="222"/>
                    <a:pt x="6715" y="0"/>
                    <a:pt x="643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5108025" y="2948925"/>
              <a:ext cx="81575" cy="24550"/>
            </a:xfrm>
            <a:custGeom>
              <a:avLst/>
              <a:gdLst/>
              <a:ahLst/>
              <a:cxnLst/>
              <a:rect l="l" t="t" r="r" b="b"/>
              <a:pathLst>
                <a:path w="3263" h="982" extrusionOk="0">
                  <a:moveTo>
                    <a:pt x="507" y="0"/>
                  </a:moveTo>
                  <a:cubicBezTo>
                    <a:pt x="222" y="0"/>
                    <a:pt x="0" y="222"/>
                    <a:pt x="0" y="507"/>
                  </a:cubicBezTo>
                  <a:cubicBezTo>
                    <a:pt x="0" y="760"/>
                    <a:pt x="222" y="982"/>
                    <a:pt x="507" y="982"/>
                  </a:cubicBezTo>
                  <a:lnTo>
                    <a:pt x="2756" y="982"/>
                  </a:lnTo>
                  <a:cubicBezTo>
                    <a:pt x="3041" y="982"/>
                    <a:pt x="3262" y="760"/>
                    <a:pt x="3262" y="507"/>
                  </a:cubicBezTo>
                  <a:cubicBezTo>
                    <a:pt x="3262" y="222"/>
                    <a:pt x="3041" y="0"/>
                    <a:pt x="2756"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5300425" y="2948925"/>
              <a:ext cx="58600" cy="24550"/>
            </a:xfrm>
            <a:custGeom>
              <a:avLst/>
              <a:gdLst/>
              <a:ahLst/>
              <a:cxnLst/>
              <a:rect l="l" t="t" r="r" b="b"/>
              <a:pathLst>
                <a:path w="2344" h="982" extrusionOk="0">
                  <a:moveTo>
                    <a:pt x="507" y="0"/>
                  </a:moveTo>
                  <a:cubicBezTo>
                    <a:pt x="222" y="0"/>
                    <a:pt x="0" y="222"/>
                    <a:pt x="0" y="507"/>
                  </a:cubicBezTo>
                  <a:cubicBezTo>
                    <a:pt x="0" y="760"/>
                    <a:pt x="222" y="982"/>
                    <a:pt x="507" y="982"/>
                  </a:cubicBezTo>
                  <a:lnTo>
                    <a:pt x="1837" y="982"/>
                  </a:lnTo>
                  <a:cubicBezTo>
                    <a:pt x="2122" y="982"/>
                    <a:pt x="2344" y="760"/>
                    <a:pt x="2344" y="507"/>
                  </a:cubicBezTo>
                  <a:cubicBezTo>
                    <a:pt x="2344" y="222"/>
                    <a:pt x="2122" y="0"/>
                    <a:pt x="183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5127025" y="3021750"/>
              <a:ext cx="197950" cy="25375"/>
            </a:xfrm>
            <a:custGeom>
              <a:avLst/>
              <a:gdLst/>
              <a:ahLst/>
              <a:cxnLst/>
              <a:rect l="l" t="t" r="r" b="b"/>
              <a:pathLst>
                <a:path w="7918" h="1015" extrusionOk="0">
                  <a:moveTo>
                    <a:pt x="507" y="1"/>
                  </a:moveTo>
                  <a:cubicBezTo>
                    <a:pt x="222" y="1"/>
                    <a:pt x="1" y="222"/>
                    <a:pt x="1" y="508"/>
                  </a:cubicBezTo>
                  <a:cubicBezTo>
                    <a:pt x="1" y="793"/>
                    <a:pt x="222" y="1014"/>
                    <a:pt x="507" y="1014"/>
                  </a:cubicBezTo>
                  <a:lnTo>
                    <a:pt x="7443" y="1014"/>
                  </a:lnTo>
                  <a:cubicBezTo>
                    <a:pt x="7696" y="1014"/>
                    <a:pt x="7918" y="793"/>
                    <a:pt x="7918" y="508"/>
                  </a:cubicBezTo>
                  <a:cubicBezTo>
                    <a:pt x="7918" y="222"/>
                    <a:pt x="7696" y="1"/>
                    <a:pt x="744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3979025" y="3617125"/>
              <a:ext cx="119575" cy="24575"/>
            </a:xfrm>
            <a:custGeom>
              <a:avLst/>
              <a:gdLst/>
              <a:ahLst/>
              <a:cxnLst/>
              <a:rect l="l" t="t" r="r" b="b"/>
              <a:pathLst>
                <a:path w="4783" h="983" extrusionOk="0">
                  <a:moveTo>
                    <a:pt x="507" y="1"/>
                  </a:moveTo>
                  <a:cubicBezTo>
                    <a:pt x="222" y="1"/>
                    <a:pt x="0" y="222"/>
                    <a:pt x="0" y="508"/>
                  </a:cubicBezTo>
                  <a:cubicBezTo>
                    <a:pt x="0" y="761"/>
                    <a:pt x="222" y="983"/>
                    <a:pt x="507" y="983"/>
                  </a:cubicBezTo>
                  <a:lnTo>
                    <a:pt x="4307" y="983"/>
                  </a:lnTo>
                  <a:cubicBezTo>
                    <a:pt x="4561" y="983"/>
                    <a:pt x="4782" y="761"/>
                    <a:pt x="4782" y="508"/>
                  </a:cubicBezTo>
                  <a:cubicBezTo>
                    <a:pt x="4782" y="222"/>
                    <a:pt x="4561" y="1"/>
                    <a:pt x="430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4148450" y="3617125"/>
              <a:ext cx="50700" cy="24575"/>
            </a:xfrm>
            <a:custGeom>
              <a:avLst/>
              <a:gdLst/>
              <a:ahLst/>
              <a:cxnLst/>
              <a:rect l="l" t="t" r="r" b="b"/>
              <a:pathLst>
                <a:path w="2028" h="983" extrusionOk="0">
                  <a:moveTo>
                    <a:pt x="507" y="1"/>
                  </a:moveTo>
                  <a:cubicBezTo>
                    <a:pt x="222" y="1"/>
                    <a:pt x="1" y="222"/>
                    <a:pt x="1" y="508"/>
                  </a:cubicBezTo>
                  <a:cubicBezTo>
                    <a:pt x="1" y="761"/>
                    <a:pt x="222" y="983"/>
                    <a:pt x="507" y="983"/>
                  </a:cubicBezTo>
                  <a:lnTo>
                    <a:pt x="1521" y="983"/>
                  </a:lnTo>
                  <a:cubicBezTo>
                    <a:pt x="1806" y="983"/>
                    <a:pt x="2027" y="761"/>
                    <a:pt x="2027" y="508"/>
                  </a:cubicBezTo>
                  <a:cubicBezTo>
                    <a:pt x="2027" y="222"/>
                    <a:pt x="1806" y="1"/>
                    <a:pt x="152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4750175" y="3617125"/>
              <a:ext cx="136975" cy="24575"/>
            </a:xfrm>
            <a:custGeom>
              <a:avLst/>
              <a:gdLst/>
              <a:ahLst/>
              <a:cxnLst/>
              <a:rect l="l" t="t" r="r" b="b"/>
              <a:pathLst>
                <a:path w="5479" h="983" extrusionOk="0">
                  <a:moveTo>
                    <a:pt x="475" y="1"/>
                  </a:moveTo>
                  <a:cubicBezTo>
                    <a:pt x="222" y="1"/>
                    <a:pt x="0" y="222"/>
                    <a:pt x="0" y="508"/>
                  </a:cubicBezTo>
                  <a:cubicBezTo>
                    <a:pt x="0" y="761"/>
                    <a:pt x="222" y="983"/>
                    <a:pt x="475" y="983"/>
                  </a:cubicBezTo>
                  <a:lnTo>
                    <a:pt x="4972" y="983"/>
                  </a:lnTo>
                  <a:cubicBezTo>
                    <a:pt x="5257" y="983"/>
                    <a:pt x="5479" y="761"/>
                    <a:pt x="5479" y="508"/>
                  </a:cubicBezTo>
                  <a:cubicBezTo>
                    <a:pt x="5479" y="222"/>
                    <a:pt x="5257" y="1"/>
                    <a:pt x="497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a:off x="4933850" y="3617125"/>
              <a:ext cx="58600" cy="24575"/>
            </a:xfrm>
            <a:custGeom>
              <a:avLst/>
              <a:gdLst/>
              <a:ahLst/>
              <a:cxnLst/>
              <a:rect l="l" t="t" r="r" b="b"/>
              <a:pathLst>
                <a:path w="2344" h="983" extrusionOk="0">
                  <a:moveTo>
                    <a:pt x="507" y="1"/>
                  </a:moveTo>
                  <a:cubicBezTo>
                    <a:pt x="222" y="1"/>
                    <a:pt x="0" y="222"/>
                    <a:pt x="0" y="508"/>
                  </a:cubicBezTo>
                  <a:cubicBezTo>
                    <a:pt x="0" y="761"/>
                    <a:pt x="222" y="983"/>
                    <a:pt x="507" y="983"/>
                  </a:cubicBezTo>
                  <a:lnTo>
                    <a:pt x="1837" y="983"/>
                  </a:lnTo>
                  <a:cubicBezTo>
                    <a:pt x="2122" y="983"/>
                    <a:pt x="2344" y="761"/>
                    <a:pt x="2344" y="508"/>
                  </a:cubicBezTo>
                  <a:cubicBezTo>
                    <a:pt x="2344" y="222"/>
                    <a:pt x="2122" y="1"/>
                    <a:pt x="1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5163450" y="3617125"/>
              <a:ext cx="73650" cy="24575"/>
            </a:xfrm>
            <a:custGeom>
              <a:avLst/>
              <a:gdLst/>
              <a:ahLst/>
              <a:cxnLst/>
              <a:rect l="l" t="t" r="r" b="b"/>
              <a:pathLst>
                <a:path w="2946" h="983" extrusionOk="0">
                  <a:moveTo>
                    <a:pt x="507" y="1"/>
                  </a:moveTo>
                  <a:cubicBezTo>
                    <a:pt x="222" y="1"/>
                    <a:pt x="0" y="222"/>
                    <a:pt x="0" y="508"/>
                  </a:cubicBezTo>
                  <a:cubicBezTo>
                    <a:pt x="0" y="761"/>
                    <a:pt x="222" y="983"/>
                    <a:pt x="507" y="983"/>
                  </a:cubicBezTo>
                  <a:lnTo>
                    <a:pt x="2439" y="983"/>
                  </a:lnTo>
                  <a:cubicBezTo>
                    <a:pt x="2724" y="983"/>
                    <a:pt x="2946" y="761"/>
                    <a:pt x="2946" y="508"/>
                  </a:cubicBezTo>
                  <a:cubicBezTo>
                    <a:pt x="2946" y="222"/>
                    <a:pt x="2724" y="1"/>
                    <a:pt x="243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3676575" y="2937825"/>
              <a:ext cx="139375" cy="25375"/>
            </a:xfrm>
            <a:custGeom>
              <a:avLst/>
              <a:gdLst/>
              <a:ahLst/>
              <a:cxnLst/>
              <a:rect l="l" t="t" r="r" b="b"/>
              <a:pathLst>
                <a:path w="5575" h="1015" extrusionOk="0">
                  <a:moveTo>
                    <a:pt x="507" y="1"/>
                  </a:moveTo>
                  <a:cubicBezTo>
                    <a:pt x="222" y="1"/>
                    <a:pt x="1" y="254"/>
                    <a:pt x="1" y="508"/>
                  </a:cubicBezTo>
                  <a:cubicBezTo>
                    <a:pt x="1" y="793"/>
                    <a:pt x="222" y="1014"/>
                    <a:pt x="507" y="1014"/>
                  </a:cubicBezTo>
                  <a:lnTo>
                    <a:pt x="5068" y="1014"/>
                  </a:lnTo>
                  <a:cubicBezTo>
                    <a:pt x="5321" y="1014"/>
                    <a:pt x="5575" y="793"/>
                    <a:pt x="5543" y="508"/>
                  </a:cubicBezTo>
                  <a:cubicBezTo>
                    <a:pt x="5543" y="223"/>
                    <a:pt x="5321" y="1"/>
                    <a:pt x="5068"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3852350" y="2937825"/>
              <a:ext cx="68100" cy="25375"/>
            </a:xfrm>
            <a:custGeom>
              <a:avLst/>
              <a:gdLst/>
              <a:ahLst/>
              <a:cxnLst/>
              <a:rect l="l" t="t" r="r" b="b"/>
              <a:pathLst>
                <a:path w="2724" h="1015" extrusionOk="0">
                  <a:moveTo>
                    <a:pt x="507" y="1"/>
                  </a:moveTo>
                  <a:cubicBezTo>
                    <a:pt x="222" y="1"/>
                    <a:pt x="0" y="254"/>
                    <a:pt x="0" y="508"/>
                  </a:cubicBezTo>
                  <a:cubicBezTo>
                    <a:pt x="0" y="793"/>
                    <a:pt x="222" y="1014"/>
                    <a:pt x="507" y="1014"/>
                  </a:cubicBezTo>
                  <a:lnTo>
                    <a:pt x="2217" y="1014"/>
                  </a:lnTo>
                  <a:cubicBezTo>
                    <a:pt x="2502" y="1014"/>
                    <a:pt x="2724" y="793"/>
                    <a:pt x="2724" y="508"/>
                  </a:cubicBezTo>
                  <a:cubicBezTo>
                    <a:pt x="2724" y="223"/>
                    <a:pt x="2502" y="1"/>
                    <a:pt x="221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2741550" y="2634600"/>
              <a:ext cx="266850" cy="266850"/>
            </a:xfrm>
            <a:custGeom>
              <a:avLst/>
              <a:gdLst/>
              <a:ahLst/>
              <a:cxnLst/>
              <a:rect l="l" t="t" r="r" b="b"/>
              <a:pathLst>
                <a:path w="10674" h="10674" extrusionOk="0">
                  <a:moveTo>
                    <a:pt x="5321" y="317"/>
                  </a:moveTo>
                  <a:cubicBezTo>
                    <a:pt x="8076" y="317"/>
                    <a:pt x="10325" y="2566"/>
                    <a:pt x="10325" y="5353"/>
                  </a:cubicBezTo>
                  <a:cubicBezTo>
                    <a:pt x="10325" y="8108"/>
                    <a:pt x="8076" y="10356"/>
                    <a:pt x="5321" y="10356"/>
                  </a:cubicBezTo>
                  <a:cubicBezTo>
                    <a:pt x="2566" y="10356"/>
                    <a:pt x="317" y="8108"/>
                    <a:pt x="317" y="5353"/>
                  </a:cubicBezTo>
                  <a:cubicBezTo>
                    <a:pt x="317" y="2566"/>
                    <a:pt x="2566" y="317"/>
                    <a:pt x="5321" y="317"/>
                  </a:cubicBezTo>
                  <a:close/>
                  <a:moveTo>
                    <a:pt x="5321" y="1"/>
                  </a:moveTo>
                  <a:cubicBezTo>
                    <a:pt x="2376" y="1"/>
                    <a:pt x="1" y="2408"/>
                    <a:pt x="1" y="5353"/>
                  </a:cubicBezTo>
                  <a:cubicBezTo>
                    <a:pt x="1" y="8298"/>
                    <a:pt x="2376" y="10673"/>
                    <a:pt x="5321" y="10673"/>
                  </a:cubicBezTo>
                  <a:cubicBezTo>
                    <a:pt x="8266" y="10673"/>
                    <a:pt x="10673" y="8298"/>
                    <a:pt x="10673" y="5353"/>
                  </a:cubicBezTo>
                  <a:cubicBezTo>
                    <a:pt x="10673" y="2408"/>
                    <a:pt x="8266" y="1"/>
                    <a:pt x="5321"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2770850" y="2673800"/>
              <a:ext cx="207450" cy="188450"/>
            </a:xfrm>
            <a:custGeom>
              <a:avLst/>
              <a:gdLst/>
              <a:ahLst/>
              <a:cxnLst/>
              <a:rect l="l" t="t" r="r" b="b"/>
              <a:pathLst>
                <a:path w="8298" h="7538" extrusionOk="0">
                  <a:moveTo>
                    <a:pt x="4161" y="0"/>
                  </a:moveTo>
                  <a:cubicBezTo>
                    <a:pt x="3199" y="0"/>
                    <a:pt x="2233" y="365"/>
                    <a:pt x="1489" y="1093"/>
                  </a:cubicBezTo>
                  <a:cubicBezTo>
                    <a:pt x="0" y="2581"/>
                    <a:pt x="0" y="4957"/>
                    <a:pt x="1489" y="6445"/>
                  </a:cubicBezTo>
                  <a:cubicBezTo>
                    <a:pt x="2233" y="7173"/>
                    <a:pt x="3199" y="7538"/>
                    <a:pt x="4161" y="7538"/>
                  </a:cubicBezTo>
                  <a:cubicBezTo>
                    <a:pt x="5123" y="7538"/>
                    <a:pt x="6081" y="7173"/>
                    <a:pt x="6809" y="6445"/>
                  </a:cubicBezTo>
                  <a:cubicBezTo>
                    <a:pt x="8298" y="4957"/>
                    <a:pt x="8298" y="2581"/>
                    <a:pt x="6809" y="1093"/>
                  </a:cubicBezTo>
                  <a:cubicBezTo>
                    <a:pt x="6081" y="365"/>
                    <a:pt x="5123" y="0"/>
                    <a:pt x="416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3700325" y="2547525"/>
              <a:ext cx="8750" cy="292150"/>
            </a:xfrm>
            <a:custGeom>
              <a:avLst/>
              <a:gdLst/>
              <a:ahLst/>
              <a:cxnLst/>
              <a:rect l="l" t="t" r="r" b="b"/>
              <a:pathLst>
                <a:path w="350" h="11686" extrusionOk="0">
                  <a:moveTo>
                    <a:pt x="191" y="0"/>
                  </a:moveTo>
                  <a:cubicBezTo>
                    <a:pt x="96" y="0"/>
                    <a:pt x="1" y="63"/>
                    <a:pt x="1" y="158"/>
                  </a:cubicBezTo>
                  <a:lnTo>
                    <a:pt x="1" y="11528"/>
                  </a:lnTo>
                  <a:cubicBezTo>
                    <a:pt x="1" y="11623"/>
                    <a:pt x="96" y="11686"/>
                    <a:pt x="191" y="11686"/>
                  </a:cubicBezTo>
                  <a:cubicBezTo>
                    <a:pt x="254" y="11686"/>
                    <a:pt x="349" y="11623"/>
                    <a:pt x="349" y="11528"/>
                  </a:cubicBezTo>
                  <a:lnTo>
                    <a:pt x="349" y="158"/>
                  </a:lnTo>
                  <a:cubicBezTo>
                    <a:pt x="349" y="63"/>
                    <a:pt x="254" y="0"/>
                    <a:pt x="191"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2977346" y="3332487"/>
              <a:ext cx="424399" cy="669025"/>
            </a:xfrm>
            <a:custGeom>
              <a:avLst/>
              <a:gdLst/>
              <a:ahLst/>
              <a:cxnLst/>
              <a:rect l="l" t="t" r="r" b="b"/>
              <a:pathLst>
                <a:path w="16976" h="26761" extrusionOk="0">
                  <a:moveTo>
                    <a:pt x="159" y="1"/>
                  </a:moveTo>
                  <a:cubicBezTo>
                    <a:pt x="64" y="1"/>
                    <a:pt x="0" y="64"/>
                    <a:pt x="0" y="159"/>
                  </a:cubicBezTo>
                  <a:lnTo>
                    <a:pt x="0" y="16532"/>
                  </a:lnTo>
                  <a:cubicBezTo>
                    <a:pt x="0" y="16563"/>
                    <a:pt x="32" y="16595"/>
                    <a:pt x="64" y="16627"/>
                  </a:cubicBezTo>
                  <a:lnTo>
                    <a:pt x="10103" y="26697"/>
                  </a:lnTo>
                  <a:cubicBezTo>
                    <a:pt x="10135" y="26729"/>
                    <a:pt x="10198" y="26761"/>
                    <a:pt x="10230" y="26761"/>
                  </a:cubicBezTo>
                  <a:lnTo>
                    <a:pt x="16817" y="26761"/>
                  </a:lnTo>
                  <a:cubicBezTo>
                    <a:pt x="16912" y="26761"/>
                    <a:pt x="16975" y="26666"/>
                    <a:pt x="16975" y="26571"/>
                  </a:cubicBezTo>
                  <a:cubicBezTo>
                    <a:pt x="16975" y="26476"/>
                    <a:pt x="16880" y="26412"/>
                    <a:pt x="16785" y="26412"/>
                  </a:cubicBezTo>
                  <a:lnTo>
                    <a:pt x="10293" y="26412"/>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13"/>
            <p:cNvSpPr/>
            <p:nvPr/>
          </p:nvSpPr>
          <p:spPr>
            <a:xfrm>
              <a:off x="5914000" y="2241900"/>
              <a:ext cx="8725" cy="249425"/>
            </a:xfrm>
            <a:custGeom>
              <a:avLst/>
              <a:gdLst/>
              <a:ahLst/>
              <a:cxnLst/>
              <a:rect l="l" t="t" r="r" b="b"/>
              <a:pathLst>
                <a:path w="349" h="9977" extrusionOk="0">
                  <a:moveTo>
                    <a:pt x="191" y="1"/>
                  </a:moveTo>
                  <a:cubicBezTo>
                    <a:pt x="96" y="1"/>
                    <a:pt x="1" y="96"/>
                    <a:pt x="1" y="191"/>
                  </a:cubicBezTo>
                  <a:lnTo>
                    <a:pt x="1" y="9787"/>
                  </a:lnTo>
                  <a:cubicBezTo>
                    <a:pt x="1" y="9882"/>
                    <a:pt x="96" y="9977"/>
                    <a:pt x="191" y="9977"/>
                  </a:cubicBezTo>
                  <a:cubicBezTo>
                    <a:pt x="286" y="9977"/>
                    <a:pt x="349" y="9882"/>
                    <a:pt x="349" y="9787"/>
                  </a:cubicBezTo>
                  <a:lnTo>
                    <a:pt x="349" y="191"/>
                  </a:lnTo>
                  <a:cubicBezTo>
                    <a:pt x="349" y="96"/>
                    <a:pt x="286" y="1"/>
                    <a:pt x="191"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4192800" y="2458050"/>
              <a:ext cx="240700" cy="240700"/>
            </a:xfrm>
            <a:custGeom>
              <a:avLst/>
              <a:gdLst/>
              <a:ahLst/>
              <a:cxnLst/>
              <a:rect l="l" t="t" r="r" b="b"/>
              <a:pathLst>
                <a:path w="9628" h="9628" extrusionOk="0">
                  <a:moveTo>
                    <a:pt x="4814" y="1014"/>
                  </a:moveTo>
                  <a:cubicBezTo>
                    <a:pt x="6936" y="1014"/>
                    <a:pt x="8646" y="2724"/>
                    <a:pt x="8646" y="4814"/>
                  </a:cubicBezTo>
                  <a:cubicBezTo>
                    <a:pt x="8646" y="6904"/>
                    <a:pt x="6936" y="8614"/>
                    <a:pt x="4814" y="8614"/>
                  </a:cubicBezTo>
                  <a:cubicBezTo>
                    <a:pt x="2724" y="8614"/>
                    <a:pt x="1013" y="6904"/>
                    <a:pt x="1013" y="4814"/>
                  </a:cubicBezTo>
                  <a:cubicBezTo>
                    <a:pt x="1013" y="2724"/>
                    <a:pt x="2724" y="1014"/>
                    <a:pt x="4814" y="1014"/>
                  </a:cubicBezTo>
                  <a:close/>
                  <a:moveTo>
                    <a:pt x="4814" y="1"/>
                  </a:moveTo>
                  <a:cubicBezTo>
                    <a:pt x="2185" y="1"/>
                    <a:pt x="0" y="2154"/>
                    <a:pt x="0" y="4814"/>
                  </a:cubicBezTo>
                  <a:cubicBezTo>
                    <a:pt x="0" y="7474"/>
                    <a:pt x="2185" y="9628"/>
                    <a:pt x="4814" y="9628"/>
                  </a:cubicBezTo>
                  <a:cubicBezTo>
                    <a:pt x="7474" y="9628"/>
                    <a:pt x="9627" y="7474"/>
                    <a:pt x="9627" y="4814"/>
                  </a:cubicBezTo>
                  <a:cubicBezTo>
                    <a:pt x="9627" y="2154"/>
                    <a:pt x="7474" y="1"/>
                    <a:pt x="481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4135000" y="1664750"/>
              <a:ext cx="438625" cy="438625"/>
            </a:xfrm>
            <a:custGeom>
              <a:avLst/>
              <a:gdLst/>
              <a:ahLst/>
              <a:cxnLst/>
              <a:rect l="l" t="t" r="r" b="b"/>
              <a:pathLst>
                <a:path w="17545" h="17545" extrusionOk="0">
                  <a:moveTo>
                    <a:pt x="8772" y="1362"/>
                  </a:moveTo>
                  <a:cubicBezTo>
                    <a:pt x="12858" y="1362"/>
                    <a:pt x="16183" y="4687"/>
                    <a:pt x="16183" y="8773"/>
                  </a:cubicBezTo>
                  <a:cubicBezTo>
                    <a:pt x="16183" y="12858"/>
                    <a:pt x="12858" y="16183"/>
                    <a:pt x="8772" y="16183"/>
                  </a:cubicBezTo>
                  <a:cubicBezTo>
                    <a:pt x="4687" y="16183"/>
                    <a:pt x="1362" y="12858"/>
                    <a:pt x="1362" y="8773"/>
                  </a:cubicBezTo>
                  <a:cubicBezTo>
                    <a:pt x="1362" y="4687"/>
                    <a:pt x="4687" y="1362"/>
                    <a:pt x="8772" y="1362"/>
                  </a:cubicBezTo>
                  <a:close/>
                  <a:moveTo>
                    <a:pt x="8772" y="0"/>
                  </a:moveTo>
                  <a:cubicBezTo>
                    <a:pt x="3959" y="0"/>
                    <a:pt x="0" y="3927"/>
                    <a:pt x="0" y="8773"/>
                  </a:cubicBezTo>
                  <a:cubicBezTo>
                    <a:pt x="0" y="13618"/>
                    <a:pt x="3959" y="17545"/>
                    <a:pt x="8772" y="17545"/>
                  </a:cubicBezTo>
                  <a:cubicBezTo>
                    <a:pt x="13618" y="17545"/>
                    <a:pt x="17545" y="13586"/>
                    <a:pt x="17545" y="8773"/>
                  </a:cubicBezTo>
                  <a:cubicBezTo>
                    <a:pt x="17545" y="3927"/>
                    <a:pt x="13618" y="0"/>
                    <a:pt x="877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3285475" y="2764450"/>
              <a:ext cx="172625" cy="172625"/>
            </a:xfrm>
            <a:custGeom>
              <a:avLst/>
              <a:gdLst/>
              <a:ahLst/>
              <a:cxnLst/>
              <a:rect l="l" t="t" r="r" b="b"/>
              <a:pathLst>
                <a:path w="6905" h="6905" extrusionOk="0">
                  <a:moveTo>
                    <a:pt x="3452" y="1014"/>
                  </a:moveTo>
                  <a:cubicBezTo>
                    <a:pt x="4814" y="1014"/>
                    <a:pt x="5891" y="2091"/>
                    <a:pt x="5891" y="3452"/>
                  </a:cubicBezTo>
                  <a:cubicBezTo>
                    <a:pt x="5891" y="4782"/>
                    <a:pt x="4782" y="5891"/>
                    <a:pt x="3452" y="5891"/>
                  </a:cubicBezTo>
                  <a:cubicBezTo>
                    <a:pt x="2090" y="5891"/>
                    <a:pt x="1014" y="4782"/>
                    <a:pt x="1014" y="3452"/>
                  </a:cubicBezTo>
                  <a:cubicBezTo>
                    <a:pt x="1014" y="2091"/>
                    <a:pt x="2122" y="1014"/>
                    <a:pt x="3452" y="1014"/>
                  </a:cubicBezTo>
                  <a:close/>
                  <a:moveTo>
                    <a:pt x="3452" y="0"/>
                  </a:moveTo>
                  <a:cubicBezTo>
                    <a:pt x="1552" y="0"/>
                    <a:pt x="0" y="1552"/>
                    <a:pt x="0" y="3452"/>
                  </a:cubicBezTo>
                  <a:cubicBezTo>
                    <a:pt x="0" y="5352"/>
                    <a:pt x="1552" y="6904"/>
                    <a:pt x="3452" y="6904"/>
                  </a:cubicBezTo>
                  <a:cubicBezTo>
                    <a:pt x="5352" y="6904"/>
                    <a:pt x="6904" y="5352"/>
                    <a:pt x="6904" y="3452"/>
                  </a:cubicBezTo>
                  <a:cubicBezTo>
                    <a:pt x="6904" y="1552"/>
                    <a:pt x="5352" y="0"/>
                    <a:pt x="34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5016975" y="1886425"/>
              <a:ext cx="254950" cy="254950"/>
            </a:xfrm>
            <a:custGeom>
              <a:avLst/>
              <a:gdLst/>
              <a:ahLst/>
              <a:cxnLst/>
              <a:rect l="l" t="t" r="r" b="b"/>
              <a:pathLst>
                <a:path w="10198" h="10198" extrusionOk="0">
                  <a:moveTo>
                    <a:pt x="5099" y="982"/>
                  </a:moveTo>
                  <a:cubicBezTo>
                    <a:pt x="7348" y="982"/>
                    <a:pt x="9185" y="2819"/>
                    <a:pt x="9185" y="5099"/>
                  </a:cubicBezTo>
                  <a:cubicBezTo>
                    <a:pt x="9185" y="7348"/>
                    <a:pt x="7348" y="9185"/>
                    <a:pt x="5099" y="9185"/>
                  </a:cubicBezTo>
                  <a:cubicBezTo>
                    <a:pt x="2851" y="9185"/>
                    <a:pt x="1014" y="7348"/>
                    <a:pt x="1014" y="5099"/>
                  </a:cubicBezTo>
                  <a:cubicBezTo>
                    <a:pt x="1014" y="2819"/>
                    <a:pt x="2851" y="982"/>
                    <a:pt x="5099" y="982"/>
                  </a:cubicBezTo>
                  <a:close/>
                  <a:moveTo>
                    <a:pt x="5099" y="1"/>
                  </a:moveTo>
                  <a:cubicBezTo>
                    <a:pt x="2281" y="1"/>
                    <a:pt x="1" y="2281"/>
                    <a:pt x="1" y="5099"/>
                  </a:cubicBezTo>
                  <a:cubicBezTo>
                    <a:pt x="1" y="7886"/>
                    <a:pt x="2281" y="10198"/>
                    <a:pt x="5099" y="10198"/>
                  </a:cubicBezTo>
                  <a:cubicBezTo>
                    <a:pt x="7918" y="10198"/>
                    <a:pt x="10198" y="7886"/>
                    <a:pt x="10198" y="5099"/>
                  </a:cubicBezTo>
                  <a:cubicBezTo>
                    <a:pt x="10198" y="2281"/>
                    <a:pt x="7918" y="1"/>
                    <a:pt x="509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6183975" y="1449400"/>
              <a:ext cx="254975" cy="254950"/>
            </a:xfrm>
            <a:custGeom>
              <a:avLst/>
              <a:gdLst/>
              <a:ahLst/>
              <a:cxnLst/>
              <a:rect l="l" t="t" r="r" b="b"/>
              <a:pathLst>
                <a:path w="10199" h="10198" extrusionOk="0">
                  <a:moveTo>
                    <a:pt x="5099" y="1014"/>
                  </a:moveTo>
                  <a:cubicBezTo>
                    <a:pt x="7348" y="1014"/>
                    <a:pt x="9185" y="2851"/>
                    <a:pt x="9185" y="5099"/>
                  </a:cubicBezTo>
                  <a:cubicBezTo>
                    <a:pt x="9185" y="7379"/>
                    <a:pt x="7348" y="9216"/>
                    <a:pt x="5099" y="9216"/>
                  </a:cubicBezTo>
                  <a:cubicBezTo>
                    <a:pt x="2819" y="9216"/>
                    <a:pt x="982" y="7379"/>
                    <a:pt x="982" y="5099"/>
                  </a:cubicBezTo>
                  <a:cubicBezTo>
                    <a:pt x="982" y="2851"/>
                    <a:pt x="2819" y="1014"/>
                    <a:pt x="5099" y="1014"/>
                  </a:cubicBezTo>
                  <a:close/>
                  <a:moveTo>
                    <a:pt x="5099" y="0"/>
                  </a:moveTo>
                  <a:cubicBezTo>
                    <a:pt x="2281" y="0"/>
                    <a:pt x="1" y="2312"/>
                    <a:pt x="1" y="5099"/>
                  </a:cubicBezTo>
                  <a:cubicBezTo>
                    <a:pt x="1" y="7918"/>
                    <a:pt x="2281" y="10198"/>
                    <a:pt x="5099" y="10198"/>
                  </a:cubicBezTo>
                  <a:cubicBezTo>
                    <a:pt x="7886" y="10198"/>
                    <a:pt x="10198" y="7918"/>
                    <a:pt x="10198" y="5099"/>
                  </a:cubicBezTo>
                  <a:cubicBezTo>
                    <a:pt x="10198" y="2312"/>
                    <a:pt x="7886" y="0"/>
                    <a:pt x="509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6605975" y="3315475"/>
              <a:ext cx="394300" cy="394325"/>
            </a:xfrm>
            <a:custGeom>
              <a:avLst/>
              <a:gdLst/>
              <a:ahLst/>
              <a:cxnLst/>
              <a:rect l="l" t="t" r="r" b="b"/>
              <a:pathLst>
                <a:path w="15772" h="15773" extrusionOk="0">
                  <a:moveTo>
                    <a:pt x="7886" y="1014"/>
                  </a:moveTo>
                  <a:cubicBezTo>
                    <a:pt x="11686" y="1014"/>
                    <a:pt x="14790" y="4118"/>
                    <a:pt x="14790" y="7887"/>
                  </a:cubicBezTo>
                  <a:cubicBezTo>
                    <a:pt x="14790" y="11687"/>
                    <a:pt x="11686" y="14790"/>
                    <a:pt x="7886" y="14790"/>
                  </a:cubicBezTo>
                  <a:cubicBezTo>
                    <a:pt x="4086" y="14790"/>
                    <a:pt x="1014" y="11687"/>
                    <a:pt x="1014" y="7887"/>
                  </a:cubicBezTo>
                  <a:cubicBezTo>
                    <a:pt x="1014" y="4118"/>
                    <a:pt x="4086" y="1014"/>
                    <a:pt x="7886" y="1014"/>
                  </a:cubicBezTo>
                  <a:close/>
                  <a:moveTo>
                    <a:pt x="7886" y="1"/>
                  </a:moveTo>
                  <a:cubicBezTo>
                    <a:pt x="3547" y="1"/>
                    <a:pt x="0" y="3548"/>
                    <a:pt x="0" y="7887"/>
                  </a:cubicBezTo>
                  <a:cubicBezTo>
                    <a:pt x="0" y="12257"/>
                    <a:pt x="3547" y="15772"/>
                    <a:pt x="7886" y="15772"/>
                  </a:cubicBezTo>
                  <a:cubicBezTo>
                    <a:pt x="12256" y="15772"/>
                    <a:pt x="15772" y="12257"/>
                    <a:pt x="15772" y="7887"/>
                  </a:cubicBezTo>
                  <a:cubicBezTo>
                    <a:pt x="15772" y="3548"/>
                    <a:pt x="12225" y="1"/>
                    <a:pt x="7886"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6647150" y="2157200"/>
              <a:ext cx="178150" cy="178150"/>
            </a:xfrm>
            <a:custGeom>
              <a:avLst/>
              <a:gdLst/>
              <a:ahLst/>
              <a:cxnLst/>
              <a:rect l="l" t="t" r="r" b="b"/>
              <a:pathLst>
                <a:path w="7126" h="7126" extrusionOk="0">
                  <a:moveTo>
                    <a:pt x="3579" y="1014"/>
                  </a:moveTo>
                  <a:cubicBezTo>
                    <a:pt x="4972" y="1014"/>
                    <a:pt x="6144" y="2154"/>
                    <a:pt x="6144" y="3579"/>
                  </a:cubicBezTo>
                  <a:cubicBezTo>
                    <a:pt x="6144" y="4972"/>
                    <a:pt x="4972" y="6112"/>
                    <a:pt x="3579" y="6112"/>
                  </a:cubicBezTo>
                  <a:cubicBezTo>
                    <a:pt x="2154" y="6112"/>
                    <a:pt x="1014" y="4972"/>
                    <a:pt x="1014" y="3579"/>
                  </a:cubicBezTo>
                  <a:cubicBezTo>
                    <a:pt x="1014" y="2154"/>
                    <a:pt x="2154" y="1014"/>
                    <a:pt x="3579" y="1014"/>
                  </a:cubicBezTo>
                  <a:close/>
                  <a:moveTo>
                    <a:pt x="3579" y="0"/>
                  </a:moveTo>
                  <a:cubicBezTo>
                    <a:pt x="1615" y="0"/>
                    <a:pt x="0" y="1615"/>
                    <a:pt x="0" y="3579"/>
                  </a:cubicBezTo>
                  <a:cubicBezTo>
                    <a:pt x="0" y="5542"/>
                    <a:pt x="1615" y="7126"/>
                    <a:pt x="3579" y="7126"/>
                  </a:cubicBezTo>
                  <a:cubicBezTo>
                    <a:pt x="5542" y="7126"/>
                    <a:pt x="7126" y="5542"/>
                    <a:pt x="7126" y="3579"/>
                  </a:cubicBezTo>
                  <a:cubicBezTo>
                    <a:pt x="7126" y="1615"/>
                    <a:pt x="5542" y="0"/>
                    <a:pt x="357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4713750" y="2228450"/>
              <a:ext cx="91850" cy="91075"/>
            </a:xfrm>
            <a:custGeom>
              <a:avLst/>
              <a:gdLst/>
              <a:ahLst/>
              <a:cxnLst/>
              <a:rect l="l" t="t" r="r" b="b"/>
              <a:pathLst>
                <a:path w="3674" h="3643" extrusionOk="0">
                  <a:moveTo>
                    <a:pt x="1837" y="982"/>
                  </a:moveTo>
                  <a:cubicBezTo>
                    <a:pt x="2280" y="982"/>
                    <a:pt x="2660" y="1362"/>
                    <a:pt x="2660" y="1806"/>
                  </a:cubicBezTo>
                  <a:cubicBezTo>
                    <a:pt x="2660" y="2281"/>
                    <a:pt x="2280" y="2661"/>
                    <a:pt x="1837" y="2661"/>
                  </a:cubicBezTo>
                  <a:cubicBezTo>
                    <a:pt x="1394" y="2661"/>
                    <a:pt x="1014" y="2281"/>
                    <a:pt x="1014" y="1806"/>
                  </a:cubicBezTo>
                  <a:cubicBezTo>
                    <a:pt x="1014" y="1362"/>
                    <a:pt x="1394" y="982"/>
                    <a:pt x="1837" y="982"/>
                  </a:cubicBezTo>
                  <a:close/>
                  <a:moveTo>
                    <a:pt x="1837" y="1"/>
                  </a:moveTo>
                  <a:cubicBezTo>
                    <a:pt x="824" y="1"/>
                    <a:pt x="0" y="824"/>
                    <a:pt x="0" y="1806"/>
                  </a:cubicBezTo>
                  <a:cubicBezTo>
                    <a:pt x="0" y="2819"/>
                    <a:pt x="824" y="3642"/>
                    <a:pt x="1837" y="3642"/>
                  </a:cubicBezTo>
                  <a:cubicBezTo>
                    <a:pt x="2850" y="3642"/>
                    <a:pt x="3674" y="2819"/>
                    <a:pt x="3674" y="1806"/>
                  </a:cubicBezTo>
                  <a:cubicBezTo>
                    <a:pt x="3674" y="824"/>
                    <a:pt x="2850" y="1"/>
                    <a:pt x="1837"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3606900" y="2093075"/>
              <a:ext cx="152850" cy="153600"/>
            </a:xfrm>
            <a:custGeom>
              <a:avLst/>
              <a:gdLst/>
              <a:ahLst/>
              <a:cxnLst/>
              <a:rect l="l" t="t" r="r" b="b"/>
              <a:pathLst>
                <a:path w="6114" h="6144" extrusionOk="0">
                  <a:moveTo>
                    <a:pt x="3073" y="1014"/>
                  </a:moveTo>
                  <a:cubicBezTo>
                    <a:pt x="4181" y="1014"/>
                    <a:pt x="5131" y="1932"/>
                    <a:pt x="5131" y="3072"/>
                  </a:cubicBezTo>
                  <a:cubicBezTo>
                    <a:pt x="5131" y="4212"/>
                    <a:pt x="4181" y="5131"/>
                    <a:pt x="3073" y="5131"/>
                  </a:cubicBezTo>
                  <a:cubicBezTo>
                    <a:pt x="1933" y="5131"/>
                    <a:pt x="1014" y="4212"/>
                    <a:pt x="1014" y="3072"/>
                  </a:cubicBezTo>
                  <a:cubicBezTo>
                    <a:pt x="1014" y="1932"/>
                    <a:pt x="1933" y="1014"/>
                    <a:pt x="3073" y="1014"/>
                  </a:cubicBezTo>
                  <a:close/>
                  <a:moveTo>
                    <a:pt x="3073" y="0"/>
                  </a:moveTo>
                  <a:cubicBezTo>
                    <a:pt x="1363" y="0"/>
                    <a:pt x="1" y="1394"/>
                    <a:pt x="1" y="3072"/>
                  </a:cubicBezTo>
                  <a:cubicBezTo>
                    <a:pt x="1" y="4751"/>
                    <a:pt x="1363" y="6144"/>
                    <a:pt x="3073" y="6144"/>
                  </a:cubicBezTo>
                  <a:cubicBezTo>
                    <a:pt x="4751" y="6144"/>
                    <a:pt x="6113" y="4751"/>
                    <a:pt x="6113" y="3072"/>
                  </a:cubicBezTo>
                  <a:cubicBezTo>
                    <a:pt x="6113" y="1394"/>
                    <a:pt x="4751" y="0"/>
                    <a:pt x="307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4774700" y="1416150"/>
              <a:ext cx="152825" cy="152825"/>
            </a:xfrm>
            <a:custGeom>
              <a:avLst/>
              <a:gdLst/>
              <a:ahLst/>
              <a:cxnLst/>
              <a:rect l="l" t="t" r="r" b="b"/>
              <a:pathLst>
                <a:path w="6113" h="6113" extrusionOk="0">
                  <a:moveTo>
                    <a:pt x="3041" y="1014"/>
                  </a:moveTo>
                  <a:cubicBezTo>
                    <a:pt x="4181" y="1014"/>
                    <a:pt x="5099" y="1932"/>
                    <a:pt x="5099" y="3072"/>
                  </a:cubicBezTo>
                  <a:cubicBezTo>
                    <a:pt x="5099" y="4212"/>
                    <a:pt x="4181" y="5131"/>
                    <a:pt x="3041" y="5131"/>
                  </a:cubicBezTo>
                  <a:cubicBezTo>
                    <a:pt x="1901" y="5131"/>
                    <a:pt x="983" y="4212"/>
                    <a:pt x="983" y="3072"/>
                  </a:cubicBezTo>
                  <a:cubicBezTo>
                    <a:pt x="983" y="1932"/>
                    <a:pt x="1901" y="1014"/>
                    <a:pt x="3041" y="1014"/>
                  </a:cubicBezTo>
                  <a:close/>
                  <a:moveTo>
                    <a:pt x="3041" y="0"/>
                  </a:moveTo>
                  <a:cubicBezTo>
                    <a:pt x="1363" y="0"/>
                    <a:pt x="1" y="1394"/>
                    <a:pt x="1" y="3072"/>
                  </a:cubicBezTo>
                  <a:cubicBezTo>
                    <a:pt x="1" y="4751"/>
                    <a:pt x="1363" y="6112"/>
                    <a:pt x="3041" y="6112"/>
                  </a:cubicBezTo>
                  <a:cubicBezTo>
                    <a:pt x="4751" y="6112"/>
                    <a:pt x="6113" y="4751"/>
                    <a:pt x="6113" y="3072"/>
                  </a:cubicBezTo>
                  <a:cubicBezTo>
                    <a:pt x="6113" y="1394"/>
                    <a:pt x="4751" y="0"/>
                    <a:pt x="304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2681375" y="4073950"/>
              <a:ext cx="197975" cy="197175"/>
            </a:xfrm>
            <a:custGeom>
              <a:avLst/>
              <a:gdLst/>
              <a:ahLst/>
              <a:cxnLst/>
              <a:rect l="l" t="t" r="r" b="b"/>
              <a:pathLst>
                <a:path w="7919" h="7887" extrusionOk="0">
                  <a:moveTo>
                    <a:pt x="3959" y="982"/>
                  </a:moveTo>
                  <a:cubicBezTo>
                    <a:pt x="5575" y="982"/>
                    <a:pt x="6905" y="2313"/>
                    <a:pt x="6905" y="3928"/>
                  </a:cubicBezTo>
                  <a:cubicBezTo>
                    <a:pt x="6905" y="5574"/>
                    <a:pt x="5575" y="6873"/>
                    <a:pt x="3959" y="6873"/>
                  </a:cubicBezTo>
                  <a:cubicBezTo>
                    <a:pt x="2344" y="6873"/>
                    <a:pt x="1014" y="5574"/>
                    <a:pt x="1014" y="3928"/>
                  </a:cubicBezTo>
                  <a:cubicBezTo>
                    <a:pt x="1014" y="2313"/>
                    <a:pt x="2344" y="982"/>
                    <a:pt x="3959" y="982"/>
                  </a:cubicBezTo>
                  <a:close/>
                  <a:moveTo>
                    <a:pt x="3959" y="1"/>
                  </a:moveTo>
                  <a:cubicBezTo>
                    <a:pt x="1774" y="1"/>
                    <a:pt x="1" y="1774"/>
                    <a:pt x="1" y="3928"/>
                  </a:cubicBezTo>
                  <a:cubicBezTo>
                    <a:pt x="1" y="6113"/>
                    <a:pt x="1774" y="7886"/>
                    <a:pt x="3959" y="7886"/>
                  </a:cubicBezTo>
                  <a:cubicBezTo>
                    <a:pt x="6145" y="7886"/>
                    <a:pt x="7886" y="6113"/>
                    <a:pt x="7918" y="3928"/>
                  </a:cubicBezTo>
                  <a:cubicBezTo>
                    <a:pt x="7918" y="1774"/>
                    <a:pt x="6145" y="1"/>
                    <a:pt x="395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13"/>
          <p:cNvSpPr txBox="1"/>
          <p:nvPr/>
        </p:nvSpPr>
        <p:spPr>
          <a:xfrm>
            <a:off x="457200" y="1488113"/>
            <a:ext cx="3231000" cy="157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5000" dirty="0">
                <a:latin typeface="Fira Sans Extra Condensed SemiBold"/>
                <a:ea typeface="Fira Sans Extra Condensed SemiBold"/>
                <a:cs typeface="Fira Sans Extra Condensed SemiBold"/>
                <a:sym typeface="Fira Sans Extra Condensed SemiBold"/>
              </a:rPr>
              <a:t>Gestion de</a:t>
            </a:r>
          </a:p>
          <a:p>
            <a:pPr marL="0" lvl="0" indent="0" algn="l" rtl="0">
              <a:lnSpc>
                <a:spcPct val="100000"/>
              </a:lnSpc>
              <a:spcBef>
                <a:spcPts val="0"/>
              </a:spcBef>
              <a:spcAft>
                <a:spcPts val="0"/>
              </a:spcAft>
              <a:buNone/>
            </a:pPr>
            <a:r>
              <a:rPr lang="fr-FR" sz="5000" dirty="0">
                <a:solidFill>
                  <a:srgbClr val="00002A"/>
                </a:solidFill>
                <a:highlight>
                  <a:srgbClr val="FFFFFF"/>
                </a:highlight>
                <a:latin typeface="Fira Sans Extra Condensed SemiBold"/>
                <a:ea typeface="Fira Sans Extra Condensed SemiBold"/>
                <a:cs typeface="Fira Sans Extra Condensed SemiBold"/>
                <a:sym typeface="Fira Sans Extra Condensed SemiBold"/>
              </a:rPr>
              <a:t>L</a:t>
            </a:r>
            <a:r>
              <a:rPr lang="en" sz="5000" dirty="0">
                <a:solidFill>
                  <a:srgbClr val="00002A"/>
                </a:solidFill>
                <a:highlight>
                  <a:srgbClr val="FFFFFF"/>
                </a:highlight>
                <a:latin typeface="Fira Sans Extra Condensed SemiBold"/>
                <a:ea typeface="Fira Sans Extra Condensed SemiBold"/>
                <a:cs typeface="Fira Sans Extra Condensed SemiBold"/>
                <a:sym typeface="Fira Sans Extra Condensed SemiBold"/>
              </a:rPr>
              <a:t>a mémoire</a:t>
            </a:r>
            <a:endParaRPr sz="5000" dirty="0">
              <a:solidFill>
                <a:srgbClr val="00002A"/>
              </a:solidFill>
              <a:highlight>
                <a:srgbClr val="FFFFFF"/>
              </a:highlight>
              <a:latin typeface="Fira Sans Extra Condensed SemiBold"/>
              <a:ea typeface="Fira Sans Extra Condensed SemiBold"/>
              <a:cs typeface="Fira Sans Extra Condensed SemiBold"/>
              <a:sym typeface="Fira Sans Extra Condensed SemiBold"/>
            </a:endParaRPr>
          </a:p>
        </p:txBody>
      </p:sp>
      <p:pic>
        <p:nvPicPr>
          <p:cNvPr id="5" name="Image 4">
            <a:extLst>
              <a:ext uri="{FF2B5EF4-FFF2-40B4-BE49-F238E27FC236}">
                <a16:creationId xmlns:a16="http://schemas.microsoft.com/office/drawing/2014/main" id="{4FC95CA7-E63F-D2D9-9FF0-F82C82DA241D}"/>
              </a:ext>
            </a:extLst>
          </p:cNvPr>
          <p:cNvPicPr>
            <a:picLocks noChangeAspect="1"/>
          </p:cNvPicPr>
          <p:nvPr/>
        </p:nvPicPr>
        <p:blipFill>
          <a:blip r:embed="rId3"/>
          <a:stretch>
            <a:fillRect/>
          </a:stretch>
        </p:blipFill>
        <p:spPr>
          <a:xfrm>
            <a:off x="6906175" y="2186297"/>
            <a:ext cx="1180960" cy="1599875"/>
          </a:xfrm>
          <a:prstGeom prst="rect">
            <a:avLst/>
          </a:prstGeom>
        </p:spPr>
      </p:pic>
      <p:pic>
        <p:nvPicPr>
          <p:cNvPr id="3" name="Image 2">
            <a:extLst>
              <a:ext uri="{FF2B5EF4-FFF2-40B4-BE49-F238E27FC236}">
                <a16:creationId xmlns:a16="http://schemas.microsoft.com/office/drawing/2014/main" id="{27E15361-5820-AB36-15E9-597A419D2394}"/>
              </a:ext>
            </a:extLst>
          </p:cNvPr>
          <p:cNvPicPr>
            <a:picLocks noChangeAspect="1"/>
          </p:cNvPicPr>
          <p:nvPr/>
        </p:nvPicPr>
        <p:blipFill>
          <a:blip r:embed="rId4"/>
          <a:stretch>
            <a:fillRect/>
          </a:stretch>
        </p:blipFill>
        <p:spPr>
          <a:xfrm>
            <a:off x="5031991" y="2487559"/>
            <a:ext cx="1817955" cy="912477"/>
          </a:xfrm>
          <a:prstGeom prst="rect">
            <a:avLst/>
          </a:prstGeom>
        </p:spPr>
      </p:pic>
      <p:sp>
        <p:nvSpPr>
          <p:cNvPr id="6" name="ZoneTexte 5">
            <a:extLst>
              <a:ext uri="{FF2B5EF4-FFF2-40B4-BE49-F238E27FC236}">
                <a16:creationId xmlns:a16="http://schemas.microsoft.com/office/drawing/2014/main" id="{09EC5096-FE36-C937-672B-E342102BC763}"/>
              </a:ext>
            </a:extLst>
          </p:cNvPr>
          <p:cNvSpPr txBox="1"/>
          <p:nvPr/>
        </p:nvSpPr>
        <p:spPr>
          <a:xfrm>
            <a:off x="6490563" y="4572000"/>
            <a:ext cx="2066591" cy="369332"/>
          </a:xfrm>
          <a:prstGeom prst="rect">
            <a:avLst/>
          </a:prstGeom>
          <a:noFill/>
        </p:spPr>
        <p:txBody>
          <a:bodyPr wrap="none" rtlCol="0">
            <a:spAutoFit/>
          </a:bodyPr>
          <a:lstStyle/>
          <a:p>
            <a:r>
              <a:rPr lang="fr-FR" sz="1800" b="1" dirty="0">
                <a:latin typeface="Aptos" panose="020B0004020202020204" pitchFamily="34" charset="0"/>
              </a:rPr>
              <a:t>Réalisé par: </a:t>
            </a:r>
            <a:r>
              <a:rPr lang="fr-FR" sz="1800" b="1" dirty="0" err="1">
                <a:latin typeface="Aptos" panose="020B0004020202020204" pitchFamily="34" charset="0"/>
              </a:rPr>
              <a:t>Grp</a:t>
            </a:r>
            <a:r>
              <a:rPr lang="fr-FR" sz="1800" b="1" dirty="0">
                <a:latin typeface="Aptos" panose="020B0004020202020204" pitchFamily="34" charset="0"/>
              </a:rPr>
              <a:t> C</a:t>
            </a:r>
          </a:p>
        </p:txBody>
      </p:sp>
      <p:sp>
        <p:nvSpPr>
          <p:cNvPr id="7" name="ZoneTexte 6">
            <a:extLst>
              <a:ext uri="{FF2B5EF4-FFF2-40B4-BE49-F238E27FC236}">
                <a16:creationId xmlns:a16="http://schemas.microsoft.com/office/drawing/2014/main" id="{27F64762-A113-730F-E68D-BF5D0723C0EF}"/>
              </a:ext>
            </a:extLst>
          </p:cNvPr>
          <p:cNvSpPr txBox="1"/>
          <p:nvPr/>
        </p:nvSpPr>
        <p:spPr>
          <a:xfrm>
            <a:off x="762000" y="4572000"/>
            <a:ext cx="3425938" cy="369332"/>
          </a:xfrm>
          <a:prstGeom prst="rect">
            <a:avLst/>
          </a:prstGeom>
          <a:noFill/>
        </p:spPr>
        <p:txBody>
          <a:bodyPr wrap="none" rtlCol="0">
            <a:spAutoFit/>
          </a:bodyPr>
          <a:lstStyle/>
          <a:p>
            <a:r>
              <a:rPr lang="fr-FR" sz="1800" b="1" dirty="0">
                <a:latin typeface="Aptos" panose="020B0004020202020204" pitchFamily="34" charset="0"/>
              </a:rPr>
              <a:t>Présenté par: Oualid &amp; </a:t>
            </a:r>
            <a:r>
              <a:rPr lang="fr-FR" sz="1800" b="1" dirty="0" err="1">
                <a:latin typeface="Aptos" panose="020B0004020202020204" pitchFamily="34" charset="0"/>
              </a:rPr>
              <a:t>Sinnally</a:t>
            </a:r>
            <a:endParaRPr lang="fr-FR" sz="1800" b="1" dirty="0">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8"/>
        <p:cNvGrpSpPr/>
        <p:nvPr/>
      </p:nvGrpSpPr>
      <p:grpSpPr>
        <a:xfrm>
          <a:off x="0" y="0"/>
          <a:ext cx="0" cy="0"/>
          <a:chOff x="0" y="0"/>
          <a:chExt cx="0" cy="0"/>
        </a:xfrm>
      </p:grpSpPr>
      <p:grpSp>
        <p:nvGrpSpPr>
          <p:cNvPr id="1643" name="Google Shape;1643;p20"/>
          <p:cNvGrpSpPr/>
          <p:nvPr/>
        </p:nvGrpSpPr>
        <p:grpSpPr>
          <a:xfrm>
            <a:off x="7002705" y="1494746"/>
            <a:ext cx="987877" cy="1111795"/>
            <a:chOff x="7228274" y="1201022"/>
            <a:chExt cx="1260851" cy="1419011"/>
          </a:xfrm>
        </p:grpSpPr>
        <p:sp>
          <p:nvSpPr>
            <p:cNvPr id="1644" name="Google Shape;1644;p20"/>
            <p:cNvSpPr/>
            <p:nvPr/>
          </p:nvSpPr>
          <p:spPr>
            <a:xfrm>
              <a:off x="7682044" y="2249445"/>
              <a:ext cx="335007" cy="370588"/>
            </a:xfrm>
            <a:custGeom>
              <a:avLst/>
              <a:gdLst/>
              <a:ahLst/>
              <a:cxnLst/>
              <a:rect l="l" t="t" r="r" b="b"/>
              <a:pathLst>
                <a:path w="10451" h="11561" extrusionOk="0">
                  <a:moveTo>
                    <a:pt x="0" y="1"/>
                  </a:moveTo>
                  <a:lnTo>
                    <a:pt x="5226" y="11560"/>
                  </a:lnTo>
                  <a:lnTo>
                    <a:pt x="1045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0"/>
            <p:cNvSpPr/>
            <p:nvPr/>
          </p:nvSpPr>
          <p:spPr>
            <a:xfrm>
              <a:off x="7228274" y="1201022"/>
              <a:ext cx="1260851" cy="1152826"/>
            </a:xfrm>
            <a:custGeom>
              <a:avLst/>
              <a:gdLst/>
              <a:ahLst/>
              <a:cxnLst/>
              <a:rect l="l" t="t" r="r" b="b"/>
              <a:pathLst>
                <a:path w="39334" h="35964" extrusionOk="0">
                  <a:moveTo>
                    <a:pt x="18888" y="1"/>
                  </a:moveTo>
                  <a:cubicBezTo>
                    <a:pt x="13304" y="1"/>
                    <a:pt x="7787" y="2456"/>
                    <a:pt x="4149" y="7119"/>
                  </a:cubicBezTo>
                  <a:cubicBezTo>
                    <a:pt x="2217" y="9590"/>
                    <a:pt x="1045" y="12377"/>
                    <a:pt x="602" y="15258"/>
                  </a:cubicBezTo>
                  <a:cubicBezTo>
                    <a:pt x="0" y="19027"/>
                    <a:pt x="633" y="22891"/>
                    <a:pt x="2470" y="26279"/>
                  </a:cubicBezTo>
                  <a:cubicBezTo>
                    <a:pt x="3262" y="27799"/>
                    <a:pt x="4307" y="29224"/>
                    <a:pt x="5606" y="30491"/>
                  </a:cubicBezTo>
                  <a:cubicBezTo>
                    <a:pt x="6239" y="31124"/>
                    <a:pt x="6936" y="31758"/>
                    <a:pt x="7696" y="32296"/>
                  </a:cubicBezTo>
                  <a:cubicBezTo>
                    <a:pt x="11040" y="34769"/>
                    <a:pt x="14967" y="35963"/>
                    <a:pt x="18862" y="35963"/>
                  </a:cubicBezTo>
                  <a:cubicBezTo>
                    <a:pt x="24446" y="35963"/>
                    <a:pt x="29963" y="33508"/>
                    <a:pt x="33601" y="28844"/>
                  </a:cubicBezTo>
                  <a:cubicBezTo>
                    <a:pt x="39333" y="21529"/>
                    <a:pt x="38383" y="11300"/>
                    <a:pt x="31764" y="5061"/>
                  </a:cubicBezTo>
                  <a:lnTo>
                    <a:pt x="31733" y="5061"/>
                  </a:lnTo>
                  <a:cubicBezTo>
                    <a:pt x="31226" y="4554"/>
                    <a:pt x="30656" y="4111"/>
                    <a:pt x="30054" y="3668"/>
                  </a:cubicBezTo>
                  <a:cubicBezTo>
                    <a:pt x="26710" y="1195"/>
                    <a:pt x="22782" y="1"/>
                    <a:pt x="1888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0"/>
            <p:cNvSpPr/>
            <p:nvPr/>
          </p:nvSpPr>
          <p:spPr>
            <a:xfrm>
              <a:off x="7407942" y="1363221"/>
              <a:ext cx="1081183" cy="990628"/>
            </a:xfrm>
            <a:custGeom>
              <a:avLst/>
              <a:gdLst/>
              <a:ahLst/>
              <a:cxnLst/>
              <a:rect l="l" t="t" r="r" b="b"/>
              <a:pathLst>
                <a:path w="33729" h="30904" extrusionOk="0">
                  <a:moveTo>
                    <a:pt x="26128" y="1"/>
                  </a:moveTo>
                  <a:lnTo>
                    <a:pt x="19224" y="6746"/>
                  </a:lnTo>
                  <a:lnTo>
                    <a:pt x="8678" y="16976"/>
                  </a:lnTo>
                  <a:lnTo>
                    <a:pt x="1077" y="24386"/>
                  </a:lnTo>
                  <a:lnTo>
                    <a:pt x="1" y="25431"/>
                  </a:lnTo>
                  <a:cubicBezTo>
                    <a:pt x="634" y="26064"/>
                    <a:pt x="1331" y="26698"/>
                    <a:pt x="2091" y="27236"/>
                  </a:cubicBezTo>
                  <a:cubicBezTo>
                    <a:pt x="5435" y="29709"/>
                    <a:pt x="9362" y="30903"/>
                    <a:pt x="13257" y="30903"/>
                  </a:cubicBezTo>
                  <a:cubicBezTo>
                    <a:pt x="18841" y="30903"/>
                    <a:pt x="24358" y="28448"/>
                    <a:pt x="27996" y="23784"/>
                  </a:cubicBezTo>
                  <a:cubicBezTo>
                    <a:pt x="33728" y="16469"/>
                    <a:pt x="32778" y="6240"/>
                    <a:pt x="26159"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20"/>
          <p:cNvGrpSpPr/>
          <p:nvPr/>
        </p:nvGrpSpPr>
        <p:grpSpPr>
          <a:xfrm>
            <a:off x="1133139" y="1494746"/>
            <a:ext cx="1024471" cy="1111795"/>
            <a:chOff x="643984" y="1201022"/>
            <a:chExt cx="1307556" cy="1419011"/>
          </a:xfrm>
        </p:grpSpPr>
        <p:sp>
          <p:nvSpPr>
            <p:cNvPr id="1651" name="Google Shape;1651;p20"/>
            <p:cNvSpPr/>
            <p:nvPr/>
          </p:nvSpPr>
          <p:spPr>
            <a:xfrm>
              <a:off x="1135323" y="2249445"/>
              <a:ext cx="334013" cy="370588"/>
            </a:xfrm>
            <a:custGeom>
              <a:avLst/>
              <a:gdLst/>
              <a:ahLst/>
              <a:cxnLst/>
              <a:rect l="l" t="t" r="r" b="b"/>
              <a:pathLst>
                <a:path w="10420" h="11561" extrusionOk="0">
                  <a:moveTo>
                    <a:pt x="0" y="1"/>
                  </a:moveTo>
                  <a:lnTo>
                    <a:pt x="5226" y="11560"/>
                  </a:lnTo>
                  <a:lnTo>
                    <a:pt x="10419" y="1"/>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0"/>
            <p:cNvSpPr/>
            <p:nvPr/>
          </p:nvSpPr>
          <p:spPr>
            <a:xfrm>
              <a:off x="643984" y="1201022"/>
              <a:ext cx="1307556" cy="1152826"/>
            </a:xfrm>
            <a:custGeom>
              <a:avLst/>
              <a:gdLst/>
              <a:ahLst/>
              <a:cxnLst/>
              <a:rect l="l" t="t" r="r" b="b"/>
              <a:pathLst>
                <a:path w="40791" h="35964" extrusionOk="0">
                  <a:moveTo>
                    <a:pt x="20535" y="1"/>
                  </a:moveTo>
                  <a:cubicBezTo>
                    <a:pt x="14951" y="1"/>
                    <a:pt x="9434" y="2456"/>
                    <a:pt x="5796" y="7119"/>
                  </a:cubicBezTo>
                  <a:cubicBezTo>
                    <a:pt x="1" y="14530"/>
                    <a:pt x="1046" y="24917"/>
                    <a:pt x="7918" y="31124"/>
                  </a:cubicBezTo>
                  <a:cubicBezTo>
                    <a:pt x="8393" y="31536"/>
                    <a:pt x="8868" y="31948"/>
                    <a:pt x="9375" y="32296"/>
                  </a:cubicBezTo>
                  <a:cubicBezTo>
                    <a:pt x="12719" y="34769"/>
                    <a:pt x="16646" y="35963"/>
                    <a:pt x="20541" y="35963"/>
                  </a:cubicBezTo>
                  <a:cubicBezTo>
                    <a:pt x="26125" y="35963"/>
                    <a:pt x="31642" y="33508"/>
                    <a:pt x="35280" y="28844"/>
                  </a:cubicBezTo>
                  <a:cubicBezTo>
                    <a:pt x="40790" y="21782"/>
                    <a:pt x="40094" y="11996"/>
                    <a:pt x="34076" y="5726"/>
                  </a:cubicBezTo>
                  <a:cubicBezTo>
                    <a:pt x="33348" y="4966"/>
                    <a:pt x="32588" y="4301"/>
                    <a:pt x="31701" y="3668"/>
                  </a:cubicBezTo>
                  <a:cubicBezTo>
                    <a:pt x="28357" y="1195"/>
                    <a:pt x="24430" y="1"/>
                    <a:pt x="2053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0"/>
            <p:cNvSpPr/>
            <p:nvPr/>
          </p:nvSpPr>
          <p:spPr>
            <a:xfrm>
              <a:off x="1154621" y="1737719"/>
              <a:ext cx="270063" cy="231597"/>
            </a:xfrm>
            <a:custGeom>
              <a:avLst/>
              <a:gdLst/>
              <a:ahLst/>
              <a:cxnLst/>
              <a:rect l="l" t="t" r="r" b="b"/>
              <a:pathLst>
                <a:path w="8425" h="7225" extrusionOk="0">
                  <a:moveTo>
                    <a:pt x="486" y="1"/>
                  </a:moveTo>
                  <a:cubicBezTo>
                    <a:pt x="472" y="1"/>
                    <a:pt x="458" y="2"/>
                    <a:pt x="443" y="4"/>
                  </a:cubicBezTo>
                  <a:cubicBezTo>
                    <a:pt x="190" y="35"/>
                    <a:pt x="0" y="225"/>
                    <a:pt x="0" y="479"/>
                  </a:cubicBezTo>
                  <a:cubicBezTo>
                    <a:pt x="127" y="2569"/>
                    <a:pt x="1742" y="4216"/>
                    <a:pt x="3769" y="4437"/>
                  </a:cubicBezTo>
                  <a:lnTo>
                    <a:pt x="3769" y="6781"/>
                  </a:lnTo>
                  <a:cubicBezTo>
                    <a:pt x="3769" y="7003"/>
                    <a:pt x="3959" y="7224"/>
                    <a:pt x="4212" y="7224"/>
                  </a:cubicBezTo>
                  <a:cubicBezTo>
                    <a:pt x="4465" y="7224"/>
                    <a:pt x="4655" y="7003"/>
                    <a:pt x="4655" y="6781"/>
                  </a:cubicBezTo>
                  <a:lnTo>
                    <a:pt x="4655" y="4437"/>
                  </a:lnTo>
                  <a:cubicBezTo>
                    <a:pt x="6682" y="4216"/>
                    <a:pt x="8297" y="2569"/>
                    <a:pt x="8424" y="479"/>
                  </a:cubicBezTo>
                  <a:cubicBezTo>
                    <a:pt x="8424" y="225"/>
                    <a:pt x="8234" y="35"/>
                    <a:pt x="7981" y="4"/>
                  </a:cubicBezTo>
                  <a:cubicBezTo>
                    <a:pt x="7966" y="2"/>
                    <a:pt x="7952" y="1"/>
                    <a:pt x="7938" y="1"/>
                  </a:cubicBezTo>
                  <a:cubicBezTo>
                    <a:pt x="7731" y="1"/>
                    <a:pt x="7535" y="210"/>
                    <a:pt x="7506" y="447"/>
                  </a:cubicBezTo>
                  <a:cubicBezTo>
                    <a:pt x="7411" y="2189"/>
                    <a:pt x="5986" y="3582"/>
                    <a:pt x="4212" y="3582"/>
                  </a:cubicBezTo>
                  <a:cubicBezTo>
                    <a:pt x="2470" y="3582"/>
                    <a:pt x="1013" y="2189"/>
                    <a:pt x="918" y="447"/>
                  </a:cubicBezTo>
                  <a:cubicBezTo>
                    <a:pt x="889" y="210"/>
                    <a:pt x="693" y="1"/>
                    <a:pt x="486"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57" name="Google Shape;1657;p20"/>
          <p:cNvGrpSpPr/>
          <p:nvPr/>
        </p:nvGrpSpPr>
        <p:grpSpPr>
          <a:xfrm>
            <a:off x="3919525" y="1494745"/>
            <a:ext cx="994256" cy="1111796"/>
            <a:chOff x="5090241" y="1201022"/>
            <a:chExt cx="1268993" cy="1419011"/>
          </a:xfrm>
        </p:grpSpPr>
        <p:sp>
          <p:nvSpPr>
            <p:cNvPr id="1658" name="Google Shape;1658;p20"/>
            <p:cNvSpPr/>
            <p:nvPr/>
          </p:nvSpPr>
          <p:spPr>
            <a:xfrm>
              <a:off x="5502497" y="2249445"/>
              <a:ext cx="335039" cy="370588"/>
            </a:xfrm>
            <a:custGeom>
              <a:avLst/>
              <a:gdLst/>
              <a:ahLst/>
              <a:cxnLst/>
              <a:rect l="l" t="t" r="r" b="b"/>
              <a:pathLst>
                <a:path w="10452" h="11561" extrusionOk="0">
                  <a:moveTo>
                    <a:pt x="1" y="1"/>
                  </a:moveTo>
                  <a:lnTo>
                    <a:pt x="5226" y="11560"/>
                  </a:lnTo>
                  <a:lnTo>
                    <a:pt x="10451"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0"/>
            <p:cNvSpPr/>
            <p:nvPr/>
          </p:nvSpPr>
          <p:spPr>
            <a:xfrm>
              <a:off x="5090241" y="1201022"/>
              <a:ext cx="1268993" cy="1152826"/>
            </a:xfrm>
            <a:custGeom>
              <a:avLst/>
              <a:gdLst/>
              <a:ahLst/>
              <a:cxnLst/>
              <a:rect l="l" t="t" r="r" b="b"/>
              <a:pathLst>
                <a:path w="39588" h="35964" extrusionOk="0">
                  <a:moveTo>
                    <a:pt x="19142" y="1"/>
                  </a:moveTo>
                  <a:cubicBezTo>
                    <a:pt x="13558" y="1"/>
                    <a:pt x="8041" y="2456"/>
                    <a:pt x="4403" y="7119"/>
                  </a:cubicBezTo>
                  <a:cubicBezTo>
                    <a:pt x="2788" y="9210"/>
                    <a:pt x="1679" y="11490"/>
                    <a:pt x="1109" y="13897"/>
                  </a:cubicBezTo>
                  <a:cubicBezTo>
                    <a:pt x="1" y="18520"/>
                    <a:pt x="824" y="23397"/>
                    <a:pt x="3390" y="27451"/>
                  </a:cubicBezTo>
                  <a:cubicBezTo>
                    <a:pt x="4086" y="28496"/>
                    <a:pt x="4878" y="29509"/>
                    <a:pt x="5796" y="30428"/>
                  </a:cubicBezTo>
                  <a:cubicBezTo>
                    <a:pt x="6430" y="31093"/>
                    <a:pt x="7158" y="31726"/>
                    <a:pt x="7950" y="32296"/>
                  </a:cubicBezTo>
                  <a:cubicBezTo>
                    <a:pt x="11294" y="34769"/>
                    <a:pt x="15222" y="35963"/>
                    <a:pt x="19116" y="35963"/>
                  </a:cubicBezTo>
                  <a:cubicBezTo>
                    <a:pt x="24700" y="35963"/>
                    <a:pt x="30217" y="33508"/>
                    <a:pt x="33855" y="28844"/>
                  </a:cubicBezTo>
                  <a:cubicBezTo>
                    <a:pt x="39587" y="21497"/>
                    <a:pt x="38637" y="11236"/>
                    <a:pt x="31955" y="4998"/>
                  </a:cubicBezTo>
                  <a:cubicBezTo>
                    <a:pt x="31448" y="4523"/>
                    <a:pt x="30878" y="4079"/>
                    <a:pt x="30308" y="3668"/>
                  </a:cubicBezTo>
                  <a:cubicBezTo>
                    <a:pt x="26964" y="1195"/>
                    <a:pt x="23037" y="1"/>
                    <a:pt x="19142"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78" name="Google Shape;1678;p20"/>
          <p:cNvSpPr txBox="1"/>
          <p:nvPr/>
        </p:nvSpPr>
        <p:spPr>
          <a:xfrm>
            <a:off x="887900" y="2807702"/>
            <a:ext cx="19696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FFA66F"/>
                </a:solidFill>
                <a:latin typeface="Fira Sans Medium"/>
                <a:ea typeface="Fira Sans Medium"/>
                <a:cs typeface="Fira Sans Medium"/>
                <a:sym typeface="Fira Sans Medium"/>
              </a:rPr>
              <a:t>Introduction</a:t>
            </a:r>
            <a:endParaRPr sz="2400" dirty="0">
              <a:solidFill>
                <a:srgbClr val="FFA66F"/>
              </a:solidFill>
              <a:latin typeface="Fira Sans Medium"/>
              <a:ea typeface="Fira Sans Medium"/>
              <a:cs typeface="Fira Sans Medium"/>
              <a:sym typeface="Fira Sans Medium"/>
            </a:endParaRPr>
          </a:p>
        </p:txBody>
      </p:sp>
      <p:sp>
        <p:nvSpPr>
          <p:cNvPr id="1682" name="Google Shape;1682;p20"/>
          <p:cNvSpPr txBox="1"/>
          <p:nvPr/>
        </p:nvSpPr>
        <p:spPr>
          <a:xfrm>
            <a:off x="3676132" y="2808740"/>
            <a:ext cx="15189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C4C4C4"/>
                </a:solidFill>
                <a:latin typeface="Fira Sans Medium"/>
                <a:ea typeface="Fira Sans Medium"/>
                <a:cs typeface="Fira Sans Medium"/>
                <a:sym typeface="Fira Sans Medium"/>
              </a:rPr>
              <a:t>Objectifs</a:t>
            </a:r>
            <a:endParaRPr sz="2400" dirty="0">
              <a:solidFill>
                <a:srgbClr val="C4C4C4"/>
              </a:solidFill>
              <a:latin typeface="Fira Sans Medium"/>
              <a:ea typeface="Fira Sans Medium"/>
              <a:cs typeface="Fira Sans Medium"/>
              <a:sym typeface="Fira Sans Medium"/>
            </a:endParaRPr>
          </a:p>
        </p:txBody>
      </p:sp>
      <p:sp>
        <p:nvSpPr>
          <p:cNvPr id="1684" name="Google Shape;1684;p20"/>
          <p:cNvSpPr txBox="1"/>
          <p:nvPr/>
        </p:nvSpPr>
        <p:spPr>
          <a:xfrm>
            <a:off x="6737193" y="2701124"/>
            <a:ext cx="1690200" cy="69435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2000" dirty="0">
                <a:solidFill>
                  <a:srgbClr val="30475E"/>
                </a:solidFill>
                <a:latin typeface="Fira Sans Medium"/>
                <a:ea typeface="Fira Sans Medium"/>
                <a:cs typeface="Fira Sans Medium"/>
                <a:sym typeface="Fira Sans Medium"/>
              </a:rPr>
              <a:t>Stratégie d’Allocation Mémoire</a:t>
            </a:r>
          </a:p>
        </p:txBody>
      </p:sp>
      <p:sp>
        <p:nvSpPr>
          <p:cNvPr id="1686" name="Google Shape;1686;p20"/>
          <p:cNvSpPr txBox="1"/>
          <p:nvPr/>
        </p:nvSpPr>
        <p:spPr>
          <a:xfrm>
            <a:off x="429294" y="3352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latin typeface="Fira Sans Medium"/>
                <a:ea typeface="Fira Sans Medium"/>
                <a:cs typeface="Fira Sans Medium"/>
                <a:sym typeface="Fira Sans Medium"/>
              </a:rPr>
              <a:t>PLAN</a:t>
            </a:r>
            <a:endParaRPr sz="2800" dirty="0">
              <a:latin typeface="Fira Sans Medium"/>
              <a:ea typeface="Fira Sans Medium"/>
              <a:cs typeface="Fira Sans Medium"/>
              <a:sym typeface="Fira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5" name="Google Shape;5225;p43"/>
          <p:cNvSpPr/>
          <p:nvPr/>
        </p:nvSpPr>
        <p:spPr>
          <a:xfrm>
            <a:off x="316597" y="359937"/>
            <a:ext cx="2584000" cy="767292"/>
          </a:xfrm>
          <a:custGeom>
            <a:avLst/>
            <a:gdLst/>
            <a:ahLst/>
            <a:cxnLst/>
            <a:rect l="l" t="t" r="r" b="b"/>
            <a:pathLst>
              <a:path w="67931" h="23879" extrusionOk="0">
                <a:moveTo>
                  <a:pt x="55992" y="1"/>
                </a:moveTo>
                <a:lnTo>
                  <a:pt x="11940" y="1"/>
                </a:lnTo>
                <a:cubicBezTo>
                  <a:pt x="5321" y="1"/>
                  <a:pt x="1" y="5353"/>
                  <a:pt x="1" y="11940"/>
                </a:cubicBezTo>
                <a:lnTo>
                  <a:pt x="1" y="11940"/>
                </a:lnTo>
                <a:cubicBezTo>
                  <a:pt x="1" y="18527"/>
                  <a:pt x="5321" y="23879"/>
                  <a:pt x="11940" y="23879"/>
                </a:cubicBezTo>
                <a:lnTo>
                  <a:pt x="55992" y="23879"/>
                </a:lnTo>
                <a:cubicBezTo>
                  <a:pt x="62579" y="23879"/>
                  <a:pt x="67931" y="18527"/>
                  <a:pt x="67931" y="11940"/>
                </a:cubicBezTo>
                <a:cubicBezTo>
                  <a:pt x="67931" y="5353"/>
                  <a:pt x="62579" y="1"/>
                  <a:pt x="55992"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43"/>
          <p:cNvSpPr/>
          <p:nvPr/>
        </p:nvSpPr>
        <p:spPr>
          <a:xfrm>
            <a:off x="241310" y="274465"/>
            <a:ext cx="2659287" cy="767292"/>
          </a:xfrm>
          <a:custGeom>
            <a:avLst/>
            <a:gdLst/>
            <a:ahLst/>
            <a:cxnLst/>
            <a:rect l="l" t="t" r="r" b="b"/>
            <a:pathLst>
              <a:path w="67931" h="23879" extrusionOk="0">
                <a:moveTo>
                  <a:pt x="11939" y="0"/>
                </a:moveTo>
                <a:cubicBezTo>
                  <a:pt x="5352" y="0"/>
                  <a:pt x="0" y="5352"/>
                  <a:pt x="0" y="11940"/>
                </a:cubicBezTo>
                <a:cubicBezTo>
                  <a:pt x="0" y="18527"/>
                  <a:pt x="5352" y="23879"/>
                  <a:pt x="11939" y="23879"/>
                </a:cubicBezTo>
                <a:lnTo>
                  <a:pt x="55991" y="23879"/>
                </a:lnTo>
                <a:cubicBezTo>
                  <a:pt x="62610" y="23879"/>
                  <a:pt x="67930" y="18527"/>
                  <a:pt x="67930" y="11940"/>
                </a:cubicBezTo>
                <a:cubicBezTo>
                  <a:pt x="67930" y="5352"/>
                  <a:pt x="62610" y="0"/>
                  <a:pt x="55991"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43"/>
          <p:cNvSpPr/>
          <p:nvPr/>
        </p:nvSpPr>
        <p:spPr>
          <a:xfrm>
            <a:off x="326783" y="362315"/>
            <a:ext cx="721503" cy="674011"/>
          </a:xfrm>
          <a:custGeom>
            <a:avLst/>
            <a:gdLst/>
            <a:ahLst/>
            <a:cxnLst/>
            <a:rect l="l" t="t" r="r" b="b"/>
            <a:pathLst>
              <a:path w="22454" h="20976" extrusionOk="0">
                <a:moveTo>
                  <a:pt x="11210" y="0"/>
                </a:moveTo>
                <a:cubicBezTo>
                  <a:pt x="6121" y="0"/>
                  <a:pt x="1632" y="3742"/>
                  <a:pt x="855" y="8921"/>
                </a:cubicBezTo>
                <a:cubicBezTo>
                  <a:pt x="0" y="14653"/>
                  <a:pt x="3959" y="20005"/>
                  <a:pt x="9691" y="20860"/>
                </a:cubicBezTo>
                <a:cubicBezTo>
                  <a:pt x="10212" y="20938"/>
                  <a:pt x="10731" y="20976"/>
                  <a:pt x="11243" y="20976"/>
                </a:cubicBezTo>
                <a:cubicBezTo>
                  <a:pt x="16333" y="20976"/>
                  <a:pt x="20822" y="17232"/>
                  <a:pt x="21599" y="12024"/>
                </a:cubicBezTo>
                <a:cubicBezTo>
                  <a:pt x="22454" y="6292"/>
                  <a:pt x="18495" y="972"/>
                  <a:pt x="12763" y="117"/>
                </a:cubicBezTo>
                <a:cubicBezTo>
                  <a:pt x="12241" y="38"/>
                  <a:pt x="11723" y="0"/>
                  <a:pt x="11210" y="0"/>
                </a:cubicBez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43"/>
          <p:cNvSpPr/>
          <p:nvPr/>
        </p:nvSpPr>
        <p:spPr>
          <a:xfrm>
            <a:off x="277941" y="321635"/>
            <a:ext cx="706240" cy="673786"/>
          </a:xfrm>
          <a:custGeom>
            <a:avLst/>
            <a:gdLst/>
            <a:ahLst/>
            <a:cxnLst/>
            <a:rect l="l" t="t" r="r" b="b"/>
            <a:pathLst>
              <a:path w="21979" h="20969" extrusionOk="0">
                <a:moveTo>
                  <a:pt x="10958" y="1"/>
                </a:moveTo>
                <a:cubicBezTo>
                  <a:pt x="5632" y="1"/>
                  <a:pt x="1076" y="4045"/>
                  <a:pt x="570" y="9458"/>
                </a:cubicBezTo>
                <a:cubicBezTo>
                  <a:pt x="0" y="15222"/>
                  <a:pt x="4244" y="20352"/>
                  <a:pt x="10008" y="20922"/>
                </a:cubicBezTo>
                <a:cubicBezTo>
                  <a:pt x="10339" y="20953"/>
                  <a:pt x="10668" y="20969"/>
                  <a:pt x="10995" y="20969"/>
                </a:cubicBezTo>
                <a:cubicBezTo>
                  <a:pt x="16317" y="20969"/>
                  <a:pt x="20903" y="16916"/>
                  <a:pt x="21440" y="11485"/>
                </a:cubicBezTo>
                <a:cubicBezTo>
                  <a:pt x="21979" y="5721"/>
                  <a:pt x="17767" y="591"/>
                  <a:pt x="12003" y="53"/>
                </a:cubicBezTo>
                <a:cubicBezTo>
                  <a:pt x="11652" y="18"/>
                  <a:pt x="11304" y="1"/>
                  <a:pt x="10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43"/>
          <p:cNvSpPr/>
          <p:nvPr/>
        </p:nvSpPr>
        <p:spPr>
          <a:xfrm>
            <a:off x="347123" y="374172"/>
            <a:ext cx="567878" cy="567878"/>
          </a:xfrm>
          <a:custGeom>
            <a:avLst/>
            <a:gdLst/>
            <a:ahLst/>
            <a:cxnLst/>
            <a:rect l="l" t="t" r="r" b="b"/>
            <a:pathLst>
              <a:path w="17673" h="17673" extrusionOk="0">
                <a:moveTo>
                  <a:pt x="8836" y="1"/>
                </a:moveTo>
                <a:cubicBezTo>
                  <a:pt x="3959" y="1"/>
                  <a:pt x="1" y="3960"/>
                  <a:pt x="1" y="8837"/>
                </a:cubicBezTo>
                <a:cubicBezTo>
                  <a:pt x="1" y="13714"/>
                  <a:pt x="3959" y="17672"/>
                  <a:pt x="8836" y="17672"/>
                </a:cubicBezTo>
                <a:cubicBezTo>
                  <a:pt x="13713" y="17672"/>
                  <a:pt x="17672" y="13714"/>
                  <a:pt x="17672" y="8837"/>
                </a:cubicBezTo>
                <a:cubicBezTo>
                  <a:pt x="17672" y="3960"/>
                  <a:pt x="13713" y="1"/>
                  <a:pt x="8836"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600" b="1" dirty="0">
                <a:solidFill>
                  <a:schemeClr val="bg1"/>
                </a:solidFill>
                <a:latin typeface="Aptos" panose="020B0004020202020204" pitchFamily="34" charset="0"/>
              </a:rPr>
              <a:t>1</a:t>
            </a:r>
            <a:endParaRPr sz="3600" b="1" dirty="0">
              <a:solidFill>
                <a:schemeClr val="bg1"/>
              </a:solidFill>
              <a:latin typeface="Aptos" panose="020B0004020202020204" pitchFamily="34" charset="0"/>
            </a:endParaRPr>
          </a:p>
        </p:txBody>
      </p:sp>
      <p:sp>
        <p:nvSpPr>
          <p:cNvPr id="5284" name="Google Shape;5284;p43"/>
          <p:cNvSpPr txBox="1"/>
          <p:nvPr/>
        </p:nvSpPr>
        <p:spPr>
          <a:xfrm>
            <a:off x="1035666" y="556591"/>
            <a:ext cx="1699830" cy="24903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dirty="0">
                <a:solidFill>
                  <a:srgbClr val="FFFFFF"/>
                </a:solidFill>
                <a:latin typeface="Fira Sans Medium"/>
                <a:ea typeface="Fira Sans Medium"/>
                <a:cs typeface="Fira Sans Medium"/>
                <a:sym typeface="Fira Sans Medium"/>
              </a:rPr>
              <a:t>Introduction  :</a:t>
            </a:r>
            <a:endParaRPr sz="1500" dirty="0">
              <a:solidFill>
                <a:srgbClr val="FFFFFF"/>
              </a:solidFill>
              <a:latin typeface="Fira Sans Medium"/>
              <a:ea typeface="Fira Sans Medium"/>
              <a:cs typeface="Fira Sans Medium"/>
              <a:sym typeface="Fira Sans Medium"/>
            </a:endParaRPr>
          </a:p>
        </p:txBody>
      </p:sp>
      <p:sp>
        <p:nvSpPr>
          <p:cNvPr id="3" name="ZoneTexte 2">
            <a:extLst>
              <a:ext uri="{FF2B5EF4-FFF2-40B4-BE49-F238E27FC236}">
                <a16:creationId xmlns:a16="http://schemas.microsoft.com/office/drawing/2014/main" id="{E1FD30AB-6AC0-3B54-7E85-0068B8356D00}"/>
              </a:ext>
            </a:extLst>
          </p:cNvPr>
          <p:cNvSpPr txBox="1"/>
          <p:nvPr/>
        </p:nvSpPr>
        <p:spPr>
          <a:xfrm>
            <a:off x="2806699" y="321635"/>
            <a:ext cx="5516013" cy="645754"/>
          </a:xfrm>
          <a:prstGeom prst="rect">
            <a:avLst/>
          </a:prstGeom>
          <a:noFill/>
        </p:spPr>
        <p:txBody>
          <a:bodyPr wrap="square">
            <a:spAutoFit/>
          </a:bodyPr>
          <a:lstStyle/>
          <a:p>
            <a:pPr>
              <a:lnSpc>
                <a:spcPct val="107000"/>
              </a:lnSpc>
              <a:spcAft>
                <a:spcPts val="800"/>
              </a:spcAft>
            </a:pPr>
            <a:r>
              <a:rPr lang="fr-FR" sz="1400"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a:t>
            </a:r>
            <a:endParaRPr lang="fr-FR" sz="1400"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2B75BC84-EB25-96B8-0FFB-124FCFAA7B6F}"/>
              </a:ext>
            </a:extLst>
          </p:cNvPr>
          <p:cNvSpPr txBox="1"/>
          <p:nvPr/>
        </p:nvSpPr>
        <p:spPr>
          <a:xfrm>
            <a:off x="1035666" y="1655469"/>
            <a:ext cx="7100402" cy="2389629"/>
          </a:xfrm>
          <a:prstGeom prst="rect">
            <a:avLst/>
          </a:prstGeom>
          <a:noFill/>
        </p:spPr>
        <p:txBody>
          <a:bodyPr wrap="square">
            <a:spAutoFit/>
          </a:bodyPr>
          <a:lstStyle/>
          <a:p>
            <a:pPr>
              <a:lnSpc>
                <a:spcPct val="107000"/>
              </a:lnSpc>
              <a:spcAft>
                <a:spcPts val="800"/>
              </a:spcAft>
            </a:pPr>
            <a:r>
              <a:rPr lang="fr-FR" sz="1400" kern="0" dirty="0">
                <a:solidFill>
                  <a:srgbClr val="000000"/>
                </a:solidFill>
                <a:effectLst/>
                <a:latin typeface="Bahnschrift SemiBold" panose="020B0502040204020203" pitchFamily="34" charset="0"/>
                <a:ea typeface="Times New Roman" panose="02020603050405020304" pitchFamily="18" charset="0"/>
                <a:cs typeface="Arial" panose="020B0604020202020204" pitchFamily="34" charset="0"/>
              </a:rPr>
              <a:t>     Dans le monde informatique, la mémoire est comme l'espace de travail de notre ordinateur. Imaginez-le comme une table où vous rangez vos outils pour chaque tâche. Mais cette table n'est ni infinie ni parfaitement rapide. Elle se divise en plusieurs parties : une petite zone rapide mais limitée (la mémoire cache), une zone plus grande mais plus lente (la RAM), et un espace de stockage volumineux mais lent (le disque dur). Le système d'exploitation agit comme un organisateur, s'assurant que chaque programme ait accès à la quantité de mémoire dont il a besoin, au bon moment, sans en gaspiller. Pour cela, il alloue de la mémoire lorsqu'un programme démarre et la libère lorsqu'il se termine. C'est ainsi que la gestion de la mémoire permet à notre ordinateur de fonctionner de manière efficace et fluide.</a:t>
            </a:r>
            <a:endParaRPr lang="fr-FR" dirty="0">
              <a:latin typeface="Bahnschrift SemiBold" panose="020B0502040204020203" pitchFamily="34" charset="0"/>
            </a:endParaRPr>
          </a:p>
        </p:txBody>
      </p:sp>
    </p:spTree>
    <p:extLst>
      <p:ext uri="{BB962C8B-B14F-4D97-AF65-F5344CB8AC3E}">
        <p14:creationId xmlns:p14="http://schemas.microsoft.com/office/powerpoint/2010/main" val="152623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2" name="Google Shape;5272;p43"/>
          <p:cNvSpPr/>
          <p:nvPr/>
        </p:nvSpPr>
        <p:spPr>
          <a:xfrm>
            <a:off x="532497" y="1144621"/>
            <a:ext cx="3752119" cy="767292"/>
          </a:xfrm>
          <a:custGeom>
            <a:avLst/>
            <a:gdLst/>
            <a:ahLst/>
            <a:cxnLst/>
            <a:rect l="l" t="t" r="r" b="b"/>
            <a:pathLst>
              <a:path w="67931" h="23879" extrusionOk="0">
                <a:moveTo>
                  <a:pt x="11940" y="23879"/>
                </a:moveTo>
                <a:lnTo>
                  <a:pt x="55992" y="23879"/>
                </a:lnTo>
                <a:cubicBezTo>
                  <a:pt x="62579" y="23879"/>
                  <a:pt x="67931" y="18526"/>
                  <a:pt x="67931" y="11939"/>
                </a:cubicBezTo>
                <a:cubicBezTo>
                  <a:pt x="67931" y="5352"/>
                  <a:pt x="62579" y="0"/>
                  <a:pt x="55992" y="0"/>
                </a:cubicBezTo>
                <a:lnTo>
                  <a:pt x="11940" y="0"/>
                </a:lnTo>
                <a:cubicBezTo>
                  <a:pt x="5321" y="0"/>
                  <a:pt x="1" y="5352"/>
                  <a:pt x="1" y="11939"/>
                </a:cubicBezTo>
                <a:lnTo>
                  <a:pt x="1" y="11939"/>
                </a:lnTo>
                <a:cubicBezTo>
                  <a:pt x="1" y="18526"/>
                  <a:pt x="5321" y="23879"/>
                  <a:pt x="11940" y="23879"/>
                </a:cubicBezTo>
                <a:close/>
              </a:path>
            </a:pathLst>
          </a:cu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43"/>
          <p:cNvSpPr/>
          <p:nvPr/>
        </p:nvSpPr>
        <p:spPr>
          <a:xfrm>
            <a:off x="429798" y="1128416"/>
            <a:ext cx="4000401" cy="766296"/>
          </a:xfrm>
          <a:custGeom>
            <a:avLst/>
            <a:gdLst/>
            <a:ahLst/>
            <a:cxnLst/>
            <a:rect l="l" t="t" r="r" b="b"/>
            <a:pathLst>
              <a:path w="67931" h="23848" extrusionOk="0">
                <a:moveTo>
                  <a:pt x="11939" y="0"/>
                </a:moveTo>
                <a:cubicBezTo>
                  <a:pt x="5352" y="0"/>
                  <a:pt x="0" y="5321"/>
                  <a:pt x="0" y="11908"/>
                </a:cubicBezTo>
                <a:cubicBezTo>
                  <a:pt x="0" y="18527"/>
                  <a:pt x="5352" y="23847"/>
                  <a:pt x="11939" y="23847"/>
                </a:cubicBezTo>
                <a:lnTo>
                  <a:pt x="55991" y="23847"/>
                </a:lnTo>
                <a:cubicBezTo>
                  <a:pt x="62610" y="23847"/>
                  <a:pt x="67930" y="18527"/>
                  <a:pt x="67930" y="11908"/>
                </a:cubicBezTo>
                <a:cubicBezTo>
                  <a:pt x="67930" y="5321"/>
                  <a:pt x="62610" y="0"/>
                  <a:pt x="5599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43"/>
          <p:cNvSpPr/>
          <p:nvPr/>
        </p:nvSpPr>
        <p:spPr>
          <a:xfrm>
            <a:off x="429798" y="1217313"/>
            <a:ext cx="871953" cy="673690"/>
          </a:xfrm>
          <a:custGeom>
            <a:avLst/>
            <a:gdLst/>
            <a:ahLst/>
            <a:cxnLst/>
            <a:rect l="l" t="t" r="r" b="b"/>
            <a:pathLst>
              <a:path w="20966" h="20966" extrusionOk="0">
                <a:moveTo>
                  <a:pt x="10483" y="0"/>
                </a:moveTo>
                <a:cubicBezTo>
                  <a:pt x="4687" y="0"/>
                  <a:pt x="0" y="4719"/>
                  <a:pt x="0" y="10483"/>
                </a:cubicBezTo>
                <a:cubicBezTo>
                  <a:pt x="0" y="16278"/>
                  <a:pt x="4687" y="20965"/>
                  <a:pt x="10483" y="20965"/>
                </a:cubicBezTo>
                <a:cubicBezTo>
                  <a:pt x="16247" y="20965"/>
                  <a:pt x="20965" y="16278"/>
                  <a:pt x="20965" y="10483"/>
                </a:cubicBezTo>
                <a:cubicBezTo>
                  <a:pt x="20965" y="4719"/>
                  <a:pt x="16247" y="0"/>
                  <a:pt x="10483" y="0"/>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43"/>
          <p:cNvSpPr/>
          <p:nvPr/>
        </p:nvSpPr>
        <p:spPr>
          <a:xfrm>
            <a:off x="467680" y="1186424"/>
            <a:ext cx="840122" cy="673690"/>
          </a:xfrm>
          <a:custGeom>
            <a:avLst/>
            <a:gdLst/>
            <a:ahLst/>
            <a:cxnLst/>
            <a:rect l="l" t="t" r="r" b="b"/>
            <a:pathLst>
              <a:path w="20966" h="20966" extrusionOk="0">
                <a:moveTo>
                  <a:pt x="10483" y="0"/>
                </a:moveTo>
                <a:cubicBezTo>
                  <a:pt x="4688" y="0"/>
                  <a:pt x="1" y="4719"/>
                  <a:pt x="1" y="10483"/>
                </a:cubicBezTo>
                <a:cubicBezTo>
                  <a:pt x="1" y="16278"/>
                  <a:pt x="4688" y="20965"/>
                  <a:pt x="10483" y="20965"/>
                </a:cubicBezTo>
                <a:cubicBezTo>
                  <a:pt x="16279" y="20965"/>
                  <a:pt x="20966" y="16278"/>
                  <a:pt x="20966" y="10483"/>
                </a:cubicBezTo>
                <a:cubicBezTo>
                  <a:pt x="20966" y="4719"/>
                  <a:pt x="16279" y="0"/>
                  <a:pt x="10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200" dirty="0">
                <a:solidFill>
                  <a:schemeClr val="bg1">
                    <a:lumMod val="75000"/>
                  </a:schemeClr>
                </a:solidFill>
              </a:rPr>
              <a:t> </a:t>
            </a:r>
            <a:r>
              <a:rPr lang="fr-FR" sz="3200" b="1" dirty="0">
                <a:solidFill>
                  <a:schemeClr val="bg1">
                    <a:lumMod val="75000"/>
                  </a:schemeClr>
                </a:solidFill>
                <a:latin typeface="Aptos" panose="020B0004020202020204" pitchFamily="34" charset="0"/>
              </a:rPr>
              <a:t>2</a:t>
            </a:r>
            <a:endParaRPr sz="3200" b="1" dirty="0">
              <a:solidFill>
                <a:schemeClr val="bg1">
                  <a:lumMod val="75000"/>
                </a:schemeClr>
              </a:solidFill>
              <a:latin typeface="Aptos" panose="020B0004020202020204" pitchFamily="34" charset="0"/>
            </a:endParaRPr>
          </a:p>
        </p:txBody>
      </p:sp>
      <p:sp>
        <p:nvSpPr>
          <p:cNvPr id="5280" name="Google Shape;5280;p43"/>
          <p:cNvSpPr/>
          <p:nvPr/>
        </p:nvSpPr>
        <p:spPr>
          <a:xfrm>
            <a:off x="823521" y="1328804"/>
            <a:ext cx="84508" cy="47845"/>
          </a:xfrm>
          <a:custGeom>
            <a:avLst/>
            <a:gdLst/>
            <a:ahLst/>
            <a:cxnLst/>
            <a:rect l="l" t="t" r="r" b="b"/>
            <a:pathLst>
              <a:path w="2630" h="1489" extrusionOk="0">
                <a:moveTo>
                  <a:pt x="2534" y="539"/>
                </a:moveTo>
                <a:cubicBezTo>
                  <a:pt x="2630" y="919"/>
                  <a:pt x="1996" y="539"/>
                  <a:pt x="1331" y="697"/>
                </a:cubicBezTo>
                <a:cubicBezTo>
                  <a:pt x="666" y="855"/>
                  <a:pt x="191" y="1489"/>
                  <a:pt x="96" y="1109"/>
                </a:cubicBezTo>
                <a:cubicBezTo>
                  <a:pt x="1" y="729"/>
                  <a:pt x="761" y="222"/>
                  <a:pt x="1141" y="127"/>
                </a:cubicBezTo>
                <a:cubicBezTo>
                  <a:pt x="1616" y="0"/>
                  <a:pt x="2439" y="159"/>
                  <a:pt x="2534" y="5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43"/>
          <p:cNvSpPr/>
          <p:nvPr/>
        </p:nvSpPr>
        <p:spPr>
          <a:xfrm>
            <a:off x="909025" y="1341015"/>
            <a:ext cx="22396" cy="20372"/>
          </a:xfrm>
          <a:custGeom>
            <a:avLst/>
            <a:gdLst/>
            <a:ahLst/>
            <a:cxnLst/>
            <a:rect l="l" t="t" r="r" b="b"/>
            <a:pathLst>
              <a:path w="697" h="634" extrusionOk="0">
                <a:moveTo>
                  <a:pt x="634" y="444"/>
                </a:moveTo>
                <a:cubicBezTo>
                  <a:pt x="570" y="634"/>
                  <a:pt x="380" y="570"/>
                  <a:pt x="222" y="507"/>
                </a:cubicBezTo>
                <a:cubicBezTo>
                  <a:pt x="64" y="444"/>
                  <a:pt x="0" y="412"/>
                  <a:pt x="32" y="254"/>
                </a:cubicBezTo>
                <a:cubicBezTo>
                  <a:pt x="95" y="95"/>
                  <a:pt x="127" y="0"/>
                  <a:pt x="285" y="64"/>
                </a:cubicBezTo>
                <a:cubicBezTo>
                  <a:pt x="475" y="127"/>
                  <a:pt x="697" y="285"/>
                  <a:pt x="634" y="44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43"/>
          <p:cNvSpPr txBox="1"/>
          <p:nvPr/>
        </p:nvSpPr>
        <p:spPr>
          <a:xfrm>
            <a:off x="1218805" y="1183135"/>
            <a:ext cx="4000401" cy="6802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dirty="0">
                <a:solidFill>
                  <a:srgbClr val="FFFFFF"/>
                </a:solidFill>
                <a:latin typeface="Fira Sans Medium"/>
                <a:ea typeface="Fira Sans Medium"/>
                <a:cs typeface="Fira Sans Medium"/>
                <a:sym typeface="Fira Sans Medium"/>
              </a:rPr>
              <a:t>Objectifs du gestionnaire mémoire</a:t>
            </a:r>
            <a:endParaRPr sz="1500" dirty="0">
              <a:solidFill>
                <a:srgbClr val="FFFFFF"/>
              </a:solidFill>
              <a:latin typeface="Fira Sans Medium"/>
              <a:ea typeface="Fira Sans Medium"/>
              <a:cs typeface="Fira Sans Medium"/>
              <a:sym typeface="Fira Sans Medium"/>
            </a:endParaRPr>
          </a:p>
        </p:txBody>
      </p:sp>
      <p:sp>
        <p:nvSpPr>
          <p:cNvPr id="6" name="ZoneTexte 5">
            <a:extLst>
              <a:ext uri="{FF2B5EF4-FFF2-40B4-BE49-F238E27FC236}">
                <a16:creationId xmlns:a16="http://schemas.microsoft.com/office/drawing/2014/main" id="{84DD9007-65CD-C622-5BB9-DD12EA7A3959}"/>
              </a:ext>
            </a:extLst>
          </p:cNvPr>
          <p:cNvSpPr txBox="1"/>
          <p:nvPr/>
        </p:nvSpPr>
        <p:spPr>
          <a:xfrm>
            <a:off x="4572000" y="479696"/>
            <a:ext cx="4572000" cy="3946337"/>
          </a:xfrm>
          <a:prstGeom prst="rect">
            <a:avLst/>
          </a:prstGeom>
          <a:noFill/>
        </p:spPr>
        <p:txBody>
          <a:bodyPr wrap="square">
            <a:spAutoFit/>
          </a:bodyPr>
          <a:lstStyle/>
          <a:p>
            <a:pPr>
              <a:lnSpc>
                <a:spcPct val="107000"/>
              </a:lnSpc>
              <a:spcAft>
                <a:spcPts val="800"/>
              </a:spcAft>
            </a:pP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_ Connaître les parties libres et les parties en cours d’utilisation de la mémoire physique. </a:t>
            </a:r>
            <a:endParaRPr lang="fr-FR" sz="18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_ Allouer de la mémoire au processus qui en ont besoin en essayant d’éviter le gaspillage.</a:t>
            </a:r>
            <a:endParaRPr lang="fr-FR" sz="18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Récupérer la mémoire libérée par la terminaison d’un processus.</a:t>
            </a:r>
            <a:endParaRPr lang="fr-FR" sz="18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Gérer le va et vient entre la mémoire principale et le disque lorsque la mémoire principale disponible est trop petite pour contenir tous les processus.</a:t>
            </a:r>
            <a:endParaRPr lang="fr-FR" sz="1800" b="1" kern="100" dirty="0">
              <a:effectLst/>
              <a:latin typeface="Aptos" panose="020B00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5540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1" name="Google Shape;5231;p43"/>
          <p:cNvSpPr/>
          <p:nvPr/>
        </p:nvSpPr>
        <p:spPr>
          <a:xfrm>
            <a:off x="549278" y="451585"/>
            <a:ext cx="3578585" cy="767292"/>
          </a:xfrm>
          <a:custGeom>
            <a:avLst/>
            <a:gdLst/>
            <a:ahLst/>
            <a:cxnLst/>
            <a:rect l="l" t="t" r="r" b="b"/>
            <a:pathLst>
              <a:path w="67931" h="23879" extrusionOk="0">
                <a:moveTo>
                  <a:pt x="55991" y="0"/>
                </a:moveTo>
                <a:lnTo>
                  <a:pt x="11940" y="0"/>
                </a:lnTo>
                <a:cubicBezTo>
                  <a:pt x="5321" y="0"/>
                  <a:pt x="0" y="5352"/>
                  <a:pt x="0" y="11939"/>
                </a:cubicBezTo>
                <a:lnTo>
                  <a:pt x="0" y="11939"/>
                </a:lnTo>
                <a:cubicBezTo>
                  <a:pt x="0" y="18526"/>
                  <a:pt x="5321" y="23878"/>
                  <a:pt x="11940" y="23878"/>
                </a:cubicBezTo>
                <a:lnTo>
                  <a:pt x="55991" y="23878"/>
                </a:lnTo>
                <a:cubicBezTo>
                  <a:pt x="62578" y="23878"/>
                  <a:pt x="67930" y="18526"/>
                  <a:pt x="67930" y="11939"/>
                </a:cubicBezTo>
                <a:cubicBezTo>
                  <a:pt x="67930" y="5352"/>
                  <a:pt x="62578" y="0"/>
                  <a:pt x="5599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43"/>
          <p:cNvSpPr/>
          <p:nvPr/>
        </p:nvSpPr>
        <p:spPr>
          <a:xfrm>
            <a:off x="614597" y="451553"/>
            <a:ext cx="3492303" cy="720507"/>
          </a:xfrm>
          <a:custGeom>
            <a:avLst/>
            <a:gdLst/>
            <a:ahLst/>
            <a:cxnLst/>
            <a:rect l="l" t="t" r="r" b="b"/>
            <a:pathLst>
              <a:path w="67931" h="23880" extrusionOk="0">
                <a:moveTo>
                  <a:pt x="11940" y="1"/>
                </a:moveTo>
                <a:cubicBezTo>
                  <a:pt x="5353" y="1"/>
                  <a:pt x="1" y="5353"/>
                  <a:pt x="1" y="11940"/>
                </a:cubicBezTo>
                <a:cubicBezTo>
                  <a:pt x="1" y="18527"/>
                  <a:pt x="5353" y="23879"/>
                  <a:pt x="11940" y="23879"/>
                </a:cubicBezTo>
                <a:lnTo>
                  <a:pt x="55992" y="23879"/>
                </a:lnTo>
                <a:cubicBezTo>
                  <a:pt x="62611" y="23879"/>
                  <a:pt x="67931" y="18527"/>
                  <a:pt x="67931" y="11940"/>
                </a:cubicBezTo>
                <a:cubicBezTo>
                  <a:pt x="67931" y="5353"/>
                  <a:pt x="62611" y="1"/>
                  <a:pt x="5599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43"/>
          <p:cNvSpPr/>
          <p:nvPr/>
        </p:nvSpPr>
        <p:spPr>
          <a:xfrm>
            <a:off x="675733" y="498370"/>
            <a:ext cx="770817" cy="673690"/>
          </a:xfrm>
          <a:custGeom>
            <a:avLst/>
            <a:gdLst/>
            <a:ahLst/>
            <a:cxnLst/>
            <a:rect l="l" t="t" r="r" b="b"/>
            <a:pathLst>
              <a:path w="20965" h="20966" extrusionOk="0">
                <a:moveTo>
                  <a:pt x="10483" y="0"/>
                </a:moveTo>
                <a:cubicBezTo>
                  <a:pt x="4687" y="0"/>
                  <a:pt x="0" y="4687"/>
                  <a:pt x="0" y="10483"/>
                </a:cubicBezTo>
                <a:cubicBezTo>
                  <a:pt x="0" y="16278"/>
                  <a:pt x="4687" y="20965"/>
                  <a:pt x="10483" y="20965"/>
                </a:cubicBezTo>
                <a:cubicBezTo>
                  <a:pt x="16246" y="20965"/>
                  <a:pt x="20965" y="16278"/>
                  <a:pt x="20965" y="10483"/>
                </a:cubicBezTo>
                <a:cubicBezTo>
                  <a:pt x="20965" y="4687"/>
                  <a:pt x="16246" y="0"/>
                  <a:pt x="10483"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4" name="Google Shape;5234;p43"/>
          <p:cNvSpPr/>
          <p:nvPr/>
        </p:nvSpPr>
        <p:spPr>
          <a:xfrm>
            <a:off x="729553" y="543148"/>
            <a:ext cx="663176" cy="556595"/>
          </a:xfrm>
          <a:custGeom>
            <a:avLst/>
            <a:gdLst/>
            <a:ahLst/>
            <a:cxnLst/>
            <a:rect l="l" t="t" r="r" b="b"/>
            <a:pathLst>
              <a:path w="20966" h="20966" extrusionOk="0">
                <a:moveTo>
                  <a:pt x="10483" y="1"/>
                </a:moveTo>
                <a:cubicBezTo>
                  <a:pt x="4688" y="1"/>
                  <a:pt x="1" y="4688"/>
                  <a:pt x="1" y="10483"/>
                </a:cubicBezTo>
                <a:cubicBezTo>
                  <a:pt x="1" y="16278"/>
                  <a:pt x="4688" y="20965"/>
                  <a:pt x="10483" y="20965"/>
                </a:cubicBezTo>
                <a:cubicBezTo>
                  <a:pt x="16278" y="20965"/>
                  <a:pt x="20965" y="16278"/>
                  <a:pt x="20965" y="10483"/>
                </a:cubicBezTo>
                <a:cubicBezTo>
                  <a:pt x="20965" y="4688"/>
                  <a:pt x="16278" y="1"/>
                  <a:pt x="104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200" b="1" dirty="0">
                <a:latin typeface="Aptos" panose="020B0004020202020204" pitchFamily="34" charset="0"/>
              </a:rPr>
              <a:t> </a:t>
            </a:r>
            <a:r>
              <a:rPr lang="fr-FR" sz="3200" b="1" dirty="0">
                <a:solidFill>
                  <a:schemeClr val="accent5">
                    <a:lumMod val="50000"/>
                  </a:schemeClr>
                </a:solidFill>
                <a:latin typeface="Aptos" panose="020B0004020202020204" pitchFamily="34" charset="0"/>
              </a:rPr>
              <a:t>3</a:t>
            </a:r>
            <a:endParaRPr sz="3200" b="1" dirty="0">
              <a:solidFill>
                <a:schemeClr val="accent5">
                  <a:lumMod val="50000"/>
                </a:schemeClr>
              </a:solidFill>
              <a:latin typeface="Aptos" panose="020B0004020202020204" pitchFamily="34" charset="0"/>
            </a:endParaRPr>
          </a:p>
        </p:txBody>
      </p:sp>
      <p:sp>
        <p:nvSpPr>
          <p:cNvPr id="5239" name="Google Shape;5239;p43"/>
          <p:cNvSpPr/>
          <p:nvPr/>
        </p:nvSpPr>
        <p:spPr>
          <a:xfrm>
            <a:off x="955304" y="586895"/>
            <a:ext cx="34607" cy="86533"/>
          </a:xfrm>
          <a:custGeom>
            <a:avLst/>
            <a:gdLst/>
            <a:ahLst/>
            <a:cxnLst/>
            <a:rect l="l" t="t" r="r" b="b"/>
            <a:pathLst>
              <a:path w="1077" h="2693" extrusionOk="0">
                <a:moveTo>
                  <a:pt x="539" y="1"/>
                </a:moveTo>
                <a:cubicBezTo>
                  <a:pt x="254" y="1"/>
                  <a:pt x="0" y="223"/>
                  <a:pt x="0" y="539"/>
                </a:cubicBezTo>
                <a:lnTo>
                  <a:pt x="0" y="2154"/>
                </a:lnTo>
                <a:cubicBezTo>
                  <a:pt x="0" y="2471"/>
                  <a:pt x="254" y="2693"/>
                  <a:pt x="539" y="2693"/>
                </a:cubicBezTo>
                <a:cubicBezTo>
                  <a:pt x="855" y="2693"/>
                  <a:pt x="1077" y="2471"/>
                  <a:pt x="1077" y="2154"/>
                </a:cubicBezTo>
                <a:lnTo>
                  <a:pt x="1077" y="539"/>
                </a:lnTo>
                <a:cubicBezTo>
                  <a:pt x="1077" y="223"/>
                  <a:pt x="855" y="1"/>
                  <a:pt x="5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43"/>
          <p:cNvSpPr txBox="1"/>
          <p:nvPr/>
        </p:nvSpPr>
        <p:spPr>
          <a:xfrm>
            <a:off x="1312706" y="475341"/>
            <a:ext cx="2883933" cy="767293"/>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fr-FR" b="1" kern="0" dirty="0">
                <a:solidFill>
                  <a:schemeClr val="bg1"/>
                </a:solidFill>
                <a:effectLst/>
                <a:latin typeface="Aptos" panose="020B0004020202020204" pitchFamily="34" charset="0"/>
                <a:ea typeface="Times New Roman" panose="02020603050405020304" pitchFamily="18" charset="0"/>
                <a:cs typeface="Arial" panose="020B0604020202020204" pitchFamily="34" charset="0"/>
              </a:rPr>
              <a:t>Les stratégies d'allocation de la mémoire :</a:t>
            </a:r>
            <a:endParaRPr lang="fr-FR" kern="100" dirty="0">
              <a:solidFill>
                <a:schemeClr val="bg1"/>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D3DAB497-FF76-A90A-3A8F-303CAABDA770}"/>
              </a:ext>
            </a:extLst>
          </p:cNvPr>
          <p:cNvSpPr txBox="1"/>
          <p:nvPr/>
        </p:nvSpPr>
        <p:spPr>
          <a:xfrm>
            <a:off x="1257542" y="1576055"/>
            <a:ext cx="6007100" cy="2728183"/>
          </a:xfrm>
          <a:prstGeom prst="rect">
            <a:avLst/>
          </a:prstGeom>
          <a:noFill/>
        </p:spPr>
        <p:txBody>
          <a:bodyPr wrap="square">
            <a:spAutoFit/>
          </a:bodyPr>
          <a:lstStyle/>
          <a:p>
            <a:pPr>
              <a:lnSpc>
                <a:spcPct val="107000"/>
              </a:lnSpc>
              <a:spcAft>
                <a:spcPts val="800"/>
              </a:spcAft>
            </a:pP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Il y a essentiellement deux modes d’allocation de la mémoire centrale : </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600" b="1" dirty="0">
                <a:latin typeface="Aptos" panose="020B0004020202020204" pitchFamily="34" charset="0"/>
                <a:ea typeface="Times New Roman" panose="02020603050405020304" pitchFamily="18" charset="0"/>
                <a:cs typeface="Arial" panose="020B0604020202020204" pitchFamily="34" charset="0"/>
              </a:rPr>
              <a:t>   L</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e mode </a:t>
            </a:r>
            <a:r>
              <a:rPr lang="fr-FR" sz="1600" b="1" kern="0" dirty="0">
                <a:solidFill>
                  <a:srgbClr val="FF0000"/>
                </a:solidFill>
                <a:effectLst/>
                <a:latin typeface="Aptos" panose="020B0004020202020204" pitchFamily="34" charset="0"/>
                <a:ea typeface="Times New Roman" panose="02020603050405020304" pitchFamily="18" charset="0"/>
                <a:cs typeface="Arial" panose="020B0604020202020204" pitchFamily="34" charset="0"/>
              </a:rPr>
              <a:t>contigu</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(on va allouer la mémoire de manière successive les cases seront classées l’un à côté de l’autre, le programme sera placé dans une seule zone, le processus est considéré comme un seul bloc indivisible)</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et celui </a:t>
            </a:r>
            <a:r>
              <a:rPr lang="fr-FR" sz="1600" b="1" kern="0" dirty="0">
                <a:solidFill>
                  <a:srgbClr val="FF0000"/>
                </a:solidFill>
                <a:effectLst/>
                <a:latin typeface="Aptos" panose="020B0004020202020204" pitchFamily="34" charset="0"/>
                <a:ea typeface="Times New Roman" panose="02020603050405020304" pitchFamily="18" charset="0"/>
                <a:cs typeface="Arial" panose="020B0604020202020204" pitchFamily="34" charset="0"/>
              </a:rPr>
              <a:t>non contigu </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réparti entre plusieurs zones).</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br>
              <a:rPr lang="fr-FR" sz="1600" kern="0" dirty="0">
                <a:effectLst/>
                <a:latin typeface="Times New Roman" panose="02020603050405020304" pitchFamily="18" charset="0"/>
                <a:ea typeface="Times New Roman" panose="02020603050405020304" pitchFamily="18" charset="0"/>
                <a:cs typeface="Arial" panose="020B0604020202020204" pitchFamily="34" charset="0"/>
              </a:rPr>
            </a:b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3126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0"/>
        <p:cNvGrpSpPr/>
        <p:nvPr/>
      </p:nvGrpSpPr>
      <p:grpSpPr>
        <a:xfrm>
          <a:off x="0" y="0"/>
          <a:ext cx="0" cy="0"/>
          <a:chOff x="0" y="0"/>
          <a:chExt cx="0" cy="0"/>
        </a:xfrm>
      </p:grpSpPr>
      <p:sp>
        <p:nvSpPr>
          <p:cNvPr id="1695" name="Google Shape;1695;p21"/>
          <p:cNvSpPr/>
          <p:nvPr/>
        </p:nvSpPr>
        <p:spPr>
          <a:xfrm>
            <a:off x="458254" y="1709163"/>
            <a:ext cx="6277054" cy="738552"/>
          </a:xfrm>
          <a:custGeom>
            <a:avLst/>
            <a:gdLst/>
            <a:ahLst/>
            <a:cxnLst/>
            <a:rect l="l" t="t" r="r" b="b"/>
            <a:pathLst>
              <a:path w="195684" h="23024" extrusionOk="0">
                <a:moveTo>
                  <a:pt x="128608" y="0"/>
                </a:moveTo>
                <a:lnTo>
                  <a:pt x="112837" y="20648"/>
                </a:lnTo>
                <a:lnTo>
                  <a:pt x="0" y="20648"/>
                </a:lnTo>
                <a:lnTo>
                  <a:pt x="0" y="23023"/>
                </a:lnTo>
                <a:lnTo>
                  <a:pt x="114009" y="23023"/>
                </a:lnTo>
                <a:lnTo>
                  <a:pt x="129780" y="2375"/>
                </a:lnTo>
                <a:lnTo>
                  <a:pt x="195683" y="2375"/>
                </a:lnTo>
                <a:lnTo>
                  <a:pt x="195683"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1"/>
          <p:cNvSpPr/>
          <p:nvPr/>
        </p:nvSpPr>
        <p:spPr>
          <a:xfrm>
            <a:off x="6649949" y="1633974"/>
            <a:ext cx="267206" cy="226563"/>
          </a:xfrm>
          <a:custGeom>
            <a:avLst/>
            <a:gdLst/>
            <a:ahLst/>
            <a:cxnLst/>
            <a:rect l="l" t="t" r="r" b="b"/>
            <a:pathLst>
              <a:path w="8330" h="7063" extrusionOk="0">
                <a:moveTo>
                  <a:pt x="0" y="1"/>
                </a:moveTo>
                <a:lnTo>
                  <a:pt x="1489" y="3516"/>
                </a:lnTo>
                <a:lnTo>
                  <a:pt x="0" y="7063"/>
                </a:lnTo>
                <a:lnTo>
                  <a:pt x="0" y="7063"/>
                </a:lnTo>
                <a:lnTo>
                  <a:pt x="8329" y="3516"/>
                </a:lnTo>
                <a:lnTo>
                  <a:pt x="0"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1"/>
          <p:cNvSpPr/>
          <p:nvPr/>
        </p:nvSpPr>
        <p:spPr>
          <a:xfrm>
            <a:off x="1061630" y="1409699"/>
            <a:ext cx="2330430" cy="2327249"/>
          </a:xfrm>
          <a:custGeom>
            <a:avLst/>
            <a:gdLst/>
            <a:ahLst/>
            <a:cxnLst/>
            <a:rect l="l" t="t" r="r" b="b"/>
            <a:pathLst>
              <a:path w="72650" h="72649" extrusionOk="0">
                <a:moveTo>
                  <a:pt x="36325" y="0"/>
                </a:moveTo>
                <a:cubicBezTo>
                  <a:pt x="16278" y="0"/>
                  <a:pt x="0" y="16247"/>
                  <a:pt x="0" y="36325"/>
                </a:cubicBezTo>
                <a:cubicBezTo>
                  <a:pt x="0" y="56371"/>
                  <a:pt x="16278" y="72649"/>
                  <a:pt x="36325" y="72649"/>
                </a:cubicBezTo>
                <a:cubicBezTo>
                  <a:pt x="56403" y="72649"/>
                  <a:pt x="72649" y="56371"/>
                  <a:pt x="72649" y="36325"/>
                </a:cubicBezTo>
                <a:cubicBezTo>
                  <a:pt x="72649" y="16247"/>
                  <a:pt x="56403" y="0"/>
                  <a:pt x="36325" y="0"/>
                </a:cubicBezTo>
                <a:close/>
              </a:path>
            </a:pathLst>
          </a:custGeom>
          <a:solidFill>
            <a:srgbClr val="F7F9F9"/>
          </a:solidFill>
          <a:ln>
            <a:noFill/>
          </a:ln>
        </p:spPr>
        <p:txBody>
          <a:bodyPr spcFirstLastPara="1" wrap="square" lIns="91425" tIns="91425" rIns="91425" bIns="91425" anchor="ctr" anchorCtr="0">
            <a:noAutofit/>
          </a:bodyPr>
          <a:lstStyle/>
          <a:p>
            <a:pPr fontAlgn="base">
              <a:lnSpc>
                <a:spcPct val="107000"/>
              </a:lnSpc>
              <a:spcAft>
                <a:spcPts val="800"/>
              </a:spcAft>
              <a:tabLst>
                <a:tab pos="457200" algn="l"/>
              </a:tabLst>
            </a:pPr>
            <a:endParaRPr lang="fr-FR" sz="24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1718" name="Google Shape;1718;p21"/>
          <p:cNvSpPr txBox="1"/>
          <p:nvPr/>
        </p:nvSpPr>
        <p:spPr>
          <a:xfrm>
            <a:off x="7448550" y="2931725"/>
            <a:ext cx="12423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latin typeface="Fira Sans Medium"/>
              <a:ea typeface="Fira Sans Medium"/>
              <a:cs typeface="Fira Sans Medium"/>
              <a:sym typeface="Fira Sans Medium"/>
            </a:endParaRPr>
          </a:p>
        </p:txBody>
      </p:sp>
      <p:sp>
        <p:nvSpPr>
          <p:cNvPr id="2" name="ZoneTexte 1">
            <a:extLst>
              <a:ext uri="{FF2B5EF4-FFF2-40B4-BE49-F238E27FC236}">
                <a16:creationId xmlns:a16="http://schemas.microsoft.com/office/drawing/2014/main" id="{43ED4B13-B3CE-78A9-2585-40DCA2B9FB3E}"/>
              </a:ext>
            </a:extLst>
          </p:cNvPr>
          <p:cNvSpPr txBox="1"/>
          <p:nvPr/>
        </p:nvSpPr>
        <p:spPr>
          <a:xfrm>
            <a:off x="1500781" y="1822403"/>
            <a:ext cx="1498600" cy="1631216"/>
          </a:xfrm>
          <a:prstGeom prst="rect">
            <a:avLst/>
          </a:prstGeom>
          <a:noFill/>
        </p:spPr>
        <p:txBody>
          <a:bodyPr wrap="square" rtlCol="0">
            <a:spAutoFit/>
          </a:bodyPr>
          <a:lstStyle/>
          <a:p>
            <a:r>
              <a:rPr lang="fr-FR" sz="20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Allocation contiguë : </a:t>
            </a:r>
            <a:r>
              <a:rPr lang="fr-FR" sz="2000" b="1" dirty="0">
                <a:solidFill>
                  <a:srgbClr val="002060"/>
                </a:solidFill>
                <a:latin typeface="Aptos" panose="020B0004020202020204" pitchFamily="34" charset="0"/>
                <a:ea typeface="Times New Roman" panose="02020603050405020304" pitchFamily="18" charset="0"/>
                <a:cs typeface="Arial" panose="020B0604020202020204" pitchFamily="34" charset="0"/>
              </a:rPr>
              <a:t> </a:t>
            </a:r>
            <a:r>
              <a:rPr lang="fr-FR" sz="20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partitions de taille fixe</a:t>
            </a:r>
            <a:endParaRPr lang="fr-FR" sz="2000" dirty="0"/>
          </a:p>
        </p:txBody>
      </p:sp>
      <p:sp>
        <p:nvSpPr>
          <p:cNvPr id="4" name="ZoneTexte 3">
            <a:extLst>
              <a:ext uri="{FF2B5EF4-FFF2-40B4-BE49-F238E27FC236}">
                <a16:creationId xmlns:a16="http://schemas.microsoft.com/office/drawing/2014/main" id="{39256448-AF91-EDEE-BAD1-15F8062485A0}"/>
              </a:ext>
            </a:extLst>
          </p:cNvPr>
          <p:cNvSpPr txBox="1"/>
          <p:nvPr/>
        </p:nvSpPr>
        <p:spPr>
          <a:xfrm>
            <a:off x="4548396" y="1973094"/>
            <a:ext cx="4572000" cy="1727652"/>
          </a:xfrm>
          <a:prstGeom prst="rect">
            <a:avLst/>
          </a:prstGeom>
          <a:solidFill>
            <a:schemeClr val="tx2"/>
          </a:solidFill>
        </p:spPr>
        <p:txBody>
          <a:bodyPr wrap="square">
            <a:spAutoFit/>
          </a:bodyPr>
          <a:lstStyle/>
          <a:p>
            <a:pPr>
              <a:lnSpc>
                <a:spcPct val="107000"/>
              </a:lnSpc>
              <a:spcAft>
                <a:spcPts val="800"/>
              </a:spcAft>
            </a:pPr>
            <a:r>
              <a:rPr lang="fr-FR" sz="2000" b="1" dirty="0">
                <a:solidFill>
                  <a:srgbClr val="002060"/>
                </a:solidFill>
                <a:latin typeface="Aptos" panose="020B0004020202020204" pitchFamily="34" charset="0"/>
                <a:ea typeface="Times New Roman" panose="02020603050405020304" pitchFamily="18" charset="0"/>
                <a:cs typeface="Arial" panose="020B0604020202020204" pitchFamily="34" charset="0"/>
              </a:rPr>
              <a:t>  </a:t>
            </a:r>
            <a:r>
              <a:rPr lang="fr-FR" sz="20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A l’initialisation du système, la mémoire est divisée en n partitions de taille fixe, pas nécessairement égales, Il existe deux méthodes d’affectation</a:t>
            </a:r>
            <a:endParaRPr lang="fr-FR" sz="2000" b="1"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89F3254-7E23-7A18-F21C-0D8C254550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625" y="442912"/>
            <a:ext cx="4171950" cy="4257675"/>
          </a:xfrm>
          <a:prstGeom prst="rect">
            <a:avLst/>
          </a:prstGeom>
          <a:noFill/>
          <a:ln>
            <a:noFill/>
          </a:ln>
        </p:spPr>
      </p:pic>
      <p:sp>
        <p:nvSpPr>
          <p:cNvPr id="4" name="ZoneTexte 3">
            <a:extLst>
              <a:ext uri="{FF2B5EF4-FFF2-40B4-BE49-F238E27FC236}">
                <a16:creationId xmlns:a16="http://schemas.microsoft.com/office/drawing/2014/main" id="{8C4B157C-E8AF-12F6-0D96-A61E34920CD2}"/>
              </a:ext>
            </a:extLst>
          </p:cNvPr>
          <p:cNvSpPr txBox="1"/>
          <p:nvPr/>
        </p:nvSpPr>
        <p:spPr>
          <a:xfrm>
            <a:off x="4991100" y="1227811"/>
            <a:ext cx="3111500" cy="2622513"/>
          </a:xfrm>
          <a:prstGeom prst="rect">
            <a:avLst/>
          </a:prstGeom>
          <a:noFill/>
        </p:spPr>
        <p:txBody>
          <a:bodyPr wrap="square">
            <a:spAutoFit/>
          </a:bodyPr>
          <a:lstStyle/>
          <a:p>
            <a:pPr>
              <a:lnSpc>
                <a:spcPct val="107000"/>
              </a:lnSpc>
              <a:spcAft>
                <a:spcPts val="800"/>
              </a:spcAft>
            </a:pPr>
            <a:r>
              <a:rPr lang="fr-FR" sz="1800" b="1" dirty="0">
                <a:latin typeface="Aptos" panose="020B0004020202020204" pitchFamily="34" charset="0"/>
                <a:ea typeface="Times New Roman" panose="02020603050405020304" pitchFamily="18" charset="0"/>
                <a:cs typeface="Arial" panose="020B0604020202020204" pitchFamily="34" charset="0"/>
              </a:rPr>
              <a:t>   </a:t>
            </a: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On crée une file d'attente par partition;</a:t>
            </a:r>
          </a:p>
          <a:p>
            <a:pPr>
              <a:lnSpc>
                <a:spcPct val="107000"/>
              </a:lnSpc>
              <a:spcAft>
                <a:spcPts val="800"/>
              </a:spcAft>
            </a:pPr>
            <a:r>
              <a:rPr lang="fr-FR" sz="1800" b="1" dirty="0">
                <a:latin typeface="Aptos" panose="020B0004020202020204" pitchFamily="34" charset="0"/>
                <a:ea typeface="Times New Roman" panose="02020603050405020304" pitchFamily="18" charset="0"/>
                <a:cs typeface="Arial" panose="020B0604020202020204" pitchFamily="34" charset="0"/>
              </a:rPr>
              <a:t>   </a:t>
            </a:r>
            <a:r>
              <a:rPr lang="fr-FR" sz="18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Chaque nouveau processus est placé dans la file d'attente de la plus petite partition pouvant le contenir.</a:t>
            </a:r>
            <a:endParaRPr lang="fr-FR" sz="1800" b="1" kern="100" dirty="0">
              <a:effectLst/>
              <a:latin typeface="Aptos" panose="020B0004020202020204" pitchFamily="34" charset="0"/>
              <a:ea typeface="Calibri" panose="020F0502020204030204" pitchFamily="34" charset="0"/>
              <a:cs typeface="Arial" panose="020B0604020202020204" pitchFamily="34" charset="0"/>
            </a:endParaRPr>
          </a:p>
          <a:p>
            <a:pPr>
              <a:lnSpc>
                <a:spcPct val="107000"/>
              </a:lnSpc>
              <a:spcAft>
                <a:spcPts val="800"/>
              </a:spcAft>
            </a:pPr>
            <a:r>
              <a:rPr lang="fr-FR" sz="16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D2CACD66-094E-337F-C33C-8456C7578804}"/>
              </a:ext>
            </a:extLst>
          </p:cNvPr>
          <p:cNvSpPr txBox="1"/>
          <p:nvPr/>
        </p:nvSpPr>
        <p:spPr>
          <a:xfrm>
            <a:off x="4482059" y="378263"/>
            <a:ext cx="4572000" cy="307777"/>
          </a:xfrm>
          <a:prstGeom prst="rect">
            <a:avLst/>
          </a:prstGeom>
          <a:noFill/>
        </p:spPr>
        <p:txBody>
          <a:bodyPr wrap="square">
            <a:spAutoFit/>
          </a:bodyPr>
          <a:lstStyle/>
          <a:p>
            <a:r>
              <a:rPr lang="fr-FR" b="1" dirty="0"/>
              <a:t>Partitions fixes avec des files d’attente différentes</a:t>
            </a:r>
          </a:p>
        </p:txBody>
      </p:sp>
    </p:spTree>
    <p:extLst>
      <p:ext uri="{BB962C8B-B14F-4D97-AF65-F5344CB8AC3E}">
        <p14:creationId xmlns:p14="http://schemas.microsoft.com/office/powerpoint/2010/main" val="3150039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85CF9F14-B7CC-6B5C-E548-3FEBB00F12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476250"/>
            <a:ext cx="5353050" cy="4191000"/>
          </a:xfrm>
          <a:prstGeom prst="rect">
            <a:avLst/>
          </a:prstGeom>
          <a:noFill/>
          <a:ln>
            <a:noFill/>
          </a:ln>
        </p:spPr>
      </p:pic>
      <p:sp>
        <p:nvSpPr>
          <p:cNvPr id="4" name="ZoneTexte 3">
            <a:extLst>
              <a:ext uri="{FF2B5EF4-FFF2-40B4-BE49-F238E27FC236}">
                <a16:creationId xmlns:a16="http://schemas.microsoft.com/office/drawing/2014/main" id="{56F70FA3-4ECD-8D5C-DBD5-F3BF861F6BF9}"/>
              </a:ext>
            </a:extLst>
          </p:cNvPr>
          <p:cNvSpPr txBox="1"/>
          <p:nvPr/>
        </p:nvSpPr>
        <p:spPr>
          <a:xfrm>
            <a:off x="4991100" y="1401862"/>
            <a:ext cx="3098800" cy="646331"/>
          </a:xfrm>
          <a:prstGeom prst="rect">
            <a:avLst/>
          </a:prstGeom>
          <a:noFill/>
        </p:spPr>
        <p:txBody>
          <a:bodyPr wrap="square">
            <a:spAutoFit/>
          </a:bodyPr>
          <a:lstStyle/>
          <a:p>
            <a:r>
              <a:rPr lang="fr-FR" dirty="0">
                <a:latin typeface="Arial" panose="020B0604020202020204" pitchFamily="34" charset="0"/>
                <a:ea typeface="Times New Roman" panose="02020603050405020304" pitchFamily="18" charset="0"/>
              </a:rPr>
              <a:t>   </a:t>
            </a:r>
            <a:r>
              <a:rPr lang="fr-FR" sz="1800" b="1" dirty="0">
                <a:latin typeface="Aptos" panose="020B0004020202020204" pitchFamily="34" charset="0"/>
                <a:ea typeface="Times New Roman" panose="02020603050405020304" pitchFamily="18" charset="0"/>
              </a:rPr>
              <a:t>Ou bien u</a:t>
            </a:r>
            <a:r>
              <a:rPr lang="fr-FR" sz="1800" b="1" kern="0" dirty="0">
                <a:solidFill>
                  <a:srgbClr val="000000"/>
                </a:solidFill>
                <a:effectLst/>
                <a:latin typeface="Aptos" panose="020B0004020202020204" pitchFamily="34" charset="0"/>
                <a:ea typeface="Times New Roman" panose="02020603050405020304" pitchFamily="18" charset="0"/>
              </a:rPr>
              <a:t>ne file commune à toute les partitions.</a:t>
            </a:r>
            <a:endParaRPr lang="fr-FR" sz="1800" b="1" dirty="0">
              <a:latin typeface="Aptos" panose="020B0004020202020204" pitchFamily="34" charset="0"/>
            </a:endParaRPr>
          </a:p>
        </p:txBody>
      </p:sp>
    </p:spTree>
    <p:extLst>
      <p:ext uri="{BB962C8B-B14F-4D97-AF65-F5344CB8AC3E}">
        <p14:creationId xmlns:p14="http://schemas.microsoft.com/office/powerpoint/2010/main" val="226486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95;p21">
            <a:extLst>
              <a:ext uri="{FF2B5EF4-FFF2-40B4-BE49-F238E27FC236}">
                <a16:creationId xmlns:a16="http://schemas.microsoft.com/office/drawing/2014/main" id="{DF6F998E-2C11-D9C0-DA38-416DABC96787}"/>
              </a:ext>
            </a:extLst>
          </p:cNvPr>
          <p:cNvSpPr/>
          <p:nvPr/>
        </p:nvSpPr>
        <p:spPr>
          <a:xfrm>
            <a:off x="458254" y="1709163"/>
            <a:ext cx="6277054" cy="738552"/>
          </a:xfrm>
          <a:custGeom>
            <a:avLst/>
            <a:gdLst/>
            <a:ahLst/>
            <a:cxnLst/>
            <a:rect l="l" t="t" r="r" b="b"/>
            <a:pathLst>
              <a:path w="195684" h="23024" extrusionOk="0">
                <a:moveTo>
                  <a:pt x="128608" y="0"/>
                </a:moveTo>
                <a:lnTo>
                  <a:pt x="112837" y="20648"/>
                </a:lnTo>
                <a:lnTo>
                  <a:pt x="0" y="20648"/>
                </a:lnTo>
                <a:lnTo>
                  <a:pt x="0" y="23023"/>
                </a:lnTo>
                <a:lnTo>
                  <a:pt x="114009" y="23023"/>
                </a:lnTo>
                <a:lnTo>
                  <a:pt x="129780" y="2375"/>
                </a:lnTo>
                <a:lnTo>
                  <a:pt x="195683" y="2375"/>
                </a:lnTo>
                <a:lnTo>
                  <a:pt x="195683"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Google Shape;1696;p21">
            <a:extLst>
              <a:ext uri="{FF2B5EF4-FFF2-40B4-BE49-F238E27FC236}">
                <a16:creationId xmlns:a16="http://schemas.microsoft.com/office/drawing/2014/main" id="{6823FEDD-E41F-45AB-DDC9-F17B50B83568}"/>
              </a:ext>
            </a:extLst>
          </p:cNvPr>
          <p:cNvSpPr/>
          <p:nvPr/>
        </p:nvSpPr>
        <p:spPr>
          <a:xfrm>
            <a:off x="6649949" y="1633974"/>
            <a:ext cx="267206" cy="226563"/>
          </a:xfrm>
          <a:custGeom>
            <a:avLst/>
            <a:gdLst/>
            <a:ahLst/>
            <a:cxnLst/>
            <a:rect l="l" t="t" r="r" b="b"/>
            <a:pathLst>
              <a:path w="8330" h="7063" extrusionOk="0">
                <a:moveTo>
                  <a:pt x="0" y="1"/>
                </a:moveTo>
                <a:lnTo>
                  <a:pt x="1489" y="3516"/>
                </a:lnTo>
                <a:lnTo>
                  <a:pt x="0" y="7063"/>
                </a:lnTo>
                <a:lnTo>
                  <a:pt x="0" y="7063"/>
                </a:lnTo>
                <a:lnTo>
                  <a:pt x="8329" y="3516"/>
                </a:lnTo>
                <a:lnTo>
                  <a:pt x="0"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01;p21">
            <a:extLst>
              <a:ext uri="{FF2B5EF4-FFF2-40B4-BE49-F238E27FC236}">
                <a16:creationId xmlns:a16="http://schemas.microsoft.com/office/drawing/2014/main" id="{04209BC3-CD14-C13C-3403-D694E52D495A}"/>
              </a:ext>
            </a:extLst>
          </p:cNvPr>
          <p:cNvSpPr/>
          <p:nvPr/>
        </p:nvSpPr>
        <p:spPr>
          <a:xfrm>
            <a:off x="1061630" y="1409699"/>
            <a:ext cx="2330430" cy="2327249"/>
          </a:xfrm>
          <a:custGeom>
            <a:avLst/>
            <a:gdLst/>
            <a:ahLst/>
            <a:cxnLst/>
            <a:rect l="l" t="t" r="r" b="b"/>
            <a:pathLst>
              <a:path w="72650" h="72649" extrusionOk="0">
                <a:moveTo>
                  <a:pt x="36325" y="0"/>
                </a:moveTo>
                <a:cubicBezTo>
                  <a:pt x="16278" y="0"/>
                  <a:pt x="0" y="16247"/>
                  <a:pt x="0" y="36325"/>
                </a:cubicBezTo>
                <a:cubicBezTo>
                  <a:pt x="0" y="56371"/>
                  <a:pt x="16278" y="72649"/>
                  <a:pt x="36325" y="72649"/>
                </a:cubicBezTo>
                <a:cubicBezTo>
                  <a:pt x="56403" y="72649"/>
                  <a:pt x="72649" y="56371"/>
                  <a:pt x="72649" y="36325"/>
                </a:cubicBezTo>
                <a:cubicBezTo>
                  <a:pt x="72649" y="16247"/>
                  <a:pt x="56403" y="0"/>
                  <a:pt x="36325" y="0"/>
                </a:cubicBezTo>
                <a:close/>
              </a:path>
            </a:pathLst>
          </a:custGeom>
          <a:solidFill>
            <a:srgbClr val="F7F9F9"/>
          </a:solidFill>
          <a:ln>
            <a:noFill/>
          </a:ln>
        </p:spPr>
        <p:txBody>
          <a:bodyPr spcFirstLastPara="1" wrap="square" lIns="91425" tIns="91425" rIns="91425" bIns="91425" anchor="ctr" anchorCtr="0">
            <a:noAutofit/>
          </a:bodyPr>
          <a:lstStyle/>
          <a:p>
            <a:pPr fontAlgn="base">
              <a:lnSpc>
                <a:spcPct val="107000"/>
              </a:lnSpc>
              <a:spcAft>
                <a:spcPts val="800"/>
              </a:spcAft>
              <a:tabLst>
                <a:tab pos="457200" algn="l"/>
              </a:tabLst>
            </a:pPr>
            <a:endParaRPr lang="fr-FR" sz="24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5" name="Google Shape;1718;p21">
            <a:extLst>
              <a:ext uri="{FF2B5EF4-FFF2-40B4-BE49-F238E27FC236}">
                <a16:creationId xmlns:a16="http://schemas.microsoft.com/office/drawing/2014/main" id="{1BF3E4AC-B700-5ED1-AABD-0F2EF863A8E4}"/>
              </a:ext>
            </a:extLst>
          </p:cNvPr>
          <p:cNvSpPr txBox="1"/>
          <p:nvPr/>
        </p:nvSpPr>
        <p:spPr>
          <a:xfrm>
            <a:off x="7448550" y="2931725"/>
            <a:ext cx="12423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latin typeface="Fira Sans Medium"/>
              <a:ea typeface="Fira Sans Medium"/>
              <a:cs typeface="Fira Sans Medium"/>
              <a:sym typeface="Fira Sans Medium"/>
            </a:endParaRPr>
          </a:p>
        </p:txBody>
      </p:sp>
      <p:sp>
        <p:nvSpPr>
          <p:cNvPr id="6" name="ZoneTexte 5">
            <a:extLst>
              <a:ext uri="{FF2B5EF4-FFF2-40B4-BE49-F238E27FC236}">
                <a16:creationId xmlns:a16="http://schemas.microsoft.com/office/drawing/2014/main" id="{14D66289-4CE0-1A26-C777-EF11A25251B1}"/>
              </a:ext>
            </a:extLst>
          </p:cNvPr>
          <p:cNvSpPr txBox="1"/>
          <p:nvPr/>
        </p:nvSpPr>
        <p:spPr>
          <a:xfrm>
            <a:off x="1500781" y="1822403"/>
            <a:ext cx="1498600" cy="1200329"/>
          </a:xfrm>
          <a:prstGeom prst="rect">
            <a:avLst/>
          </a:prstGeom>
          <a:noFill/>
        </p:spPr>
        <p:txBody>
          <a:bodyPr wrap="square" rtlCol="0">
            <a:spAutoFit/>
          </a:bodyPr>
          <a:lstStyle/>
          <a:p>
            <a:r>
              <a:rPr lang="fr-FR" sz="1800" b="1" kern="0" dirty="0">
                <a:solidFill>
                  <a:srgbClr val="002060"/>
                </a:solidFill>
                <a:effectLst/>
                <a:latin typeface="Arial" panose="020B0604020202020204" pitchFamily="34" charset="0"/>
                <a:ea typeface="Times New Roman" panose="02020603050405020304" pitchFamily="18" charset="0"/>
              </a:rPr>
              <a:t>Gestion de la mémoire par table de bits</a:t>
            </a:r>
            <a:endParaRPr lang="fr-FR" sz="2000" dirty="0">
              <a:solidFill>
                <a:srgbClr val="002060"/>
              </a:solidFill>
            </a:endParaRPr>
          </a:p>
        </p:txBody>
      </p:sp>
      <p:sp>
        <p:nvSpPr>
          <p:cNvPr id="7" name="ZoneTexte 6">
            <a:extLst>
              <a:ext uri="{FF2B5EF4-FFF2-40B4-BE49-F238E27FC236}">
                <a16:creationId xmlns:a16="http://schemas.microsoft.com/office/drawing/2014/main" id="{6DEE3A7C-A4DA-468A-7EAE-602859D0B4EB}"/>
              </a:ext>
            </a:extLst>
          </p:cNvPr>
          <p:cNvSpPr txBox="1"/>
          <p:nvPr/>
        </p:nvSpPr>
        <p:spPr>
          <a:xfrm>
            <a:off x="4540232" y="1935726"/>
            <a:ext cx="4572000" cy="2453107"/>
          </a:xfrm>
          <a:prstGeom prst="rect">
            <a:avLst/>
          </a:prstGeom>
          <a:solidFill>
            <a:schemeClr val="tx2"/>
          </a:solidFill>
        </p:spPr>
        <p:txBody>
          <a:bodyPr wrap="square">
            <a:spAutoFit/>
          </a:bodyPr>
          <a:lstStyle/>
          <a:p>
            <a:pPr>
              <a:lnSpc>
                <a:spcPct val="107000"/>
              </a:lnSpc>
              <a:spcAft>
                <a:spcPts val="800"/>
              </a:spcAft>
            </a:pPr>
            <a:r>
              <a:rPr lang="fr-FR" sz="18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On divise la Mémoire Centrale en unités d'allocations de quelques octets, valeur 0 si l'unité est libre, 1 sinon, A chaque swap (charger un processus en mémoire), le gestionnaire doit chercher une zone libre suffisamment grande pour contenir le processus (rechercher suffisamment de 0 consécutifs dans la table) </a:t>
            </a:r>
            <a:endParaRPr lang="fr-FR" sz="1800" b="1"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871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CC387D6-B2B0-9A3B-D5F6-2BF982FAB5CD}"/>
              </a:ext>
            </a:extLst>
          </p:cNvPr>
          <p:cNvSpPr>
            <a:spLocks noChangeArrowheads="1"/>
          </p:cNvSpPr>
          <p:nvPr/>
        </p:nvSpPr>
        <p:spPr bwMode="auto">
          <a:xfrm>
            <a:off x="918473" y="767655"/>
            <a:ext cx="627607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800" b="1" dirty="0">
                <a:latin typeface="Aptos" panose="020B0004020202020204" pitchFamily="34" charset="0"/>
                <a:ea typeface="Times New Roman" panose="02020603050405020304" pitchFamily="18" charset="0"/>
                <a:cs typeface="Arial" panose="020B0604020202020204" pitchFamily="34" charset="0"/>
              </a:rPr>
              <a:t>   </a:t>
            </a:r>
            <a:r>
              <a:rPr kumimoji="0" lang="fr-FR" altLang="fr-FR" sz="1800" b="1" i="0" u="none" strike="noStrike" cap="none" normalizeH="0" baseline="0" dirty="0">
                <a:ln>
                  <a:noFill/>
                </a:ln>
                <a:solidFill>
                  <a:srgbClr val="002060"/>
                </a:solidFill>
                <a:effectLst/>
                <a:latin typeface="Aptos" panose="020B0004020202020204" pitchFamily="34" charset="0"/>
                <a:ea typeface="Times New Roman" panose="02020603050405020304" pitchFamily="18" charset="0"/>
                <a:cs typeface="Arial" panose="020B0604020202020204" pitchFamily="34" charset="0"/>
              </a:rPr>
              <a:t>L’exemple suivant montre une partie de la mémoire avec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1" i="0" u="none" strike="noStrike" cap="none" normalizeH="0" baseline="0" dirty="0">
                <a:ln>
                  <a:noFill/>
                </a:ln>
                <a:solidFill>
                  <a:srgbClr val="002060"/>
                </a:solidFill>
                <a:effectLst/>
                <a:latin typeface="Aptos" panose="020B0004020202020204" pitchFamily="34" charset="0"/>
                <a:ea typeface="Times New Roman" panose="02020603050405020304" pitchFamily="18" charset="0"/>
                <a:cs typeface="Arial" panose="020B0604020202020204" pitchFamily="34" charset="0"/>
              </a:rPr>
              <a:t>4 processus et 3 trous (zones libres) </a:t>
            </a:r>
            <a:endParaRPr kumimoji="0" lang="fr-FR" altLang="fr-FR" sz="1800" b="1" i="0" u="none" strike="noStrike" cap="none" normalizeH="0" baseline="0" dirty="0">
              <a:ln>
                <a:noFill/>
              </a:ln>
              <a:solidFill>
                <a:srgbClr val="002060"/>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25" name="Image 5">
            <a:extLst>
              <a:ext uri="{FF2B5EF4-FFF2-40B4-BE49-F238E27FC236}">
                <a16:creationId xmlns:a16="http://schemas.microsoft.com/office/drawing/2014/main" id="{89B36BF2-5EB7-3D83-B905-94B43200D0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0" y="2260600"/>
            <a:ext cx="5734050" cy="1219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A74C688-9FB0-244C-DA9A-EE685115A6FE}"/>
              </a:ext>
            </a:extLst>
          </p:cNvPr>
          <p:cNvSpPr>
            <a:spLocks noChangeArrowheads="1"/>
          </p:cNvSpPr>
          <p:nvPr/>
        </p:nvSpPr>
        <p:spPr bwMode="auto">
          <a:xfrm>
            <a:off x="901700" y="2476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909532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95;p21">
            <a:extLst>
              <a:ext uri="{FF2B5EF4-FFF2-40B4-BE49-F238E27FC236}">
                <a16:creationId xmlns:a16="http://schemas.microsoft.com/office/drawing/2014/main" id="{7C3C7465-CC58-716D-F1E6-E002DD7C3AA5}"/>
              </a:ext>
            </a:extLst>
          </p:cNvPr>
          <p:cNvSpPr/>
          <p:nvPr/>
        </p:nvSpPr>
        <p:spPr>
          <a:xfrm>
            <a:off x="0" y="299464"/>
            <a:ext cx="6277054" cy="738552"/>
          </a:xfrm>
          <a:custGeom>
            <a:avLst/>
            <a:gdLst/>
            <a:ahLst/>
            <a:cxnLst/>
            <a:rect l="l" t="t" r="r" b="b"/>
            <a:pathLst>
              <a:path w="195684" h="23024" extrusionOk="0">
                <a:moveTo>
                  <a:pt x="128608" y="0"/>
                </a:moveTo>
                <a:lnTo>
                  <a:pt x="112837" y="20648"/>
                </a:lnTo>
                <a:lnTo>
                  <a:pt x="0" y="20648"/>
                </a:lnTo>
                <a:lnTo>
                  <a:pt x="0" y="23023"/>
                </a:lnTo>
                <a:lnTo>
                  <a:pt x="114009" y="23023"/>
                </a:lnTo>
                <a:lnTo>
                  <a:pt x="129780" y="2375"/>
                </a:lnTo>
                <a:lnTo>
                  <a:pt x="195683" y="2375"/>
                </a:lnTo>
                <a:lnTo>
                  <a:pt x="195683"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Google Shape;1696;p21">
            <a:extLst>
              <a:ext uri="{FF2B5EF4-FFF2-40B4-BE49-F238E27FC236}">
                <a16:creationId xmlns:a16="http://schemas.microsoft.com/office/drawing/2014/main" id="{34EE3E76-6A9E-FD27-2EB3-123A19631B97}"/>
              </a:ext>
            </a:extLst>
          </p:cNvPr>
          <p:cNvSpPr/>
          <p:nvPr/>
        </p:nvSpPr>
        <p:spPr>
          <a:xfrm>
            <a:off x="6191695" y="224275"/>
            <a:ext cx="267206" cy="226563"/>
          </a:xfrm>
          <a:custGeom>
            <a:avLst/>
            <a:gdLst/>
            <a:ahLst/>
            <a:cxnLst/>
            <a:rect l="l" t="t" r="r" b="b"/>
            <a:pathLst>
              <a:path w="8330" h="7063" extrusionOk="0">
                <a:moveTo>
                  <a:pt x="0" y="1"/>
                </a:moveTo>
                <a:lnTo>
                  <a:pt x="1489" y="3516"/>
                </a:lnTo>
                <a:lnTo>
                  <a:pt x="0" y="7063"/>
                </a:lnTo>
                <a:lnTo>
                  <a:pt x="0" y="7063"/>
                </a:lnTo>
                <a:lnTo>
                  <a:pt x="8329" y="3516"/>
                </a:lnTo>
                <a:lnTo>
                  <a:pt x="0"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01;p21">
            <a:extLst>
              <a:ext uri="{FF2B5EF4-FFF2-40B4-BE49-F238E27FC236}">
                <a16:creationId xmlns:a16="http://schemas.microsoft.com/office/drawing/2014/main" id="{DFC80AEC-9C20-24B1-5DDF-AA1FD1BAE039}"/>
              </a:ext>
            </a:extLst>
          </p:cNvPr>
          <p:cNvSpPr/>
          <p:nvPr/>
        </p:nvSpPr>
        <p:spPr>
          <a:xfrm>
            <a:off x="603376" y="0"/>
            <a:ext cx="2330430" cy="2327249"/>
          </a:xfrm>
          <a:custGeom>
            <a:avLst/>
            <a:gdLst/>
            <a:ahLst/>
            <a:cxnLst/>
            <a:rect l="l" t="t" r="r" b="b"/>
            <a:pathLst>
              <a:path w="72650" h="72649" extrusionOk="0">
                <a:moveTo>
                  <a:pt x="36325" y="0"/>
                </a:moveTo>
                <a:cubicBezTo>
                  <a:pt x="16278" y="0"/>
                  <a:pt x="0" y="16247"/>
                  <a:pt x="0" y="36325"/>
                </a:cubicBezTo>
                <a:cubicBezTo>
                  <a:pt x="0" y="56371"/>
                  <a:pt x="16278" y="72649"/>
                  <a:pt x="36325" y="72649"/>
                </a:cubicBezTo>
                <a:cubicBezTo>
                  <a:pt x="56403" y="72649"/>
                  <a:pt x="72649" y="56371"/>
                  <a:pt x="72649" y="36325"/>
                </a:cubicBezTo>
                <a:cubicBezTo>
                  <a:pt x="72649" y="16247"/>
                  <a:pt x="56403" y="0"/>
                  <a:pt x="36325" y="0"/>
                </a:cubicBezTo>
                <a:close/>
              </a:path>
            </a:pathLst>
          </a:custGeom>
          <a:solidFill>
            <a:srgbClr val="F7F9F9"/>
          </a:solidFill>
          <a:ln>
            <a:noFill/>
          </a:ln>
        </p:spPr>
        <p:txBody>
          <a:bodyPr spcFirstLastPara="1" wrap="square" lIns="91425" tIns="91425" rIns="91425" bIns="91425" anchor="ctr" anchorCtr="0">
            <a:noAutofit/>
          </a:bodyPr>
          <a:lstStyle/>
          <a:p>
            <a:pPr fontAlgn="base">
              <a:lnSpc>
                <a:spcPct val="107000"/>
              </a:lnSpc>
              <a:spcAft>
                <a:spcPts val="800"/>
              </a:spcAft>
              <a:tabLst>
                <a:tab pos="457200" algn="l"/>
              </a:tabLst>
            </a:pPr>
            <a:endParaRPr lang="fr-FR" sz="24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5" name="Google Shape;1718;p21">
            <a:extLst>
              <a:ext uri="{FF2B5EF4-FFF2-40B4-BE49-F238E27FC236}">
                <a16:creationId xmlns:a16="http://schemas.microsoft.com/office/drawing/2014/main" id="{57621BC9-A38A-21DE-CEF8-EAEA56A5701D}"/>
              </a:ext>
            </a:extLst>
          </p:cNvPr>
          <p:cNvSpPr txBox="1"/>
          <p:nvPr/>
        </p:nvSpPr>
        <p:spPr>
          <a:xfrm>
            <a:off x="7448550" y="2931725"/>
            <a:ext cx="12423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latin typeface="Fira Sans Medium"/>
              <a:ea typeface="Fira Sans Medium"/>
              <a:cs typeface="Fira Sans Medium"/>
              <a:sym typeface="Fira Sans Medium"/>
            </a:endParaRPr>
          </a:p>
        </p:txBody>
      </p:sp>
      <p:sp>
        <p:nvSpPr>
          <p:cNvPr id="6" name="ZoneTexte 5">
            <a:extLst>
              <a:ext uri="{FF2B5EF4-FFF2-40B4-BE49-F238E27FC236}">
                <a16:creationId xmlns:a16="http://schemas.microsoft.com/office/drawing/2014/main" id="{BC36E3EA-605B-6475-64B9-31BA981482B0}"/>
              </a:ext>
            </a:extLst>
          </p:cNvPr>
          <p:cNvSpPr txBox="1"/>
          <p:nvPr/>
        </p:nvSpPr>
        <p:spPr>
          <a:xfrm>
            <a:off x="939600" y="603043"/>
            <a:ext cx="1598019" cy="923330"/>
          </a:xfrm>
          <a:prstGeom prst="rect">
            <a:avLst/>
          </a:prstGeom>
          <a:noFill/>
        </p:spPr>
        <p:txBody>
          <a:bodyPr wrap="square" rtlCol="0">
            <a:spAutoFit/>
          </a:bodyPr>
          <a:lstStyle/>
          <a:p>
            <a:r>
              <a:rPr lang="fr-FR" sz="1800" b="1" kern="0" dirty="0">
                <a:solidFill>
                  <a:srgbClr val="002060"/>
                </a:solidFill>
                <a:effectLst/>
                <a:latin typeface="Aptos" panose="020B0004020202020204" pitchFamily="34" charset="0"/>
                <a:ea typeface="Times New Roman" panose="02020603050405020304" pitchFamily="18" charset="0"/>
              </a:rPr>
              <a:t>Gestion de la mémoire par subdivisions</a:t>
            </a:r>
          </a:p>
        </p:txBody>
      </p:sp>
      <p:sp>
        <p:nvSpPr>
          <p:cNvPr id="8" name="ZoneTexte 7">
            <a:extLst>
              <a:ext uri="{FF2B5EF4-FFF2-40B4-BE49-F238E27FC236}">
                <a16:creationId xmlns:a16="http://schemas.microsoft.com/office/drawing/2014/main" id="{C7F4DBF2-F1A4-F00E-4529-B74E9E81CB47}"/>
              </a:ext>
            </a:extLst>
          </p:cNvPr>
          <p:cNvSpPr txBox="1"/>
          <p:nvPr/>
        </p:nvSpPr>
        <p:spPr>
          <a:xfrm>
            <a:off x="4188667" y="505734"/>
            <a:ext cx="4849221" cy="1925399"/>
          </a:xfrm>
          <a:prstGeom prst="rect">
            <a:avLst/>
          </a:prstGeom>
          <a:solidFill>
            <a:schemeClr val="tx2"/>
          </a:solidFill>
        </p:spPr>
        <p:txBody>
          <a:bodyPr wrap="square">
            <a:spAutoFit/>
          </a:bodyPr>
          <a:lstStyle/>
          <a:p>
            <a:pPr>
              <a:lnSpc>
                <a:spcPct val="107000"/>
              </a:lnSpc>
              <a:spcAft>
                <a:spcPts val="800"/>
              </a:spcAft>
            </a:pPr>
            <a:r>
              <a:rPr lang="fr-FR" sz="1600" b="1" dirty="0"/>
              <a:t>La gestion de la mémoire par subdivision est une technique utilisée par les systèmes d'exploitation pour allouer dynamiquement la mémoire aux processus en cours d'exécution. Dans ce modèle, la mémoire est divisée en blocs de taille fixe ou variable appelés subdivisions. </a:t>
            </a:r>
            <a:endParaRPr lang="fr-FR" sz="1200" b="1"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56027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5"/>
        <p:cNvGrpSpPr/>
        <p:nvPr/>
      </p:nvGrpSpPr>
      <p:grpSpPr>
        <a:xfrm>
          <a:off x="0" y="0"/>
          <a:ext cx="0" cy="0"/>
          <a:chOff x="0" y="0"/>
          <a:chExt cx="0" cy="0"/>
        </a:xfrm>
      </p:grpSpPr>
      <p:sp>
        <p:nvSpPr>
          <p:cNvPr id="4458" name="Google Shape;4458;p39"/>
          <p:cNvSpPr/>
          <p:nvPr/>
        </p:nvSpPr>
        <p:spPr>
          <a:xfrm>
            <a:off x="902074" y="2641059"/>
            <a:ext cx="99418" cy="98404"/>
          </a:xfrm>
          <a:custGeom>
            <a:avLst/>
            <a:gdLst/>
            <a:ahLst/>
            <a:cxnLst/>
            <a:rect l="l" t="t" r="r" b="b"/>
            <a:pathLst>
              <a:path w="3041" h="3010" extrusionOk="0">
                <a:moveTo>
                  <a:pt x="1521" y="1"/>
                </a:moveTo>
                <a:cubicBezTo>
                  <a:pt x="697" y="1"/>
                  <a:pt x="1" y="666"/>
                  <a:pt x="1" y="1521"/>
                </a:cubicBezTo>
                <a:cubicBezTo>
                  <a:pt x="1" y="2344"/>
                  <a:pt x="697" y="3009"/>
                  <a:pt x="1521" y="3009"/>
                </a:cubicBezTo>
                <a:cubicBezTo>
                  <a:pt x="2344" y="3009"/>
                  <a:pt x="3041" y="2344"/>
                  <a:pt x="3041" y="1521"/>
                </a:cubicBezTo>
                <a:cubicBezTo>
                  <a:pt x="3041" y="666"/>
                  <a:pt x="2344" y="1"/>
                  <a:pt x="1521"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39"/>
          <p:cNvSpPr/>
          <p:nvPr/>
        </p:nvSpPr>
        <p:spPr>
          <a:xfrm>
            <a:off x="4971712" y="1863991"/>
            <a:ext cx="2953865" cy="727866"/>
          </a:xfrm>
          <a:custGeom>
            <a:avLst/>
            <a:gdLst/>
            <a:ahLst/>
            <a:cxnLst/>
            <a:rect l="l" t="t" r="r" b="b"/>
            <a:pathLst>
              <a:path w="90353" h="22264" extrusionOk="0">
                <a:moveTo>
                  <a:pt x="1" y="1"/>
                </a:moveTo>
                <a:lnTo>
                  <a:pt x="1" y="4118"/>
                </a:lnTo>
                <a:cubicBezTo>
                  <a:pt x="1" y="4909"/>
                  <a:pt x="666" y="5574"/>
                  <a:pt x="1457" y="5574"/>
                </a:cubicBezTo>
                <a:lnTo>
                  <a:pt x="88896" y="5574"/>
                </a:lnTo>
                <a:cubicBezTo>
                  <a:pt x="89497" y="5574"/>
                  <a:pt x="89972" y="6050"/>
                  <a:pt x="89972" y="6620"/>
                </a:cubicBezTo>
                <a:lnTo>
                  <a:pt x="89972" y="22264"/>
                </a:lnTo>
                <a:lnTo>
                  <a:pt x="90352" y="22264"/>
                </a:lnTo>
                <a:lnTo>
                  <a:pt x="90352" y="6620"/>
                </a:lnTo>
                <a:cubicBezTo>
                  <a:pt x="90352" y="5828"/>
                  <a:pt x="89719" y="5194"/>
                  <a:pt x="88927" y="5194"/>
                </a:cubicBezTo>
                <a:lnTo>
                  <a:pt x="1457" y="5194"/>
                </a:lnTo>
                <a:cubicBezTo>
                  <a:pt x="856" y="5194"/>
                  <a:pt x="381" y="4688"/>
                  <a:pt x="381" y="4118"/>
                </a:cubicBezTo>
                <a:lnTo>
                  <a:pt x="381"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39"/>
          <p:cNvSpPr/>
          <p:nvPr/>
        </p:nvSpPr>
        <p:spPr>
          <a:xfrm>
            <a:off x="7869641" y="2542132"/>
            <a:ext cx="99418" cy="98404"/>
          </a:xfrm>
          <a:custGeom>
            <a:avLst/>
            <a:gdLst/>
            <a:ahLst/>
            <a:cxnLst/>
            <a:rect l="l" t="t" r="r" b="b"/>
            <a:pathLst>
              <a:path w="3041" h="3010" extrusionOk="0">
                <a:moveTo>
                  <a:pt x="1520" y="1"/>
                </a:moveTo>
                <a:cubicBezTo>
                  <a:pt x="697" y="1"/>
                  <a:pt x="0" y="666"/>
                  <a:pt x="0" y="1521"/>
                </a:cubicBezTo>
                <a:cubicBezTo>
                  <a:pt x="0" y="2344"/>
                  <a:pt x="697" y="3009"/>
                  <a:pt x="1520" y="3009"/>
                </a:cubicBezTo>
                <a:cubicBezTo>
                  <a:pt x="2344" y="3009"/>
                  <a:pt x="3040" y="2344"/>
                  <a:pt x="3040" y="1521"/>
                </a:cubicBezTo>
                <a:cubicBezTo>
                  <a:pt x="3040" y="666"/>
                  <a:pt x="2344" y="1"/>
                  <a:pt x="1520" y="1"/>
                </a:cubicBezTo>
                <a:close/>
              </a:path>
            </a:pathLst>
          </a:custGeom>
          <a:solidFill>
            <a:srgbClr val="6CA1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39"/>
          <p:cNvSpPr/>
          <p:nvPr/>
        </p:nvSpPr>
        <p:spPr>
          <a:xfrm>
            <a:off x="931039" y="1991181"/>
            <a:ext cx="2953865" cy="727866"/>
          </a:xfrm>
          <a:custGeom>
            <a:avLst/>
            <a:gdLst/>
            <a:ahLst/>
            <a:cxnLst/>
            <a:rect l="l" t="t" r="r" b="b"/>
            <a:pathLst>
              <a:path w="90353" h="22264" extrusionOk="0">
                <a:moveTo>
                  <a:pt x="89973" y="1"/>
                </a:moveTo>
                <a:lnTo>
                  <a:pt x="89973" y="4118"/>
                </a:lnTo>
                <a:cubicBezTo>
                  <a:pt x="89973" y="4688"/>
                  <a:pt x="89497" y="5194"/>
                  <a:pt x="88896" y="5194"/>
                </a:cubicBezTo>
                <a:lnTo>
                  <a:pt x="1426" y="5194"/>
                </a:lnTo>
                <a:cubicBezTo>
                  <a:pt x="634" y="5194"/>
                  <a:pt x="1" y="5828"/>
                  <a:pt x="1" y="6620"/>
                </a:cubicBezTo>
                <a:lnTo>
                  <a:pt x="1" y="22264"/>
                </a:lnTo>
                <a:lnTo>
                  <a:pt x="381" y="22264"/>
                </a:lnTo>
                <a:lnTo>
                  <a:pt x="381" y="6620"/>
                </a:lnTo>
                <a:cubicBezTo>
                  <a:pt x="381" y="6050"/>
                  <a:pt x="856" y="5574"/>
                  <a:pt x="1426" y="5574"/>
                </a:cubicBezTo>
                <a:lnTo>
                  <a:pt x="88896" y="5574"/>
                </a:lnTo>
                <a:cubicBezTo>
                  <a:pt x="89688" y="5574"/>
                  <a:pt x="90353" y="4909"/>
                  <a:pt x="90353" y="4118"/>
                </a:cubicBezTo>
                <a:lnTo>
                  <a:pt x="90353"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39"/>
          <p:cNvSpPr/>
          <p:nvPr/>
        </p:nvSpPr>
        <p:spPr>
          <a:xfrm>
            <a:off x="7869641" y="2542132"/>
            <a:ext cx="99418" cy="98404"/>
          </a:xfrm>
          <a:custGeom>
            <a:avLst/>
            <a:gdLst/>
            <a:ahLst/>
            <a:cxnLst/>
            <a:rect l="l" t="t" r="r" b="b"/>
            <a:pathLst>
              <a:path w="3041" h="3010" extrusionOk="0">
                <a:moveTo>
                  <a:pt x="1520" y="1"/>
                </a:moveTo>
                <a:cubicBezTo>
                  <a:pt x="697" y="1"/>
                  <a:pt x="0" y="666"/>
                  <a:pt x="0" y="1521"/>
                </a:cubicBezTo>
                <a:cubicBezTo>
                  <a:pt x="0" y="2344"/>
                  <a:pt x="697" y="3009"/>
                  <a:pt x="1520" y="3009"/>
                </a:cubicBezTo>
                <a:cubicBezTo>
                  <a:pt x="2344" y="3009"/>
                  <a:pt x="3040" y="2344"/>
                  <a:pt x="3040" y="1521"/>
                </a:cubicBezTo>
                <a:cubicBezTo>
                  <a:pt x="3040" y="666"/>
                  <a:pt x="2344" y="1"/>
                  <a:pt x="1520"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39"/>
          <p:cNvSpPr/>
          <p:nvPr/>
        </p:nvSpPr>
        <p:spPr>
          <a:xfrm>
            <a:off x="4337929" y="2116672"/>
            <a:ext cx="567411" cy="527003"/>
          </a:xfrm>
          <a:custGeom>
            <a:avLst/>
            <a:gdLst/>
            <a:ahLst/>
            <a:cxnLst/>
            <a:rect l="l" t="t" r="r" b="b"/>
            <a:pathLst>
              <a:path w="17356" h="16120" extrusionOk="0">
                <a:moveTo>
                  <a:pt x="0" y="1"/>
                </a:moveTo>
                <a:lnTo>
                  <a:pt x="0" y="7411"/>
                </a:lnTo>
                <a:cubicBezTo>
                  <a:pt x="0" y="8234"/>
                  <a:pt x="666" y="8868"/>
                  <a:pt x="1457" y="8868"/>
                </a:cubicBezTo>
                <a:lnTo>
                  <a:pt x="15898" y="8868"/>
                </a:lnTo>
                <a:cubicBezTo>
                  <a:pt x="16500" y="8868"/>
                  <a:pt x="16975" y="9343"/>
                  <a:pt x="16975" y="9945"/>
                </a:cubicBezTo>
                <a:lnTo>
                  <a:pt x="16975" y="16120"/>
                </a:lnTo>
                <a:lnTo>
                  <a:pt x="17355" y="16120"/>
                </a:lnTo>
                <a:lnTo>
                  <a:pt x="17355" y="9945"/>
                </a:lnTo>
                <a:cubicBezTo>
                  <a:pt x="17355" y="9121"/>
                  <a:pt x="16722" y="8488"/>
                  <a:pt x="15898" y="8488"/>
                </a:cubicBezTo>
                <a:lnTo>
                  <a:pt x="1457" y="8488"/>
                </a:lnTo>
                <a:cubicBezTo>
                  <a:pt x="856" y="8488"/>
                  <a:pt x="380" y="8013"/>
                  <a:pt x="380" y="7411"/>
                </a:cubicBezTo>
                <a:lnTo>
                  <a:pt x="380"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39"/>
          <p:cNvSpPr/>
          <p:nvPr/>
        </p:nvSpPr>
        <p:spPr>
          <a:xfrm>
            <a:off x="4848461" y="2591857"/>
            <a:ext cx="99451" cy="98404"/>
          </a:xfrm>
          <a:custGeom>
            <a:avLst/>
            <a:gdLst/>
            <a:ahLst/>
            <a:cxnLst/>
            <a:rect l="l" t="t" r="r" b="b"/>
            <a:pathLst>
              <a:path w="3042" h="3010" extrusionOk="0">
                <a:moveTo>
                  <a:pt x="1521" y="1"/>
                </a:moveTo>
                <a:cubicBezTo>
                  <a:pt x="698" y="1"/>
                  <a:pt x="1" y="666"/>
                  <a:pt x="1" y="1521"/>
                </a:cubicBezTo>
                <a:cubicBezTo>
                  <a:pt x="1" y="2344"/>
                  <a:pt x="698" y="3009"/>
                  <a:pt x="1521" y="3009"/>
                </a:cubicBezTo>
                <a:cubicBezTo>
                  <a:pt x="2344" y="3009"/>
                  <a:pt x="3041" y="2344"/>
                  <a:pt x="3041" y="1521"/>
                </a:cubicBezTo>
                <a:cubicBezTo>
                  <a:pt x="3041" y="666"/>
                  <a:pt x="2344" y="1"/>
                  <a:pt x="1521" y="1"/>
                </a:cubicBezTo>
                <a:close/>
              </a:path>
            </a:pathLst>
          </a:custGeom>
          <a:solidFill>
            <a:srgbClr val="DC8E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39"/>
          <p:cNvSpPr/>
          <p:nvPr/>
        </p:nvSpPr>
        <p:spPr>
          <a:xfrm>
            <a:off x="4848461" y="2591857"/>
            <a:ext cx="99451" cy="98404"/>
          </a:xfrm>
          <a:custGeom>
            <a:avLst/>
            <a:gdLst/>
            <a:ahLst/>
            <a:cxnLst/>
            <a:rect l="l" t="t" r="r" b="b"/>
            <a:pathLst>
              <a:path w="3042" h="3010" extrusionOk="0">
                <a:moveTo>
                  <a:pt x="1521" y="1"/>
                </a:moveTo>
                <a:cubicBezTo>
                  <a:pt x="698" y="1"/>
                  <a:pt x="1" y="666"/>
                  <a:pt x="1" y="1521"/>
                </a:cubicBezTo>
                <a:cubicBezTo>
                  <a:pt x="1" y="2344"/>
                  <a:pt x="698" y="3009"/>
                  <a:pt x="1521" y="3009"/>
                </a:cubicBezTo>
                <a:cubicBezTo>
                  <a:pt x="2344" y="3009"/>
                  <a:pt x="3041" y="2344"/>
                  <a:pt x="3041" y="1521"/>
                </a:cubicBezTo>
                <a:cubicBezTo>
                  <a:pt x="3041" y="666"/>
                  <a:pt x="2344" y="1"/>
                  <a:pt x="1521"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39"/>
          <p:cNvSpPr/>
          <p:nvPr/>
        </p:nvSpPr>
        <p:spPr>
          <a:xfrm>
            <a:off x="2793481" y="-5786"/>
            <a:ext cx="2876492" cy="1229204"/>
          </a:xfrm>
          <a:custGeom>
            <a:avLst/>
            <a:gdLst/>
            <a:ahLst/>
            <a:cxnLst/>
            <a:rect l="l" t="t" r="r" b="b"/>
            <a:pathLst>
              <a:path w="49373" h="27529" extrusionOk="0">
                <a:moveTo>
                  <a:pt x="24671" y="0"/>
                </a:moveTo>
                <a:cubicBezTo>
                  <a:pt x="23578" y="0"/>
                  <a:pt x="22486" y="278"/>
                  <a:pt x="21504" y="832"/>
                </a:cubicBezTo>
                <a:lnTo>
                  <a:pt x="3168" y="11441"/>
                </a:lnTo>
                <a:cubicBezTo>
                  <a:pt x="1204" y="12581"/>
                  <a:pt x="1" y="14671"/>
                  <a:pt x="1" y="16920"/>
                </a:cubicBezTo>
                <a:lnTo>
                  <a:pt x="1" y="27529"/>
                </a:lnTo>
                <a:lnTo>
                  <a:pt x="381" y="27529"/>
                </a:lnTo>
                <a:lnTo>
                  <a:pt x="381" y="16920"/>
                </a:lnTo>
                <a:cubicBezTo>
                  <a:pt x="381" y="14798"/>
                  <a:pt x="1521" y="12834"/>
                  <a:pt x="3358" y="11789"/>
                </a:cubicBezTo>
                <a:lnTo>
                  <a:pt x="21694" y="1180"/>
                </a:lnTo>
                <a:cubicBezTo>
                  <a:pt x="22612" y="658"/>
                  <a:pt x="23642" y="396"/>
                  <a:pt x="24671" y="396"/>
                </a:cubicBezTo>
                <a:cubicBezTo>
                  <a:pt x="25700" y="396"/>
                  <a:pt x="26729" y="658"/>
                  <a:pt x="27648" y="1180"/>
                </a:cubicBezTo>
                <a:lnTo>
                  <a:pt x="46016" y="11789"/>
                </a:lnTo>
                <a:cubicBezTo>
                  <a:pt x="47821" y="12834"/>
                  <a:pt x="48961" y="14798"/>
                  <a:pt x="48961" y="16920"/>
                </a:cubicBezTo>
                <a:lnTo>
                  <a:pt x="48961" y="27529"/>
                </a:lnTo>
                <a:lnTo>
                  <a:pt x="49373" y="27529"/>
                </a:lnTo>
                <a:lnTo>
                  <a:pt x="49373" y="16920"/>
                </a:lnTo>
                <a:cubicBezTo>
                  <a:pt x="49373" y="14671"/>
                  <a:pt x="48138" y="12581"/>
                  <a:pt x="46206" y="11441"/>
                </a:cubicBezTo>
                <a:lnTo>
                  <a:pt x="27838" y="832"/>
                </a:lnTo>
                <a:cubicBezTo>
                  <a:pt x="26856" y="278"/>
                  <a:pt x="25763" y="0"/>
                  <a:pt x="24671"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39"/>
          <p:cNvSpPr/>
          <p:nvPr/>
        </p:nvSpPr>
        <p:spPr>
          <a:xfrm>
            <a:off x="2754795" y="1204485"/>
            <a:ext cx="2953865" cy="930788"/>
          </a:xfrm>
          <a:custGeom>
            <a:avLst/>
            <a:gdLst/>
            <a:ahLst/>
            <a:cxnLst/>
            <a:rect l="l" t="t" r="r" b="b"/>
            <a:pathLst>
              <a:path w="51305" h="28471" extrusionOk="0">
                <a:moveTo>
                  <a:pt x="1" y="1"/>
                </a:moveTo>
                <a:lnTo>
                  <a:pt x="1" y="10610"/>
                </a:lnTo>
                <a:cubicBezTo>
                  <a:pt x="1" y="13175"/>
                  <a:pt x="1394" y="15613"/>
                  <a:pt x="3643" y="16912"/>
                </a:cubicBezTo>
                <a:lnTo>
                  <a:pt x="22011" y="27521"/>
                </a:lnTo>
                <a:cubicBezTo>
                  <a:pt x="23119" y="28154"/>
                  <a:pt x="24386" y="28471"/>
                  <a:pt x="25653" y="28471"/>
                </a:cubicBezTo>
                <a:cubicBezTo>
                  <a:pt x="26920" y="28471"/>
                  <a:pt x="28186" y="28154"/>
                  <a:pt x="29295" y="27521"/>
                </a:cubicBezTo>
                <a:lnTo>
                  <a:pt x="47663" y="16912"/>
                </a:lnTo>
                <a:cubicBezTo>
                  <a:pt x="49911" y="15613"/>
                  <a:pt x="51305" y="13207"/>
                  <a:pt x="51305" y="10610"/>
                </a:cubicBezTo>
                <a:lnTo>
                  <a:pt x="51305" y="1"/>
                </a:lnTo>
                <a:lnTo>
                  <a:pt x="48993" y="1"/>
                </a:lnTo>
                <a:lnTo>
                  <a:pt x="48993" y="10610"/>
                </a:lnTo>
                <a:cubicBezTo>
                  <a:pt x="48993" y="12383"/>
                  <a:pt x="48043" y="14030"/>
                  <a:pt x="46491" y="14917"/>
                </a:cubicBezTo>
                <a:lnTo>
                  <a:pt x="28155" y="25494"/>
                </a:lnTo>
                <a:cubicBezTo>
                  <a:pt x="27379" y="25937"/>
                  <a:pt x="26516" y="26159"/>
                  <a:pt x="25657" y="26159"/>
                </a:cubicBezTo>
                <a:cubicBezTo>
                  <a:pt x="24798" y="26159"/>
                  <a:pt x="23943" y="25937"/>
                  <a:pt x="23183" y="25494"/>
                </a:cubicBezTo>
                <a:lnTo>
                  <a:pt x="4815" y="14917"/>
                </a:lnTo>
                <a:cubicBezTo>
                  <a:pt x="3263" y="14030"/>
                  <a:pt x="2313" y="12383"/>
                  <a:pt x="2313" y="10610"/>
                </a:cubicBezTo>
                <a:lnTo>
                  <a:pt x="2313"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39"/>
          <p:cNvSpPr/>
          <p:nvPr/>
        </p:nvSpPr>
        <p:spPr>
          <a:xfrm>
            <a:off x="2968897" y="111998"/>
            <a:ext cx="2525660" cy="1939359"/>
          </a:xfrm>
          <a:custGeom>
            <a:avLst/>
            <a:gdLst/>
            <a:ahLst/>
            <a:cxnLst/>
            <a:rect l="l" t="t" r="r" b="b"/>
            <a:pathLst>
              <a:path w="43356" h="48154" extrusionOk="0">
                <a:moveTo>
                  <a:pt x="21662" y="0"/>
                </a:moveTo>
                <a:cubicBezTo>
                  <a:pt x="20601" y="0"/>
                  <a:pt x="19540" y="270"/>
                  <a:pt x="18590" y="808"/>
                </a:cubicBezTo>
                <a:lnTo>
                  <a:pt x="3040" y="9802"/>
                </a:lnTo>
                <a:cubicBezTo>
                  <a:pt x="1140" y="10879"/>
                  <a:pt x="0" y="12906"/>
                  <a:pt x="0" y="15091"/>
                </a:cubicBezTo>
                <a:lnTo>
                  <a:pt x="0" y="33047"/>
                </a:lnTo>
                <a:cubicBezTo>
                  <a:pt x="0" y="35232"/>
                  <a:pt x="1140" y="37259"/>
                  <a:pt x="3040" y="38367"/>
                </a:cubicBezTo>
                <a:lnTo>
                  <a:pt x="18590" y="47330"/>
                </a:lnTo>
                <a:cubicBezTo>
                  <a:pt x="19065" y="47615"/>
                  <a:pt x="19572" y="47805"/>
                  <a:pt x="20078" y="47963"/>
                </a:cubicBezTo>
                <a:cubicBezTo>
                  <a:pt x="20205" y="47995"/>
                  <a:pt x="20332" y="48026"/>
                  <a:pt x="20490" y="48058"/>
                </a:cubicBezTo>
                <a:cubicBezTo>
                  <a:pt x="20743" y="48090"/>
                  <a:pt x="20997" y="48121"/>
                  <a:pt x="21250" y="48153"/>
                </a:cubicBezTo>
                <a:lnTo>
                  <a:pt x="22074" y="48153"/>
                </a:lnTo>
                <a:cubicBezTo>
                  <a:pt x="22327" y="48121"/>
                  <a:pt x="22580" y="48090"/>
                  <a:pt x="22834" y="48058"/>
                </a:cubicBezTo>
                <a:cubicBezTo>
                  <a:pt x="22992" y="48026"/>
                  <a:pt x="23119" y="47995"/>
                  <a:pt x="23245" y="47963"/>
                </a:cubicBezTo>
                <a:cubicBezTo>
                  <a:pt x="23752" y="47805"/>
                  <a:pt x="24259" y="47615"/>
                  <a:pt x="24734" y="47330"/>
                </a:cubicBezTo>
                <a:lnTo>
                  <a:pt x="40283" y="38367"/>
                </a:lnTo>
                <a:cubicBezTo>
                  <a:pt x="42183" y="37259"/>
                  <a:pt x="43323" y="35232"/>
                  <a:pt x="43323" y="33047"/>
                </a:cubicBezTo>
                <a:lnTo>
                  <a:pt x="43323" y="15091"/>
                </a:lnTo>
                <a:cubicBezTo>
                  <a:pt x="43355" y="12906"/>
                  <a:pt x="42183" y="10879"/>
                  <a:pt x="40283" y="9802"/>
                </a:cubicBezTo>
                <a:lnTo>
                  <a:pt x="24734" y="808"/>
                </a:lnTo>
                <a:cubicBezTo>
                  <a:pt x="23784" y="270"/>
                  <a:pt x="22723" y="0"/>
                  <a:pt x="21662" y="0"/>
                </a:cubicBezTo>
                <a:close/>
              </a:path>
            </a:pathLst>
          </a:cu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700" dirty="0">
              <a:latin typeface="Fira Sans Medium"/>
              <a:ea typeface="Fira Sans Medium"/>
              <a:cs typeface="Fira Sans Medium"/>
              <a:sym typeface="Fira Sans Medium"/>
            </a:endParaRPr>
          </a:p>
        </p:txBody>
      </p:sp>
      <p:sp>
        <p:nvSpPr>
          <p:cNvPr id="2" name="ZoneTexte 1">
            <a:extLst>
              <a:ext uri="{FF2B5EF4-FFF2-40B4-BE49-F238E27FC236}">
                <a16:creationId xmlns:a16="http://schemas.microsoft.com/office/drawing/2014/main" id="{151C3D4B-761D-989D-481B-7C7AE4473C3D}"/>
              </a:ext>
            </a:extLst>
          </p:cNvPr>
          <p:cNvSpPr txBox="1"/>
          <p:nvPr/>
        </p:nvSpPr>
        <p:spPr>
          <a:xfrm>
            <a:off x="3122826" y="616925"/>
            <a:ext cx="2430205" cy="738664"/>
          </a:xfrm>
          <a:prstGeom prst="rect">
            <a:avLst/>
          </a:prstGeom>
          <a:noFill/>
        </p:spPr>
        <p:txBody>
          <a:bodyPr wrap="square" rtlCol="0">
            <a:spAutoFit/>
          </a:bodyPr>
          <a:lstStyle/>
          <a:p>
            <a:r>
              <a:rPr lang="fr-FR" sz="1400" b="1" i="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Plusieurs algorithmes  existe  pour l'allocation de mémoire par subdivisions</a:t>
            </a:r>
            <a:endParaRPr lang="fr-FR" dirty="0"/>
          </a:p>
        </p:txBody>
      </p:sp>
      <p:sp>
        <p:nvSpPr>
          <p:cNvPr id="3" name="ZoneTexte 2">
            <a:extLst>
              <a:ext uri="{FF2B5EF4-FFF2-40B4-BE49-F238E27FC236}">
                <a16:creationId xmlns:a16="http://schemas.microsoft.com/office/drawing/2014/main" id="{62FE5AC4-EFC8-C5DA-6A4D-04A974DA77A1}"/>
              </a:ext>
            </a:extLst>
          </p:cNvPr>
          <p:cNvSpPr txBox="1"/>
          <p:nvPr/>
        </p:nvSpPr>
        <p:spPr>
          <a:xfrm>
            <a:off x="72124" y="2717147"/>
            <a:ext cx="2953865" cy="2523768"/>
          </a:xfrm>
          <a:prstGeom prst="rect">
            <a:avLst/>
          </a:prstGeom>
          <a:noFill/>
        </p:spPr>
        <p:txBody>
          <a:bodyPr wrap="square" rtlCol="0">
            <a:spAutoFit/>
          </a:bodyPr>
          <a:lstStyle/>
          <a:p>
            <a:r>
              <a:rPr lang="fr-FR" sz="1600" b="1" u="sng"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Algorithme de la première zone libre (first fit)</a:t>
            </a:r>
            <a:r>
              <a:rPr lang="fr-FR" sz="1600" b="1"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La liste est parcourue jusqu’à trouver une zone libre qui soit assez grand. Le bloc libre trouvé est ensuite divisé en deux partie, l’une destinée au processus et l’autre à la mémoire non utilisée. </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a:p>
            <a:endParaRPr lang="fr-FR" dirty="0"/>
          </a:p>
        </p:txBody>
      </p:sp>
      <p:sp>
        <p:nvSpPr>
          <p:cNvPr id="5" name="ZoneTexte 4">
            <a:extLst>
              <a:ext uri="{FF2B5EF4-FFF2-40B4-BE49-F238E27FC236}">
                <a16:creationId xmlns:a16="http://schemas.microsoft.com/office/drawing/2014/main" id="{97843C02-8F35-CFF0-BA70-F7642BB44784}"/>
              </a:ext>
            </a:extLst>
          </p:cNvPr>
          <p:cNvSpPr txBox="1"/>
          <p:nvPr/>
        </p:nvSpPr>
        <p:spPr>
          <a:xfrm>
            <a:off x="3486805" y="2791042"/>
            <a:ext cx="2969814" cy="1927644"/>
          </a:xfrm>
          <a:prstGeom prst="rect">
            <a:avLst/>
          </a:prstGeom>
          <a:noFill/>
        </p:spPr>
        <p:txBody>
          <a:bodyPr wrap="square">
            <a:spAutoFit/>
          </a:bodyPr>
          <a:lstStyle/>
          <a:p>
            <a:pPr>
              <a:lnSpc>
                <a:spcPct val="107000"/>
              </a:lnSpc>
              <a:spcAft>
                <a:spcPts val="800"/>
              </a:spcAft>
            </a:pPr>
            <a:r>
              <a:rPr lang="fr-FR" sz="1600" b="1" u="sng"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Algorithme du meilleur ajustement (best fit)</a:t>
            </a:r>
            <a:r>
              <a:rPr lang="fr-FR" sz="1600" b="1"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La liste est entièrement parcourue, et on prend le plus petit bloc dont la taille est supérieure à celle de la mémoire demandée. </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5C677D42-0A64-DC9D-803A-EB3E2ECAEC04}"/>
              </a:ext>
            </a:extLst>
          </p:cNvPr>
          <p:cNvSpPr txBox="1"/>
          <p:nvPr/>
        </p:nvSpPr>
        <p:spPr>
          <a:xfrm>
            <a:off x="6780471" y="2791042"/>
            <a:ext cx="2377175" cy="1400704"/>
          </a:xfrm>
          <a:prstGeom prst="rect">
            <a:avLst/>
          </a:prstGeom>
          <a:noFill/>
        </p:spPr>
        <p:txBody>
          <a:bodyPr wrap="square">
            <a:spAutoFit/>
          </a:bodyPr>
          <a:lstStyle/>
          <a:p>
            <a:pPr>
              <a:lnSpc>
                <a:spcPct val="107000"/>
              </a:lnSpc>
              <a:spcAft>
                <a:spcPts val="800"/>
              </a:spcAft>
            </a:pPr>
            <a:r>
              <a:rPr lang="fr-FR" sz="1600" b="1" u="sng"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Algorithme du plus grand résidu (</a:t>
            </a:r>
            <a:r>
              <a:rPr lang="fr-FR" sz="1600" b="1" u="sng" kern="0" dirty="0" err="1">
                <a:solidFill>
                  <a:srgbClr val="00B0F0"/>
                </a:solidFill>
                <a:effectLst/>
                <a:latin typeface="Aptos" panose="020B0004020202020204" pitchFamily="34" charset="0"/>
                <a:ea typeface="Times New Roman" panose="02020603050405020304" pitchFamily="18" charset="0"/>
                <a:cs typeface="Arial" panose="020B0604020202020204" pitchFamily="34" charset="0"/>
              </a:rPr>
              <a:t>worst</a:t>
            </a:r>
            <a:r>
              <a:rPr lang="fr-FR" sz="1600" b="1" u="sng"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fit)</a:t>
            </a:r>
            <a:r>
              <a:rPr lang="fr-FR" sz="1600" b="1" kern="0" dirty="0">
                <a:solidFill>
                  <a:srgbClr val="00B0F0"/>
                </a:solidFill>
                <a:effectLst/>
                <a:latin typeface="Aptos" panose="020B0004020202020204" pitchFamily="34" charset="0"/>
                <a:ea typeface="Times New Roman" panose="02020603050405020304" pitchFamily="18" charset="0"/>
                <a:cs typeface="Arial" panose="020B0604020202020204" pitchFamily="34" charset="0"/>
              </a:rPr>
              <a:t>: </a:t>
            </a:r>
            <a:r>
              <a:rPr lang="fr-FR" sz="16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similaire au précédent mais on prend la plus grande zone libre. </a:t>
            </a:r>
            <a:endParaRPr lang="fr-FR" sz="1600" b="1" kern="100" dirty="0">
              <a:effectLst/>
              <a:latin typeface="Aptos" panose="020B0004020202020204" pitchFamily="34" charset="0"/>
              <a:ea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64252C1-2AD8-7F34-2DDD-D10D08A8DA43}"/>
              </a:ext>
            </a:extLst>
          </p:cNvPr>
          <p:cNvPicPr>
            <a:picLocks noChangeAspect="1"/>
          </p:cNvPicPr>
          <p:nvPr/>
        </p:nvPicPr>
        <p:blipFill>
          <a:blip r:embed="rId2"/>
          <a:stretch>
            <a:fillRect/>
          </a:stretch>
        </p:blipFill>
        <p:spPr>
          <a:xfrm>
            <a:off x="-1" y="0"/>
            <a:ext cx="9144001" cy="5143500"/>
          </a:xfrm>
          <a:prstGeom prst="rect">
            <a:avLst/>
          </a:prstGeom>
        </p:spPr>
      </p:pic>
    </p:spTree>
    <p:extLst>
      <p:ext uri="{BB962C8B-B14F-4D97-AF65-F5344CB8AC3E}">
        <p14:creationId xmlns:p14="http://schemas.microsoft.com/office/powerpoint/2010/main" val="166938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A7C430EC-AE39-3D08-E357-37A58776E5BF}"/>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0876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Espace réservé du contenu 4">
            <a:extLst>
              <a:ext uri="{FF2B5EF4-FFF2-40B4-BE49-F238E27FC236}">
                <a16:creationId xmlns:a16="http://schemas.microsoft.com/office/drawing/2014/main" id="{7842663A-CF10-D54D-DC25-DF657192CA84}"/>
              </a:ext>
            </a:extLst>
          </p:cNvPr>
          <p:cNvPicPr>
            <a:picLocks noChangeAspect="1"/>
          </p:cNvPicPr>
          <p:nvPr/>
        </p:nvPicPr>
        <p:blipFill>
          <a:blip r:embed="rId2"/>
          <a:stretch>
            <a:fillRect/>
          </a:stretch>
        </p:blipFill>
        <p:spPr>
          <a:xfrm>
            <a:off x="1" y="1"/>
            <a:ext cx="9144000" cy="5143500"/>
          </a:xfrm>
          <a:prstGeom prst="rect">
            <a:avLst/>
          </a:prstGeom>
        </p:spPr>
      </p:pic>
    </p:spTree>
    <p:extLst>
      <p:ext uri="{BB962C8B-B14F-4D97-AF65-F5344CB8AC3E}">
        <p14:creationId xmlns:p14="http://schemas.microsoft.com/office/powerpoint/2010/main" val="3478648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4DFD148-C5CE-9140-4557-4BEBF1278DE6}"/>
              </a:ext>
            </a:extLst>
          </p:cNvPr>
          <p:cNvPicPr>
            <a:picLocks noChangeAspect="1"/>
          </p:cNvPicPr>
          <p:nvPr/>
        </p:nvPicPr>
        <p:blipFill>
          <a:blip r:embed="rId2"/>
          <a:stretch>
            <a:fillRect/>
          </a:stretch>
        </p:blipFill>
        <p:spPr>
          <a:xfrm>
            <a:off x="-77638" y="0"/>
            <a:ext cx="9221638" cy="5143500"/>
          </a:xfrm>
          <a:prstGeom prst="rect">
            <a:avLst/>
          </a:prstGeom>
        </p:spPr>
      </p:pic>
    </p:spTree>
    <p:extLst>
      <p:ext uri="{BB962C8B-B14F-4D97-AF65-F5344CB8AC3E}">
        <p14:creationId xmlns:p14="http://schemas.microsoft.com/office/powerpoint/2010/main" val="1290993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667F5ED9-4003-327F-5CD2-19A9452106F7}"/>
              </a:ext>
            </a:extLst>
          </p:cNvPr>
          <p:cNvPicPr>
            <a:picLocks noChangeAspect="1"/>
          </p:cNvPicPr>
          <p:nvPr/>
        </p:nvPicPr>
        <p:blipFill>
          <a:blip r:embed="rId2"/>
          <a:stretch>
            <a:fillRect/>
          </a:stretch>
        </p:blipFill>
        <p:spPr>
          <a:xfrm>
            <a:off x="0" y="-1"/>
            <a:ext cx="9144000" cy="5210355"/>
          </a:xfrm>
          <a:prstGeom prst="rect">
            <a:avLst/>
          </a:prstGeom>
        </p:spPr>
      </p:pic>
    </p:spTree>
    <p:extLst>
      <p:ext uri="{BB962C8B-B14F-4D97-AF65-F5344CB8AC3E}">
        <p14:creationId xmlns:p14="http://schemas.microsoft.com/office/powerpoint/2010/main" val="51769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1BBED70-9DA1-618A-6063-24E70B5CBE7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640341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F01A641-8036-487A-F645-1DC6BF4B12EB}"/>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1001651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B2CF560-1F1F-AE6A-7DDC-44D1DA831CB5}"/>
              </a:ext>
            </a:extLst>
          </p:cNvPr>
          <p:cNvPicPr>
            <a:picLocks noChangeAspect="1"/>
          </p:cNvPicPr>
          <p:nvPr/>
        </p:nvPicPr>
        <p:blipFill>
          <a:blip r:embed="rId2"/>
          <a:stretch>
            <a:fillRect/>
          </a:stretch>
        </p:blipFill>
        <p:spPr>
          <a:xfrm>
            <a:off x="-698738" y="0"/>
            <a:ext cx="9842738" cy="5143500"/>
          </a:xfrm>
          <a:prstGeom prst="rect">
            <a:avLst/>
          </a:prstGeom>
        </p:spPr>
      </p:pic>
    </p:spTree>
    <p:extLst>
      <p:ext uri="{BB962C8B-B14F-4D97-AF65-F5344CB8AC3E}">
        <p14:creationId xmlns:p14="http://schemas.microsoft.com/office/powerpoint/2010/main" val="3284781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00C67B0-DA8A-B87C-0712-C4AAD9416029}"/>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68582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grpSp>
        <p:nvGrpSpPr>
          <p:cNvPr id="1499" name="Google Shape;1499;p18"/>
          <p:cNvGrpSpPr/>
          <p:nvPr/>
        </p:nvGrpSpPr>
        <p:grpSpPr>
          <a:xfrm>
            <a:off x="2744763" y="875040"/>
            <a:ext cx="3067479" cy="2870904"/>
            <a:chOff x="3043160" y="1906225"/>
            <a:chExt cx="1730790" cy="1619875"/>
          </a:xfrm>
        </p:grpSpPr>
        <p:sp>
          <p:nvSpPr>
            <p:cNvPr id="1501" name="Google Shape;1501;p18"/>
            <p:cNvSpPr/>
            <p:nvPr/>
          </p:nvSpPr>
          <p:spPr>
            <a:xfrm>
              <a:off x="3043160" y="2137387"/>
              <a:ext cx="1157550" cy="1157525"/>
            </a:xfrm>
            <a:custGeom>
              <a:avLst/>
              <a:gdLst/>
              <a:ahLst/>
              <a:cxnLst/>
              <a:rect l="l" t="t" r="r" b="b"/>
              <a:pathLst>
                <a:path w="46302" h="46301" extrusionOk="0">
                  <a:moveTo>
                    <a:pt x="23151" y="1"/>
                  </a:moveTo>
                  <a:cubicBezTo>
                    <a:pt x="10357" y="1"/>
                    <a:pt x="1" y="10356"/>
                    <a:pt x="1" y="23151"/>
                  </a:cubicBezTo>
                  <a:cubicBezTo>
                    <a:pt x="1" y="35945"/>
                    <a:pt x="10357" y="46301"/>
                    <a:pt x="23151" y="46301"/>
                  </a:cubicBezTo>
                  <a:cubicBezTo>
                    <a:pt x="35945" y="46301"/>
                    <a:pt x="46301" y="35945"/>
                    <a:pt x="46301" y="23151"/>
                  </a:cubicBezTo>
                  <a:cubicBezTo>
                    <a:pt x="46301" y="10356"/>
                    <a:pt x="35945" y="1"/>
                    <a:pt x="2315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4" name="Google Shape;1534;p18"/>
            <p:cNvSpPr/>
            <p:nvPr/>
          </p:nvSpPr>
          <p:spPr>
            <a:xfrm>
              <a:off x="4182500" y="2716950"/>
              <a:ext cx="467150" cy="25"/>
            </a:xfrm>
            <a:custGeom>
              <a:avLst/>
              <a:gdLst/>
              <a:ahLst/>
              <a:cxnLst/>
              <a:rect l="l" t="t" r="r" b="b"/>
              <a:pathLst>
                <a:path w="18686" h="1" fill="none" extrusionOk="0">
                  <a:moveTo>
                    <a:pt x="18685" y="0"/>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8"/>
            <p:cNvSpPr/>
            <p:nvPr/>
          </p:nvSpPr>
          <p:spPr>
            <a:xfrm>
              <a:off x="4025725" y="2005975"/>
              <a:ext cx="311975" cy="311975"/>
            </a:xfrm>
            <a:custGeom>
              <a:avLst/>
              <a:gdLst/>
              <a:ahLst/>
              <a:cxnLst/>
              <a:rect l="l" t="t" r="r" b="b"/>
              <a:pathLst>
                <a:path w="12479" h="12479" fill="none" extrusionOk="0">
                  <a:moveTo>
                    <a:pt x="1" y="12478"/>
                  </a:moveTo>
                  <a:lnTo>
                    <a:pt x="12478" y="1"/>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8"/>
            <p:cNvSpPr/>
            <p:nvPr/>
          </p:nvSpPr>
          <p:spPr>
            <a:xfrm>
              <a:off x="4021775" y="3109650"/>
              <a:ext cx="311975" cy="311950"/>
            </a:xfrm>
            <a:custGeom>
              <a:avLst/>
              <a:gdLst/>
              <a:ahLst/>
              <a:cxnLst/>
              <a:rect l="l" t="t" r="r" b="b"/>
              <a:pathLst>
                <a:path w="12479" h="12478" fill="none" extrusionOk="0">
                  <a:moveTo>
                    <a:pt x="12478" y="12478"/>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8"/>
            <p:cNvSpPr/>
            <p:nvPr/>
          </p:nvSpPr>
          <p:spPr>
            <a:xfrm>
              <a:off x="4332925" y="2716150"/>
              <a:ext cx="441025" cy="809950"/>
            </a:xfrm>
            <a:custGeom>
              <a:avLst/>
              <a:gdLst/>
              <a:ahLst/>
              <a:cxnLst/>
              <a:rect l="l" t="t" r="r" b="b"/>
              <a:pathLst>
                <a:path w="17641" h="32398" extrusionOk="0">
                  <a:moveTo>
                    <a:pt x="11686" y="1"/>
                  </a:moveTo>
                  <a:cubicBezTo>
                    <a:pt x="11686" y="10990"/>
                    <a:pt x="7221" y="20965"/>
                    <a:pt x="0" y="28186"/>
                  </a:cubicBezTo>
                  <a:lnTo>
                    <a:pt x="4212" y="32398"/>
                  </a:lnTo>
                  <a:cubicBezTo>
                    <a:pt x="12510" y="24101"/>
                    <a:pt x="17640" y="12636"/>
                    <a:pt x="1764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8"/>
            <p:cNvSpPr/>
            <p:nvPr/>
          </p:nvSpPr>
          <p:spPr>
            <a:xfrm>
              <a:off x="4332125" y="1906225"/>
              <a:ext cx="441825" cy="809950"/>
            </a:xfrm>
            <a:custGeom>
              <a:avLst/>
              <a:gdLst/>
              <a:ahLst/>
              <a:cxnLst/>
              <a:rect l="l" t="t" r="r" b="b"/>
              <a:pathLst>
                <a:path w="17673" h="32398" extrusionOk="0">
                  <a:moveTo>
                    <a:pt x="4244" y="0"/>
                  </a:moveTo>
                  <a:lnTo>
                    <a:pt x="1" y="4212"/>
                  </a:lnTo>
                  <a:cubicBezTo>
                    <a:pt x="7253" y="11433"/>
                    <a:pt x="11718" y="21409"/>
                    <a:pt x="11718" y="32398"/>
                  </a:cubicBezTo>
                  <a:lnTo>
                    <a:pt x="17672" y="32398"/>
                  </a:lnTo>
                  <a:cubicBezTo>
                    <a:pt x="17672" y="19762"/>
                    <a:pt x="12542" y="8298"/>
                    <a:pt x="4244"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1" name="Google Shape;1541;p18"/>
          <p:cNvSpPr txBox="1"/>
          <p:nvPr/>
        </p:nvSpPr>
        <p:spPr>
          <a:xfrm>
            <a:off x="2719055" y="1284728"/>
            <a:ext cx="2228100" cy="2524547"/>
          </a:xfrm>
          <a:prstGeom prst="rect">
            <a:avLst/>
          </a:prstGeom>
          <a:noFill/>
          <a:ln>
            <a:noFill/>
          </a:ln>
        </p:spPr>
        <p:txBody>
          <a:bodyPr spcFirstLastPara="1" wrap="square" lIns="91425" tIns="91425" rIns="91425" bIns="91425" anchor="ctr" anchorCtr="0">
            <a:noAutofit/>
          </a:bodyPr>
          <a:lstStyle/>
          <a:p>
            <a:pPr algn="ctr"/>
            <a:r>
              <a:rPr lang="fr-FR" sz="20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Allocation non contiguë en mémoire centrale</a:t>
            </a:r>
            <a:endParaRPr lang="fr-FR" sz="20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a:p>
            <a:pPr marL="0" lvl="0" indent="0" algn="ctr" rtl="0">
              <a:spcBef>
                <a:spcPts val="0"/>
              </a:spcBef>
              <a:spcAft>
                <a:spcPts val="0"/>
              </a:spcAft>
              <a:buNone/>
            </a:pPr>
            <a:endParaRPr lang="fr-FR" sz="2800" dirty="0">
              <a:latin typeface="Fira Sans Medium"/>
              <a:ea typeface="Fira Sans Medium"/>
              <a:cs typeface="Fira Sans Medium"/>
              <a:sym typeface="Fira Sans Medium"/>
            </a:endParaRPr>
          </a:p>
        </p:txBody>
      </p:sp>
      <p:sp>
        <p:nvSpPr>
          <p:cNvPr id="1544" name="Google Shape;1544;p18"/>
          <p:cNvSpPr txBox="1"/>
          <p:nvPr/>
        </p:nvSpPr>
        <p:spPr>
          <a:xfrm>
            <a:off x="5920219" y="1068101"/>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dirty="0">
                <a:solidFill>
                  <a:srgbClr val="30475E"/>
                </a:solidFill>
                <a:latin typeface="Fira Sans Extra Condensed Medium"/>
                <a:ea typeface="Fira Sans Extra Condensed Medium"/>
                <a:cs typeface="Fira Sans Extra Condensed Medium"/>
                <a:sym typeface="Fira Sans Extra Condensed Medium"/>
              </a:rPr>
              <a:t>01</a:t>
            </a:r>
            <a:endParaRPr sz="2300" dirty="0">
              <a:solidFill>
                <a:srgbClr val="30475E"/>
              </a:solidFill>
              <a:latin typeface="Fira Sans Extra Condensed Medium"/>
              <a:ea typeface="Fira Sans Extra Condensed Medium"/>
              <a:cs typeface="Fira Sans Extra Condensed Medium"/>
              <a:sym typeface="Fira Sans Extra Condensed Medium"/>
            </a:endParaRPr>
          </a:p>
        </p:txBody>
      </p:sp>
      <p:sp>
        <p:nvSpPr>
          <p:cNvPr id="1545" name="Google Shape;1545;p18"/>
          <p:cNvSpPr txBox="1"/>
          <p:nvPr/>
        </p:nvSpPr>
        <p:spPr>
          <a:xfrm>
            <a:off x="5920219" y="1423305"/>
            <a:ext cx="2412600" cy="45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800" b="1" kern="0" dirty="0">
                <a:solidFill>
                  <a:schemeClr val="tx1"/>
                </a:solidFill>
                <a:effectLst/>
                <a:latin typeface="Aptos" panose="020B0004020202020204" pitchFamily="34" charset="0"/>
                <a:ea typeface="Times New Roman" panose="02020603050405020304" pitchFamily="18" charset="0"/>
              </a:rPr>
              <a:t>Mémoire virtuelle et segmentation  </a:t>
            </a:r>
            <a:endParaRPr sz="1200" dirty="0">
              <a:solidFill>
                <a:schemeClr val="tx1"/>
              </a:solidFill>
              <a:latin typeface="Aptos" panose="020B0004020202020204" pitchFamily="34" charset="0"/>
              <a:ea typeface="Fira Sans"/>
              <a:cs typeface="Fira Sans"/>
              <a:sym typeface="Fira Sans"/>
            </a:endParaRPr>
          </a:p>
        </p:txBody>
      </p:sp>
      <p:sp>
        <p:nvSpPr>
          <p:cNvPr id="1546" name="Google Shape;1546;p18"/>
          <p:cNvSpPr txBox="1"/>
          <p:nvPr/>
        </p:nvSpPr>
        <p:spPr>
          <a:xfrm>
            <a:off x="6008575" y="2661901"/>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dirty="0">
                <a:solidFill>
                  <a:srgbClr val="F2A365"/>
                </a:solidFill>
                <a:latin typeface="Fira Sans Extra Condensed Medium"/>
                <a:ea typeface="Fira Sans Extra Condensed Medium"/>
                <a:cs typeface="Fira Sans Extra Condensed Medium"/>
                <a:sym typeface="Fira Sans Extra Condensed Medium"/>
              </a:rPr>
              <a:t>02</a:t>
            </a:r>
            <a:endParaRPr sz="2300" dirty="0">
              <a:solidFill>
                <a:srgbClr val="F2A365"/>
              </a:solidFill>
              <a:latin typeface="Fira Sans Extra Condensed Medium"/>
              <a:ea typeface="Fira Sans Extra Condensed Medium"/>
              <a:cs typeface="Fira Sans Extra Condensed Medium"/>
              <a:sym typeface="Fira Sans Extra Condensed Medium"/>
            </a:endParaRPr>
          </a:p>
        </p:txBody>
      </p:sp>
      <p:sp>
        <p:nvSpPr>
          <p:cNvPr id="1547" name="Google Shape;1547;p18"/>
          <p:cNvSpPr txBox="1"/>
          <p:nvPr/>
        </p:nvSpPr>
        <p:spPr>
          <a:xfrm>
            <a:off x="6008575" y="3017101"/>
            <a:ext cx="2412600" cy="456000"/>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fr-FR" sz="1800" b="1" kern="0"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Mémoire virtuelle et pagination</a:t>
            </a:r>
            <a:endParaRPr lang="fr-FR" sz="1800" kern="1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p:txBody>
      </p:sp>
      <p:cxnSp>
        <p:nvCxnSpPr>
          <p:cNvPr id="1551" name="Google Shape;1551;p18"/>
          <p:cNvCxnSpPr/>
          <p:nvPr/>
        </p:nvCxnSpPr>
        <p:spPr>
          <a:xfrm>
            <a:off x="5990962" y="1423301"/>
            <a:ext cx="297600" cy="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18"/>
          <p:cNvCxnSpPr/>
          <p:nvPr/>
        </p:nvCxnSpPr>
        <p:spPr>
          <a:xfrm>
            <a:off x="6079318" y="3017101"/>
            <a:ext cx="297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8"/>
        <p:cNvGrpSpPr/>
        <p:nvPr/>
      </p:nvGrpSpPr>
      <p:grpSpPr>
        <a:xfrm>
          <a:off x="0" y="0"/>
          <a:ext cx="0" cy="0"/>
          <a:chOff x="0" y="0"/>
          <a:chExt cx="0" cy="0"/>
        </a:xfrm>
      </p:grpSpPr>
      <p:sp>
        <p:nvSpPr>
          <p:cNvPr id="2219" name="Google Shape;2219;p25"/>
          <p:cNvSpPr txBox="1"/>
          <p:nvPr/>
        </p:nvSpPr>
        <p:spPr>
          <a:xfrm>
            <a:off x="2324400" y="335275"/>
            <a:ext cx="3961800" cy="119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3300" dirty="0">
                <a:latin typeface="Fira Sans Medium"/>
                <a:ea typeface="Fira Sans Medium"/>
                <a:cs typeface="Fira Sans Medium"/>
                <a:sym typeface="Fira Sans Medium"/>
              </a:rPr>
              <a:t>Concepts de Base</a:t>
            </a:r>
          </a:p>
        </p:txBody>
      </p:sp>
      <p:grpSp>
        <p:nvGrpSpPr>
          <p:cNvPr id="2230" name="Google Shape;2230;p25"/>
          <p:cNvGrpSpPr/>
          <p:nvPr/>
        </p:nvGrpSpPr>
        <p:grpSpPr>
          <a:xfrm>
            <a:off x="1312691" y="965900"/>
            <a:ext cx="5985217" cy="2242275"/>
            <a:chOff x="1223025" y="1625150"/>
            <a:chExt cx="5137525" cy="1924700"/>
          </a:xfrm>
        </p:grpSpPr>
        <p:sp>
          <p:nvSpPr>
            <p:cNvPr id="2239" name="Google Shape;2239;p25"/>
            <p:cNvSpPr/>
            <p:nvPr/>
          </p:nvSpPr>
          <p:spPr>
            <a:xfrm>
              <a:off x="5762000" y="1625150"/>
              <a:ext cx="598550" cy="1452050"/>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5"/>
            <p:cNvSpPr/>
            <p:nvPr/>
          </p:nvSpPr>
          <p:spPr>
            <a:xfrm>
              <a:off x="4731150" y="2042400"/>
              <a:ext cx="232000" cy="296125"/>
            </a:xfrm>
            <a:custGeom>
              <a:avLst/>
              <a:gdLst/>
              <a:ahLst/>
              <a:cxnLst/>
              <a:rect l="l" t="t" r="r" b="b"/>
              <a:pathLst>
                <a:path w="9280" h="11845" extrusionOk="0">
                  <a:moveTo>
                    <a:pt x="919" y="0"/>
                  </a:moveTo>
                  <a:cubicBezTo>
                    <a:pt x="413" y="0"/>
                    <a:pt x="1" y="380"/>
                    <a:pt x="1" y="887"/>
                  </a:cubicBezTo>
                  <a:cubicBezTo>
                    <a:pt x="1" y="1394"/>
                    <a:pt x="413" y="1774"/>
                    <a:pt x="919" y="1774"/>
                  </a:cubicBezTo>
                  <a:cubicBezTo>
                    <a:pt x="1141" y="1774"/>
                    <a:pt x="1331" y="1711"/>
                    <a:pt x="1489" y="1552"/>
                  </a:cubicBezTo>
                  <a:lnTo>
                    <a:pt x="8172" y="6651"/>
                  </a:lnTo>
                  <a:lnTo>
                    <a:pt x="8203" y="10103"/>
                  </a:lnTo>
                  <a:cubicBezTo>
                    <a:pt x="7792" y="10166"/>
                    <a:pt x="7507" y="10546"/>
                    <a:pt x="7507" y="10958"/>
                  </a:cubicBezTo>
                  <a:cubicBezTo>
                    <a:pt x="7507" y="11465"/>
                    <a:pt x="7887" y="11845"/>
                    <a:pt x="8393" y="11845"/>
                  </a:cubicBezTo>
                  <a:cubicBezTo>
                    <a:pt x="8900" y="11845"/>
                    <a:pt x="9280" y="11465"/>
                    <a:pt x="9280" y="10958"/>
                  </a:cubicBezTo>
                  <a:cubicBezTo>
                    <a:pt x="9280" y="10514"/>
                    <a:pt x="8963" y="10166"/>
                    <a:pt x="8583" y="10071"/>
                  </a:cubicBezTo>
                  <a:lnTo>
                    <a:pt x="8552" y="6556"/>
                  </a:lnTo>
                  <a:cubicBezTo>
                    <a:pt x="8552" y="6493"/>
                    <a:pt x="8520" y="6429"/>
                    <a:pt x="8457" y="6397"/>
                  </a:cubicBezTo>
                  <a:lnTo>
                    <a:pt x="1711" y="1267"/>
                  </a:lnTo>
                  <a:cubicBezTo>
                    <a:pt x="1774" y="1140"/>
                    <a:pt x="1806" y="1014"/>
                    <a:pt x="1806" y="887"/>
                  </a:cubicBezTo>
                  <a:cubicBezTo>
                    <a:pt x="1806" y="380"/>
                    <a:pt x="1394" y="0"/>
                    <a:pt x="91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5"/>
            <p:cNvSpPr/>
            <p:nvPr/>
          </p:nvSpPr>
          <p:spPr>
            <a:xfrm>
              <a:off x="3775550" y="2178575"/>
              <a:ext cx="44350" cy="898625"/>
            </a:xfrm>
            <a:custGeom>
              <a:avLst/>
              <a:gdLst/>
              <a:ahLst/>
              <a:cxnLst/>
              <a:rect l="l" t="t" r="r" b="b"/>
              <a:pathLst>
                <a:path w="1774" h="35945" extrusionOk="0">
                  <a:moveTo>
                    <a:pt x="887" y="0"/>
                  </a:moveTo>
                  <a:cubicBezTo>
                    <a:pt x="380" y="0"/>
                    <a:pt x="0" y="412"/>
                    <a:pt x="0" y="887"/>
                  </a:cubicBezTo>
                  <a:cubicBezTo>
                    <a:pt x="0" y="1331"/>
                    <a:pt x="285" y="1679"/>
                    <a:pt x="697" y="1774"/>
                  </a:cubicBezTo>
                  <a:lnTo>
                    <a:pt x="697" y="34171"/>
                  </a:lnTo>
                  <a:cubicBezTo>
                    <a:pt x="285" y="34266"/>
                    <a:pt x="0" y="34615"/>
                    <a:pt x="0" y="35058"/>
                  </a:cubicBezTo>
                  <a:cubicBezTo>
                    <a:pt x="0" y="35565"/>
                    <a:pt x="380" y="35945"/>
                    <a:pt x="887" y="35945"/>
                  </a:cubicBezTo>
                  <a:cubicBezTo>
                    <a:pt x="1394" y="35945"/>
                    <a:pt x="1774" y="35565"/>
                    <a:pt x="1774" y="35058"/>
                  </a:cubicBezTo>
                  <a:cubicBezTo>
                    <a:pt x="1774" y="34615"/>
                    <a:pt x="1489" y="34266"/>
                    <a:pt x="1077" y="34171"/>
                  </a:cubicBezTo>
                  <a:lnTo>
                    <a:pt x="1077" y="1774"/>
                  </a:lnTo>
                  <a:cubicBezTo>
                    <a:pt x="1489" y="1679"/>
                    <a:pt x="1774" y="1331"/>
                    <a:pt x="1774" y="887"/>
                  </a:cubicBezTo>
                  <a:cubicBezTo>
                    <a:pt x="1774" y="412"/>
                    <a:pt x="1394" y="0"/>
                    <a:pt x="887"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5"/>
            <p:cNvSpPr/>
            <p:nvPr/>
          </p:nvSpPr>
          <p:spPr>
            <a:xfrm>
              <a:off x="2628325" y="2042400"/>
              <a:ext cx="232000" cy="296125"/>
            </a:xfrm>
            <a:custGeom>
              <a:avLst/>
              <a:gdLst/>
              <a:ahLst/>
              <a:cxnLst/>
              <a:rect l="l" t="t" r="r" b="b"/>
              <a:pathLst>
                <a:path w="9280" h="11845" extrusionOk="0">
                  <a:moveTo>
                    <a:pt x="8393" y="0"/>
                  </a:moveTo>
                  <a:cubicBezTo>
                    <a:pt x="7887" y="0"/>
                    <a:pt x="7506" y="380"/>
                    <a:pt x="7506" y="887"/>
                  </a:cubicBezTo>
                  <a:cubicBezTo>
                    <a:pt x="7506" y="1014"/>
                    <a:pt x="7538" y="1140"/>
                    <a:pt x="7570" y="1267"/>
                  </a:cubicBezTo>
                  <a:lnTo>
                    <a:pt x="824" y="6397"/>
                  </a:lnTo>
                  <a:cubicBezTo>
                    <a:pt x="793" y="6429"/>
                    <a:pt x="761" y="6493"/>
                    <a:pt x="761" y="6556"/>
                  </a:cubicBezTo>
                  <a:lnTo>
                    <a:pt x="729" y="10071"/>
                  </a:lnTo>
                  <a:cubicBezTo>
                    <a:pt x="318" y="10166"/>
                    <a:pt x="1" y="10514"/>
                    <a:pt x="1" y="10958"/>
                  </a:cubicBezTo>
                  <a:cubicBezTo>
                    <a:pt x="1" y="11465"/>
                    <a:pt x="413" y="11845"/>
                    <a:pt x="919" y="11845"/>
                  </a:cubicBezTo>
                  <a:cubicBezTo>
                    <a:pt x="1394" y="11845"/>
                    <a:pt x="1806" y="11465"/>
                    <a:pt x="1806" y="10958"/>
                  </a:cubicBezTo>
                  <a:cubicBezTo>
                    <a:pt x="1806" y="10546"/>
                    <a:pt x="1489" y="10166"/>
                    <a:pt x="1109" y="10103"/>
                  </a:cubicBezTo>
                  <a:lnTo>
                    <a:pt x="1141" y="6651"/>
                  </a:lnTo>
                  <a:lnTo>
                    <a:pt x="7823" y="1552"/>
                  </a:lnTo>
                  <a:cubicBezTo>
                    <a:pt x="7982" y="1711"/>
                    <a:pt x="8172" y="1774"/>
                    <a:pt x="8393" y="1774"/>
                  </a:cubicBezTo>
                  <a:cubicBezTo>
                    <a:pt x="8900" y="1774"/>
                    <a:pt x="9280" y="1394"/>
                    <a:pt x="9280" y="887"/>
                  </a:cubicBezTo>
                  <a:cubicBezTo>
                    <a:pt x="9280" y="380"/>
                    <a:pt x="8868" y="0"/>
                    <a:pt x="839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5"/>
            <p:cNvSpPr/>
            <p:nvPr/>
          </p:nvSpPr>
          <p:spPr>
            <a:xfrm>
              <a:off x="1236475" y="1625150"/>
              <a:ext cx="598575" cy="1454425"/>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5"/>
            <p:cNvSpPr/>
            <p:nvPr/>
          </p:nvSpPr>
          <p:spPr>
            <a:xfrm>
              <a:off x="1223025" y="3435025"/>
              <a:ext cx="34850" cy="114825"/>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ZoneTexte 2">
            <a:extLst>
              <a:ext uri="{FF2B5EF4-FFF2-40B4-BE49-F238E27FC236}">
                <a16:creationId xmlns:a16="http://schemas.microsoft.com/office/drawing/2014/main" id="{81E08ECA-358D-DFF8-E78D-FDA306FA68E5}"/>
              </a:ext>
            </a:extLst>
          </p:cNvPr>
          <p:cNvSpPr txBox="1"/>
          <p:nvPr/>
        </p:nvSpPr>
        <p:spPr>
          <a:xfrm>
            <a:off x="669034" y="2804058"/>
            <a:ext cx="1693637" cy="1339662"/>
          </a:xfrm>
          <a:prstGeom prst="rect">
            <a:avLst/>
          </a:prstGeom>
          <a:noFill/>
        </p:spPr>
        <p:txBody>
          <a:bodyPr wrap="square">
            <a:spAutoFit/>
          </a:bodyPr>
          <a:lstStyle/>
          <a:p>
            <a:pPr>
              <a:lnSpc>
                <a:spcPct val="107000"/>
              </a:lnSpc>
              <a:spcAft>
                <a:spcPts val="800"/>
              </a:spcAft>
            </a:pPr>
            <a:r>
              <a:rPr lang="fr-FR"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Mémoire physique:</a:t>
            </a:r>
          </a:p>
          <a:p>
            <a:pPr>
              <a:lnSpc>
                <a:spcPct val="107000"/>
              </a:lnSpc>
              <a:spcAft>
                <a:spcPts val="800"/>
              </a:spcAft>
            </a:pPr>
            <a:r>
              <a:rPr lang="fr-FR"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La mémoire principale RAM de la machine  </a:t>
            </a:r>
            <a:endParaRPr lang="fr-FR"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2C488DFC-8DCD-0359-929D-522169AA8689}"/>
              </a:ext>
            </a:extLst>
          </p:cNvPr>
          <p:cNvSpPr txBox="1"/>
          <p:nvPr/>
        </p:nvSpPr>
        <p:spPr>
          <a:xfrm>
            <a:off x="1939166" y="1811719"/>
            <a:ext cx="2034388" cy="1169551"/>
          </a:xfrm>
          <a:prstGeom prst="rect">
            <a:avLst/>
          </a:prstGeom>
          <a:noFill/>
        </p:spPr>
        <p:txBody>
          <a:bodyPr wrap="square">
            <a:spAutoFit/>
          </a:bodyPr>
          <a:lstStyle/>
          <a:p>
            <a:r>
              <a:rPr lang="fr-FR" b="1" kern="0" dirty="0">
                <a:solidFill>
                  <a:srgbClr val="002060"/>
                </a:solidFill>
                <a:effectLst/>
                <a:latin typeface="Aptos" panose="020B0004020202020204" pitchFamily="34" charset="0"/>
                <a:ea typeface="Times New Roman" panose="02020603050405020304" pitchFamily="18" charset="0"/>
              </a:rPr>
              <a:t>Adresse physique :</a:t>
            </a:r>
            <a:endParaRPr lang="fr-FR" b="1" dirty="0">
              <a:solidFill>
                <a:srgbClr val="002060"/>
              </a:solidFill>
              <a:latin typeface="Aptos" panose="020B0004020202020204" pitchFamily="34" charset="0"/>
              <a:ea typeface="Times New Roman" panose="02020603050405020304" pitchFamily="18" charset="0"/>
            </a:endParaRPr>
          </a:p>
          <a:p>
            <a:r>
              <a:rPr lang="fr-FR" b="1" kern="0" dirty="0">
                <a:solidFill>
                  <a:srgbClr val="002060"/>
                </a:solidFill>
                <a:effectLst/>
                <a:latin typeface="Aptos" panose="020B0004020202020204" pitchFamily="34" charset="0"/>
                <a:ea typeface="Times New Roman" panose="02020603050405020304" pitchFamily="18" charset="0"/>
              </a:rPr>
              <a:t>Adresse vue par l’unité </a:t>
            </a:r>
          </a:p>
          <a:p>
            <a:r>
              <a:rPr lang="fr-FR" b="1" kern="0" dirty="0">
                <a:solidFill>
                  <a:srgbClr val="002060"/>
                </a:solidFill>
                <a:effectLst/>
                <a:latin typeface="Aptos" panose="020B0004020202020204" pitchFamily="34" charset="0"/>
                <a:ea typeface="Times New Roman" panose="02020603050405020304" pitchFamily="18" charset="0"/>
              </a:rPr>
              <a:t>de mémoire </a:t>
            </a:r>
          </a:p>
          <a:p>
            <a:r>
              <a:rPr lang="fr-FR" b="1" kern="0" dirty="0">
                <a:solidFill>
                  <a:srgbClr val="002060"/>
                </a:solidFill>
                <a:effectLst/>
                <a:latin typeface="Aptos" panose="020B0004020202020204" pitchFamily="34" charset="0"/>
                <a:ea typeface="Times New Roman" panose="02020603050405020304" pitchFamily="18" charset="0"/>
              </a:rPr>
              <a:t>(Adresse de mémoire RAM).  </a:t>
            </a:r>
            <a:endParaRPr lang="fr-FR" dirty="0">
              <a:solidFill>
                <a:srgbClr val="002060"/>
              </a:solidFill>
              <a:latin typeface="Aptos" panose="020B0004020202020204" pitchFamily="34" charset="0"/>
            </a:endParaRPr>
          </a:p>
        </p:txBody>
      </p:sp>
      <p:sp>
        <p:nvSpPr>
          <p:cNvPr id="7" name="ZoneTexte 6">
            <a:extLst>
              <a:ext uri="{FF2B5EF4-FFF2-40B4-BE49-F238E27FC236}">
                <a16:creationId xmlns:a16="http://schemas.microsoft.com/office/drawing/2014/main" id="{03075DC9-72B3-5E0F-2F5A-8B96E24B77A5}"/>
              </a:ext>
            </a:extLst>
          </p:cNvPr>
          <p:cNvSpPr txBox="1"/>
          <p:nvPr/>
        </p:nvSpPr>
        <p:spPr>
          <a:xfrm>
            <a:off x="4566209" y="1894835"/>
            <a:ext cx="2351495" cy="2133789"/>
          </a:xfrm>
          <a:prstGeom prst="rect">
            <a:avLst/>
          </a:prstGeom>
          <a:noFill/>
        </p:spPr>
        <p:txBody>
          <a:bodyPr wrap="square">
            <a:spAutoFit/>
          </a:bodyPr>
          <a:lstStyle/>
          <a:p>
            <a:pPr>
              <a:lnSpc>
                <a:spcPct val="107000"/>
              </a:lnSpc>
              <a:spcAft>
                <a:spcPts val="800"/>
              </a:spcAft>
            </a:pPr>
            <a:r>
              <a:rPr lang="fr-FR" sz="14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Mémoire virtuelle</a:t>
            </a:r>
            <a:r>
              <a:rPr lang="fr-FR" b="1" dirty="0">
                <a:solidFill>
                  <a:srgbClr val="002060"/>
                </a:solidFill>
                <a:latin typeface="Aptos" panose="020B0004020202020204" pitchFamily="34" charset="0"/>
                <a:ea typeface="Times New Roman" panose="02020603050405020304" pitchFamily="18" charset="0"/>
                <a:cs typeface="Arial" panose="020B0604020202020204" pitchFamily="34" charset="0"/>
              </a:rPr>
              <a:t> :</a:t>
            </a:r>
          </a:p>
          <a:p>
            <a:pPr>
              <a:lnSpc>
                <a:spcPct val="107000"/>
              </a:lnSpc>
              <a:spcAft>
                <a:spcPts val="800"/>
              </a:spcAft>
            </a:pPr>
            <a:r>
              <a:rPr lang="fr-FR" sz="14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est une technique permettant d'exécuter des programmes dont la taille excède la taille de la mémoire réelle. </a:t>
            </a:r>
          </a:p>
          <a:p>
            <a:pPr>
              <a:lnSpc>
                <a:spcPct val="107000"/>
              </a:lnSpc>
              <a:spcAft>
                <a:spcPts val="800"/>
              </a:spcAft>
            </a:pPr>
            <a:r>
              <a:rPr lang="fr-FR" sz="14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a:t>
            </a:r>
            <a:r>
              <a:rPr lang="fr-FR" b="1" dirty="0">
                <a:solidFill>
                  <a:srgbClr val="002060"/>
                </a:solidFill>
                <a:latin typeface="Aptos" panose="020B0004020202020204" pitchFamily="34" charset="0"/>
                <a:ea typeface="Times New Roman" panose="02020603050405020304" pitchFamily="18" charset="0"/>
                <a:cs typeface="Arial" panose="020B0604020202020204" pitchFamily="34" charset="0"/>
              </a:rPr>
              <a:t>Mémoire virtuelle = RAM + partition SWAP</a:t>
            </a:r>
            <a:endParaRPr lang="fr-FR" sz="14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B6AC47B2-C0E3-9BFD-4A70-B834596BD082}"/>
              </a:ext>
            </a:extLst>
          </p:cNvPr>
          <p:cNvSpPr txBox="1"/>
          <p:nvPr/>
        </p:nvSpPr>
        <p:spPr>
          <a:xfrm>
            <a:off x="6917704" y="2678030"/>
            <a:ext cx="1700037" cy="1924822"/>
          </a:xfrm>
          <a:prstGeom prst="rect">
            <a:avLst/>
          </a:prstGeom>
          <a:noFill/>
        </p:spPr>
        <p:txBody>
          <a:bodyPr wrap="square">
            <a:spAutoFit/>
          </a:bodyPr>
          <a:lstStyle/>
          <a:p>
            <a:pPr>
              <a:lnSpc>
                <a:spcPct val="107000"/>
              </a:lnSpc>
              <a:spcAft>
                <a:spcPts val="800"/>
              </a:spcAft>
            </a:pPr>
            <a:r>
              <a:rPr lang="fr-FR" sz="14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Adresse logique ou adresse virtuelle : L’espace d’adressage d’un programme (Adresse générée par la CPU). </a:t>
            </a:r>
            <a:endParaRPr lang="fr-FR" sz="14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fade">
                                      <p:cBhvr>
                                        <p:cTn id="19" dur="500"/>
                                        <p:tgtEl>
                                          <p:spTgt spid="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
                                            <p:txEl>
                                              <p:pRg st="2" end="2"/>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23682D6-9C82-6315-A982-7AE0441912EB}"/>
              </a:ext>
            </a:extLst>
          </p:cNvPr>
          <p:cNvSpPr txBox="1"/>
          <p:nvPr/>
        </p:nvSpPr>
        <p:spPr>
          <a:xfrm>
            <a:off x="595423" y="1365171"/>
            <a:ext cx="6620386" cy="584775"/>
          </a:xfrm>
          <a:prstGeom prst="rect">
            <a:avLst/>
          </a:prstGeom>
          <a:noFill/>
        </p:spPr>
        <p:txBody>
          <a:bodyPr wrap="square">
            <a:spAutoFit/>
          </a:bodyPr>
          <a:lstStyle/>
          <a:p>
            <a:r>
              <a:rPr lang="fr-FR" sz="1600" b="1" dirty="0"/>
              <a:t>Le rôle principal du </a:t>
            </a:r>
            <a:r>
              <a:rPr lang="fr-FR" sz="1600" b="1" i="1" dirty="0">
                <a:hlinkClick r:id="rId2"/>
              </a:rPr>
              <a:t>MMU</a:t>
            </a:r>
            <a:r>
              <a:rPr lang="fr-FR" sz="1600" b="1" dirty="0"/>
              <a:t> est de traduire toute adresse virtuelle en une adresse physique.</a:t>
            </a:r>
          </a:p>
        </p:txBody>
      </p:sp>
      <p:pic>
        <p:nvPicPr>
          <p:cNvPr id="5" name="Image 4">
            <a:extLst>
              <a:ext uri="{FF2B5EF4-FFF2-40B4-BE49-F238E27FC236}">
                <a16:creationId xmlns:a16="http://schemas.microsoft.com/office/drawing/2014/main" id="{C9C04E61-810A-83CF-8732-61F5918BACCB}"/>
              </a:ext>
            </a:extLst>
          </p:cNvPr>
          <p:cNvPicPr>
            <a:picLocks noChangeAspect="1"/>
          </p:cNvPicPr>
          <p:nvPr/>
        </p:nvPicPr>
        <p:blipFill>
          <a:blip r:embed="rId3"/>
          <a:stretch>
            <a:fillRect/>
          </a:stretch>
        </p:blipFill>
        <p:spPr>
          <a:xfrm>
            <a:off x="829546" y="2264734"/>
            <a:ext cx="6879059" cy="2658140"/>
          </a:xfrm>
          <a:prstGeom prst="rect">
            <a:avLst/>
          </a:prstGeom>
        </p:spPr>
      </p:pic>
    </p:spTree>
    <p:extLst>
      <p:ext uri="{BB962C8B-B14F-4D97-AF65-F5344CB8AC3E}">
        <p14:creationId xmlns:p14="http://schemas.microsoft.com/office/powerpoint/2010/main" val="588837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93B174A-CD92-EDDC-C7FE-90043D382353}"/>
              </a:ext>
            </a:extLst>
          </p:cNvPr>
          <p:cNvSpPr txBox="1"/>
          <p:nvPr/>
        </p:nvSpPr>
        <p:spPr>
          <a:xfrm>
            <a:off x="522876" y="1220354"/>
            <a:ext cx="8356543" cy="2966261"/>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La mémoire est divisée en segments logiques, tels que le code (instructions du programme), les données (variables globales, structures de données), la pile (stack), etc.</a:t>
            </a:r>
          </a:p>
          <a:p>
            <a:pPr marL="285750" indent="-285750">
              <a:lnSpc>
                <a:spcPct val="107000"/>
              </a:lnSpc>
              <a:spcAft>
                <a:spcPts val="800"/>
              </a:spcAft>
              <a:buFont typeface="Arial" panose="020B0604020202020204" pitchFamily="34" charset="0"/>
              <a:buChar char="•"/>
            </a:pPr>
            <a:r>
              <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Chaque segment peut avoir une taille différente et est identifié par un numéro de segment.</a:t>
            </a:r>
            <a:endParaRPr lang="fr-FR" sz="1600" b="1" dirty="0">
              <a:solidFill>
                <a:srgbClr val="002060"/>
              </a:solidFill>
              <a:latin typeface="Aptos" panose="020B0004020202020204" pitchFamily="34" charset="0"/>
              <a:ea typeface="Times New Roman" panose="02020603050405020304" pitchFamily="18"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fr-FR" sz="1600" b="1" dirty="0">
                <a:solidFill>
                  <a:srgbClr val="002060"/>
                </a:solidFill>
                <a:latin typeface="Aptos" panose="020B0004020202020204" pitchFamily="34" charset="0"/>
                <a:ea typeface="Times New Roman" panose="02020603050405020304" pitchFamily="18" charset="0"/>
                <a:cs typeface="Arial" panose="020B0604020202020204" pitchFamily="34" charset="0"/>
              </a:rPr>
              <a:t>Un segment virtuel est de même taille qu’un segment en mémoire physique.</a:t>
            </a:r>
          </a:p>
          <a:p>
            <a:pPr>
              <a:lnSpc>
                <a:spcPct val="107000"/>
              </a:lnSpc>
              <a:spcAft>
                <a:spcPts val="800"/>
              </a:spcAft>
            </a:pPr>
            <a:endPar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endParaRPr>
          </a:p>
          <a:p>
            <a:pPr>
              <a:lnSpc>
                <a:spcPct val="107000"/>
              </a:lnSpc>
              <a:spcAft>
                <a:spcPts val="800"/>
              </a:spcAft>
            </a:pP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Google Shape;5231;p43">
            <a:extLst>
              <a:ext uri="{FF2B5EF4-FFF2-40B4-BE49-F238E27FC236}">
                <a16:creationId xmlns:a16="http://schemas.microsoft.com/office/drawing/2014/main" id="{1F5BEFE2-28E6-C26B-9CE0-2CBD6BA0C862}"/>
              </a:ext>
            </a:extLst>
          </p:cNvPr>
          <p:cNvSpPr/>
          <p:nvPr/>
        </p:nvSpPr>
        <p:spPr bwMode="gray">
          <a:xfrm>
            <a:off x="309429" y="189593"/>
            <a:ext cx="3035333" cy="767292"/>
          </a:xfrm>
          <a:custGeom>
            <a:avLst/>
            <a:gdLst/>
            <a:ahLst/>
            <a:cxnLst/>
            <a:rect l="l" t="t" r="r" b="b"/>
            <a:pathLst>
              <a:path w="67931" h="23879" extrusionOk="0">
                <a:moveTo>
                  <a:pt x="55991" y="0"/>
                </a:moveTo>
                <a:lnTo>
                  <a:pt x="11940" y="0"/>
                </a:lnTo>
                <a:cubicBezTo>
                  <a:pt x="5321" y="0"/>
                  <a:pt x="0" y="5352"/>
                  <a:pt x="0" y="11939"/>
                </a:cubicBezTo>
                <a:lnTo>
                  <a:pt x="0" y="11939"/>
                </a:lnTo>
                <a:cubicBezTo>
                  <a:pt x="0" y="18526"/>
                  <a:pt x="5321" y="23878"/>
                  <a:pt x="11940" y="23878"/>
                </a:cubicBezTo>
                <a:lnTo>
                  <a:pt x="55991" y="23878"/>
                </a:lnTo>
                <a:cubicBezTo>
                  <a:pt x="62578" y="23878"/>
                  <a:pt x="67930" y="18526"/>
                  <a:pt x="67930" y="11939"/>
                </a:cubicBezTo>
                <a:cubicBezTo>
                  <a:pt x="67930" y="5352"/>
                  <a:pt x="62578" y="0"/>
                  <a:pt x="55991"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a:lnSpc>
                <a:spcPct val="107000"/>
              </a:lnSpc>
              <a:spcAft>
                <a:spcPts val="800"/>
              </a:spcAft>
            </a:pPr>
            <a:r>
              <a:rPr lang="fr-FR" sz="1400" b="1" kern="0" dirty="0">
                <a:solidFill>
                  <a:srgbClr val="0070C0"/>
                </a:solidFill>
                <a:effectLst/>
                <a:latin typeface="Aptos" panose="020B0004020202020204" pitchFamily="34" charset="0"/>
                <a:ea typeface="Times New Roman" panose="02020603050405020304" pitchFamily="18" charset="0"/>
                <a:cs typeface="Arial" panose="020B0604020202020204" pitchFamily="34" charset="0"/>
              </a:rPr>
              <a:t>                            </a:t>
            </a:r>
            <a:r>
              <a:rPr lang="fr-FR" sz="1800" b="1" kern="0"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Segmentation :</a:t>
            </a:r>
            <a:endParaRPr lang="fr-FR" sz="1400" kern="1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6" name="Google Shape;5275;p43">
            <a:extLst>
              <a:ext uri="{FF2B5EF4-FFF2-40B4-BE49-F238E27FC236}">
                <a16:creationId xmlns:a16="http://schemas.microsoft.com/office/drawing/2014/main" id="{05E1F9DA-EA15-20A4-44E5-952CC61F536F}"/>
              </a:ext>
            </a:extLst>
          </p:cNvPr>
          <p:cNvSpPr/>
          <p:nvPr/>
        </p:nvSpPr>
        <p:spPr>
          <a:xfrm>
            <a:off x="406865" y="232996"/>
            <a:ext cx="840122" cy="673690"/>
          </a:xfrm>
          <a:custGeom>
            <a:avLst/>
            <a:gdLst/>
            <a:ahLst/>
            <a:cxnLst/>
            <a:rect l="l" t="t" r="r" b="b"/>
            <a:pathLst>
              <a:path w="20966" h="20966" extrusionOk="0">
                <a:moveTo>
                  <a:pt x="10483" y="0"/>
                </a:moveTo>
                <a:cubicBezTo>
                  <a:pt x="4688" y="0"/>
                  <a:pt x="1" y="4719"/>
                  <a:pt x="1" y="10483"/>
                </a:cubicBezTo>
                <a:cubicBezTo>
                  <a:pt x="1" y="16278"/>
                  <a:pt x="4688" y="20965"/>
                  <a:pt x="10483" y="20965"/>
                </a:cubicBezTo>
                <a:cubicBezTo>
                  <a:pt x="16279" y="20965"/>
                  <a:pt x="20966" y="16278"/>
                  <a:pt x="20966" y="10483"/>
                </a:cubicBezTo>
                <a:cubicBezTo>
                  <a:pt x="20966" y="4719"/>
                  <a:pt x="16279" y="0"/>
                  <a:pt x="10483"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200" dirty="0">
                <a:solidFill>
                  <a:schemeClr val="accent5">
                    <a:lumMod val="60000"/>
                    <a:lumOff val="40000"/>
                  </a:schemeClr>
                </a:solidFill>
              </a:rPr>
              <a:t> </a:t>
            </a:r>
            <a:r>
              <a:rPr lang="fr-FR" sz="3200" b="1" dirty="0">
                <a:solidFill>
                  <a:schemeClr val="accent5">
                    <a:lumMod val="60000"/>
                    <a:lumOff val="40000"/>
                  </a:schemeClr>
                </a:solidFill>
                <a:latin typeface="Aptos" panose="020B0004020202020204" pitchFamily="34" charset="0"/>
              </a:rPr>
              <a:t>1</a:t>
            </a:r>
            <a:endParaRPr sz="3200" b="1" dirty="0">
              <a:solidFill>
                <a:schemeClr val="accent5">
                  <a:lumMod val="60000"/>
                  <a:lumOff val="40000"/>
                </a:schemeClr>
              </a:solidFill>
              <a:latin typeface="Aptos" panose="020B0004020202020204" pitchFamily="34" charset="0"/>
            </a:endParaRPr>
          </a:p>
        </p:txBody>
      </p:sp>
    </p:spTree>
    <p:extLst>
      <p:ext uri="{BB962C8B-B14F-4D97-AF65-F5344CB8AC3E}">
        <p14:creationId xmlns:p14="http://schemas.microsoft.com/office/powerpoint/2010/main" val="231585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D9B69263-5403-45DA-E7E7-40DCCD9B869D}"/>
              </a:ext>
            </a:extLst>
          </p:cNvPr>
          <p:cNvPicPr>
            <a:picLocks noChangeAspect="1"/>
          </p:cNvPicPr>
          <p:nvPr/>
        </p:nvPicPr>
        <p:blipFill>
          <a:blip r:embed="rId2"/>
          <a:stretch>
            <a:fillRect/>
          </a:stretch>
        </p:blipFill>
        <p:spPr>
          <a:xfrm>
            <a:off x="0" y="1"/>
            <a:ext cx="9052185" cy="4104166"/>
          </a:xfrm>
          <a:prstGeom prst="rect">
            <a:avLst/>
          </a:prstGeom>
        </p:spPr>
      </p:pic>
      <p:sp>
        <p:nvSpPr>
          <p:cNvPr id="11" name="Flèche : courbe vers la droite 10">
            <a:extLst>
              <a:ext uri="{FF2B5EF4-FFF2-40B4-BE49-F238E27FC236}">
                <a16:creationId xmlns:a16="http://schemas.microsoft.com/office/drawing/2014/main" id="{8A590C4E-183E-321D-36ED-604B70B88FB2}"/>
              </a:ext>
            </a:extLst>
          </p:cNvPr>
          <p:cNvSpPr/>
          <p:nvPr/>
        </p:nvSpPr>
        <p:spPr>
          <a:xfrm>
            <a:off x="3472969" y="3111613"/>
            <a:ext cx="731520" cy="121615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Rectangle : coins arrondis 11">
            <a:extLst>
              <a:ext uri="{FF2B5EF4-FFF2-40B4-BE49-F238E27FC236}">
                <a16:creationId xmlns:a16="http://schemas.microsoft.com/office/drawing/2014/main" id="{15FF76DA-D70B-1304-CFA2-048EA9947D92}"/>
              </a:ext>
            </a:extLst>
          </p:cNvPr>
          <p:cNvSpPr/>
          <p:nvPr/>
        </p:nvSpPr>
        <p:spPr>
          <a:xfrm>
            <a:off x="4423144" y="3719689"/>
            <a:ext cx="3753293" cy="12161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Les tables de segments  sont utilisées pour convertir les adresses virtuelles en adresses physiques, assurant ainsi une gestion efficace et sécurisée de la mémoire.</a:t>
            </a:r>
          </a:p>
        </p:txBody>
      </p:sp>
    </p:spTree>
    <p:extLst>
      <p:ext uri="{BB962C8B-B14F-4D97-AF65-F5344CB8AC3E}">
        <p14:creationId xmlns:p14="http://schemas.microsoft.com/office/powerpoint/2010/main" val="354591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231;p43">
            <a:extLst>
              <a:ext uri="{FF2B5EF4-FFF2-40B4-BE49-F238E27FC236}">
                <a16:creationId xmlns:a16="http://schemas.microsoft.com/office/drawing/2014/main" id="{5EFC7A18-054F-04BF-D6DF-5B565CD5F511}"/>
              </a:ext>
            </a:extLst>
          </p:cNvPr>
          <p:cNvSpPr/>
          <p:nvPr/>
        </p:nvSpPr>
        <p:spPr bwMode="gray">
          <a:xfrm>
            <a:off x="549279" y="451585"/>
            <a:ext cx="3273974" cy="767292"/>
          </a:xfrm>
          <a:custGeom>
            <a:avLst/>
            <a:gdLst/>
            <a:ahLst/>
            <a:cxnLst/>
            <a:rect l="l" t="t" r="r" b="b"/>
            <a:pathLst>
              <a:path w="67931" h="23879" extrusionOk="0">
                <a:moveTo>
                  <a:pt x="55991" y="0"/>
                </a:moveTo>
                <a:lnTo>
                  <a:pt x="11940" y="0"/>
                </a:lnTo>
                <a:cubicBezTo>
                  <a:pt x="5321" y="0"/>
                  <a:pt x="0" y="5352"/>
                  <a:pt x="0" y="11939"/>
                </a:cubicBezTo>
                <a:lnTo>
                  <a:pt x="0" y="11939"/>
                </a:lnTo>
                <a:cubicBezTo>
                  <a:pt x="0" y="18526"/>
                  <a:pt x="5321" y="23878"/>
                  <a:pt x="11940" y="23878"/>
                </a:cubicBezTo>
                <a:lnTo>
                  <a:pt x="55991" y="23878"/>
                </a:lnTo>
                <a:cubicBezTo>
                  <a:pt x="62578" y="23878"/>
                  <a:pt x="67930" y="18526"/>
                  <a:pt x="67930" y="11939"/>
                </a:cubicBezTo>
                <a:cubicBezTo>
                  <a:pt x="67930" y="5352"/>
                  <a:pt x="62578" y="0"/>
                  <a:pt x="55991"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231;p43">
            <a:extLst>
              <a:ext uri="{FF2B5EF4-FFF2-40B4-BE49-F238E27FC236}">
                <a16:creationId xmlns:a16="http://schemas.microsoft.com/office/drawing/2014/main" id="{5BBF6E78-7322-E18F-416D-0B9E4E0AF5B2}"/>
              </a:ext>
            </a:extLst>
          </p:cNvPr>
          <p:cNvSpPr/>
          <p:nvPr/>
        </p:nvSpPr>
        <p:spPr>
          <a:xfrm>
            <a:off x="549278" y="446156"/>
            <a:ext cx="3273975" cy="767292"/>
          </a:xfrm>
          <a:custGeom>
            <a:avLst/>
            <a:gdLst/>
            <a:ahLst/>
            <a:cxnLst/>
            <a:rect l="l" t="t" r="r" b="b"/>
            <a:pathLst>
              <a:path w="67931" h="23879" extrusionOk="0">
                <a:moveTo>
                  <a:pt x="55991" y="0"/>
                </a:moveTo>
                <a:lnTo>
                  <a:pt x="11940" y="0"/>
                </a:lnTo>
                <a:cubicBezTo>
                  <a:pt x="5321" y="0"/>
                  <a:pt x="0" y="5352"/>
                  <a:pt x="0" y="11939"/>
                </a:cubicBezTo>
                <a:lnTo>
                  <a:pt x="0" y="11939"/>
                </a:lnTo>
                <a:cubicBezTo>
                  <a:pt x="0" y="18526"/>
                  <a:pt x="5321" y="23878"/>
                  <a:pt x="11940" y="23878"/>
                </a:cubicBezTo>
                <a:lnTo>
                  <a:pt x="55991" y="23878"/>
                </a:lnTo>
                <a:cubicBezTo>
                  <a:pt x="62578" y="23878"/>
                  <a:pt x="67930" y="18526"/>
                  <a:pt x="67930" y="11939"/>
                </a:cubicBezTo>
                <a:cubicBezTo>
                  <a:pt x="67930" y="5352"/>
                  <a:pt x="62578" y="0"/>
                  <a:pt x="55991"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a:lnSpc>
                <a:spcPct val="107000"/>
              </a:lnSpc>
              <a:spcAft>
                <a:spcPts val="800"/>
              </a:spcAft>
            </a:pPr>
            <a:endParaRPr lang="fr-FR" sz="1600" b="1" kern="1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84ADE1BF-5ED4-B38E-1812-E9D6EE327261}"/>
              </a:ext>
            </a:extLst>
          </p:cNvPr>
          <p:cNvSpPr txBox="1"/>
          <p:nvPr/>
        </p:nvSpPr>
        <p:spPr>
          <a:xfrm>
            <a:off x="549278" y="1505209"/>
            <a:ext cx="4319900" cy="3186706"/>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Comme dans la segmentation mémoire, la pagination est une technique visant à partitionner la mémoire centrale en blocs (nommés ici cadres de pages) de taille fixée contrairement aux segments de taille variable. </a:t>
            </a:r>
            <a:endParaRPr lang="fr-FR" sz="16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L'espace d'adressage virtuel du processus est divisé en page, L'espace d'adressage physique (la mémoire centrale) est divisé en blocs ou cadres.</a:t>
            </a:r>
            <a:endParaRPr lang="fr-FR" sz="16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fr-FR" sz="1600" b="1" kern="0" dirty="0">
                <a:solidFill>
                  <a:srgbClr val="002060"/>
                </a:solidFill>
                <a:effectLst/>
                <a:latin typeface="Aptos" panose="020B0004020202020204" pitchFamily="34" charset="0"/>
                <a:ea typeface="Times New Roman" panose="02020603050405020304" pitchFamily="18" charset="0"/>
                <a:cs typeface="Arial" panose="020B0604020202020204" pitchFamily="34" charset="0"/>
              </a:rPr>
              <a:t>   taille de page = taille du bloc </a:t>
            </a:r>
            <a:endParaRPr lang="fr-FR" sz="1600" kern="100" dirty="0">
              <a:solidFill>
                <a:srgbClr val="002060"/>
              </a:solidFill>
              <a:effectLst/>
              <a:latin typeface="Aptos" panose="020B0004020202020204" pitchFamily="34" charset="0"/>
              <a:ea typeface="Calibri" panose="020F0502020204030204" pitchFamily="34" charset="0"/>
              <a:cs typeface="Arial" panose="020B0604020202020204" pitchFamily="34" charset="0"/>
            </a:endParaRPr>
          </a:p>
        </p:txBody>
      </p:sp>
      <p:pic>
        <p:nvPicPr>
          <p:cNvPr id="4" name="Image 3">
            <a:extLst>
              <a:ext uri="{FF2B5EF4-FFF2-40B4-BE49-F238E27FC236}">
                <a16:creationId xmlns:a16="http://schemas.microsoft.com/office/drawing/2014/main" id="{7B8DBA84-0C87-9F16-9A4A-5EB8CDA1FA13}"/>
              </a:ext>
            </a:extLst>
          </p:cNvPr>
          <p:cNvPicPr>
            <a:picLocks noChangeAspect="1"/>
          </p:cNvPicPr>
          <p:nvPr/>
        </p:nvPicPr>
        <p:blipFill>
          <a:blip r:embed="rId2"/>
          <a:stretch>
            <a:fillRect/>
          </a:stretch>
        </p:blipFill>
        <p:spPr>
          <a:xfrm>
            <a:off x="4824100" y="829802"/>
            <a:ext cx="4319900" cy="4179859"/>
          </a:xfrm>
          <a:prstGeom prst="rect">
            <a:avLst/>
          </a:prstGeom>
        </p:spPr>
      </p:pic>
      <p:sp>
        <p:nvSpPr>
          <p:cNvPr id="8" name="Google Shape;5275;p43">
            <a:extLst>
              <a:ext uri="{FF2B5EF4-FFF2-40B4-BE49-F238E27FC236}">
                <a16:creationId xmlns:a16="http://schemas.microsoft.com/office/drawing/2014/main" id="{1B8F2EA7-C1D6-FC0F-145C-8FCEDAFE3F0B}"/>
              </a:ext>
            </a:extLst>
          </p:cNvPr>
          <p:cNvSpPr/>
          <p:nvPr/>
        </p:nvSpPr>
        <p:spPr>
          <a:xfrm>
            <a:off x="638730" y="492957"/>
            <a:ext cx="840122" cy="673690"/>
          </a:xfrm>
          <a:custGeom>
            <a:avLst/>
            <a:gdLst/>
            <a:ahLst/>
            <a:cxnLst/>
            <a:rect l="l" t="t" r="r" b="b"/>
            <a:pathLst>
              <a:path w="20966" h="20966" extrusionOk="0">
                <a:moveTo>
                  <a:pt x="10483" y="0"/>
                </a:moveTo>
                <a:cubicBezTo>
                  <a:pt x="4688" y="0"/>
                  <a:pt x="1" y="4719"/>
                  <a:pt x="1" y="10483"/>
                </a:cubicBezTo>
                <a:cubicBezTo>
                  <a:pt x="1" y="16278"/>
                  <a:pt x="4688" y="20965"/>
                  <a:pt x="10483" y="20965"/>
                </a:cubicBezTo>
                <a:cubicBezTo>
                  <a:pt x="16279" y="20965"/>
                  <a:pt x="20966" y="16278"/>
                  <a:pt x="20966" y="10483"/>
                </a:cubicBezTo>
                <a:cubicBezTo>
                  <a:pt x="20966" y="4719"/>
                  <a:pt x="16279" y="0"/>
                  <a:pt x="10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200" dirty="0">
                <a:solidFill>
                  <a:schemeClr val="accent5">
                    <a:lumMod val="60000"/>
                    <a:lumOff val="40000"/>
                  </a:schemeClr>
                </a:solidFill>
              </a:rPr>
              <a:t> </a:t>
            </a:r>
            <a:r>
              <a:rPr lang="fr-FR" sz="3200" b="1" dirty="0">
                <a:solidFill>
                  <a:schemeClr val="accent5">
                    <a:lumMod val="60000"/>
                    <a:lumOff val="40000"/>
                  </a:schemeClr>
                </a:solidFill>
                <a:latin typeface="Aptos" panose="020B0004020202020204" pitchFamily="34" charset="0"/>
              </a:rPr>
              <a:t>2</a:t>
            </a:r>
            <a:endParaRPr sz="3200" b="1" dirty="0">
              <a:solidFill>
                <a:schemeClr val="accent5">
                  <a:lumMod val="60000"/>
                  <a:lumOff val="40000"/>
                </a:schemeClr>
              </a:solidFill>
              <a:latin typeface="Aptos" panose="020B0004020202020204" pitchFamily="34" charset="0"/>
            </a:endParaRPr>
          </a:p>
        </p:txBody>
      </p:sp>
      <p:sp>
        <p:nvSpPr>
          <p:cNvPr id="10" name="ZoneTexte 9">
            <a:extLst>
              <a:ext uri="{FF2B5EF4-FFF2-40B4-BE49-F238E27FC236}">
                <a16:creationId xmlns:a16="http://schemas.microsoft.com/office/drawing/2014/main" id="{9E420A30-085F-8290-4B97-A542EEFF6C48}"/>
              </a:ext>
            </a:extLst>
          </p:cNvPr>
          <p:cNvSpPr txBox="1"/>
          <p:nvPr/>
        </p:nvSpPr>
        <p:spPr>
          <a:xfrm>
            <a:off x="1478852" y="557035"/>
            <a:ext cx="2199860" cy="545534"/>
          </a:xfrm>
          <a:prstGeom prst="rect">
            <a:avLst/>
          </a:prstGeom>
          <a:noFill/>
        </p:spPr>
        <p:txBody>
          <a:bodyPr wrap="square">
            <a:spAutoFit/>
          </a:bodyPr>
          <a:lstStyle/>
          <a:p>
            <a:pPr>
              <a:lnSpc>
                <a:spcPct val="107000"/>
              </a:lnSpc>
              <a:spcAft>
                <a:spcPts val="800"/>
              </a:spcAft>
            </a:pPr>
            <a:r>
              <a:rPr lang="fr-FR" sz="1400" b="1" kern="0"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Mémoire virtuelle et        pagination :</a:t>
            </a:r>
            <a:endParaRPr lang="fr-FR" sz="1400" b="1" kern="1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21543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F7B63B2E-9D95-0A51-3D8A-83360ED464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06500" y="381000"/>
            <a:ext cx="6413500" cy="4129087"/>
          </a:xfrm>
          <a:prstGeom prst="rect">
            <a:avLst/>
          </a:prstGeom>
          <a:noFill/>
          <a:ln>
            <a:noFill/>
          </a:ln>
        </p:spPr>
      </p:pic>
    </p:spTree>
    <p:extLst>
      <p:ext uri="{BB962C8B-B14F-4D97-AF65-F5344CB8AC3E}">
        <p14:creationId xmlns:p14="http://schemas.microsoft.com/office/powerpoint/2010/main" val="1514130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5231;p43">
            <a:extLst>
              <a:ext uri="{FF2B5EF4-FFF2-40B4-BE49-F238E27FC236}">
                <a16:creationId xmlns:a16="http://schemas.microsoft.com/office/drawing/2014/main" id="{928D88E4-3B65-9F9E-D5EF-0829F18C25A0}"/>
              </a:ext>
            </a:extLst>
          </p:cNvPr>
          <p:cNvSpPr/>
          <p:nvPr/>
        </p:nvSpPr>
        <p:spPr>
          <a:xfrm>
            <a:off x="247081" y="204020"/>
            <a:ext cx="3273975" cy="720491"/>
          </a:xfrm>
          <a:custGeom>
            <a:avLst/>
            <a:gdLst/>
            <a:ahLst/>
            <a:cxnLst/>
            <a:rect l="l" t="t" r="r" b="b"/>
            <a:pathLst>
              <a:path w="67931" h="23879" extrusionOk="0">
                <a:moveTo>
                  <a:pt x="55991" y="0"/>
                </a:moveTo>
                <a:lnTo>
                  <a:pt x="11940" y="0"/>
                </a:lnTo>
                <a:cubicBezTo>
                  <a:pt x="5321" y="0"/>
                  <a:pt x="0" y="5352"/>
                  <a:pt x="0" y="11939"/>
                </a:cubicBezTo>
                <a:lnTo>
                  <a:pt x="0" y="11939"/>
                </a:lnTo>
                <a:cubicBezTo>
                  <a:pt x="0" y="18526"/>
                  <a:pt x="5321" y="23878"/>
                  <a:pt x="11940" y="23878"/>
                </a:cubicBezTo>
                <a:lnTo>
                  <a:pt x="55991" y="23878"/>
                </a:lnTo>
                <a:cubicBezTo>
                  <a:pt x="62578" y="23878"/>
                  <a:pt x="67930" y="18526"/>
                  <a:pt x="67930" y="11939"/>
                </a:cubicBezTo>
                <a:cubicBezTo>
                  <a:pt x="67930" y="5352"/>
                  <a:pt x="62578" y="0"/>
                  <a:pt x="55991"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a:lnSpc>
                <a:spcPct val="107000"/>
              </a:lnSpc>
              <a:spcAft>
                <a:spcPts val="800"/>
              </a:spcAft>
            </a:pPr>
            <a:r>
              <a:rPr lang="fr-FR" sz="1600" b="1" kern="100" dirty="0">
                <a:solidFill>
                  <a:schemeClr val="tx1"/>
                </a:solidFill>
                <a:latin typeface="Aptos" panose="020B0004020202020204" pitchFamily="34" charset="0"/>
                <a:ea typeface="Calibri" panose="020F0502020204030204" pitchFamily="34" charset="0"/>
                <a:cs typeface="Arial" panose="020B0604020202020204" pitchFamily="34" charset="0"/>
              </a:rPr>
              <a:t>                        </a:t>
            </a:r>
            <a:r>
              <a:rPr lang="fr-FR" sz="2000" b="1" kern="100" dirty="0">
                <a:solidFill>
                  <a:schemeClr val="bg1"/>
                </a:solidFill>
                <a:latin typeface="Aptos" panose="020B0004020202020204" pitchFamily="34" charset="0"/>
                <a:ea typeface="Calibri" panose="020F0502020204030204" pitchFamily="34" charset="0"/>
                <a:cs typeface="Arial" panose="020B0604020202020204" pitchFamily="34" charset="0"/>
              </a:rPr>
              <a:t>En Bref :</a:t>
            </a:r>
            <a:endParaRPr lang="fr-FR" sz="1600" b="1" kern="100" dirty="0">
              <a:solidFill>
                <a:schemeClr val="bg1"/>
              </a:solidFill>
              <a:effectLst/>
              <a:latin typeface="Aptos" panose="020B0004020202020204" pitchFamily="34" charset="0"/>
              <a:ea typeface="Calibri" panose="020F0502020204030204" pitchFamily="34" charset="0"/>
              <a:cs typeface="Arial" panose="020B0604020202020204" pitchFamily="34" charset="0"/>
            </a:endParaRPr>
          </a:p>
        </p:txBody>
      </p:sp>
      <p:sp>
        <p:nvSpPr>
          <p:cNvPr id="9" name="Google Shape;5275;p43">
            <a:extLst>
              <a:ext uri="{FF2B5EF4-FFF2-40B4-BE49-F238E27FC236}">
                <a16:creationId xmlns:a16="http://schemas.microsoft.com/office/drawing/2014/main" id="{EDBDE73B-731A-A5AE-FB24-4CC153B483F6}"/>
              </a:ext>
            </a:extLst>
          </p:cNvPr>
          <p:cNvSpPr/>
          <p:nvPr/>
        </p:nvSpPr>
        <p:spPr>
          <a:xfrm>
            <a:off x="384380" y="213649"/>
            <a:ext cx="840122" cy="673690"/>
          </a:xfrm>
          <a:custGeom>
            <a:avLst/>
            <a:gdLst/>
            <a:ahLst/>
            <a:cxnLst/>
            <a:rect l="l" t="t" r="r" b="b"/>
            <a:pathLst>
              <a:path w="20966" h="20966" extrusionOk="0">
                <a:moveTo>
                  <a:pt x="10483" y="0"/>
                </a:moveTo>
                <a:cubicBezTo>
                  <a:pt x="4688" y="0"/>
                  <a:pt x="1" y="4719"/>
                  <a:pt x="1" y="10483"/>
                </a:cubicBezTo>
                <a:cubicBezTo>
                  <a:pt x="1" y="16278"/>
                  <a:pt x="4688" y="20965"/>
                  <a:pt x="10483" y="20965"/>
                </a:cubicBezTo>
                <a:cubicBezTo>
                  <a:pt x="16279" y="20965"/>
                  <a:pt x="20966" y="16278"/>
                  <a:pt x="20966" y="10483"/>
                </a:cubicBezTo>
                <a:cubicBezTo>
                  <a:pt x="20966" y="4719"/>
                  <a:pt x="16279" y="0"/>
                  <a:pt x="10483"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200" dirty="0">
                <a:solidFill>
                  <a:schemeClr val="accent5">
                    <a:lumMod val="60000"/>
                    <a:lumOff val="40000"/>
                  </a:schemeClr>
                </a:solidFill>
              </a:rPr>
              <a:t> </a:t>
            </a:r>
            <a:r>
              <a:rPr lang="fr-FR" sz="3200" b="1" dirty="0">
                <a:solidFill>
                  <a:schemeClr val="accent5">
                    <a:lumMod val="60000"/>
                    <a:lumOff val="40000"/>
                  </a:schemeClr>
                </a:solidFill>
                <a:latin typeface="Aptos" panose="020B0004020202020204" pitchFamily="34" charset="0"/>
              </a:rPr>
              <a:t>3</a:t>
            </a:r>
            <a:endParaRPr sz="3200" b="1" dirty="0">
              <a:solidFill>
                <a:schemeClr val="accent5">
                  <a:lumMod val="60000"/>
                  <a:lumOff val="40000"/>
                </a:schemeClr>
              </a:solidFill>
              <a:latin typeface="Aptos" panose="020B0004020202020204" pitchFamily="34" charset="0"/>
            </a:endParaRPr>
          </a:p>
        </p:txBody>
      </p:sp>
      <p:sp>
        <p:nvSpPr>
          <p:cNvPr id="10" name="Organigramme : Alternative 9">
            <a:extLst>
              <a:ext uri="{FF2B5EF4-FFF2-40B4-BE49-F238E27FC236}">
                <a16:creationId xmlns:a16="http://schemas.microsoft.com/office/drawing/2014/main" id="{CE133D94-3AA5-7989-FE55-43E45306CF99}"/>
              </a:ext>
            </a:extLst>
          </p:cNvPr>
          <p:cNvSpPr/>
          <p:nvPr/>
        </p:nvSpPr>
        <p:spPr>
          <a:xfrm>
            <a:off x="722332" y="1266669"/>
            <a:ext cx="7986953" cy="2271009"/>
          </a:xfrm>
          <a:prstGeom prst="flowChartAlternateProcess">
            <a:avLst/>
          </a:prstGeom>
        </p:spPr>
        <p:style>
          <a:lnRef idx="0">
            <a:schemeClr val="accent5"/>
          </a:lnRef>
          <a:fillRef idx="3">
            <a:schemeClr val="accent5"/>
          </a:fillRef>
          <a:effectRef idx="3">
            <a:schemeClr val="accent5"/>
          </a:effectRef>
          <a:fontRef idx="minor">
            <a:schemeClr val="lt1"/>
          </a:fontRef>
        </p:style>
        <p:txBody>
          <a:bodyPr rtlCol="0" anchor="ctr"/>
          <a:lstStyle/>
          <a:p>
            <a:r>
              <a:rPr lang="fr-FR" dirty="0"/>
              <a:t> </a:t>
            </a:r>
            <a:r>
              <a:rPr lang="fr-FR" b="1" dirty="0">
                <a:latin typeface="Arial Black" panose="020B0A04020102020204" pitchFamily="34" charset="0"/>
              </a:rPr>
              <a:t>La segmentation et la pagination sont des techniques complémentaires de gestion de la mémoire qui permettent de créer un espace virtuel abstrait pour chaque processus, mappé sur la mémoire physique disponible. La segmentation divise la mémoire en segments logiques de tailles variables, tandis que la pagination divise la mémoire en pages de taille fixe. Les tables de segments et de pages sont utilisées pour convertir les adresses virtuelles en adresses physiques, assurant ainsi une gestion efficace et sécurisée de la mémoire.</a:t>
            </a:r>
          </a:p>
        </p:txBody>
      </p:sp>
    </p:spTree>
    <p:extLst>
      <p:ext uri="{BB962C8B-B14F-4D97-AF65-F5344CB8AC3E}">
        <p14:creationId xmlns:p14="http://schemas.microsoft.com/office/powerpoint/2010/main" val="290488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0319888-F21F-8A21-5B69-3E3CCA6C55AF}"/>
              </a:ext>
            </a:extLst>
          </p:cNvPr>
          <p:cNvPicPr>
            <a:picLocks noChangeAspect="1"/>
          </p:cNvPicPr>
          <p:nvPr/>
        </p:nvPicPr>
        <p:blipFill>
          <a:blip r:embed="rId2"/>
          <a:stretch>
            <a:fillRect/>
          </a:stretch>
        </p:blipFill>
        <p:spPr>
          <a:xfrm>
            <a:off x="592112" y="750566"/>
            <a:ext cx="6665182" cy="3642367"/>
          </a:xfrm>
          <a:prstGeom prst="rect">
            <a:avLst/>
          </a:prstGeom>
        </p:spPr>
      </p:pic>
    </p:spTree>
    <p:extLst>
      <p:ext uri="{BB962C8B-B14F-4D97-AF65-F5344CB8AC3E}">
        <p14:creationId xmlns:p14="http://schemas.microsoft.com/office/powerpoint/2010/main" val="1912046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7398985-0781-920C-7F47-D547962151F5}"/>
              </a:ext>
            </a:extLst>
          </p:cNvPr>
          <p:cNvSpPr txBox="1"/>
          <p:nvPr/>
        </p:nvSpPr>
        <p:spPr>
          <a:xfrm>
            <a:off x="1346200" y="990600"/>
            <a:ext cx="6646371" cy="2123658"/>
          </a:xfrm>
          <a:prstGeom prst="rect">
            <a:avLst/>
          </a:prstGeom>
          <a:noFill/>
        </p:spPr>
        <p:txBody>
          <a:bodyPr wrap="none" rtlCol="0">
            <a:spAutoFit/>
          </a:bodyPr>
          <a:lstStyle/>
          <a:p>
            <a:r>
              <a:rPr lang="fr-FR" sz="6600" b="1" dirty="0">
                <a:solidFill>
                  <a:srgbClr val="002060"/>
                </a:solidFill>
                <a:latin typeface="Aptos" panose="020B0004020202020204" pitchFamily="34" charset="0"/>
              </a:rPr>
              <a:t>Merci pour votre </a:t>
            </a:r>
          </a:p>
          <a:p>
            <a:r>
              <a:rPr lang="fr-FR" sz="6600" b="1" dirty="0">
                <a:solidFill>
                  <a:srgbClr val="002060"/>
                </a:solidFill>
                <a:latin typeface="Aptos" panose="020B0004020202020204" pitchFamily="34" charset="0"/>
              </a:rPr>
              <a:t>       attention !</a:t>
            </a:r>
          </a:p>
        </p:txBody>
      </p:sp>
    </p:spTree>
    <p:extLst>
      <p:ext uri="{BB962C8B-B14F-4D97-AF65-F5344CB8AC3E}">
        <p14:creationId xmlns:p14="http://schemas.microsoft.com/office/powerpoint/2010/main" val="3434899651"/>
      </p:ext>
    </p:extLst>
  </p:cSld>
  <p:clrMapOvr>
    <a:masterClrMapping/>
  </p:clrMapOvr>
</p:sld>
</file>

<file path=ppt/theme/theme1.xml><?xml version="1.0" encoding="utf-8"?>
<a:theme xmlns:a="http://schemas.openxmlformats.org/drawingml/2006/main" name="Technology Infographics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1625</TotalTime>
  <Words>1036</Words>
  <Application>Microsoft Office PowerPoint</Application>
  <PresentationFormat>Affichage à l'écran (16:9)</PresentationFormat>
  <Paragraphs>75</Paragraphs>
  <Slides>31</Slides>
  <Notes>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31</vt:i4>
      </vt:variant>
    </vt:vector>
  </HeadingPairs>
  <TitlesOfParts>
    <vt:vector size="41" baseType="lpstr">
      <vt:lpstr>Aptos</vt:lpstr>
      <vt:lpstr>Arial Black</vt:lpstr>
      <vt:lpstr>Times New Roman</vt:lpstr>
      <vt:lpstr>Fira Sans Extra Condensed Medium</vt:lpstr>
      <vt:lpstr>Fira Sans Extra Condensed SemiBold</vt:lpstr>
      <vt:lpstr>Bahnschrift SemiBold</vt:lpstr>
      <vt:lpstr>Fira Sans Medium</vt:lpstr>
      <vt:lpstr>Calibri</vt:lpstr>
      <vt:lpstr>Arial</vt:lpstr>
      <vt:lpstr>Technology Infographics by Slidesgo</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hp</cp:lastModifiedBy>
  <cp:revision>12</cp:revision>
  <dcterms:modified xsi:type="dcterms:W3CDTF">2024-05-16T12:43:07Z</dcterms:modified>
</cp:coreProperties>
</file>