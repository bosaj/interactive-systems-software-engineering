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3" r:id="rId2"/>
    <p:sldId id="262" r:id="rId3"/>
    <p:sldId id="271" r:id="rId4"/>
    <p:sldId id="256" r:id="rId5"/>
    <p:sldId id="257" r:id="rId6"/>
    <p:sldId id="258" r:id="rId7"/>
    <p:sldId id="270" r:id="rId8"/>
    <p:sldId id="259" r:id="rId9"/>
    <p:sldId id="260" r:id="rId10"/>
    <p:sldId id="261" r:id="rId11"/>
    <p:sldId id="264" r:id="rId12"/>
    <p:sldId id="265" r:id="rId13"/>
    <p:sldId id="273" r:id="rId14"/>
    <p:sldId id="266" r:id="rId15"/>
    <p:sldId id="267" r:id="rId16"/>
    <p:sldId id="268" r:id="rId17"/>
    <p:sldId id="269" r:id="rId18"/>
    <p:sldId id="27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932"/>
    <a:srgbClr val="474972"/>
    <a:srgbClr val="B7CB98"/>
    <a:srgbClr val="A79CAC"/>
    <a:srgbClr val="FFFFFF"/>
    <a:srgbClr val="431C31"/>
    <a:srgbClr val="F0DAC3"/>
    <a:srgbClr val="3E5220"/>
    <a:srgbClr val="0C0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CDC8-E6A1-4B7F-96CE-6C5097F8E826}" type="datetimeFigureOut">
              <a:rPr lang="fr-MA" smtClean="0"/>
              <a:t>21/04/2024</a:t>
            </a:fld>
            <a:endParaRPr lang="fr-M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26C7A-86B1-49D8-88FA-D07A37CE6464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9565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A26C7A-86B1-49D8-88FA-D07A37CE6464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26196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A26C7A-86B1-49D8-88FA-D07A37CE6464}" type="slidenum">
              <a:rPr lang="fr-MA" smtClean="0"/>
              <a:t>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5146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M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B113-DE5F-4AFF-BA9D-53AD8DF051F2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413013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187E0-80CE-4B5F-B8A1-3D7279B20647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8693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85E59-8A80-4AB1-BEE9-CBF14E8216B0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65780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9E47C-3426-426F-9258-7DF02D0F8028}" type="datetime1">
              <a:rPr lang="fr-MA" smtClean="0"/>
              <a:t>21/04/2024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79212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85765-FC49-4E77-BAE1-82AF2BB110AD}" type="datetime1">
              <a:rPr lang="fr-MA" smtClean="0"/>
              <a:t>21/04/2024</a:t>
            </a:fld>
            <a:endParaRPr lang="fr-M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45982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4241-F7A5-41F6-A0AB-1E861BAFB9DB}" type="datetime1">
              <a:rPr lang="fr-MA" smtClean="0"/>
              <a:t>21/04/2024</a:t>
            </a:fld>
            <a:endParaRPr lang="fr-M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605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65E0F-5FCF-4B82-841E-69ED7479FF90}" type="datetime1">
              <a:rPr lang="fr-MA" smtClean="0"/>
              <a:t>21/04/2024</a:t>
            </a:fld>
            <a:endParaRPr lang="fr-M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7305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1E1F9-2250-4136-A3DD-5916F4EBF5ED}" type="datetime1">
              <a:rPr lang="fr-MA" smtClean="0"/>
              <a:t>21/04/2024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1904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5EC85-86DB-47FB-B185-ADF7E8E8578F}" type="datetime1">
              <a:rPr lang="fr-MA" smtClean="0"/>
              <a:t>21/04/2024</a:t>
            </a:fld>
            <a:endParaRPr lang="fr-M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35240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882C-E288-49D0-B0AE-EE492309D0FD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1681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501AF-6C4B-491C-97FC-556D7EF61A88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2107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M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M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6FAA-2B88-49ED-98A8-B96183C8FF0F}" type="datetime1">
              <a:rPr lang="fr-MA" smtClean="0"/>
              <a:t>21/04/2024</a:t>
            </a:fld>
            <a:endParaRPr lang="fr-M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AC0E6-9C88-46B8-AFD8-265063A8875F}" type="slidenum">
              <a:rPr lang="fr-MA" smtClean="0"/>
              <a:t>‹#›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464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12" name="Rounded Rectangle 11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995" y="141582"/>
            <a:ext cx="5792008" cy="1047896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392287" y="2439136"/>
            <a:ext cx="1840132" cy="293943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28575">
            <a:solidFill>
              <a:srgbClr val="474972"/>
            </a:solidFill>
          </a:ln>
          <a:effectLst>
            <a:glow rad="63500">
              <a:srgbClr val="151932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Rectangle 28"/>
          <p:cNvSpPr/>
          <p:nvPr/>
        </p:nvSpPr>
        <p:spPr>
          <a:xfrm>
            <a:off x="2332031" y="1938396"/>
            <a:ext cx="1156929" cy="123565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8575">
            <a:solidFill>
              <a:srgbClr val="A79CAC"/>
            </a:solidFill>
          </a:ln>
          <a:effectLst>
            <a:glow rad="63500">
              <a:srgbClr val="A79CAC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Rectangle 29"/>
          <p:cNvSpPr/>
          <p:nvPr/>
        </p:nvSpPr>
        <p:spPr>
          <a:xfrm>
            <a:off x="3588570" y="2056194"/>
            <a:ext cx="561625" cy="1754823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8575">
            <a:solidFill>
              <a:srgbClr val="0C091A"/>
            </a:solidFill>
          </a:ln>
          <a:effectLst>
            <a:glow rad="63500">
              <a:srgbClr val="151932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1" name="Rectangle 30"/>
          <p:cNvSpPr/>
          <p:nvPr/>
        </p:nvSpPr>
        <p:spPr>
          <a:xfrm>
            <a:off x="2332030" y="3248821"/>
            <a:ext cx="1156929" cy="562196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28575">
            <a:solidFill>
              <a:srgbClr val="151932"/>
            </a:solidFill>
          </a:ln>
          <a:effectLst>
            <a:glow rad="63500">
              <a:srgbClr val="0C091A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Rectangle 31"/>
          <p:cNvSpPr/>
          <p:nvPr/>
        </p:nvSpPr>
        <p:spPr>
          <a:xfrm>
            <a:off x="2332031" y="3887667"/>
            <a:ext cx="1913130" cy="168715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28575">
            <a:solidFill>
              <a:srgbClr val="B7CB98"/>
            </a:solidFill>
          </a:ln>
          <a:effectLst>
            <a:glow rad="63500">
              <a:srgbClr val="B7CB98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Rectangle 32"/>
          <p:cNvSpPr/>
          <p:nvPr/>
        </p:nvSpPr>
        <p:spPr>
          <a:xfrm>
            <a:off x="235526" y="1587142"/>
            <a:ext cx="2027893" cy="744131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28575">
            <a:solidFill>
              <a:srgbClr val="B7CB98"/>
            </a:solidFill>
          </a:ln>
          <a:effectLst>
            <a:glow rad="50800">
              <a:srgbClr val="B7CB98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/>
          <p:cNvSpPr txBox="1"/>
          <p:nvPr/>
        </p:nvSpPr>
        <p:spPr>
          <a:xfrm>
            <a:off x="5507367" y="2439136"/>
            <a:ext cx="58718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L'architecte invisible : 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Explorer les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systèmes d'exploitation et leur rôle dans la gestion des processus</a:t>
            </a:r>
            <a:endParaRPr lang="fr-M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976615" y="5197588"/>
            <a:ext cx="216131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Présenté par:</a:t>
            </a:r>
          </a:p>
          <a:p>
            <a:pPr algn="just">
              <a:lnSpc>
                <a:spcPct val="150000"/>
              </a:lnSpc>
            </a:pPr>
            <a:r>
              <a:rPr lang="fr-FR" sz="1600" dirty="0" err="1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Sinaly</a:t>
            </a:r>
            <a:r>
              <a:rPr lang="fr-FR" sz="16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KANADJIGUI</a:t>
            </a:r>
          </a:p>
          <a:p>
            <a:pPr algn="just">
              <a:lnSpc>
                <a:spcPct val="150000"/>
              </a:lnSpc>
            </a:pPr>
            <a:r>
              <a:rPr lang="fr-FR" sz="1600" dirty="0" err="1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Hasnae</a:t>
            </a:r>
            <a:r>
              <a:rPr lang="fr-FR" sz="16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SRIF</a:t>
            </a:r>
          </a:p>
          <a:p>
            <a:endParaRPr lang="fr-MA" dirty="0"/>
          </a:p>
        </p:txBody>
      </p:sp>
      <p:sp>
        <p:nvSpPr>
          <p:cNvPr id="43" name="TextBox 42"/>
          <p:cNvSpPr txBox="1"/>
          <p:nvPr/>
        </p:nvSpPr>
        <p:spPr>
          <a:xfrm>
            <a:off x="10487282" y="5788997"/>
            <a:ext cx="1392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Groupe C</a:t>
            </a: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23-04-2024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1362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73314" y="791054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Plan:</a:t>
            </a:r>
            <a:endParaRPr lang="fr-MA" sz="3200" dirty="0">
              <a:solidFill>
                <a:srgbClr val="3E5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2" name="Group 71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73" name="Straight Connector 72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Freeform: Shape 4">
            <a:extLst>
              <a:ext uri="{FF2B5EF4-FFF2-40B4-BE49-F238E27FC236}">
                <a16:creationId xmlns:a16="http://schemas.microsoft.com/office/drawing/2014/main" xmlns="" id="{06282653-3CAE-12AE-776F-EA2E0215195B}"/>
              </a:ext>
            </a:extLst>
          </p:cNvPr>
          <p:cNvSpPr/>
          <p:nvPr/>
        </p:nvSpPr>
        <p:spPr>
          <a:xfrm>
            <a:off x="5507299" y="3206377"/>
            <a:ext cx="1148447" cy="1037730"/>
          </a:xfrm>
          <a:custGeom>
            <a:avLst/>
            <a:gdLst>
              <a:gd name="connsiteX0" fmla="*/ 869655 w 869705"/>
              <a:gd name="connsiteY0" fmla="*/ 434879 h 869756"/>
              <a:gd name="connsiteX1" fmla="*/ 818148 w 869705"/>
              <a:gd name="connsiteY1" fmla="*/ 640345 h 869756"/>
              <a:gd name="connsiteX2" fmla="*/ 804393 w 869705"/>
              <a:gd name="connsiteY2" fmla="*/ 664137 h 869756"/>
              <a:gd name="connsiteX3" fmla="*/ 804393 w 869705"/>
              <a:gd name="connsiteY3" fmla="*/ 664137 h 869756"/>
              <a:gd name="connsiteX4" fmla="*/ 448532 w 869705"/>
              <a:gd name="connsiteY4" fmla="*/ 869553 h 869756"/>
              <a:gd name="connsiteX5" fmla="*/ 434828 w 869705"/>
              <a:gd name="connsiteY5" fmla="*/ 869757 h 869756"/>
              <a:gd name="connsiteX6" fmla="*/ 421123 w 869705"/>
              <a:gd name="connsiteY6" fmla="*/ 869553 h 869756"/>
              <a:gd name="connsiteX7" fmla="*/ 65262 w 869705"/>
              <a:gd name="connsiteY7" fmla="*/ 664137 h 869756"/>
              <a:gd name="connsiteX8" fmla="*/ 51507 w 869705"/>
              <a:gd name="connsiteY8" fmla="*/ 640345 h 869756"/>
              <a:gd name="connsiteX9" fmla="*/ 0 w 869705"/>
              <a:gd name="connsiteY9" fmla="*/ 434879 h 869756"/>
              <a:gd name="connsiteX10" fmla="*/ 51507 w 869705"/>
              <a:gd name="connsiteY10" fmla="*/ 229412 h 869756"/>
              <a:gd name="connsiteX11" fmla="*/ 65262 w 869705"/>
              <a:gd name="connsiteY11" fmla="*/ 205620 h 869756"/>
              <a:gd name="connsiteX12" fmla="*/ 421123 w 869705"/>
              <a:gd name="connsiteY12" fmla="*/ 204 h 869756"/>
              <a:gd name="connsiteX13" fmla="*/ 434828 w 869705"/>
              <a:gd name="connsiteY13" fmla="*/ 0 h 869756"/>
              <a:gd name="connsiteX14" fmla="*/ 448532 w 869705"/>
              <a:gd name="connsiteY14" fmla="*/ 204 h 869756"/>
              <a:gd name="connsiteX15" fmla="*/ 804444 w 869705"/>
              <a:gd name="connsiteY15" fmla="*/ 205620 h 869756"/>
              <a:gd name="connsiteX16" fmla="*/ 818199 w 869705"/>
              <a:gd name="connsiteY16" fmla="*/ 229412 h 869756"/>
              <a:gd name="connsiteX17" fmla="*/ 869706 w 869705"/>
              <a:gd name="connsiteY17" fmla="*/ 434879 h 869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69705" h="869756">
                <a:moveTo>
                  <a:pt x="869655" y="434879"/>
                </a:moveTo>
                <a:cubicBezTo>
                  <a:pt x="869655" y="509209"/>
                  <a:pt x="851009" y="579159"/>
                  <a:pt x="818148" y="640345"/>
                </a:cubicBezTo>
                <a:cubicBezTo>
                  <a:pt x="813818" y="648446"/>
                  <a:pt x="809233" y="656343"/>
                  <a:pt x="804393" y="664137"/>
                </a:cubicBezTo>
                <a:lnTo>
                  <a:pt x="804393" y="664137"/>
                </a:lnTo>
                <a:cubicBezTo>
                  <a:pt x="729960" y="783963"/>
                  <a:pt x="598824" y="864917"/>
                  <a:pt x="448532" y="869553"/>
                </a:cubicBezTo>
                <a:cubicBezTo>
                  <a:pt x="443998" y="869706"/>
                  <a:pt x="439413" y="869757"/>
                  <a:pt x="434828" y="869757"/>
                </a:cubicBezTo>
                <a:cubicBezTo>
                  <a:pt x="430242" y="869757"/>
                  <a:pt x="425657" y="869706"/>
                  <a:pt x="421123" y="869553"/>
                </a:cubicBezTo>
                <a:cubicBezTo>
                  <a:pt x="270780" y="864917"/>
                  <a:pt x="139695" y="783963"/>
                  <a:pt x="65262" y="664137"/>
                </a:cubicBezTo>
                <a:cubicBezTo>
                  <a:pt x="60423" y="656393"/>
                  <a:pt x="55837" y="648446"/>
                  <a:pt x="51507" y="640345"/>
                </a:cubicBezTo>
                <a:cubicBezTo>
                  <a:pt x="18646" y="579159"/>
                  <a:pt x="0" y="509209"/>
                  <a:pt x="0" y="434879"/>
                </a:cubicBezTo>
                <a:cubicBezTo>
                  <a:pt x="0" y="360548"/>
                  <a:pt x="18646" y="290598"/>
                  <a:pt x="51507" y="229412"/>
                </a:cubicBezTo>
                <a:cubicBezTo>
                  <a:pt x="55837" y="221311"/>
                  <a:pt x="60423" y="213415"/>
                  <a:pt x="65262" y="205620"/>
                </a:cubicBezTo>
                <a:cubicBezTo>
                  <a:pt x="139695" y="85794"/>
                  <a:pt x="270831" y="4840"/>
                  <a:pt x="421123" y="204"/>
                </a:cubicBezTo>
                <a:cubicBezTo>
                  <a:pt x="425657" y="51"/>
                  <a:pt x="430242" y="0"/>
                  <a:pt x="434828" y="0"/>
                </a:cubicBezTo>
                <a:cubicBezTo>
                  <a:pt x="439413" y="0"/>
                  <a:pt x="443998" y="51"/>
                  <a:pt x="448532" y="204"/>
                </a:cubicBezTo>
                <a:cubicBezTo>
                  <a:pt x="598875" y="4840"/>
                  <a:pt x="729960" y="85794"/>
                  <a:pt x="804444" y="205620"/>
                </a:cubicBezTo>
                <a:cubicBezTo>
                  <a:pt x="809284" y="213364"/>
                  <a:pt x="813869" y="221311"/>
                  <a:pt x="818199" y="229412"/>
                </a:cubicBezTo>
                <a:cubicBezTo>
                  <a:pt x="851060" y="290598"/>
                  <a:pt x="869706" y="360548"/>
                  <a:pt x="869706" y="434879"/>
                </a:cubicBezTo>
                <a:close/>
              </a:path>
            </a:pathLst>
          </a:custGeom>
          <a:solidFill>
            <a:schemeClr val="lt1"/>
          </a:solidFill>
          <a:ln w="3371" cap="flat">
            <a:noFill/>
            <a:prstDash val="solid"/>
            <a:miter/>
          </a:ln>
          <a:effectLst>
            <a:outerShdw blurRad="101600" dist="38100" dir="5400000" algn="t" rotWithShape="0">
              <a:schemeClr val="accent1">
                <a:alpha val="40000"/>
              </a:schemeClr>
            </a:outerShdw>
          </a:effectLst>
        </p:spPr>
        <p:txBody>
          <a:bodyPr rtlCol="0" anchor="ctr"/>
          <a:lstStyle/>
          <a:p>
            <a:endParaRPr lang="en-IN" sz="1050" dirty="0"/>
          </a:p>
        </p:txBody>
      </p:sp>
      <p:grpSp>
        <p:nvGrpSpPr>
          <p:cNvPr id="94" name="Group 93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95" name="Rounded Rectangle 94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2</a:t>
            </a:fld>
            <a:endParaRPr lang="fr-MA"/>
          </a:p>
        </p:txBody>
      </p:sp>
      <p:grpSp>
        <p:nvGrpSpPr>
          <p:cNvPr id="11" name="Group 10"/>
          <p:cNvGrpSpPr/>
          <p:nvPr/>
        </p:nvGrpSpPr>
        <p:grpSpPr>
          <a:xfrm>
            <a:off x="4023203" y="1342400"/>
            <a:ext cx="4168770" cy="2033368"/>
            <a:chOff x="4023203" y="1342400"/>
            <a:chExt cx="4168770" cy="2033368"/>
          </a:xfrm>
        </p:grpSpPr>
        <p:grpSp>
          <p:nvGrpSpPr>
            <p:cNvPr id="8" name="Group 7"/>
            <p:cNvGrpSpPr/>
            <p:nvPr/>
          </p:nvGrpSpPr>
          <p:grpSpPr>
            <a:xfrm>
              <a:off x="5144452" y="1607802"/>
              <a:ext cx="1898221" cy="1767966"/>
              <a:chOff x="5144452" y="1607802"/>
              <a:chExt cx="1898221" cy="1767966"/>
            </a:xfrm>
          </p:grpSpPr>
          <p:sp>
            <p:nvSpPr>
              <p:cNvPr id="84" name="Freeform: Shape 15">
                <a:extLst>
                  <a:ext uri="{FF2B5EF4-FFF2-40B4-BE49-F238E27FC236}">
                    <a16:creationId xmlns:a16="http://schemas.microsoft.com/office/drawing/2014/main" xmlns="" id="{9E156F80-96D5-0782-8B56-D1E95A28A04F}"/>
                  </a:ext>
                </a:extLst>
              </p:cNvPr>
              <p:cNvSpPr/>
              <p:nvPr/>
            </p:nvSpPr>
            <p:spPr>
              <a:xfrm rot="5400000">
                <a:off x="5417766" y="1583918"/>
                <a:ext cx="1351593" cy="1898221"/>
              </a:xfrm>
              <a:custGeom>
                <a:avLst/>
                <a:gdLst>
                  <a:gd name="connsiteX0" fmla="*/ 1340145 w 1375038"/>
                  <a:gd name="connsiteY0" fmla="*/ 912807 h 1772476"/>
                  <a:gd name="connsiteX1" fmla="*/ 1372088 w 1375038"/>
                  <a:gd name="connsiteY1" fmla="*/ 1067480 h 1772476"/>
                  <a:gd name="connsiteX2" fmla="*/ 1353034 w 1375038"/>
                  <a:gd name="connsiteY2" fmla="*/ 1121025 h 1772476"/>
                  <a:gd name="connsiteX3" fmla="*/ 1273915 w 1375038"/>
                  <a:gd name="connsiteY3" fmla="*/ 1166724 h 1772476"/>
                  <a:gd name="connsiteX4" fmla="*/ 500956 w 1375038"/>
                  <a:gd name="connsiteY4" fmla="*/ 1612963 h 1772476"/>
                  <a:gd name="connsiteX5" fmla="*/ 445119 w 1375038"/>
                  <a:gd name="connsiteY5" fmla="*/ 1645212 h 1772476"/>
                  <a:gd name="connsiteX6" fmla="*/ 224725 w 1375038"/>
                  <a:gd name="connsiteY6" fmla="*/ 1772476 h 1772476"/>
                  <a:gd name="connsiteX7" fmla="*/ 0 w 1375038"/>
                  <a:gd name="connsiteY7" fmla="*/ 886264 h 1772476"/>
                  <a:gd name="connsiteX8" fmla="*/ 224725 w 1375038"/>
                  <a:gd name="connsiteY8" fmla="*/ 0 h 1772476"/>
                  <a:gd name="connsiteX9" fmla="*/ 445119 w 1375038"/>
                  <a:gd name="connsiteY9" fmla="*/ 127264 h 1772476"/>
                  <a:gd name="connsiteX10" fmla="*/ 500956 w 1375038"/>
                  <a:gd name="connsiteY10" fmla="*/ 159513 h 1772476"/>
                  <a:gd name="connsiteX11" fmla="*/ 1273915 w 1375038"/>
                  <a:gd name="connsiteY11" fmla="*/ 605753 h 1772476"/>
                  <a:gd name="connsiteX12" fmla="*/ 1352729 w 1375038"/>
                  <a:gd name="connsiteY12" fmla="*/ 651248 h 1772476"/>
                  <a:gd name="connsiteX13" fmla="*/ 1372292 w 1375038"/>
                  <a:gd name="connsiteY13" fmla="*/ 704793 h 1772476"/>
                  <a:gd name="connsiteX14" fmla="*/ 1339941 w 1375038"/>
                  <a:gd name="connsiteY14" fmla="*/ 864662 h 1772476"/>
                  <a:gd name="connsiteX15" fmla="*/ 1339483 w 1375038"/>
                  <a:gd name="connsiteY15" fmla="*/ 886416 h 1772476"/>
                  <a:gd name="connsiteX16" fmla="*/ 1340145 w 1375038"/>
                  <a:gd name="connsiteY16" fmla="*/ 912756 h 177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5038" h="1772476">
                    <a:moveTo>
                      <a:pt x="1340145" y="912807"/>
                    </a:moveTo>
                    <a:cubicBezTo>
                      <a:pt x="1342845" y="967014"/>
                      <a:pt x="1353901" y="1018979"/>
                      <a:pt x="1372088" y="1067480"/>
                    </a:cubicBezTo>
                    <a:cubicBezTo>
                      <a:pt x="1379629" y="1087655"/>
                      <a:pt x="1371681" y="1110275"/>
                      <a:pt x="1353034" y="1121025"/>
                    </a:cubicBezTo>
                    <a:lnTo>
                      <a:pt x="1273915" y="1166724"/>
                    </a:lnTo>
                    <a:lnTo>
                      <a:pt x="500956" y="1612963"/>
                    </a:lnTo>
                    <a:lnTo>
                      <a:pt x="445119" y="1645212"/>
                    </a:lnTo>
                    <a:lnTo>
                      <a:pt x="224725" y="1772476"/>
                    </a:lnTo>
                    <a:cubicBezTo>
                      <a:pt x="81412" y="1509134"/>
                      <a:pt x="0" y="1207226"/>
                      <a:pt x="0" y="886264"/>
                    </a:cubicBezTo>
                    <a:cubicBezTo>
                      <a:pt x="0" y="565301"/>
                      <a:pt x="81412" y="263393"/>
                      <a:pt x="224725" y="0"/>
                    </a:cubicBezTo>
                    <a:lnTo>
                      <a:pt x="445119" y="127264"/>
                    </a:lnTo>
                    <a:lnTo>
                      <a:pt x="500956" y="159513"/>
                    </a:lnTo>
                    <a:lnTo>
                      <a:pt x="1273915" y="605753"/>
                    </a:lnTo>
                    <a:lnTo>
                      <a:pt x="1352729" y="651248"/>
                    </a:lnTo>
                    <a:cubicBezTo>
                      <a:pt x="1371375" y="661998"/>
                      <a:pt x="1379832" y="684669"/>
                      <a:pt x="1372292" y="704793"/>
                    </a:cubicBezTo>
                    <a:cubicBezTo>
                      <a:pt x="1353493" y="754873"/>
                      <a:pt x="1342234" y="808621"/>
                      <a:pt x="1339941" y="864662"/>
                    </a:cubicBezTo>
                    <a:cubicBezTo>
                      <a:pt x="1339636" y="871897"/>
                      <a:pt x="1339483" y="879131"/>
                      <a:pt x="1339483" y="886416"/>
                    </a:cubicBezTo>
                    <a:cubicBezTo>
                      <a:pt x="1339483" y="895230"/>
                      <a:pt x="1339687" y="904044"/>
                      <a:pt x="1340145" y="912756"/>
                    </a:cubicBezTo>
                    <a:close/>
                  </a:path>
                </a:pathLst>
              </a:custGeom>
              <a:solidFill>
                <a:schemeClr val="lt1"/>
              </a:solidFill>
              <a:ln w="3371" cap="flat">
                <a:noFill/>
                <a:prstDash val="solid"/>
                <a:miter/>
              </a:ln>
              <a:effectLst>
                <a:outerShdw blurRad="520700" dist="1524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IN" sz="1050"/>
              </a:p>
            </p:txBody>
          </p:sp>
          <p:sp>
            <p:nvSpPr>
              <p:cNvPr id="87" name="Freeform: Shape 9">
                <a:extLst>
                  <a:ext uri="{FF2B5EF4-FFF2-40B4-BE49-F238E27FC236}">
                    <a16:creationId xmlns:a16="http://schemas.microsoft.com/office/drawing/2014/main" xmlns="" id="{6D3ED5F1-F3BD-ECBB-5AF6-D396CED346F4}"/>
                  </a:ext>
                </a:extLst>
              </p:cNvPr>
              <p:cNvSpPr/>
              <p:nvPr/>
            </p:nvSpPr>
            <p:spPr>
              <a:xfrm rot="19864861">
                <a:off x="5351951" y="1607802"/>
                <a:ext cx="1483221" cy="811010"/>
              </a:xfrm>
              <a:custGeom>
                <a:avLst/>
                <a:gdLst>
                  <a:gd name="connsiteX0" fmla="*/ 1535474 w 1566036"/>
                  <a:gd name="connsiteY0" fmla="*/ 947402 h 947707"/>
                  <a:gd name="connsiteX1" fmla="*/ 1534913 w 1566036"/>
                  <a:gd name="connsiteY1" fmla="*/ 947708 h 947707"/>
                  <a:gd name="connsiteX2" fmla="*/ 0 w 1566036"/>
                  <a:gd name="connsiteY2" fmla="*/ 61801 h 947707"/>
                  <a:gd name="connsiteX3" fmla="*/ 0 w 1566036"/>
                  <a:gd name="connsiteY3" fmla="*/ 61139 h 947707"/>
                  <a:gd name="connsiteX4" fmla="*/ 64600 w 1566036"/>
                  <a:gd name="connsiteY4" fmla="*/ 105 h 947707"/>
                  <a:gd name="connsiteX5" fmla="*/ 1555903 w 1566036"/>
                  <a:gd name="connsiteY5" fmla="*/ 860844 h 947707"/>
                  <a:gd name="connsiteX6" fmla="*/ 1535474 w 1566036"/>
                  <a:gd name="connsiteY6" fmla="*/ 947453 h 94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6036" h="947707">
                    <a:moveTo>
                      <a:pt x="1535474" y="947402"/>
                    </a:moveTo>
                    <a:lnTo>
                      <a:pt x="1534913" y="947708"/>
                    </a:lnTo>
                    <a:cubicBezTo>
                      <a:pt x="1216243" y="428819"/>
                      <a:pt x="649618" y="78460"/>
                      <a:pt x="0" y="61801"/>
                    </a:cubicBezTo>
                    <a:lnTo>
                      <a:pt x="0" y="61139"/>
                    </a:lnTo>
                    <a:cubicBezTo>
                      <a:pt x="0" y="26036"/>
                      <a:pt x="29549" y="-1933"/>
                      <a:pt x="64600" y="105"/>
                    </a:cubicBezTo>
                    <a:cubicBezTo>
                      <a:pt x="687980" y="36328"/>
                      <a:pt x="1231629" y="369772"/>
                      <a:pt x="1555903" y="860844"/>
                    </a:cubicBezTo>
                    <a:cubicBezTo>
                      <a:pt x="1575313" y="890189"/>
                      <a:pt x="1565939" y="929877"/>
                      <a:pt x="1535474" y="947453"/>
                    </a:cubicBezTo>
                    <a:close/>
                  </a:path>
                </a:pathLst>
              </a:custGeom>
              <a:solidFill>
                <a:srgbClr val="A79CAC">
                  <a:alpha val="99000"/>
                </a:srgbClr>
              </a:solidFill>
              <a:ln w="3371" cap="flat">
                <a:solidFill>
                  <a:srgbClr val="A79CAC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sp>
            <p:nvSpPr>
              <p:cNvPr id="33" name="Freeform: Shape 18">
                <a:extLst>
                  <a:ext uri="{FF2B5EF4-FFF2-40B4-BE49-F238E27FC236}">
                    <a16:creationId xmlns:a16="http://schemas.microsoft.com/office/drawing/2014/main" xmlns="" id="{866FDFE7-19BE-F52B-AAD9-F2A2D764D308}"/>
                  </a:ext>
                </a:extLst>
              </p:cNvPr>
              <p:cNvSpPr/>
              <p:nvPr/>
            </p:nvSpPr>
            <p:spPr>
              <a:xfrm rot="19809226">
                <a:off x="5877546" y="3089086"/>
                <a:ext cx="460085" cy="286682"/>
              </a:xfrm>
              <a:custGeom>
                <a:avLst/>
                <a:gdLst>
                  <a:gd name="connsiteX0" fmla="*/ 485774 w 485773"/>
                  <a:gd name="connsiteY0" fmla="*/ 283279 h 335002"/>
                  <a:gd name="connsiteX1" fmla="*/ 406145 w 485773"/>
                  <a:gd name="connsiteY1" fmla="*/ 329233 h 335002"/>
                  <a:gd name="connsiteX2" fmla="*/ 350562 w 485773"/>
                  <a:gd name="connsiteY2" fmla="*/ 318840 h 335002"/>
                  <a:gd name="connsiteX3" fmla="*/ 230889 w 485773"/>
                  <a:gd name="connsiteY3" fmla="*/ 212566 h 335002"/>
                  <a:gd name="connsiteX4" fmla="*/ 187483 w 485773"/>
                  <a:gd name="connsiteY4" fmla="*/ 187551 h 335002"/>
                  <a:gd name="connsiteX5" fmla="*/ 37191 w 485773"/>
                  <a:gd name="connsiteY5" fmla="*/ 137776 h 335002"/>
                  <a:gd name="connsiteX6" fmla="*/ 0 w 485773"/>
                  <a:gd name="connsiteY6" fmla="*/ 94421 h 335002"/>
                  <a:gd name="connsiteX7" fmla="*/ 0 w 485773"/>
                  <a:gd name="connsiteY7" fmla="*/ 2768 h 335002"/>
                  <a:gd name="connsiteX8" fmla="*/ 164047 w 485773"/>
                  <a:gd name="connsiteY8" fmla="*/ 36750 h 335002"/>
                  <a:gd name="connsiteX9" fmla="*/ 297068 w 485773"/>
                  <a:gd name="connsiteY9" fmla="*/ 1138 h 335002"/>
                  <a:gd name="connsiteX10" fmla="*/ 337520 w 485773"/>
                  <a:gd name="connsiteY10" fmla="*/ 24472 h 335002"/>
                  <a:gd name="connsiteX11" fmla="*/ 373080 w 485773"/>
                  <a:gd name="connsiteY11" fmla="*/ 157340 h 335002"/>
                  <a:gd name="connsiteX12" fmla="*/ 373080 w 485773"/>
                  <a:gd name="connsiteY12" fmla="*/ 157340 h 335002"/>
                  <a:gd name="connsiteX13" fmla="*/ 485723 w 485773"/>
                  <a:gd name="connsiteY13" fmla="*/ 283228 h 3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5773" h="335002">
                    <a:moveTo>
                      <a:pt x="485774" y="283279"/>
                    </a:moveTo>
                    <a:lnTo>
                      <a:pt x="406145" y="329233"/>
                    </a:lnTo>
                    <a:cubicBezTo>
                      <a:pt x="387600" y="339932"/>
                      <a:pt x="364216" y="335346"/>
                      <a:pt x="350562" y="318840"/>
                    </a:cubicBezTo>
                    <a:cubicBezTo>
                      <a:pt x="316479" y="277522"/>
                      <a:pt x="276078" y="241605"/>
                      <a:pt x="230889" y="212566"/>
                    </a:cubicBezTo>
                    <a:cubicBezTo>
                      <a:pt x="216879" y="203548"/>
                      <a:pt x="202359" y="195193"/>
                      <a:pt x="187483" y="187551"/>
                    </a:cubicBezTo>
                    <a:cubicBezTo>
                      <a:pt x="141020" y="163708"/>
                      <a:pt x="90481" y="146641"/>
                      <a:pt x="37191" y="137776"/>
                    </a:cubicBezTo>
                    <a:cubicBezTo>
                      <a:pt x="15844" y="134210"/>
                      <a:pt x="0" y="116073"/>
                      <a:pt x="0" y="94421"/>
                    </a:cubicBezTo>
                    <a:lnTo>
                      <a:pt x="0" y="2768"/>
                    </a:lnTo>
                    <a:cubicBezTo>
                      <a:pt x="57060" y="6997"/>
                      <a:pt x="112082" y="18664"/>
                      <a:pt x="164047" y="36750"/>
                    </a:cubicBezTo>
                    <a:lnTo>
                      <a:pt x="297068" y="1138"/>
                    </a:lnTo>
                    <a:cubicBezTo>
                      <a:pt x="314696" y="-3600"/>
                      <a:pt x="332782" y="6895"/>
                      <a:pt x="337520" y="24472"/>
                    </a:cubicBezTo>
                    <a:lnTo>
                      <a:pt x="373080" y="157340"/>
                    </a:lnTo>
                    <a:lnTo>
                      <a:pt x="373080" y="157340"/>
                    </a:lnTo>
                    <a:cubicBezTo>
                      <a:pt x="415875" y="194174"/>
                      <a:pt x="453779" y="236459"/>
                      <a:pt x="485723" y="283228"/>
                    </a:cubicBezTo>
                    <a:close/>
                  </a:path>
                </a:pathLst>
              </a:custGeom>
              <a:solidFill>
                <a:srgbClr val="A79CAC"/>
              </a:solidFill>
              <a:ln w="3371" cap="flat">
                <a:solidFill>
                  <a:srgbClr val="A79CAC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023203" y="1342400"/>
              <a:ext cx="41687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b="1" dirty="0" smtClean="0">
                  <a:solidFill>
                    <a:srgbClr val="A79CA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Généralités </a:t>
              </a:r>
              <a:r>
                <a:rPr lang="fr-MA" b="1" dirty="0">
                  <a:solidFill>
                    <a:srgbClr val="A79CA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 le système </a:t>
              </a:r>
              <a:r>
                <a:rPr lang="fr-MA" b="1" dirty="0" smtClean="0">
                  <a:solidFill>
                    <a:srgbClr val="A79CA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d’exploitation</a:t>
              </a:r>
              <a:endParaRPr lang="fr-MA" b="1" dirty="0">
                <a:solidFill>
                  <a:srgbClr val="A79CA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512552" y="2872370"/>
            <a:ext cx="4746734" cy="1715122"/>
            <a:chOff x="6512552" y="2872370"/>
            <a:chExt cx="4746734" cy="1715122"/>
          </a:xfrm>
        </p:grpSpPr>
        <p:grpSp>
          <p:nvGrpSpPr>
            <p:cNvPr id="7" name="Group 6"/>
            <p:cNvGrpSpPr/>
            <p:nvPr/>
          </p:nvGrpSpPr>
          <p:grpSpPr>
            <a:xfrm>
              <a:off x="6512552" y="2872370"/>
              <a:ext cx="1955732" cy="1715122"/>
              <a:chOff x="6512552" y="2872370"/>
              <a:chExt cx="1955732" cy="1715122"/>
            </a:xfrm>
          </p:grpSpPr>
          <p:sp>
            <p:nvSpPr>
              <p:cNvPr id="86" name="Freeform: Shape 15">
                <a:extLst>
                  <a:ext uri="{FF2B5EF4-FFF2-40B4-BE49-F238E27FC236}">
                    <a16:creationId xmlns:a16="http://schemas.microsoft.com/office/drawing/2014/main" xmlns="" id="{9E156F80-96D5-0782-8B56-D1E95A28A04F}"/>
                  </a:ext>
                </a:extLst>
              </p:cNvPr>
              <p:cNvSpPr/>
              <p:nvPr/>
            </p:nvSpPr>
            <p:spPr>
              <a:xfrm rot="10800000">
                <a:off x="6710729" y="2872370"/>
                <a:ext cx="1495884" cy="1715122"/>
              </a:xfrm>
              <a:custGeom>
                <a:avLst/>
                <a:gdLst>
                  <a:gd name="connsiteX0" fmla="*/ 1340145 w 1375038"/>
                  <a:gd name="connsiteY0" fmla="*/ 912807 h 1772476"/>
                  <a:gd name="connsiteX1" fmla="*/ 1372088 w 1375038"/>
                  <a:gd name="connsiteY1" fmla="*/ 1067480 h 1772476"/>
                  <a:gd name="connsiteX2" fmla="*/ 1353034 w 1375038"/>
                  <a:gd name="connsiteY2" fmla="*/ 1121025 h 1772476"/>
                  <a:gd name="connsiteX3" fmla="*/ 1273915 w 1375038"/>
                  <a:gd name="connsiteY3" fmla="*/ 1166724 h 1772476"/>
                  <a:gd name="connsiteX4" fmla="*/ 500956 w 1375038"/>
                  <a:gd name="connsiteY4" fmla="*/ 1612963 h 1772476"/>
                  <a:gd name="connsiteX5" fmla="*/ 445119 w 1375038"/>
                  <a:gd name="connsiteY5" fmla="*/ 1645212 h 1772476"/>
                  <a:gd name="connsiteX6" fmla="*/ 224725 w 1375038"/>
                  <a:gd name="connsiteY6" fmla="*/ 1772476 h 1772476"/>
                  <a:gd name="connsiteX7" fmla="*/ 0 w 1375038"/>
                  <a:gd name="connsiteY7" fmla="*/ 886264 h 1772476"/>
                  <a:gd name="connsiteX8" fmla="*/ 224725 w 1375038"/>
                  <a:gd name="connsiteY8" fmla="*/ 0 h 1772476"/>
                  <a:gd name="connsiteX9" fmla="*/ 445119 w 1375038"/>
                  <a:gd name="connsiteY9" fmla="*/ 127264 h 1772476"/>
                  <a:gd name="connsiteX10" fmla="*/ 500956 w 1375038"/>
                  <a:gd name="connsiteY10" fmla="*/ 159513 h 1772476"/>
                  <a:gd name="connsiteX11" fmla="*/ 1273915 w 1375038"/>
                  <a:gd name="connsiteY11" fmla="*/ 605753 h 1772476"/>
                  <a:gd name="connsiteX12" fmla="*/ 1352729 w 1375038"/>
                  <a:gd name="connsiteY12" fmla="*/ 651248 h 1772476"/>
                  <a:gd name="connsiteX13" fmla="*/ 1372292 w 1375038"/>
                  <a:gd name="connsiteY13" fmla="*/ 704793 h 1772476"/>
                  <a:gd name="connsiteX14" fmla="*/ 1339941 w 1375038"/>
                  <a:gd name="connsiteY14" fmla="*/ 864662 h 1772476"/>
                  <a:gd name="connsiteX15" fmla="*/ 1339483 w 1375038"/>
                  <a:gd name="connsiteY15" fmla="*/ 886416 h 1772476"/>
                  <a:gd name="connsiteX16" fmla="*/ 1340145 w 1375038"/>
                  <a:gd name="connsiteY16" fmla="*/ 912756 h 177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5038" h="1772476">
                    <a:moveTo>
                      <a:pt x="1340145" y="912807"/>
                    </a:moveTo>
                    <a:cubicBezTo>
                      <a:pt x="1342845" y="967014"/>
                      <a:pt x="1353901" y="1018979"/>
                      <a:pt x="1372088" y="1067480"/>
                    </a:cubicBezTo>
                    <a:cubicBezTo>
                      <a:pt x="1379629" y="1087655"/>
                      <a:pt x="1371681" y="1110275"/>
                      <a:pt x="1353034" y="1121025"/>
                    </a:cubicBezTo>
                    <a:lnTo>
                      <a:pt x="1273915" y="1166724"/>
                    </a:lnTo>
                    <a:lnTo>
                      <a:pt x="500956" y="1612963"/>
                    </a:lnTo>
                    <a:lnTo>
                      <a:pt x="445119" y="1645212"/>
                    </a:lnTo>
                    <a:lnTo>
                      <a:pt x="224725" y="1772476"/>
                    </a:lnTo>
                    <a:cubicBezTo>
                      <a:pt x="81412" y="1509134"/>
                      <a:pt x="0" y="1207226"/>
                      <a:pt x="0" y="886264"/>
                    </a:cubicBezTo>
                    <a:cubicBezTo>
                      <a:pt x="0" y="565301"/>
                      <a:pt x="81412" y="263393"/>
                      <a:pt x="224725" y="0"/>
                    </a:cubicBezTo>
                    <a:lnTo>
                      <a:pt x="445119" y="127264"/>
                    </a:lnTo>
                    <a:lnTo>
                      <a:pt x="500956" y="159513"/>
                    </a:lnTo>
                    <a:lnTo>
                      <a:pt x="1273915" y="605753"/>
                    </a:lnTo>
                    <a:lnTo>
                      <a:pt x="1352729" y="651248"/>
                    </a:lnTo>
                    <a:cubicBezTo>
                      <a:pt x="1371375" y="661998"/>
                      <a:pt x="1379832" y="684669"/>
                      <a:pt x="1372292" y="704793"/>
                    </a:cubicBezTo>
                    <a:cubicBezTo>
                      <a:pt x="1353493" y="754873"/>
                      <a:pt x="1342234" y="808621"/>
                      <a:pt x="1339941" y="864662"/>
                    </a:cubicBezTo>
                    <a:cubicBezTo>
                      <a:pt x="1339636" y="871897"/>
                      <a:pt x="1339483" y="879131"/>
                      <a:pt x="1339483" y="886416"/>
                    </a:cubicBezTo>
                    <a:cubicBezTo>
                      <a:pt x="1339483" y="895230"/>
                      <a:pt x="1339687" y="904044"/>
                      <a:pt x="1340145" y="9127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371" cap="flat">
                <a:noFill/>
                <a:prstDash val="solid"/>
                <a:miter/>
              </a:ln>
              <a:effectLst>
                <a:outerShdw blurRad="520700" dist="1524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IN" sz="1050"/>
              </a:p>
            </p:txBody>
          </p:sp>
          <p:sp>
            <p:nvSpPr>
              <p:cNvPr id="88" name="Freeform: Shape 9">
                <a:extLst>
                  <a:ext uri="{FF2B5EF4-FFF2-40B4-BE49-F238E27FC236}">
                    <a16:creationId xmlns:a16="http://schemas.microsoft.com/office/drawing/2014/main" xmlns="" id="{6D3ED5F1-F3BD-ECBB-5AF6-D396CED346F4}"/>
                  </a:ext>
                </a:extLst>
              </p:cNvPr>
              <p:cNvSpPr/>
              <p:nvPr/>
            </p:nvSpPr>
            <p:spPr>
              <a:xfrm rot="3636630">
                <a:off x="7349413" y="3329919"/>
                <a:ext cx="1340152" cy="897590"/>
              </a:xfrm>
              <a:custGeom>
                <a:avLst/>
                <a:gdLst>
                  <a:gd name="connsiteX0" fmla="*/ 1535474 w 1566036"/>
                  <a:gd name="connsiteY0" fmla="*/ 947402 h 947707"/>
                  <a:gd name="connsiteX1" fmla="*/ 1534913 w 1566036"/>
                  <a:gd name="connsiteY1" fmla="*/ 947708 h 947707"/>
                  <a:gd name="connsiteX2" fmla="*/ 0 w 1566036"/>
                  <a:gd name="connsiteY2" fmla="*/ 61801 h 947707"/>
                  <a:gd name="connsiteX3" fmla="*/ 0 w 1566036"/>
                  <a:gd name="connsiteY3" fmla="*/ 61139 h 947707"/>
                  <a:gd name="connsiteX4" fmla="*/ 64600 w 1566036"/>
                  <a:gd name="connsiteY4" fmla="*/ 105 h 947707"/>
                  <a:gd name="connsiteX5" fmla="*/ 1555903 w 1566036"/>
                  <a:gd name="connsiteY5" fmla="*/ 860844 h 947707"/>
                  <a:gd name="connsiteX6" fmla="*/ 1535474 w 1566036"/>
                  <a:gd name="connsiteY6" fmla="*/ 947453 h 94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6036" h="947707">
                    <a:moveTo>
                      <a:pt x="1535474" y="947402"/>
                    </a:moveTo>
                    <a:lnTo>
                      <a:pt x="1534913" y="947708"/>
                    </a:lnTo>
                    <a:cubicBezTo>
                      <a:pt x="1216243" y="428819"/>
                      <a:pt x="649618" y="78460"/>
                      <a:pt x="0" y="61801"/>
                    </a:cubicBezTo>
                    <a:lnTo>
                      <a:pt x="0" y="61139"/>
                    </a:lnTo>
                    <a:cubicBezTo>
                      <a:pt x="0" y="26036"/>
                      <a:pt x="29549" y="-1933"/>
                      <a:pt x="64600" y="105"/>
                    </a:cubicBezTo>
                    <a:cubicBezTo>
                      <a:pt x="687980" y="36328"/>
                      <a:pt x="1231629" y="369772"/>
                      <a:pt x="1555903" y="860844"/>
                    </a:cubicBezTo>
                    <a:cubicBezTo>
                      <a:pt x="1575313" y="890189"/>
                      <a:pt x="1565939" y="929877"/>
                      <a:pt x="1535474" y="947453"/>
                    </a:cubicBezTo>
                    <a:close/>
                  </a:path>
                </a:pathLst>
              </a:custGeom>
              <a:solidFill>
                <a:srgbClr val="B7CB98">
                  <a:alpha val="99000"/>
                </a:srgbClr>
              </a:solidFill>
              <a:ln w="3371" cap="flat">
                <a:solidFill>
                  <a:srgbClr val="B7CB98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sp>
            <p:nvSpPr>
              <p:cNvPr id="91" name="Freeform: Shape 18">
                <a:extLst>
                  <a:ext uri="{FF2B5EF4-FFF2-40B4-BE49-F238E27FC236}">
                    <a16:creationId xmlns:a16="http://schemas.microsoft.com/office/drawing/2014/main" xmlns="" id="{866FDFE7-19BE-F52B-AAD9-F2A2D764D308}"/>
                  </a:ext>
                </a:extLst>
              </p:cNvPr>
              <p:cNvSpPr/>
              <p:nvPr/>
            </p:nvSpPr>
            <p:spPr>
              <a:xfrm rot="3632105">
                <a:off x="6463343" y="3577886"/>
                <a:ext cx="415706" cy="317287"/>
              </a:xfrm>
              <a:custGeom>
                <a:avLst/>
                <a:gdLst>
                  <a:gd name="connsiteX0" fmla="*/ 485774 w 485773"/>
                  <a:gd name="connsiteY0" fmla="*/ 283279 h 335002"/>
                  <a:gd name="connsiteX1" fmla="*/ 406145 w 485773"/>
                  <a:gd name="connsiteY1" fmla="*/ 329233 h 335002"/>
                  <a:gd name="connsiteX2" fmla="*/ 350562 w 485773"/>
                  <a:gd name="connsiteY2" fmla="*/ 318840 h 335002"/>
                  <a:gd name="connsiteX3" fmla="*/ 230889 w 485773"/>
                  <a:gd name="connsiteY3" fmla="*/ 212566 h 335002"/>
                  <a:gd name="connsiteX4" fmla="*/ 187483 w 485773"/>
                  <a:gd name="connsiteY4" fmla="*/ 187551 h 335002"/>
                  <a:gd name="connsiteX5" fmla="*/ 37191 w 485773"/>
                  <a:gd name="connsiteY5" fmla="*/ 137776 h 335002"/>
                  <a:gd name="connsiteX6" fmla="*/ 0 w 485773"/>
                  <a:gd name="connsiteY6" fmla="*/ 94421 h 335002"/>
                  <a:gd name="connsiteX7" fmla="*/ 0 w 485773"/>
                  <a:gd name="connsiteY7" fmla="*/ 2768 h 335002"/>
                  <a:gd name="connsiteX8" fmla="*/ 164047 w 485773"/>
                  <a:gd name="connsiteY8" fmla="*/ 36750 h 335002"/>
                  <a:gd name="connsiteX9" fmla="*/ 297068 w 485773"/>
                  <a:gd name="connsiteY9" fmla="*/ 1138 h 335002"/>
                  <a:gd name="connsiteX10" fmla="*/ 337520 w 485773"/>
                  <a:gd name="connsiteY10" fmla="*/ 24472 h 335002"/>
                  <a:gd name="connsiteX11" fmla="*/ 373080 w 485773"/>
                  <a:gd name="connsiteY11" fmla="*/ 157340 h 335002"/>
                  <a:gd name="connsiteX12" fmla="*/ 373080 w 485773"/>
                  <a:gd name="connsiteY12" fmla="*/ 157340 h 335002"/>
                  <a:gd name="connsiteX13" fmla="*/ 485723 w 485773"/>
                  <a:gd name="connsiteY13" fmla="*/ 283228 h 3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5773" h="335002">
                    <a:moveTo>
                      <a:pt x="485774" y="283279"/>
                    </a:moveTo>
                    <a:lnTo>
                      <a:pt x="406145" y="329233"/>
                    </a:lnTo>
                    <a:cubicBezTo>
                      <a:pt x="387600" y="339932"/>
                      <a:pt x="364216" y="335346"/>
                      <a:pt x="350562" y="318840"/>
                    </a:cubicBezTo>
                    <a:cubicBezTo>
                      <a:pt x="316479" y="277522"/>
                      <a:pt x="276078" y="241605"/>
                      <a:pt x="230889" y="212566"/>
                    </a:cubicBezTo>
                    <a:cubicBezTo>
                      <a:pt x="216879" y="203548"/>
                      <a:pt x="202359" y="195193"/>
                      <a:pt x="187483" y="187551"/>
                    </a:cubicBezTo>
                    <a:cubicBezTo>
                      <a:pt x="141020" y="163708"/>
                      <a:pt x="90481" y="146641"/>
                      <a:pt x="37191" y="137776"/>
                    </a:cubicBezTo>
                    <a:cubicBezTo>
                      <a:pt x="15844" y="134210"/>
                      <a:pt x="0" y="116073"/>
                      <a:pt x="0" y="94421"/>
                    </a:cubicBezTo>
                    <a:lnTo>
                      <a:pt x="0" y="2768"/>
                    </a:lnTo>
                    <a:cubicBezTo>
                      <a:pt x="57060" y="6997"/>
                      <a:pt x="112082" y="18664"/>
                      <a:pt x="164047" y="36750"/>
                    </a:cubicBezTo>
                    <a:lnTo>
                      <a:pt x="297068" y="1138"/>
                    </a:lnTo>
                    <a:cubicBezTo>
                      <a:pt x="314696" y="-3600"/>
                      <a:pt x="332782" y="6895"/>
                      <a:pt x="337520" y="24472"/>
                    </a:cubicBezTo>
                    <a:lnTo>
                      <a:pt x="373080" y="157340"/>
                    </a:lnTo>
                    <a:lnTo>
                      <a:pt x="373080" y="157340"/>
                    </a:lnTo>
                    <a:cubicBezTo>
                      <a:pt x="415875" y="194174"/>
                      <a:pt x="453779" y="236459"/>
                      <a:pt x="485723" y="283228"/>
                    </a:cubicBezTo>
                    <a:close/>
                  </a:path>
                </a:pathLst>
              </a:custGeom>
              <a:solidFill>
                <a:srgbClr val="B7CB98"/>
              </a:solidFill>
              <a:ln w="3371" cap="flat">
                <a:solidFill>
                  <a:srgbClr val="B7CB98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/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8287319" y="3604687"/>
              <a:ext cx="29719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B7CB9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 processus et leur gestion</a:t>
              </a:r>
              <a:endParaRPr lang="fr-MA" b="1" dirty="0">
                <a:solidFill>
                  <a:srgbClr val="B7CB9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577477" y="4117843"/>
            <a:ext cx="4910320" cy="2306884"/>
            <a:chOff x="3577477" y="4117843"/>
            <a:chExt cx="4910320" cy="2306884"/>
          </a:xfrm>
        </p:grpSpPr>
        <p:grpSp>
          <p:nvGrpSpPr>
            <p:cNvPr id="10" name="Group 9"/>
            <p:cNvGrpSpPr/>
            <p:nvPr/>
          </p:nvGrpSpPr>
          <p:grpSpPr>
            <a:xfrm>
              <a:off x="5132412" y="4117843"/>
              <a:ext cx="1898221" cy="1755436"/>
              <a:chOff x="5132412" y="4117843"/>
              <a:chExt cx="1898221" cy="1755436"/>
            </a:xfrm>
          </p:grpSpPr>
          <p:sp>
            <p:nvSpPr>
              <p:cNvPr id="85" name="Freeform: Shape 15">
                <a:extLst>
                  <a:ext uri="{FF2B5EF4-FFF2-40B4-BE49-F238E27FC236}">
                    <a16:creationId xmlns:a16="http://schemas.microsoft.com/office/drawing/2014/main" xmlns="" id="{9E156F80-96D5-0782-8B56-D1E95A28A04F}"/>
                  </a:ext>
                </a:extLst>
              </p:cNvPr>
              <p:cNvSpPr/>
              <p:nvPr/>
            </p:nvSpPr>
            <p:spPr>
              <a:xfrm rot="16200000">
                <a:off x="5405726" y="4017994"/>
                <a:ext cx="1351593" cy="1898221"/>
              </a:xfrm>
              <a:custGeom>
                <a:avLst/>
                <a:gdLst>
                  <a:gd name="connsiteX0" fmla="*/ 1340145 w 1375038"/>
                  <a:gd name="connsiteY0" fmla="*/ 912807 h 1772476"/>
                  <a:gd name="connsiteX1" fmla="*/ 1372088 w 1375038"/>
                  <a:gd name="connsiteY1" fmla="*/ 1067480 h 1772476"/>
                  <a:gd name="connsiteX2" fmla="*/ 1353034 w 1375038"/>
                  <a:gd name="connsiteY2" fmla="*/ 1121025 h 1772476"/>
                  <a:gd name="connsiteX3" fmla="*/ 1273915 w 1375038"/>
                  <a:gd name="connsiteY3" fmla="*/ 1166724 h 1772476"/>
                  <a:gd name="connsiteX4" fmla="*/ 500956 w 1375038"/>
                  <a:gd name="connsiteY4" fmla="*/ 1612963 h 1772476"/>
                  <a:gd name="connsiteX5" fmla="*/ 445119 w 1375038"/>
                  <a:gd name="connsiteY5" fmla="*/ 1645212 h 1772476"/>
                  <a:gd name="connsiteX6" fmla="*/ 224725 w 1375038"/>
                  <a:gd name="connsiteY6" fmla="*/ 1772476 h 1772476"/>
                  <a:gd name="connsiteX7" fmla="*/ 0 w 1375038"/>
                  <a:gd name="connsiteY7" fmla="*/ 886264 h 1772476"/>
                  <a:gd name="connsiteX8" fmla="*/ 224725 w 1375038"/>
                  <a:gd name="connsiteY8" fmla="*/ 0 h 1772476"/>
                  <a:gd name="connsiteX9" fmla="*/ 445119 w 1375038"/>
                  <a:gd name="connsiteY9" fmla="*/ 127264 h 1772476"/>
                  <a:gd name="connsiteX10" fmla="*/ 500956 w 1375038"/>
                  <a:gd name="connsiteY10" fmla="*/ 159513 h 1772476"/>
                  <a:gd name="connsiteX11" fmla="*/ 1273915 w 1375038"/>
                  <a:gd name="connsiteY11" fmla="*/ 605753 h 1772476"/>
                  <a:gd name="connsiteX12" fmla="*/ 1352729 w 1375038"/>
                  <a:gd name="connsiteY12" fmla="*/ 651248 h 1772476"/>
                  <a:gd name="connsiteX13" fmla="*/ 1372292 w 1375038"/>
                  <a:gd name="connsiteY13" fmla="*/ 704793 h 1772476"/>
                  <a:gd name="connsiteX14" fmla="*/ 1339941 w 1375038"/>
                  <a:gd name="connsiteY14" fmla="*/ 864662 h 1772476"/>
                  <a:gd name="connsiteX15" fmla="*/ 1339483 w 1375038"/>
                  <a:gd name="connsiteY15" fmla="*/ 886416 h 1772476"/>
                  <a:gd name="connsiteX16" fmla="*/ 1340145 w 1375038"/>
                  <a:gd name="connsiteY16" fmla="*/ 912756 h 177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5038" h="1772476">
                    <a:moveTo>
                      <a:pt x="1340145" y="912807"/>
                    </a:moveTo>
                    <a:cubicBezTo>
                      <a:pt x="1342845" y="967014"/>
                      <a:pt x="1353901" y="1018979"/>
                      <a:pt x="1372088" y="1067480"/>
                    </a:cubicBezTo>
                    <a:cubicBezTo>
                      <a:pt x="1379629" y="1087655"/>
                      <a:pt x="1371681" y="1110275"/>
                      <a:pt x="1353034" y="1121025"/>
                    </a:cubicBezTo>
                    <a:lnTo>
                      <a:pt x="1273915" y="1166724"/>
                    </a:lnTo>
                    <a:lnTo>
                      <a:pt x="500956" y="1612963"/>
                    </a:lnTo>
                    <a:lnTo>
                      <a:pt x="445119" y="1645212"/>
                    </a:lnTo>
                    <a:lnTo>
                      <a:pt x="224725" y="1772476"/>
                    </a:lnTo>
                    <a:cubicBezTo>
                      <a:pt x="81412" y="1509134"/>
                      <a:pt x="0" y="1207226"/>
                      <a:pt x="0" y="886264"/>
                    </a:cubicBezTo>
                    <a:cubicBezTo>
                      <a:pt x="0" y="565301"/>
                      <a:pt x="81412" y="263393"/>
                      <a:pt x="224725" y="0"/>
                    </a:cubicBezTo>
                    <a:lnTo>
                      <a:pt x="445119" y="127264"/>
                    </a:lnTo>
                    <a:lnTo>
                      <a:pt x="500956" y="159513"/>
                    </a:lnTo>
                    <a:lnTo>
                      <a:pt x="1273915" y="605753"/>
                    </a:lnTo>
                    <a:lnTo>
                      <a:pt x="1352729" y="651248"/>
                    </a:lnTo>
                    <a:cubicBezTo>
                      <a:pt x="1371375" y="661998"/>
                      <a:pt x="1379832" y="684669"/>
                      <a:pt x="1372292" y="704793"/>
                    </a:cubicBezTo>
                    <a:cubicBezTo>
                      <a:pt x="1353493" y="754873"/>
                      <a:pt x="1342234" y="808621"/>
                      <a:pt x="1339941" y="864662"/>
                    </a:cubicBezTo>
                    <a:cubicBezTo>
                      <a:pt x="1339636" y="871897"/>
                      <a:pt x="1339483" y="879131"/>
                      <a:pt x="1339483" y="886416"/>
                    </a:cubicBezTo>
                    <a:cubicBezTo>
                      <a:pt x="1339483" y="895230"/>
                      <a:pt x="1339687" y="904044"/>
                      <a:pt x="1340145" y="9127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3371" cap="flat">
                <a:noFill/>
                <a:prstDash val="solid"/>
                <a:miter/>
              </a:ln>
              <a:effectLst>
                <a:outerShdw blurRad="520700" dist="1524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IN" sz="1050"/>
              </a:p>
            </p:txBody>
          </p:sp>
          <p:sp>
            <p:nvSpPr>
              <p:cNvPr id="89" name="Freeform: Shape 9">
                <a:extLst>
                  <a:ext uri="{FF2B5EF4-FFF2-40B4-BE49-F238E27FC236}">
                    <a16:creationId xmlns:a16="http://schemas.microsoft.com/office/drawing/2014/main" xmlns="" id="{6D3ED5F1-F3BD-ECBB-5AF6-D396CED346F4}"/>
                  </a:ext>
                </a:extLst>
              </p:cNvPr>
              <p:cNvSpPr/>
              <p:nvPr/>
            </p:nvSpPr>
            <p:spPr>
              <a:xfrm rot="9081949">
                <a:off x="5339910" y="5062269"/>
                <a:ext cx="1483221" cy="811010"/>
              </a:xfrm>
              <a:custGeom>
                <a:avLst/>
                <a:gdLst>
                  <a:gd name="connsiteX0" fmla="*/ 1535474 w 1566036"/>
                  <a:gd name="connsiteY0" fmla="*/ 947402 h 947707"/>
                  <a:gd name="connsiteX1" fmla="*/ 1534913 w 1566036"/>
                  <a:gd name="connsiteY1" fmla="*/ 947708 h 947707"/>
                  <a:gd name="connsiteX2" fmla="*/ 0 w 1566036"/>
                  <a:gd name="connsiteY2" fmla="*/ 61801 h 947707"/>
                  <a:gd name="connsiteX3" fmla="*/ 0 w 1566036"/>
                  <a:gd name="connsiteY3" fmla="*/ 61139 h 947707"/>
                  <a:gd name="connsiteX4" fmla="*/ 64600 w 1566036"/>
                  <a:gd name="connsiteY4" fmla="*/ 105 h 947707"/>
                  <a:gd name="connsiteX5" fmla="*/ 1555903 w 1566036"/>
                  <a:gd name="connsiteY5" fmla="*/ 860844 h 947707"/>
                  <a:gd name="connsiteX6" fmla="*/ 1535474 w 1566036"/>
                  <a:gd name="connsiteY6" fmla="*/ 947453 h 94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6036" h="947707">
                    <a:moveTo>
                      <a:pt x="1535474" y="947402"/>
                    </a:moveTo>
                    <a:lnTo>
                      <a:pt x="1534913" y="947708"/>
                    </a:lnTo>
                    <a:cubicBezTo>
                      <a:pt x="1216243" y="428819"/>
                      <a:pt x="649618" y="78460"/>
                      <a:pt x="0" y="61801"/>
                    </a:cubicBezTo>
                    <a:lnTo>
                      <a:pt x="0" y="61139"/>
                    </a:lnTo>
                    <a:cubicBezTo>
                      <a:pt x="0" y="26036"/>
                      <a:pt x="29549" y="-1933"/>
                      <a:pt x="64600" y="105"/>
                    </a:cubicBezTo>
                    <a:cubicBezTo>
                      <a:pt x="687980" y="36328"/>
                      <a:pt x="1231629" y="369772"/>
                      <a:pt x="1555903" y="860844"/>
                    </a:cubicBezTo>
                    <a:cubicBezTo>
                      <a:pt x="1575313" y="890189"/>
                      <a:pt x="1565939" y="929877"/>
                      <a:pt x="1535474" y="947453"/>
                    </a:cubicBezTo>
                    <a:close/>
                  </a:path>
                </a:pathLst>
              </a:custGeom>
              <a:solidFill>
                <a:srgbClr val="474972">
                  <a:alpha val="99000"/>
                </a:srgbClr>
              </a:solidFill>
              <a:ln w="3371" cap="flat">
                <a:solidFill>
                  <a:srgbClr val="474972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sp>
            <p:nvSpPr>
              <p:cNvPr id="93" name="Freeform: Shape 18">
                <a:extLst>
                  <a:ext uri="{FF2B5EF4-FFF2-40B4-BE49-F238E27FC236}">
                    <a16:creationId xmlns:a16="http://schemas.microsoft.com/office/drawing/2014/main" xmlns="" id="{866FDFE7-19BE-F52B-AAD9-F2A2D764D308}"/>
                  </a:ext>
                </a:extLst>
              </p:cNvPr>
              <p:cNvSpPr/>
              <p:nvPr/>
            </p:nvSpPr>
            <p:spPr>
              <a:xfrm rot="8895684">
                <a:off x="5844153" y="4117843"/>
                <a:ext cx="460085" cy="286682"/>
              </a:xfrm>
              <a:custGeom>
                <a:avLst/>
                <a:gdLst>
                  <a:gd name="connsiteX0" fmla="*/ 485774 w 485773"/>
                  <a:gd name="connsiteY0" fmla="*/ 283279 h 335002"/>
                  <a:gd name="connsiteX1" fmla="*/ 406145 w 485773"/>
                  <a:gd name="connsiteY1" fmla="*/ 329233 h 335002"/>
                  <a:gd name="connsiteX2" fmla="*/ 350562 w 485773"/>
                  <a:gd name="connsiteY2" fmla="*/ 318840 h 335002"/>
                  <a:gd name="connsiteX3" fmla="*/ 230889 w 485773"/>
                  <a:gd name="connsiteY3" fmla="*/ 212566 h 335002"/>
                  <a:gd name="connsiteX4" fmla="*/ 187483 w 485773"/>
                  <a:gd name="connsiteY4" fmla="*/ 187551 h 335002"/>
                  <a:gd name="connsiteX5" fmla="*/ 37191 w 485773"/>
                  <a:gd name="connsiteY5" fmla="*/ 137776 h 335002"/>
                  <a:gd name="connsiteX6" fmla="*/ 0 w 485773"/>
                  <a:gd name="connsiteY6" fmla="*/ 94421 h 335002"/>
                  <a:gd name="connsiteX7" fmla="*/ 0 w 485773"/>
                  <a:gd name="connsiteY7" fmla="*/ 2768 h 335002"/>
                  <a:gd name="connsiteX8" fmla="*/ 164047 w 485773"/>
                  <a:gd name="connsiteY8" fmla="*/ 36750 h 335002"/>
                  <a:gd name="connsiteX9" fmla="*/ 297068 w 485773"/>
                  <a:gd name="connsiteY9" fmla="*/ 1138 h 335002"/>
                  <a:gd name="connsiteX10" fmla="*/ 337520 w 485773"/>
                  <a:gd name="connsiteY10" fmla="*/ 24472 h 335002"/>
                  <a:gd name="connsiteX11" fmla="*/ 373080 w 485773"/>
                  <a:gd name="connsiteY11" fmla="*/ 157340 h 335002"/>
                  <a:gd name="connsiteX12" fmla="*/ 373080 w 485773"/>
                  <a:gd name="connsiteY12" fmla="*/ 157340 h 335002"/>
                  <a:gd name="connsiteX13" fmla="*/ 485723 w 485773"/>
                  <a:gd name="connsiteY13" fmla="*/ 283228 h 3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5773" h="335002">
                    <a:moveTo>
                      <a:pt x="485774" y="283279"/>
                    </a:moveTo>
                    <a:lnTo>
                      <a:pt x="406145" y="329233"/>
                    </a:lnTo>
                    <a:cubicBezTo>
                      <a:pt x="387600" y="339932"/>
                      <a:pt x="364216" y="335346"/>
                      <a:pt x="350562" y="318840"/>
                    </a:cubicBezTo>
                    <a:cubicBezTo>
                      <a:pt x="316479" y="277522"/>
                      <a:pt x="276078" y="241605"/>
                      <a:pt x="230889" y="212566"/>
                    </a:cubicBezTo>
                    <a:cubicBezTo>
                      <a:pt x="216879" y="203548"/>
                      <a:pt x="202359" y="195193"/>
                      <a:pt x="187483" y="187551"/>
                    </a:cubicBezTo>
                    <a:cubicBezTo>
                      <a:pt x="141020" y="163708"/>
                      <a:pt x="90481" y="146641"/>
                      <a:pt x="37191" y="137776"/>
                    </a:cubicBezTo>
                    <a:cubicBezTo>
                      <a:pt x="15844" y="134210"/>
                      <a:pt x="0" y="116073"/>
                      <a:pt x="0" y="94421"/>
                    </a:cubicBezTo>
                    <a:lnTo>
                      <a:pt x="0" y="2768"/>
                    </a:lnTo>
                    <a:cubicBezTo>
                      <a:pt x="57060" y="6997"/>
                      <a:pt x="112082" y="18664"/>
                      <a:pt x="164047" y="36750"/>
                    </a:cubicBezTo>
                    <a:lnTo>
                      <a:pt x="297068" y="1138"/>
                    </a:lnTo>
                    <a:cubicBezTo>
                      <a:pt x="314696" y="-3600"/>
                      <a:pt x="332782" y="6895"/>
                      <a:pt x="337520" y="24472"/>
                    </a:cubicBezTo>
                    <a:lnTo>
                      <a:pt x="373080" y="157340"/>
                    </a:lnTo>
                    <a:lnTo>
                      <a:pt x="373080" y="157340"/>
                    </a:lnTo>
                    <a:cubicBezTo>
                      <a:pt x="415875" y="194174"/>
                      <a:pt x="453779" y="236459"/>
                      <a:pt x="485723" y="283228"/>
                    </a:cubicBezTo>
                    <a:close/>
                  </a:path>
                </a:pathLst>
              </a:custGeom>
              <a:solidFill>
                <a:srgbClr val="474972"/>
              </a:solidFill>
              <a:ln w="3371" cap="flat">
                <a:solidFill>
                  <a:srgbClr val="474972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/>
              </a:p>
            </p:txBody>
          </p:sp>
        </p:grpSp>
        <p:sp>
          <p:nvSpPr>
            <p:cNvPr id="35" name="TextBox 34"/>
            <p:cNvSpPr txBox="1"/>
            <p:nvPr/>
          </p:nvSpPr>
          <p:spPr>
            <a:xfrm>
              <a:off x="3577477" y="5778396"/>
              <a:ext cx="4910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b="1" dirty="0">
                  <a:solidFill>
                    <a:srgbClr val="4749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Fonctions principales du système d'exploitation </a:t>
              </a:r>
            </a:p>
            <a:p>
              <a:pPr algn="ctr"/>
              <a:r>
                <a:rPr lang="fr-FR" b="1" dirty="0">
                  <a:solidFill>
                    <a:srgbClr val="4749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liées aux processus</a:t>
              </a:r>
              <a:endParaRPr lang="fr-MA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885663" y="2872370"/>
            <a:ext cx="4761153" cy="1715122"/>
            <a:chOff x="885663" y="2872370"/>
            <a:chExt cx="4761153" cy="1715122"/>
          </a:xfrm>
        </p:grpSpPr>
        <p:grpSp>
          <p:nvGrpSpPr>
            <p:cNvPr id="9" name="Group 8"/>
            <p:cNvGrpSpPr/>
            <p:nvPr/>
          </p:nvGrpSpPr>
          <p:grpSpPr>
            <a:xfrm>
              <a:off x="3723711" y="2872370"/>
              <a:ext cx="1923105" cy="1715122"/>
              <a:chOff x="3723711" y="2872370"/>
              <a:chExt cx="1923105" cy="1715122"/>
            </a:xfrm>
          </p:grpSpPr>
          <p:sp>
            <p:nvSpPr>
              <p:cNvPr id="44" name="Freeform: Shape 15">
                <a:extLst>
                  <a:ext uri="{FF2B5EF4-FFF2-40B4-BE49-F238E27FC236}">
                    <a16:creationId xmlns:a16="http://schemas.microsoft.com/office/drawing/2014/main" xmlns="" id="{9E156F80-96D5-0782-8B56-D1E95A28A04F}"/>
                  </a:ext>
                </a:extLst>
              </p:cNvPr>
              <p:cNvSpPr/>
              <p:nvPr/>
            </p:nvSpPr>
            <p:spPr>
              <a:xfrm>
                <a:off x="3980514" y="2872370"/>
                <a:ext cx="1495884" cy="1715122"/>
              </a:xfrm>
              <a:custGeom>
                <a:avLst/>
                <a:gdLst>
                  <a:gd name="connsiteX0" fmla="*/ 1340145 w 1375038"/>
                  <a:gd name="connsiteY0" fmla="*/ 912807 h 1772476"/>
                  <a:gd name="connsiteX1" fmla="*/ 1372088 w 1375038"/>
                  <a:gd name="connsiteY1" fmla="*/ 1067480 h 1772476"/>
                  <a:gd name="connsiteX2" fmla="*/ 1353034 w 1375038"/>
                  <a:gd name="connsiteY2" fmla="*/ 1121025 h 1772476"/>
                  <a:gd name="connsiteX3" fmla="*/ 1273915 w 1375038"/>
                  <a:gd name="connsiteY3" fmla="*/ 1166724 h 1772476"/>
                  <a:gd name="connsiteX4" fmla="*/ 500956 w 1375038"/>
                  <a:gd name="connsiteY4" fmla="*/ 1612963 h 1772476"/>
                  <a:gd name="connsiteX5" fmla="*/ 445119 w 1375038"/>
                  <a:gd name="connsiteY5" fmla="*/ 1645212 h 1772476"/>
                  <a:gd name="connsiteX6" fmla="*/ 224725 w 1375038"/>
                  <a:gd name="connsiteY6" fmla="*/ 1772476 h 1772476"/>
                  <a:gd name="connsiteX7" fmla="*/ 0 w 1375038"/>
                  <a:gd name="connsiteY7" fmla="*/ 886264 h 1772476"/>
                  <a:gd name="connsiteX8" fmla="*/ 224725 w 1375038"/>
                  <a:gd name="connsiteY8" fmla="*/ 0 h 1772476"/>
                  <a:gd name="connsiteX9" fmla="*/ 445119 w 1375038"/>
                  <a:gd name="connsiteY9" fmla="*/ 127264 h 1772476"/>
                  <a:gd name="connsiteX10" fmla="*/ 500956 w 1375038"/>
                  <a:gd name="connsiteY10" fmla="*/ 159513 h 1772476"/>
                  <a:gd name="connsiteX11" fmla="*/ 1273915 w 1375038"/>
                  <a:gd name="connsiteY11" fmla="*/ 605753 h 1772476"/>
                  <a:gd name="connsiteX12" fmla="*/ 1352729 w 1375038"/>
                  <a:gd name="connsiteY12" fmla="*/ 651248 h 1772476"/>
                  <a:gd name="connsiteX13" fmla="*/ 1372292 w 1375038"/>
                  <a:gd name="connsiteY13" fmla="*/ 704793 h 1772476"/>
                  <a:gd name="connsiteX14" fmla="*/ 1339941 w 1375038"/>
                  <a:gd name="connsiteY14" fmla="*/ 864662 h 1772476"/>
                  <a:gd name="connsiteX15" fmla="*/ 1339483 w 1375038"/>
                  <a:gd name="connsiteY15" fmla="*/ 886416 h 1772476"/>
                  <a:gd name="connsiteX16" fmla="*/ 1340145 w 1375038"/>
                  <a:gd name="connsiteY16" fmla="*/ 912756 h 177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75038" h="1772476">
                    <a:moveTo>
                      <a:pt x="1340145" y="912807"/>
                    </a:moveTo>
                    <a:cubicBezTo>
                      <a:pt x="1342845" y="967014"/>
                      <a:pt x="1353901" y="1018979"/>
                      <a:pt x="1372088" y="1067480"/>
                    </a:cubicBezTo>
                    <a:cubicBezTo>
                      <a:pt x="1379629" y="1087655"/>
                      <a:pt x="1371681" y="1110275"/>
                      <a:pt x="1353034" y="1121025"/>
                    </a:cubicBezTo>
                    <a:lnTo>
                      <a:pt x="1273915" y="1166724"/>
                    </a:lnTo>
                    <a:lnTo>
                      <a:pt x="500956" y="1612963"/>
                    </a:lnTo>
                    <a:lnTo>
                      <a:pt x="445119" y="1645212"/>
                    </a:lnTo>
                    <a:lnTo>
                      <a:pt x="224725" y="1772476"/>
                    </a:lnTo>
                    <a:cubicBezTo>
                      <a:pt x="81412" y="1509134"/>
                      <a:pt x="0" y="1207226"/>
                      <a:pt x="0" y="886264"/>
                    </a:cubicBezTo>
                    <a:cubicBezTo>
                      <a:pt x="0" y="565301"/>
                      <a:pt x="81412" y="263393"/>
                      <a:pt x="224725" y="0"/>
                    </a:cubicBezTo>
                    <a:lnTo>
                      <a:pt x="445119" y="127264"/>
                    </a:lnTo>
                    <a:lnTo>
                      <a:pt x="500956" y="159513"/>
                    </a:lnTo>
                    <a:lnTo>
                      <a:pt x="1273915" y="605753"/>
                    </a:lnTo>
                    <a:lnTo>
                      <a:pt x="1352729" y="651248"/>
                    </a:lnTo>
                    <a:cubicBezTo>
                      <a:pt x="1371375" y="661998"/>
                      <a:pt x="1379832" y="684669"/>
                      <a:pt x="1372292" y="704793"/>
                    </a:cubicBezTo>
                    <a:cubicBezTo>
                      <a:pt x="1353493" y="754873"/>
                      <a:pt x="1342234" y="808621"/>
                      <a:pt x="1339941" y="864662"/>
                    </a:cubicBezTo>
                    <a:cubicBezTo>
                      <a:pt x="1339636" y="871897"/>
                      <a:pt x="1339483" y="879131"/>
                      <a:pt x="1339483" y="886416"/>
                    </a:cubicBezTo>
                    <a:cubicBezTo>
                      <a:pt x="1339483" y="895230"/>
                      <a:pt x="1339687" y="904044"/>
                      <a:pt x="1340145" y="912756"/>
                    </a:cubicBezTo>
                    <a:close/>
                  </a:path>
                </a:pathLst>
              </a:custGeom>
              <a:solidFill>
                <a:schemeClr val="lt1"/>
              </a:solidFill>
              <a:ln w="3371" cap="flat">
                <a:noFill/>
                <a:prstDash val="solid"/>
                <a:miter/>
              </a:ln>
              <a:effectLst>
                <a:outerShdw blurRad="520700" dist="152400" dir="5400000" algn="t" rotWithShape="0">
                  <a:schemeClr val="accent1">
                    <a:alpha val="4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IN" sz="1050"/>
              </a:p>
            </p:txBody>
          </p:sp>
          <p:sp>
            <p:nvSpPr>
              <p:cNvPr id="90" name="Freeform: Shape 9">
                <a:extLst>
                  <a:ext uri="{FF2B5EF4-FFF2-40B4-BE49-F238E27FC236}">
                    <a16:creationId xmlns:a16="http://schemas.microsoft.com/office/drawing/2014/main" xmlns="" id="{6D3ED5F1-F3BD-ECBB-5AF6-D396CED346F4}"/>
                  </a:ext>
                </a:extLst>
              </p:cNvPr>
              <p:cNvSpPr/>
              <p:nvPr/>
            </p:nvSpPr>
            <p:spPr>
              <a:xfrm rot="14301398">
                <a:off x="3502430" y="3329562"/>
                <a:ext cx="1340152" cy="897590"/>
              </a:xfrm>
              <a:custGeom>
                <a:avLst/>
                <a:gdLst>
                  <a:gd name="connsiteX0" fmla="*/ 1535474 w 1566036"/>
                  <a:gd name="connsiteY0" fmla="*/ 947402 h 947707"/>
                  <a:gd name="connsiteX1" fmla="*/ 1534913 w 1566036"/>
                  <a:gd name="connsiteY1" fmla="*/ 947708 h 947707"/>
                  <a:gd name="connsiteX2" fmla="*/ 0 w 1566036"/>
                  <a:gd name="connsiteY2" fmla="*/ 61801 h 947707"/>
                  <a:gd name="connsiteX3" fmla="*/ 0 w 1566036"/>
                  <a:gd name="connsiteY3" fmla="*/ 61139 h 947707"/>
                  <a:gd name="connsiteX4" fmla="*/ 64600 w 1566036"/>
                  <a:gd name="connsiteY4" fmla="*/ 105 h 947707"/>
                  <a:gd name="connsiteX5" fmla="*/ 1555903 w 1566036"/>
                  <a:gd name="connsiteY5" fmla="*/ 860844 h 947707"/>
                  <a:gd name="connsiteX6" fmla="*/ 1535474 w 1566036"/>
                  <a:gd name="connsiteY6" fmla="*/ 947453 h 947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66036" h="947707">
                    <a:moveTo>
                      <a:pt x="1535474" y="947402"/>
                    </a:moveTo>
                    <a:lnTo>
                      <a:pt x="1534913" y="947708"/>
                    </a:lnTo>
                    <a:cubicBezTo>
                      <a:pt x="1216243" y="428819"/>
                      <a:pt x="649618" y="78460"/>
                      <a:pt x="0" y="61801"/>
                    </a:cubicBezTo>
                    <a:lnTo>
                      <a:pt x="0" y="61139"/>
                    </a:lnTo>
                    <a:cubicBezTo>
                      <a:pt x="0" y="26036"/>
                      <a:pt x="29549" y="-1933"/>
                      <a:pt x="64600" y="105"/>
                    </a:cubicBezTo>
                    <a:cubicBezTo>
                      <a:pt x="687980" y="36328"/>
                      <a:pt x="1231629" y="369772"/>
                      <a:pt x="1555903" y="860844"/>
                    </a:cubicBezTo>
                    <a:cubicBezTo>
                      <a:pt x="1575313" y="890189"/>
                      <a:pt x="1565939" y="929877"/>
                      <a:pt x="1535474" y="947453"/>
                    </a:cubicBezTo>
                    <a:close/>
                  </a:path>
                </a:pathLst>
              </a:custGeom>
              <a:solidFill>
                <a:srgbClr val="431C31">
                  <a:alpha val="99000"/>
                </a:srgbClr>
              </a:solidFill>
              <a:ln w="3371" cap="flat">
                <a:solidFill>
                  <a:srgbClr val="431C3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 dirty="0"/>
              </a:p>
            </p:txBody>
          </p:sp>
          <p:sp>
            <p:nvSpPr>
              <p:cNvPr id="92" name="Freeform: Shape 18">
                <a:extLst>
                  <a:ext uri="{FF2B5EF4-FFF2-40B4-BE49-F238E27FC236}">
                    <a16:creationId xmlns:a16="http://schemas.microsoft.com/office/drawing/2014/main" xmlns="" id="{866FDFE7-19BE-F52B-AAD9-F2A2D764D308}"/>
                  </a:ext>
                </a:extLst>
              </p:cNvPr>
              <p:cNvSpPr/>
              <p:nvPr/>
            </p:nvSpPr>
            <p:spPr>
              <a:xfrm rot="14139153">
                <a:off x="5280320" y="3554039"/>
                <a:ext cx="415706" cy="317287"/>
              </a:xfrm>
              <a:custGeom>
                <a:avLst/>
                <a:gdLst>
                  <a:gd name="connsiteX0" fmla="*/ 485774 w 485773"/>
                  <a:gd name="connsiteY0" fmla="*/ 283279 h 335002"/>
                  <a:gd name="connsiteX1" fmla="*/ 406145 w 485773"/>
                  <a:gd name="connsiteY1" fmla="*/ 329233 h 335002"/>
                  <a:gd name="connsiteX2" fmla="*/ 350562 w 485773"/>
                  <a:gd name="connsiteY2" fmla="*/ 318840 h 335002"/>
                  <a:gd name="connsiteX3" fmla="*/ 230889 w 485773"/>
                  <a:gd name="connsiteY3" fmla="*/ 212566 h 335002"/>
                  <a:gd name="connsiteX4" fmla="*/ 187483 w 485773"/>
                  <a:gd name="connsiteY4" fmla="*/ 187551 h 335002"/>
                  <a:gd name="connsiteX5" fmla="*/ 37191 w 485773"/>
                  <a:gd name="connsiteY5" fmla="*/ 137776 h 335002"/>
                  <a:gd name="connsiteX6" fmla="*/ 0 w 485773"/>
                  <a:gd name="connsiteY6" fmla="*/ 94421 h 335002"/>
                  <a:gd name="connsiteX7" fmla="*/ 0 w 485773"/>
                  <a:gd name="connsiteY7" fmla="*/ 2768 h 335002"/>
                  <a:gd name="connsiteX8" fmla="*/ 164047 w 485773"/>
                  <a:gd name="connsiteY8" fmla="*/ 36750 h 335002"/>
                  <a:gd name="connsiteX9" fmla="*/ 297068 w 485773"/>
                  <a:gd name="connsiteY9" fmla="*/ 1138 h 335002"/>
                  <a:gd name="connsiteX10" fmla="*/ 337520 w 485773"/>
                  <a:gd name="connsiteY10" fmla="*/ 24472 h 335002"/>
                  <a:gd name="connsiteX11" fmla="*/ 373080 w 485773"/>
                  <a:gd name="connsiteY11" fmla="*/ 157340 h 335002"/>
                  <a:gd name="connsiteX12" fmla="*/ 373080 w 485773"/>
                  <a:gd name="connsiteY12" fmla="*/ 157340 h 335002"/>
                  <a:gd name="connsiteX13" fmla="*/ 485723 w 485773"/>
                  <a:gd name="connsiteY13" fmla="*/ 283228 h 335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5773" h="335002">
                    <a:moveTo>
                      <a:pt x="485774" y="283279"/>
                    </a:moveTo>
                    <a:lnTo>
                      <a:pt x="406145" y="329233"/>
                    </a:lnTo>
                    <a:cubicBezTo>
                      <a:pt x="387600" y="339932"/>
                      <a:pt x="364216" y="335346"/>
                      <a:pt x="350562" y="318840"/>
                    </a:cubicBezTo>
                    <a:cubicBezTo>
                      <a:pt x="316479" y="277522"/>
                      <a:pt x="276078" y="241605"/>
                      <a:pt x="230889" y="212566"/>
                    </a:cubicBezTo>
                    <a:cubicBezTo>
                      <a:pt x="216879" y="203548"/>
                      <a:pt x="202359" y="195193"/>
                      <a:pt x="187483" y="187551"/>
                    </a:cubicBezTo>
                    <a:cubicBezTo>
                      <a:pt x="141020" y="163708"/>
                      <a:pt x="90481" y="146641"/>
                      <a:pt x="37191" y="137776"/>
                    </a:cubicBezTo>
                    <a:cubicBezTo>
                      <a:pt x="15844" y="134210"/>
                      <a:pt x="0" y="116073"/>
                      <a:pt x="0" y="94421"/>
                    </a:cubicBezTo>
                    <a:lnTo>
                      <a:pt x="0" y="2768"/>
                    </a:lnTo>
                    <a:cubicBezTo>
                      <a:pt x="57060" y="6997"/>
                      <a:pt x="112082" y="18664"/>
                      <a:pt x="164047" y="36750"/>
                    </a:cubicBezTo>
                    <a:lnTo>
                      <a:pt x="297068" y="1138"/>
                    </a:lnTo>
                    <a:cubicBezTo>
                      <a:pt x="314696" y="-3600"/>
                      <a:pt x="332782" y="6895"/>
                      <a:pt x="337520" y="24472"/>
                    </a:cubicBezTo>
                    <a:lnTo>
                      <a:pt x="373080" y="157340"/>
                    </a:lnTo>
                    <a:lnTo>
                      <a:pt x="373080" y="157340"/>
                    </a:lnTo>
                    <a:cubicBezTo>
                      <a:pt x="415875" y="194174"/>
                      <a:pt x="453779" y="236459"/>
                      <a:pt x="485723" y="283228"/>
                    </a:cubicBezTo>
                    <a:close/>
                  </a:path>
                </a:pathLst>
              </a:custGeom>
              <a:solidFill>
                <a:srgbClr val="431C31"/>
              </a:solidFill>
              <a:ln w="3371" cap="flat">
                <a:solidFill>
                  <a:srgbClr val="431C3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IN" sz="1050"/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885663" y="3540576"/>
              <a:ext cx="30444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1519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Cas d'étude : Exemple Linux</a:t>
              </a:r>
              <a:endParaRPr lang="fr-MA" b="1" dirty="0">
                <a:solidFill>
                  <a:srgbClr val="15193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89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628269" y="2321004"/>
            <a:ext cx="893545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800" dirty="0" smtClean="0">
                <a:solidFill>
                  <a:srgbClr val="1519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MA" sz="13800" dirty="0">
              <a:solidFill>
                <a:srgbClr val="1519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3777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Partie 1</a:t>
            </a:r>
            <a:endParaRPr lang="fr-M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7165" y="1882708"/>
            <a:ext cx="110171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système d’exploitation ou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pour Operating System, définit un ensemble de programmes chargé d'établir une relation entre les différentes ressources matérielles, les applications et l'utilisateur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FR" dirty="0"/>
          </a:p>
          <a:p>
            <a:endParaRPr lang="fr-MA" dirty="0" smtClean="0"/>
          </a:p>
          <a:p>
            <a:endParaRPr lang="fr-MA" dirty="0"/>
          </a:p>
        </p:txBody>
      </p:sp>
      <p:grpSp>
        <p:nvGrpSpPr>
          <p:cNvPr id="21" name="Group 20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2" name="Group 31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33" name="Rounded Rectangle 32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513085" y="601248"/>
            <a:ext cx="7345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Généralités sur le système d’exploitation:</a:t>
            </a:r>
            <a:endParaRPr lang="fr-MA" sz="3200" dirty="0">
              <a:solidFill>
                <a:srgbClr val="3E5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03600" y="1243355"/>
            <a:ext cx="2917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Définition d’un SE: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Système d'exploi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44" y="3990805"/>
            <a:ext cx="2453208" cy="1528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Les systèmes d'exploitation — Wikiliv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277" y="3289604"/>
            <a:ext cx="2145888" cy="317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80787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1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7" name="Group 26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8" name="Rounded Rectangle 27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403600" y="1243355"/>
            <a:ext cx="782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du SE dans le fonctionnement des ordinateurs: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022267" y="2587106"/>
            <a:ext cx="5139859" cy="693313"/>
            <a:chOff x="2022267" y="2587106"/>
            <a:chExt cx="5139859" cy="693313"/>
          </a:xfrm>
        </p:grpSpPr>
        <p:sp>
          <p:nvSpPr>
            <p:cNvPr id="36" name="TextBox 35"/>
            <p:cNvSpPr txBox="1"/>
            <p:nvPr/>
          </p:nvSpPr>
          <p:spPr>
            <a:xfrm>
              <a:off x="3155901" y="2634088"/>
              <a:ext cx="40062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 de la mémoire vive et processeur</a:t>
              </a:r>
            </a:p>
            <a:p>
              <a:endParaRPr lang="fr-MA" dirty="0"/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2022267" y="2587106"/>
              <a:ext cx="973952" cy="466219"/>
              <a:chOff x="2022267" y="2587106"/>
              <a:chExt cx="973952" cy="466219"/>
            </a:xfrm>
          </p:grpSpPr>
          <p:sp>
            <p:nvSpPr>
              <p:cNvPr id="34" name="Chevron 33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Chevron 40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2022267" y="3187092"/>
            <a:ext cx="2988056" cy="548743"/>
            <a:chOff x="2022267" y="3187092"/>
            <a:chExt cx="2988056" cy="548743"/>
          </a:xfrm>
        </p:grpSpPr>
        <p:sp>
          <p:nvSpPr>
            <p:cNvPr id="37" name="Rectangle 36"/>
            <p:cNvSpPr/>
            <p:nvPr/>
          </p:nvSpPr>
          <p:spPr>
            <a:xfrm>
              <a:off x="3158534" y="3187092"/>
              <a:ext cx="1851789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des droits</a:t>
              </a:r>
              <a:endParaRPr lang="fr-F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2022267" y="3269616"/>
              <a:ext cx="973952" cy="466219"/>
              <a:chOff x="2022267" y="2587106"/>
              <a:chExt cx="973952" cy="466219"/>
            </a:xfrm>
          </p:grpSpPr>
          <p:sp>
            <p:nvSpPr>
              <p:cNvPr id="45" name="Chevron 44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Chevron 45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2022267" y="3831993"/>
            <a:ext cx="3780512" cy="507010"/>
            <a:chOff x="2022267" y="3831993"/>
            <a:chExt cx="3780512" cy="507010"/>
          </a:xfrm>
        </p:grpSpPr>
        <p:sp>
          <p:nvSpPr>
            <p:cNvPr id="38" name="Rectangle 37"/>
            <p:cNvSpPr/>
            <p:nvPr/>
          </p:nvSpPr>
          <p:spPr>
            <a:xfrm>
              <a:off x="3155901" y="3831993"/>
              <a:ext cx="2646878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des entrées/sorties</a:t>
              </a: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2022267" y="3872784"/>
              <a:ext cx="973952" cy="466219"/>
              <a:chOff x="2022267" y="2587106"/>
              <a:chExt cx="973952" cy="466219"/>
            </a:xfrm>
          </p:grpSpPr>
          <p:sp>
            <p:nvSpPr>
              <p:cNvPr id="48" name="Chevron 47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Chevron 48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2022267" y="4476894"/>
            <a:ext cx="3030307" cy="504324"/>
            <a:chOff x="2022267" y="4476894"/>
            <a:chExt cx="3030307" cy="504324"/>
          </a:xfrm>
        </p:grpSpPr>
        <p:sp>
          <p:nvSpPr>
            <p:cNvPr id="39" name="Rectangle 38"/>
            <p:cNvSpPr/>
            <p:nvPr/>
          </p:nvSpPr>
          <p:spPr>
            <a:xfrm>
              <a:off x="3155901" y="4476894"/>
              <a:ext cx="1896673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du réseau </a:t>
              </a:r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2022267" y="4514999"/>
              <a:ext cx="973952" cy="466219"/>
              <a:chOff x="2022267" y="2587106"/>
              <a:chExt cx="973952" cy="466219"/>
            </a:xfrm>
          </p:grpSpPr>
          <p:sp>
            <p:nvSpPr>
              <p:cNvPr id="51" name="Chevron 50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Chevron 51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2040799" y="5125490"/>
            <a:ext cx="3678624" cy="530556"/>
            <a:chOff x="2040799" y="5125490"/>
            <a:chExt cx="3678624" cy="530556"/>
          </a:xfrm>
        </p:grpSpPr>
        <p:sp>
          <p:nvSpPr>
            <p:cNvPr id="40" name="Rectangle 39"/>
            <p:cNvSpPr/>
            <p:nvPr/>
          </p:nvSpPr>
          <p:spPr>
            <a:xfrm>
              <a:off x="3155901" y="5125490"/>
              <a:ext cx="2563522" cy="4580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des informations.</a:t>
              </a:r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2040799" y="5189827"/>
              <a:ext cx="973952" cy="466219"/>
              <a:chOff x="2022267" y="2587106"/>
              <a:chExt cx="973952" cy="466219"/>
            </a:xfrm>
          </p:grpSpPr>
          <p:sp>
            <p:nvSpPr>
              <p:cNvPr id="54" name="Chevron 53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Chevron 54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solidFill>
                <a:srgbClr val="F0DAC3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46227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2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7773" y="2076951"/>
            <a:ext cx="96341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est essentiellement une instance en cours d'exécution d'un programme informatique.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représente l'exécution séquentielle d'un ensemble d'instructions par le processeur d'un ordinateur.</a:t>
            </a:r>
          </a:p>
          <a:p>
            <a:pPr algn="just">
              <a:lnSpc>
                <a:spcPct val="15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 smtClean="0"/>
          </a:p>
          <a:p>
            <a:endParaRPr lang="fr-MA" dirty="0"/>
          </a:p>
        </p:txBody>
      </p:sp>
      <p:grpSp>
        <p:nvGrpSpPr>
          <p:cNvPr id="17" name="Group 16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7" name="Group 26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8" name="Rounded Rectangle 27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513085" y="601248"/>
            <a:ext cx="5498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</a:t>
            </a:r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3200" dirty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processus et leur </a:t>
            </a:r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</a:t>
            </a:r>
            <a:r>
              <a:rPr lang="fr-MA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dirty="0">
              <a:solidFill>
                <a:srgbClr val="3E5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03600" y="1243355"/>
            <a:ext cx="5888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et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des processus: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248154" y="3399752"/>
            <a:ext cx="5679946" cy="3091111"/>
            <a:chOff x="3248154" y="3399752"/>
            <a:chExt cx="5679946" cy="3091111"/>
          </a:xfrm>
        </p:grpSpPr>
        <p:pic>
          <p:nvPicPr>
            <p:cNvPr id="10" name="Image 2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8154" y="3399752"/>
              <a:ext cx="5679946" cy="2386328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4915826" y="5844532"/>
              <a:ext cx="18582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Diagramme d’état</a:t>
              </a:r>
            </a:p>
            <a:p>
              <a:endParaRPr lang="fr-MA" dirty="0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6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15923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7119459" y="2282702"/>
            <a:ext cx="3156587" cy="3047715"/>
            <a:chOff x="7119459" y="2282702"/>
            <a:chExt cx="3156587" cy="3047715"/>
          </a:xfrm>
        </p:grpSpPr>
        <p:sp>
          <p:nvSpPr>
            <p:cNvPr id="5" name="Rectangle: Rounded Corners 6">
              <a:extLst>
                <a:ext uri="{FF2B5EF4-FFF2-40B4-BE49-F238E27FC236}">
                  <a16:creationId xmlns="" xmlns:a16="http://schemas.microsoft.com/office/drawing/2014/main" id="{50A3BA00-6DE6-B677-98CC-F7901C401849}"/>
                </a:ext>
              </a:extLst>
            </p:cNvPr>
            <p:cNvSpPr/>
            <p:nvPr/>
          </p:nvSpPr>
          <p:spPr>
            <a:xfrm>
              <a:off x="8408509" y="2282934"/>
              <a:ext cx="1130799" cy="496922"/>
            </a:xfrm>
            <a:prstGeom prst="roundRect">
              <a:avLst>
                <a:gd name="adj" fmla="val 30585"/>
              </a:avLst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6" name="Rectangle: Rounded Corners 76">
              <a:extLst>
                <a:ext uri="{FF2B5EF4-FFF2-40B4-BE49-F238E27FC236}">
                  <a16:creationId xmlns="" xmlns:a16="http://schemas.microsoft.com/office/drawing/2014/main" id="{2CF26BFD-FD13-B5E6-4F8C-9078C21CB7C0}"/>
                </a:ext>
              </a:extLst>
            </p:cNvPr>
            <p:cNvSpPr/>
            <p:nvPr/>
          </p:nvSpPr>
          <p:spPr>
            <a:xfrm>
              <a:off x="8876253" y="2761720"/>
              <a:ext cx="226269" cy="2568697"/>
            </a:xfrm>
            <a:prstGeom prst="roundRect">
              <a:avLst>
                <a:gd name="adj" fmla="val 50000"/>
              </a:avLst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grpSp>
          <p:nvGrpSpPr>
            <p:cNvPr id="13" name="Graphic 8">
              <a:extLst>
                <a:ext uri="{FF2B5EF4-FFF2-40B4-BE49-F238E27FC236}">
                  <a16:creationId xmlns="" xmlns:a16="http://schemas.microsoft.com/office/drawing/2014/main" id="{90A354A9-1B63-1239-FEE9-9AD6FD304A36}"/>
                </a:ext>
              </a:extLst>
            </p:cNvPr>
            <p:cNvGrpSpPr/>
            <p:nvPr/>
          </p:nvGrpSpPr>
          <p:grpSpPr>
            <a:xfrm>
              <a:off x="7119459" y="3985190"/>
              <a:ext cx="429706" cy="320902"/>
              <a:chOff x="6565582" y="4245387"/>
              <a:chExt cx="569975" cy="403193"/>
            </a:xfrm>
            <a:solidFill>
              <a:schemeClr val="bg1">
                <a:lumMod val="85000"/>
              </a:schemeClr>
            </a:solidFill>
          </p:grpSpPr>
          <p:sp>
            <p:nvSpPr>
              <p:cNvPr id="14" name="Freeform: Shape 14">
                <a:extLst>
                  <a:ext uri="{FF2B5EF4-FFF2-40B4-BE49-F238E27FC236}">
                    <a16:creationId xmlns="" xmlns:a16="http://schemas.microsoft.com/office/drawing/2014/main" id="{A1439060-0348-B935-E216-CE91F50E23C5}"/>
                  </a:ext>
                </a:extLst>
              </p:cNvPr>
              <p:cNvSpPr/>
              <p:nvPr/>
            </p:nvSpPr>
            <p:spPr>
              <a:xfrm>
                <a:off x="6868572" y="4245387"/>
                <a:ext cx="266985" cy="403193"/>
              </a:xfrm>
              <a:custGeom>
                <a:avLst/>
                <a:gdLst>
                  <a:gd name="connsiteX0" fmla="*/ 65437 w 266985"/>
                  <a:gd name="connsiteY0" fmla="*/ 0 h 403193"/>
                  <a:gd name="connsiteX1" fmla="*/ 0 w 266985"/>
                  <a:gd name="connsiteY1" fmla="*/ 65342 h 403193"/>
                  <a:gd name="connsiteX2" fmla="*/ 136303 w 266985"/>
                  <a:gd name="connsiteY2" fmla="*/ 201549 h 403193"/>
                  <a:gd name="connsiteX3" fmla="*/ 0 w 266985"/>
                  <a:gd name="connsiteY3" fmla="*/ 337852 h 403193"/>
                  <a:gd name="connsiteX4" fmla="*/ 65437 w 266985"/>
                  <a:gd name="connsiteY4" fmla="*/ 403193 h 403193"/>
                  <a:gd name="connsiteX5" fmla="*/ 266986 w 266985"/>
                  <a:gd name="connsiteY5" fmla="*/ 201549 h 403193"/>
                  <a:gd name="connsiteX6" fmla="*/ 65437 w 266985"/>
                  <a:gd name="connsiteY6" fmla="*/ 0 h 403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985" h="403193">
                    <a:moveTo>
                      <a:pt x="65437" y="0"/>
                    </a:moveTo>
                    <a:lnTo>
                      <a:pt x="0" y="65342"/>
                    </a:lnTo>
                    <a:lnTo>
                      <a:pt x="136303" y="201549"/>
                    </a:lnTo>
                    <a:lnTo>
                      <a:pt x="0" y="337852"/>
                    </a:lnTo>
                    <a:lnTo>
                      <a:pt x="65437" y="403193"/>
                    </a:lnTo>
                    <a:lnTo>
                      <a:pt x="266986" y="201549"/>
                    </a:lnTo>
                    <a:lnTo>
                      <a:pt x="6543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" name="Freeform: Shape 15">
                <a:extLst>
                  <a:ext uri="{FF2B5EF4-FFF2-40B4-BE49-F238E27FC236}">
                    <a16:creationId xmlns="" xmlns:a16="http://schemas.microsoft.com/office/drawing/2014/main" id="{DFE30771-8168-5987-7BD3-0009DB542E7C}"/>
                  </a:ext>
                </a:extLst>
              </p:cNvPr>
              <p:cNvSpPr/>
              <p:nvPr/>
            </p:nvSpPr>
            <p:spPr>
              <a:xfrm>
                <a:off x="6565582" y="4245387"/>
                <a:ext cx="266890" cy="403193"/>
              </a:xfrm>
              <a:custGeom>
                <a:avLst/>
                <a:gdLst>
                  <a:gd name="connsiteX0" fmla="*/ 65342 w 266890"/>
                  <a:gd name="connsiteY0" fmla="*/ 0 h 403193"/>
                  <a:gd name="connsiteX1" fmla="*/ 0 w 266890"/>
                  <a:gd name="connsiteY1" fmla="*/ 65342 h 403193"/>
                  <a:gd name="connsiteX2" fmla="*/ 136208 w 266890"/>
                  <a:gd name="connsiteY2" fmla="*/ 201549 h 403193"/>
                  <a:gd name="connsiteX3" fmla="*/ 0 w 266890"/>
                  <a:gd name="connsiteY3" fmla="*/ 337852 h 403193"/>
                  <a:gd name="connsiteX4" fmla="*/ 65342 w 266890"/>
                  <a:gd name="connsiteY4" fmla="*/ 403193 h 403193"/>
                  <a:gd name="connsiteX5" fmla="*/ 266891 w 266890"/>
                  <a:gd name="connsiteY5" fmla="*/ 201549 h 403193"/>
                  <a:gd name="connsiteX6" fmla="*/ 65342 w 266890"/>
                  <a:gd name="connsiteY6" fmla="*/ 0 h 403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890" h="403193">
                    <a:moveTo>
                      <a:pt x="65342" y="0"/>
                    </a:moveTo>
                    <a:lnTo>
                      <a:pt x="0" y="65342"/>
                    </a:lnTo>
                    <a:lnTo>
                      <a:pt x="136208" y="201549"/>
                    </a:lnTo>
                    <a:lnTo>
                      <a:pt x="0" y="337852"/>
                    </a:lnTo>
                    <a:lnTo>
                      <a:pt x="65342" y="403193"/>
                    </a:lnTo>
                    <a:lnTo>
                      <a:pt x="266891" y="201549"/>
                    </a:lnTo>
                    <a:lnTo>
                      <a:pt x="6534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31" name="Rectangle: Rounded Corners 26">
              <a:extLst>
                <a:ext uri="{FF2B5EF4-FFF2-40B4-BE49-F238E27FC236}">
                  <a16:creationId xmlns="" xmlns:a16="http://schemas.microsoft.com/office/drawing/2014/main" id="{F763F640-9175-639D-4E72-EE8BD0DB5974}"/>
                </a:ext>
              </a:extLst>
            </p:cNvPr>
            <p:cNvSpPr/>
            <p:nvPr/>
          </p:nvSpPr>
          <p:spPr>
            <a:xfrm>
              <a:off x="7671770" y="2600426"/>
              <a:ext cx="2604276" cy="76998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ectangle: Rounded Corners 27">
              <a:extLst>
                <a:ext uri="{FF2B5EF4-FFF2-40B4-BE49-F238E27FC236}">
                  <a16:creationId xmlns="" xmlns:a16="http://schemas.microsoft.com/office/drawing/2014/main" id="{FE92C0C8-9C1F-CDD8-E7C7-231546251B57}"/>
                </a:ext>
              </a:extLst>
            </p:cNvPr>
            <p:cNvSpPr/>
            <p:nvPr/>
          </p:nvSpPr>
          <p:spPr>
            <a:xfrm>
              <a:off x="7671770" y="3552391"/>
              <a:ext cx="2604276" cy="76998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: Rounded Corners 28">
              <a:extLst>
                <a:ext uri="{FF2B5EF4-FFF2-40B4-BE49-F238E27FC236}">
                  <a16:creationId xmlns="" xmlns:a16="http://schemas.microsoft.com/office/drawing/2014/main" id="{A0787F9F-1CB7-A324-73EB-94AADC581A7A}"/>
                </a:ext>
              </a:extLst>
            </p:cNvPr>
            <p:cNvSpPr/>
            <p:nvPr/>
          </p:nvSpPr>
          <p:spPr>
            <a:xfrm>
              <a:off x="7671770" y="4560436"/>
              <a:ext cx="2604276" cy="76998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8250D3E0-1AF5-6E04-6851-D93DD22244AC}"/>
                </a:ext>
              </a:extLst>
            </p:cNvPr>
            <p:cNvSpPr txBox="1"/>
            <p:nvPr/>
          </p:nvSpPr>
          <p:spPr>
            <a:xfrm>
              <a:off x="8395471" y="2282702"/>
              <a:ext cx="12170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600" dirty="0" smtClean="0"/>
                <a:t>Dynamiques</a:t>
              </a:r>
              <a:endParaRPr lang="en-US" sz="16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811156" y="4847736"/>
              <a:ext cx="2130194" cy="240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Quantité de ressources consommées</a:t>
              </a:r>
              <a:endParaRPr lang="fr-MA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111009" y="3773894"/>
              <a:ext cx="1617568" cy="240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Environnement d’exécution</a:t>
              </a:r>
              <a:endParaRPr lang="fr-MA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658995" y="2841927"/>
              <a:ext cx="575336" cy="2402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Priorité</a:t>
              </a:r>
              <a:endParaRPr lang="fr-MA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419304" y="2282934"/>
            <a:ext cx="3271366" cy="4055529"/>
            <a:chOff x="2419304" y="2282934"/>
            <a:chExt cx="3271366" cy="4055529"/>
          </a:xfrm>
        </p:grpSpPr>
        <p:grpSp>
          <p:nvGrpSpPr>
            <p:cNvPr id="10" name="Graphic 8">
              <a:extLst>
                <a:ext uri="{FF2B5EF4-FFF2-40B4-BE49-F238E27FC236}">
                  <a16:creationId xmlns="" xmlns:a16="http://schemas.microsoft.com/office/drawing/2014/main" id="{83FD9592-2481-EDF3-1151-77F9DBD53C8E}"/>
                </a:ext>
              </a:extLst>
            </p:cNvPr>
            <p:cNvGrpSpPr/>
            <p:nvPr/>
          </p:nvGrpSpPr>
          <p:grpSpPr>
            <a:xfrm>
              <a:off x="5260891" y="3985190"/>
              <a:ext cx="429779" cy="320902"/>
              <a:chOff x="5053012" y="2205037"/>
              <a:chExt cx="570071" cy="403193"/>
            </a:xfrm>
            <a:solidFill>
              <a:schemeClr val="bg1">
                <a:lumMod val="85000"/>
              </a:schemeClr>
            </a:solidFill>
          </p:grpSpPr>
          <p:sp>
            <p:nvSpPr>
              <p:cNvPr id="11" name="Freeform: Shape 11">
                <a:extLst>
                  <a:ext uri="{FF2B5EF4-FFF2-40B4-BE49-F238E27FC236}">
                    <a16:creationId xmlns="" xmlns:a16="http://schemas.microsoft.com/office/drawing/2014/main" id="{E55CA300-5E00-744A-F214-E7B964A3B713}"/>
                  </a:ext>
                </a:extLst>
              </p:cNvPr>
              <p:cNvSpPr/>
              <p:nvPr/>
            </p:nvSpPr>
            <p:spPr>
              <a:xfrm>
                <a:off x="5053012" y="2205037"/>
                <a:ext cx="266985" cy="403193"/>
              </a:xfrm>
              <a:custGeom>
                <a:avLst/>
                <a:gdLst>
                  <a:gd name="connsiteX0" fmla="*/ 201549 w 266985"/>
                  <a:gd name="connsiteY0" fmla="*/ 0 h 403193"/>
                  <a:gd name="connsiteX1" fmla="*/ 266986 w 266985"/>
                  <a:gd name="connsiteY1" fmla="*/ 65342 h 403193"/>
                  <a:gd name="connsiteX2" fmla="*/ 130683 w 266985"/>
                  <a:gd name="connsiteY2" fmla="*/ 201549 h 403193"/>
                  <a:gd name="connsiteX3" fmla="*/ 266986 w 266985"/>
                  <a:gd name="connsiteY3" fmla="*/ 337852 h 403193"/>
                  <a:gd name="connsiteX4" fmla="*/ 201549 w 266985"/>
                  <a:gd name="connsiteY4" fmla="*/ 403193 h 403193"/>
                  <a:gd name="connsiteX5" fmla="*/ 0 w 266985"/>
                  <a:gd name="connsiteY5" fmla="*/ 201549 h 403193"/>
                  <a:gd name="connsiteX6" fmla="*/ 201549 w 266985"/>
                  <a:gd name="connsiteY6" fmla="*/ 0 h 403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985" h="403193">
                    <a:moveTo>
                      <a:pt x="201549" y="0"/>
                    </a:moveTo>
                    <a:lnTo>
                      <a:pt x="266986" y="65342"/>
                    </a:lnTo>
                    <a:lnTo>
                      <a:pt x="130683" y="201549"/>
                    </a:lnTo>
                    <a:lnTo>
                      <a:pt x="266986" y="337852"/>
                    </a:lnTo>
                    <a:lnTo>
                      <a:pt x="201549" y="403193"/>
                    </a:lnTo>
                    <a:lnTo>
                      <a:pt x="0" y="201549"/>
                    </a:lnTo>
                    <a:lnTo>
                      <a:pt x="20154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2">
                <a:extLst>
                  <a:ext uri="{FF2B5EF4-FFF2-40B4-BE49-F238E27FC236}">
                    <a16:creationId xmlns="" xmlns:a16="http://schemas.microsoft.com/office/drawing/2014/main" id="{5A307E6D-FC25-5942-2972-192F6F2D719C}"/>
                  </a:ext>
                </a:extLst>
              </p:cNvPr>
              <p:cNvSpPr/>
              <p:nvPr/>
            </p:nvSpPr>
            <p:spPr>
              <a:xfrm>
                <a:off x="5356097" y="2205037"/>
                <a:ext cx="266985" cy="403193"/>
              </a:xfrm>
              <a:custGeom>
                <a:avLst/>
                <a:gdLst>
                  <a:gd name="connsiteX0" fmla="*/ 201549 w 266985"/>
                  <a:gd name="connsiteY0" fmla="*/ 0 h 403193"/>
                  <a:gd name="connsiteX1" fmla="*/ 266986 w 266985"/>
                  <a:gd name="connsiteY1" fmla="*/ 65342 h 403193"/>
                  <a:gd name="connsiteX2" fmla="*/ 130683 w 266985"/>
                  <a:gd name="connsiteY2" fmla="*/ 201549 h 403193"/>
                  <a:gd name="connsiteX3" fmla="*/ 266986 w 266985"/>
                  <a:gd name="connsiteY3" fmla="*/ 337852 h 403193"/>
                  <a:gd name="connsiteX4" fmla="*/ 201549 w 266985"/>
                  <a:gd name="connsiteY4" fmla="*/ 403193 h 403193"/>
                  <a:gd name="connsiteX5" fmla="*/ 0 w 266985"/>
                  <a:gd name="connsiteY5" fmla="*/ 201549 h 403193"/>
                  <a:gd name="connsiteX6" fmla="*/ 201549 w 266985"/>
                  <a:gd name="connsiteY6" fmla="*/ 0 h 403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6985" h="403193">
                    <a:moveTo>
                      <a:pt x="201549" y="0"/>
                    </a:moveTo>
                    <a:lnTo>
                      <a:pt x="266986" y="65342"/>
                    </a:lnTo>
                    <a:lnTo>
                      <a:pt x="130683" y="201549"/>
                    </a:lnTo>
                    <a:lnTo>
                      <a:pt x="266986" y="337852"/>
                    </a:lnTo>
                    <a:lnTo>
                      <a:pt x="201549" y="403193"/>
                    </a:lnTo>
                    <a:lnTo>
                      <a:pt x="0" y="201549"/>
                    </a:lnTo>
                    <a:lnTo>
                      <a:pt x="20154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>
              <a:off x="2419304" y="2282934"/>
              <a:ext cx="2604275" cy="4055529"/>
              <a:chOff x="2419304" y="2282934"/>
              <a:chExt cx="2604275" cy="4055529"/>
            </a:xfrm>
          </p:grpSpPr>
          <p:sp>
            <p:nvSpPr>
              <p:cNvPr id="7" name="Rectangle: Rounded Corners 5">
                <a:extLst>
                  <a:ext uri="{FF2B5EF4-FFF2-40B4-BE49-F238E27FC236}">
                    <a16:creationId xmlns="" xmlns:a16="http://schemas.microsoft.com/office/drawing/2014/main" id="{0CD38711-F598-087B-7793-C0EDE9FD0FEF}"/>
                  </a:ext>
                </a:extLst>
              </p:cNvPr>
              <p:cNvSpPr/>
              <p:nvPr/>
            </p:nvSpPr>
            <p:spPr>
              <a:xfrm>
                <a:off x="3156042" y="2282934"/>
                <a:ext cx="1130799" cy="496922"/>
              </a:xfrm>
              <a:prstGeom prst="roundRect">
                <a:avLst>
                  <a:gd name="adj" fmla="val 30585"/>
                </a:avLst>
              </a:prstGeom>
              <a:solidFill>
                <a:srgbClr val="B7CB98"/>
              </a:solidFill>
              <a:ln>
                <a:solidFill>
                  <a:srgbClr val="B7CB9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8" name="Rectangle: Rounded Corners 106">
                <a:extLst>
                  <a:ext uri="{FF2B5EF4-FFF2-40B4-BE49-F238E27FC236}">
                    <a16:creationId xmlns="" xmlns:a16="http://schemas.microsoft.com/office/drawing/2014/main" id="{47177251-C09A-6AAE-525A-EACF9C38C136}"/>
                  </a:ext>
                </a:extLst>
              </p:cNvPr>
              <p:cNvSpPr/>
              <p:nvPr/>
            </p:nvSpPr>
            <p:spPr>
              <a:xfrm>
                <a:off x="3643830" y="2761720"/>
                <a:ext cx="195311" cy="3309901"/>
              </a:xfrm>
              <a:prstGeom prst="roundRect">
                <a:avLst>
                  <a:gd name="adj" fmla="val 50000"/>
                </a:avLst>
              </a:prstGeom>
              <a:solidFill>
                <a:srgbClr val="B7CB98"/>
              </a:solidFill>
              <a:ln>
                <a:solidFill>
                  <a:srgbClr val="B7CB9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18" name="Rectangle: Rounded Corners 119">
                <a:extLst>
                  <a:ext uri="{FF2B5EF4-FFF2-40B4-BE49-F238E27FC236}">
                    <a16:creationId xmlns="" xmlns:a16="http://schemas.microsoft.com/office/drawing/2014/main" id="{E98F7ACD-EF63-68C0-B0E5-9BE4588320CD}"/>
                  </a:ext>
                </a:extLst>
              </p:cNvPr>
              <p:cNvSpPr/>
              <p:nvPr/>
            </p:nvSpPr>
            <p:spPr>
              <a:xfrm>
                <a:off x="2419304" y="2600426"/>
                <a:ext cx="2604275" cy="7699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Rectangle: Rounded Corners 120">
                <a:extLst>
                  <a:ext uri="{FF2B5EF4-FFF2-40B4-BE49-F238E27FC236}">
                    <a16:creationId xmlns="" xmlns:a16="http://schemas.microsoft.com/office/drawing/2014/main" id="{8E3A1502-25B2-78BE-CC2C-1B8BC5D75DD4}"/>
                  </a:ext>
                </a:extLst>
              </p:cNvPr>
              <p:cNvSpPr/>
              <p:nvPr/>
            </p:nvSpPr>
            <p:spPr>
              <a:xfrm>
                <a:off x="2419304" y="3589777"/>
                <a:ext cx="2604275" cy="7699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: Rounded Corners 121">
                <a:extLst>
                  <a:ext uri="{FF2B5EF4-FFF2-40B4-BE49-F238E27FC236}">
                    <a16:creationId xmlns="" xmlns:a16="http://schemas.microsoft.com/office/drawing/2014/main" id="{32138577-6133-D345-9CE6-B7F05C172F31}"/>
                  </a:ext>
                </a:extLst>
              </p:cNvPr>
              <p:cNvSpPr/>
              <p:nvPr/>
            </p:nvSpPr>
            <p:spPr>
              <a:xfrm>
                <a:off x="2419304" y="4579129"/>
                <a:ext cx="2604275" cy="7699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: Rounded Corners 122">
                <a:extLst>
                  <a:ext uri="{FF2B5EF4-FFF2-40B4-BE49-F238E27FC236}">
                    <a16:creationId xmlns="" xmlns:a16="http://schemas.microsoft.com/office/drawing/2014/main" id="{0A51F2FC-A91B-5F55-3262-6DB71D0FD25D}"/>
                  </a:ext>
                </a:extLst>
              </p:cNvPr>
              <p:cNvSpPr/>
              <p:nvPr/>
            </p:nvSpPr>
            <p:spPr>
              <a:xfrm>
                <a:off x="2419304" y="5568482"/>
                <a:ext cx="2604275" cy="76998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="" xmlns:a16="http://schemas.microsoft.com/office/drawing/2014/main" id="{CDD6FECF-8EDD-93E0-30CE-E74E074374E3}"/>
                  </a:ext>
                </a:extLst>
              </p:cNvPr>
              <p:cNvSpPr txBox="1"/>
              <p:nvPr/>
            </p:nvSpPr>
            <p:spPr>
              <a:xfrm>
                <a:off x="3244195" y="2302285"/>
                <a:ext cx="9544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 smtClean="0"/>
                  <a:t>Statiques</a:t>
                </a:r>
                <a:endParaRPr lang="en-US" dirty="0">
                  <a:solidFill>
                    <a:schemeClr val="bg1"/>
                  </a:solidFill>
                  <a:latin typeface="+mj-lt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2616619" y="2706282"/>
                <a:ext cx="220963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numéro unique: </a:t>
                </a:r>
                <a:r>
                  <a:rPr lang="fr-F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PID</a:t>
                </a:r>
                <a:r>
                  <a:rPr lang="fr-F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</a:t>
                </a:r>
                <a:r>
                  <a:rPr lang="fr-F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</a:t>
                </a:r>
                <a:r>
                  <a:rPr lang="fr-F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IDentifier</a:t>
                </a:r>
                <a:r>
                  <a:rPr lang="fr-FR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fr-MA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2540399" y="3765316"/>
                <a:ext cx="2362079" cy="439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propriétaire déterminant les droits d’accès</a:t>
                </a:r>
                <a:endParaRPr lang="fr-MA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2974111" y="5770272"/>
                <a:ext cx="1328394" cy="240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terminal d’attache</a:t>
                </a:r>
                <a:endParaRPr lang="fr-MA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3012941" y="4847736"/>
                <a:ext cx="1250733" cy="2402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 processus parent</a:t>
                </a:r>
                <a:endParaRPr lang="fr-MA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7" name="Group 76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Rounded Rectangle 84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93" name="Group 92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94" name="Rounded Rectangle 93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100" name="TextBox 99"/>
          <p:cNvSpPr txBox="1"/>
          <p:nvPr/>
        </p:nvSpPr>
        <p:spPr>
          <a:xfrm>
            <a:off x="3403600" y="1243355"/>
            <a:ext cx="5888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et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des processus: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6499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Down Arrow 110"/>
          <p:cNvSpPr/>
          <p:nvPr/>
        </p:nvSpPr>
        <p:spPr>
          <a:xfrm>
            <a:off x="8292493" y="4805308"/>
            <a:ext cx="525781" cy="673100"/>
          </a:xfrm>
          <a:prstGeom prst="downArrow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10" name="Down Arrow 109"/>
          <p:cNvSpPr/>
          <p:nvPr/>
        </p:nvSpPr>
        <p:spPr>
          <a:xfrm>
            <a:off x="4001628" y="4757851"/>
            <a:ext cx="525781" cy="673100"/>
          </a:xfrm>
          <a:prstGeom prst="downArrow">
            <a:avLst/>
          </a:prstGeom>
          <a:solidFill>
            <a:srgbClr val="A79CAC"/>
          </a:solidFill>
          <a:ln>
            <a:solidFill>
              <a:srgbClr val="A79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8" name="Down Arrow 107"/>
          <p:cNvSpPr/>
          <p:nvPr/>
        </p:nvSpPr>
        <p:spPr>
          <a:xfrm rot="10800000">
            <a:off x="6191465" y="3109772"/>
            <a:ext cx="525781" cy="673100"/>
          </a:xfrm>
          <a:prstGeom prst="downArrow">
            <a:avLst/>
          </a:prstGeom>
          <a:solidFill>
            <a:srgbClr val="431C31"/>
          </a:solidFill>
          <a:ln>
            <a:solidFill>
              <a:srgbClr val="431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7" name="Down Arrow 106"/>
          <p:cNvSpPr/>
          <p:nvPr/>
        </p:nvSpPr>
        <p:spPr>
          <a:xfrm rot="10800000">
            <a:off x="1898106" y="3109772"/>
            <a:ext cx="525781" cy="673100"/>
          </a:xfrm>
          <a:prstGeom prst="downArrow">
            <a:avLst/>
          </a:prstGeom>
          <a:solidFill>
            <a:srgbClr val="B7CB98"/>
          </a:solidFill>
          <a:ln>
            <a:solidFill>
              <a:srgbClr val="B7CB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43" name="Group 42"/>
          <p:cNvGrpSpPr/>
          <p:nvPr/>
        </p:nvGrpSpPr>
        <p:grpSpPr>
          <a:xfrm>
            <a:off x="-43541" y="696685"/>
            <a:ext cx="2162628" cy="493486"/>
            <a:chOff x="-43541" y="696685"/>
            <a:chExt cx="2162628" cy="493486"/>
          </a:xfrm>
        </p:grpSpPr>
        <p:sp>
          <p:nvSpPr>
            <p:cNvPr id="10" name="Rounded Rectangle 9"/>
            <p:cNvSpPr/>
            <p:nvPr/>
          </p:nvSpPr>
          <p:spPr>
            <a:xfrm>
              <a:off x="-43541" y="696685"/>
              <a:ext cx="2162628" cy="493486"/>
            </a:xfrm>
            <a:prstGeom prst="roundRect">
              <a:avLst/>
            </a:prstGeom>
            <a:solidFill>
              <a:srgbClr val="474972"/>
            </a:solidFill>
            <a:ln>
              <a:solidFill>
                <a:srgbClr val="4749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Partie 2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28800" y="696685"/>
              <a:ext cx="45719" cy="49348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749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45" name="Rounded Rectangle 44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3403600" y="1243355"/>
            <a:ext cx="84032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Besoins de gestion des processus dans un système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informatique: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49087" y="5407952"/>
            <a:ext cx="3095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Ordonnancement des processus</a:t>
            </a:r>
          </a:p>
          <a:p>
            <a:endParaRPr lang="fr-MA" dirty="0"/>
          </a:p>
        </p:txBody>
      </p:sp>
      <p:sp>
        <p:nvSpPr>
          <p:cNvPr id="59" name="TextBox 58"/>
          <p:cNvSpPr txBox="1"/>
          <p:nvPr/>
        </p:nvSpPr>
        <p:spPr>
          <a:xfrm>
            <a:off x="1114606" y="2758601"/>
            <a:ext cx="260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des ressources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65181" y="2701863"/>
            <a:ext cx="314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et synchronisation</a:t>
            </a:r>
          </a:p>
          <a:p>
            <a:endParaRPr lang="fr-MA" dirty="0"/>
          </a:p>
        </p:txBody>
      </p:sp>
      <p:sp>
        <p:nvSpPr>
          <p:cNvPr id="62" name="TextBox 61"/>
          <p:cNvSpPr txBox="1"/>
          <p:nvPr/>
        </p:nvSpPr>
        <p:spPr>
          <a:xfrm>
            <a:off x="7096275" y="5475084"/>
            <a:ext cx="3123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fr-M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inter-processus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MA" dirty="0"/>
          </a:p>
        </p:txBody>
      </p:sp>
      <p:sp>
        <p:nvSpPr>
          <p:cNvPr id="63" name="TextBox 62"/>
          <p:cNvSpPr txBox="1"/>
          <p:nvPr/>
        </p:nvSpPr>
        <p:spPr>
          <a:xfrm>
            <a:off x="9414244" y="2732103"/>
            <a:ext cx="2140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 la priorité</a:t>
            </a:r>
          </a:p>
          <a:p>
            <a:endParaRPr lang="fr-MA" dirty="0"/>
          </a:p>
        </p:txBody>
      </p:sp>
      <p:cxnSp>
        <p:nvCxnSpPr>
          <p:cNvPr id="93" name="Straight Connector 92"/>
          <p:cNvCxnSpPr/>
          <p:nvPr/>
        </p:nvCxnSpPr>
        <p:spPr>
          <a:xfrm>
            <a:off x="1338148" y="4276108"/>
            <a:ext cx="9918700" cy="0"/>
          </a:xfrm>
          <a:prstGeom prst="line">
            <a:avLst/>
          </a:prstGeom>
          <a:ln w="76200">
            <a:solidFill>
              <a:srgbClr val="4749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/>
          <p:cNvGrpSpPr/>
          <p:nvPr/>
        </p:nvGrpSpPr>
        <p:grpSpPr>
          <a:xfrm>
            <a:off x="1489087" y="3646108"/>
            <a:ext cx="1260000" cy="1260000"/>
            <a:chOff x="1489087" y="3646108"/>
            <a:chExt cx="1260000" cy="1260000"/>
          </a:xfrm>
        </p:grpSpPr>
        <p:sp>
          <p:nvSpPr>
            <p:cNvPr id="90" name="Oval 89"/>
            <p:cNvSpPr/>
            <p:nvPr/>
          </p:nvSpPr>
          <p:spPr>
            <a:xfrm>
              <a:off x="1489087" y="3646108"/>
              <a:ext cx="1260000" cy="1260000"/>
            </a:xfrm>
            <a:prstGeom prst="ellipse">
              <a:avLst/>
            </a:prstGeom>
            <a:solidFill>
              <a:srgbClr val="B7CB98"/>
            </a:solidFill>
            <a:ln>
              <a:solidFill>
                <a:srgbClr val="B7CB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91" name="Oval 90"/>
            <p:cNvSpPr/>
            <p:nvPr/>
          </p:nvSpPr>
          <p:spPr>
            <a:xfrm>
              <a:off x="1669087" y="3826108"/>
              <a:ext cx="900000" cy="90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smtClean="0">
                  <a:solidFill>
                    <a:srgbClr val="4749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MA" sz="2000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" name="Oval 95"/>
          <p:cNvSpPr/>
          <p:nvPr/>
        </p:nvSpPr>
        <p:spPr>
          <a:xfrm>
            <a:off x="3634519" y="3646108"/>
            <a:ext cx="1260000" cy="1260000"/>
          </a:xfrm>
          <a:prstGeom prst="ellipse">
            <a:avLst/>
          </a:prstGeom>
          <a:solidFill>
            <a:srgbClr val="A79CAC"/>
          </a:solidFill>
          <a:ln>
            <a:solidFill>
              <a:srgbClr val="A79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7" name="Oval 96"/>
          <p:cNvSpPr/>
          <p:nvPr/>
        </p:nvSpPr>
        <p:spPr>
          <a:xfrm>
            <a:off x="3814519" y="3826108"/>
            <a:ext cx="900000" cy="9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MA" b="1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5779951" y="3646108"/>
            <a:ext cx="1260000" cy="1260000"/>
            <a:chOff x="1489087" y="3646108"/>
            <a:chExt cx="1260000" cy="1260000"/>
          </a:xfrm>
          <a:solidFill>
            <a:srgbClr val="431C31"/>
          </a:solidFill>
        </p:grpSpPr>
        <p:sp>
          <p:nvSpPr>
            <p:cNvPr id="99" name="Oval 98"/>
            <p:cNvSpPr/>
            <p:nvPr/>
          </p:nvSpPr>
          <p:spPr>
            <a:xfrm>
              <a:off x="1489087" y="3646108"/>
              <a:ext cx="1260000" cy="1260000"/>
            </a:xfrm>
            <a:prstGeom prst="ellipse">
              <a:avLst/>
            </a:prstGeom>
            <a:grpFill/>
            <a:ln>
              <a:solidFill>
                <a:srgbClr val="431C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100" name="Oval 99"/>
            <p:cNvSpPr/>
            <p:nvPr/>
          </p:nvSpPr>
          <p:spPr>
            <a:xfrm>
              <a:off x="1669087" y="3826108"/>
              <a:ext cx="900000" cy="90000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rgbClr val="47497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fr-MA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2" name="Oval 101"/>
          <p:cNvSpPr/>
          <p:nvPr/>
        </p:nvSpPr>
        <p:spPr>
          <a:xfrm>
            <a:off x="7925383" y="3692977"/>
            <a:ext cx="1260000" cy="1260000"/>
          </a:xfrm>
          <a:prstGeom prst="ellipse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3" name="Oval 102"/>
          <p:cNvSpPr/>
          <p:nvPr/>
        </p:nvSpPr>
        <p:spPr>
          <a:xfrm>
            <a:off x="8105383" y="3872977"/>
            <a:ext cx="900000" cy="9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fr-MA" b="1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Oval 104"/>
          <p:cNvSpPr/>
          <p:nvPr/>
        </p:nvSpPr>
        <p:spPr>
          <a:xfrm>
            <a:off x="9834424" y="3646108"/>
            <a:ext cx="1260000" cy="1260000"/>
          </a:xfrm>
          <a:prstGeom prst="ellipse">
            <a:avLst/>
          </a:prstGeom>
          <a:solidFill>
            <a:srgbClr val="F0DAC3"/>
          </a:solidFill>
          <a:ln>
            <a:solidFill>
              <a:srgbClr val="F0DA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6" name="Oval 105"/>
          <p:cNvSpPr/>
          <p:nvPr/>
        </p:nvSpPr>
        <p:spPr>
          <a:xfrm>
            <a:off x="10014424" y="3826108"/>
            <a:ext cx="900000" cy="9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fr-MA" b="1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Down Arrow 108"/>
          <p:cNvSpPr/>
          <p:nvPr/>
        </p:nvSpPr>
        <p:spPr>
          <a:xfrm rot="10800000">
            <a:off x="10219438" y="3110762"/>
            <a:ext cx="525781" cy="673100"/>
          </a:xfrm>
          <a:prstGeom prst="downArrow">
            <a:avLst/>
          </a:prstGeom>
          <a:solidFill>
            <a:srgbClr val="F0DAC3"/>
          </a:solidFill>
          <a:ln>
            <a:solidFill>
              <a:srgbClr val="F0DA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1342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7" name="Group 26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8" name="Rounded Rectangle 27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513085" y="601248"/>
            <a:ext cx="87062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</a:t>
            </a:r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Fonctions </a:t>
            </a:r>
            <a:r>
              <a:rPr lang="fr-FR" sz="3200" dirty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principales du système d'exploitation </a:t>
            </a:r>
            <a:endParaRPr lang="fr-FR" sz="3200" dirty="0" smtClean="0">
              <a:solidFill>
                <a:srgbClr val="3E5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liées </a:t>
            </a:r>
            <a:r>
              <a:rPr lang="fr-FR" sz="3200" dirty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 </a:t>
            </a:r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processus: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3600" y="1687855"/>
            <a:ext cx="4456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Ordonnancement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processus: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27342" y="2426721"/>
            <a:ext cx="9828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L’Ordonnanceur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est la partie du noyau qui s’occupe de la sélection des processus qui vont être exécutés. 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568811" y="3780372"/>
            <a:ext cx="3151744" cy="624943"/>
            <a:chOff x="1568811" y="3780372"/>
            <a:chExt cx="3151744" cy="624943"/>
          </a:xfrm>
        </p:grpSpPr>
        <p:pic>
          <p:nvPicPr>
            <p:cNvPr id="36" name="Picture 4" descr="Question Mark Png Images – Browse 41,083 Stock Photos, Vectors, and Video |  Adobe Stock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8811" y="3780372"/>
              <a:ext cx="436852" cy="5596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/>
            <p:cNvSpPr txBox="1"/>
            <p:nvPr/>
          </p:nvSpPr>
          <p:spPr>
            <a:xfrm>
              <a:off x="1874519" y="4035983"/>
              <a:ext cx="2846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Quand faut-il ordonnancer ?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639024" y="4385302"/>
            <a:ext cx="791210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 la création d'un processus 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A la fin d'un processus 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Lors du blocage d'un processus 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Régulièrement, par exemple à chaque interruption d’horloge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9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55679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7" name="Group 26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8" name="Rounded Rectangle 27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3403600" y="1243355"/>
            <a:ext cx="6466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objectifs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l'ordonnancement des processus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33319" y="2132281"/>
            <a:ext cx="2306585" cy="1335751"/>
          </a:xfrm>
          <a:prstGeom prst="roundRect">
            <a:avLst/>
          </a:prstGeom>
          <a:solidFill>
            <a:srgbClr val="431C31"/>
          </a:solidFill>
          <a:ln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Minimiser les délais de réponse pour assurer une expérience utilisateur réactive</a:t>
            </a:r>
            <a:r>
              <a:rPr lang="fr-F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800801" y="3543742"/>
            <a:ext cx="2306585" cy="1335751"/>
          </a:xfrm>
          <a:prstGeom prst="roundRect">
            <a:avLst/>
          </a:prstGeom>
          <a:solidFill>
            <a:srgbClr val="431C31"/>
          </a:solidFill>
          <a:ln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Maximiser l'utilisation du processeur pour améliorer l'efficacité globale du système</a:t>
            </a:r>
            <a:r>
              <a:rPr lang="fr-F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734486" y="2132281"/>
            <a:ext cx="2306585" cy="1335751"/>
          </a:xfrm>
          <a:prstGeom prst="roundRect">
            <a:avLst/>
          </a:prstGeom>
          <a:solidFill>
            <a:srgbClr val="431C31"/>
          </a:solidFill>
          <a:ln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une allocation équitable du temps CPU à chaque processus en attente d'exécution</a:t>
            </a:r>
            <a:r>
              <a:rPr lang="fr-F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50926" y="3543741"/>
            <a:ext cx="2306585" cy="1335751"/>
          </a:xfrm>
          <a:prstGeom prst="roundRect">
            <a:avLst/>
          </a:prstGeom>
          <a:solidFill>
            <a:srgbClr val="431C31"/>
          </a:solidFill>
          <a:ln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Intégrer les priorités des processus pour une gestion efficace des tâches.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87778" y="4945749"/>
            <a:ext cx="2306585" cy="1335751"/>
          </a:xfrm>
          <a:prstGeom prst="roundRect">
            <a:avLst/>
          </a:prstGeom>
          <a:solidFill>
            <a:srgbClr val="431C31"/>
          </a:solidFill>
          <a:ln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Optimiser l'exploitation des ressources système pour des performances accrues</a:t>
            </a:r>
            <a:r>
              <a:rPr lang="fr-FR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10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7272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32" name="Group 31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33" name="Rounded Rectangle 32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403600" y="1243355"/>
            <a:ext cx="4126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Méthodes d'ordonnancement: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699648" y="2699279"/>
            <a:ext cx="4794421" cy="466219"/>
            <a:chOff x="3699648" y="2699279"/>
            <a:chExt cx="4794421" cy="466219"/>
          </a:xfrm>
        </p:grpSpPr>
        <p:sp>
          <p:nvSpPr>
            <p:cNvPr id="39" name="TextBox 38"/>
            <p:cNvSpPr txBox="1"/>
            <p:nvPr/>
          </p:nvSpPr>
          <p:spPr>
            <a:xfrm>
              <a:off x="4673600" y="2763709"/>
              <a:ext cx="3820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Environnement de traitements par lots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3699648" y="2699279"/>
              <a:ext cx="973952" cy="466219"/>
              <a:chOff x="2022267" y="2587106"/>
              <a:chExt cx="973952" cy="466219"/>
            </a:xfrm>
            <a:solidFill>
              <a:srgbClr val="B7CB98"/>
            </a:solidFill>
          </p:grpSpPr>
          <p:sp>
            <p:nvSpPr>
              <p:cNvPr id="43" name="Chevron 42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Chevron 43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2556774" y="3519864"/>
            <a:ext cx="3499195" cy="466219"/>
            <a:chOff x="2556774" y="3519864"/>
            <a:chExt cx="3499195" cy="466219"/>
          </a:xfrm>
        </p:grpSpPr>
        <p:sp>
          <p:nvSpPr>
            <p:cNvPr id="40" name="TextBox 39"/>
            <p:cNvSpPr txBox="1"/>
            <p:nvPr/>
          </p:nvSpPr>
          <p:spPr>
            <a:xfrm>
              <a:off x="3530726" y="3568308"/>
              <a:ext cx="2525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Environnement interactif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2556774" y="3519864"/>
              <a:ext cx="973952" cy="466219"/>
              <a:chOff x="2022267" y="2587106"/>
              <a:chExt cx="973952" cy="466219"/>
            </a:xfrm>
            <a:solidFill>
              <a:srgbClr val="A79CAC"/>
            </a:solidFill>
          </p:grpSpPr>
          <p:sp>
            <p:nvSpPr>
              <p:cNvPr id="46" name="Chevron 45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Chevron 46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699648" y="4331998"/>
            <a:ext cx="3650967" cy="466219"/>
            <a:chOff x="3699648" y="4331998"/>
            <a:chExt cx="3650967" cy="466219"/>
          </a:xfrm>
        </p:grpSpPr>
        <p:sp>
          <p:nvSpPr>
            <p:cNvPr id="41" name="TextBox 40"/>
            <p:cNvSpPr txBox="1"/>
            <p:nvPr/>
          </p:nvSpPr>
          <p:spPr>
            <a:xfrm>
              <a:off x="4673600" y="4372907"/>
              <a:ext cx="2677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MA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Environnement temps réel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3699648" y="4331998"/>
              <a:ext cx="973952" cy="466219"/>
              <a:chOff x="2022267" y="2587106"/>
              <a:chExt cx="973952" cy="466219"/>
            </a:xfrm>
            <a:solidFill>
              <a:srgbClr val="474972"/>
            </a:solidFill>
          </p:grpSpPr>
          <p:sp>
            <p:nvSpPr>
              <p:cNvPr id="49" name="Chevron 48"/>
              <p:cNvSpPr/>
              <p:nvPr/>
            </p:nvSpPr>
            <p:spPr>
              <a:xfrm>
                <a:off x="2295380" y="2587106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Chevron 49"/>
              <p:cNvSpPr/>
              <p:nvPr/>
            </p:nvSpPr>
            <p:spPr>
              <a:xfrm>
                <a:off x="2022267" y="2596125"/>
                <a:ext cx="700839" cy="457200"/>
              </a:xfrm>
              <a:prstGeom prst="chevron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MA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11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00065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6" name="Group 25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7" name="Rounded Rectangle 26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3403600" y="1243355"/>
            <a:ext cx="4126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Méthodes d'ordonnancement: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99625" y="2433526"/>
            <a:ext cx="4953609" cy="3071396"/>
            <a:chOff x="699625" y="2433526"/>
            <a:chExt cx="4953609" cy="3071396"/>
          </a:xfrm>
        </p:grpSpPr>
        <p:sp>
          <p:nvSpPr>
            <p:cNvPr id="33" name="TextBox 32"/>
            <p:cNvSpPr txBox="1"/>
            <p:nvPr/>
          </p:nvSpPr>
          <p:spPr>
            <a:xfrm>
              <a:off x="859689" y="2433526"/>
              <a:ext cx="44550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i="1" dirty="0" smtClean="0">
                  <a:solidFill>
                    <a:srgbClr val="1519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Algorithme sans réquisition (non préemptif):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99625" y="3058098"/>
              <a:ext cx="4953609" cy="2446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85750" algn="just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Sélectionne un processus qui s'exécute jusqu'à sa fin ou jusqu'à ce qu'il se bloque sur une opération d'E/S ou attend un autre processus.</a:t>
              </a:r>
            </a:p>
            <a:p>
              <a:pPr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Peut entraîner une inefficacité si un processus entre dans une boucle infinie.</a:t>
              </a:r>
            </a:p>
            <a:p>
              <a:endParaRPr lang="fr-MA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699768" y="2433526"/>
            <a:ext cx="4981923" cy="3795877"/>
            <a:chOff x="6699768" y="2433526"/>
            <a:chExt cx="4981923" cy="3795877"/>
          </a:xfrm>
        </p:grpSpPr>
        <p:sp>
          <p:nvSpPr>
            <p:cNvPr id="34" name="TextBox 33"/>
            <p:cNvSpPr txBox="1"/>
            <p:nvPr/>
          </p:nvSpPr>
          <p:spPr>
            <a:xfrm>
              <a:off x="6930986" y="2433526"/>
              <a:ext cx="40360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i="1" dirty="0">
                  <a:solidFill>
                    <a:srgbClr val="1519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Algorithme avec réquisition (préemptif):</a:t>
              </a:r>
              <a:endParaRPr lang="fr-MA" b="1" i="1" dirty="0">
                <a:solidFill>
                  <a:srgbClr val="15193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699768" y="2951583"/>
              <a:ext cx="4981923" cy="3277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À chaque signal d’horloge, le système décide si le processus en cours doit être interrompu pour laisser la place à un autre.</a:t>
              </a:r>
            </a:p>
            <a:p>
              <a:pPr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 cas d'interruption, sauvegarde l'état des registres avant de charger les données du nouveau processus pour pouvoir reprendre ultérieurement l'exécution du processus interrompu.</a:t>
              </a:r>
            </a:p>
            <a:p>
              <a:endParaRPr lang="fr-MA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12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38006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6" name="Group 25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7" name="Rounded Rectangle 26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314416" y="1267449"/>
            <a:ext cx="4410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rgbClr val="A79C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Exemples de méthodes </a:t>
            </a:r>
            <a:r>
              <a:rPr lang="fr-FR" b="1" dirty="0">
                <a:solidFill>
                  <a:srgbClr val="A79C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d'ordonnancement:</a:t>
            </a:r>
            <a:endParaRPr lang="fr-MA" b="1" dirty="0">
              <a:solidFill>
                <a:srgbClr val="A79CA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5036" y="2262597"/>
            <a:ext cx="6311343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L'algorithme du premier arrivé, premier servi (FIFO, ou FCFS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5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L’algorithme le plus court temps d’exécution d’abord(SJF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25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L'algorithme du tourniquet (round robin, circulaire)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13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34637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6" name="Group 25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7" name="Rounded Rectangle 26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513085" y="601248"/>
            <a:ext cx="5631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fr-FR" sz="3200" dirty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Cas d'étude : </a:t>
            </a:r>
            <a:r>
              <a:rPr lang="fr-FR" sz="3200" dirty="0" smtClean="0">
                <a:solidFill>
                  <a:srgbClr val="3E5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Linux: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3600" y="1243355"/>
            <a:ext cx="4955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Analyse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d'un SE spécifique (Linux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879737" y="2412616"/>
            <a:ext cx="1284513" cy="2585537"/>
            <a:chOff x="1476830" y="2825822"/>
            <a:chExt cx="1284513" cy="2585537"/>
          </a:xfrm>
        </p:grpSpPr>
        <p:sp>
          <p:nvSpPr>
            <p:cNvPr id="36" name="Rectangle 35"/>
            <p:cNvSpPr/>
            <p:nvPr/>
          </p:nvSpPr>
          <p:spPr>
            <a:xfrm>
              <a:off x="1476830" y="3023759"/>
              <a:ext cx="1284513" cy="23876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Modèle de Processus</a:t>
              </a:r>
              <a:endParaRPr lang="fr-M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Pentagon 36"/>
            <p:cNvSpPr/>
            <p:nvPr/>
          </p:nvSpPr>
          <p:spPr>
            <a:xfrm>
              <a:off x="1716495" y="2825822"/>
              <a:ext cx="805181" cy="348808"/>
            </a:xfrm>
            <a:prstGeom prst="homePlate">
              <a:avLst/>
            </a:prstGeom>
            <a:solidFill>
              <a:srgbClr val="A79CAC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692732" y="3093969"/>
            <a:ext cx="1284513" cy="2585537"/>
            <a:chOff x="1476830" y="2825822"/>
            <a:chExt cx="1284513" cy="2585537"/>
          </a:xfrm>
        </p:grpSpPr>
        <p:sp>
          <p:nvSpPr>
            <p:cNvPr id="40" name="Rectangle 39"/>
            <p:cNvSpPr/>
            <p:nvPr/>
          </p:nvSpPr>
          <p:spPr>
            <a:xfrm>
              <a:off x="1476830" y="3023759"/>
              <a:ext cx="1284513" cy="23876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/>
                <a:t>Héritage et </a:t>
              </a:r>
              <a:r>
                <a:rPr lang="fr-FR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Arboresce-nce</a:t>
              </a:r>
              <a:r>
                <a:rPr lang="fr-FR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 Processus</a:t>
              </a:r>
              <a:endParaRPr lang="fr-M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Pentagon 40"/>
            <p:cNvSpPr/>
            <p:nvPr/>
          </p:nvSpPr>
          <p:spPr>
            <a:xfrm>
              <a:off x="1716495" y="2825822"/>
              <a:ext cx="805181" cy="348808"/>
            </a:xfrm>
            <a:prstGeom prst="homePlate">
              <a:avLst/>
            </a:prstGeom>
            <a:solidFill>
              <a:srgbClr val="A79CAC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5505725" y="2372383"/>
            <a:ext cx="1284513" cy="2585537"/>
            <a:chOff x="1476830" y="2825822"/>
            <a:chExt cx="1284513" cy="2585537"/>
          </a:xfrm>
        </p:grpSpPr>
        <p:sp>
          <p:nvSpPr>
            <p:cNvPr id="43" name="Rectangle 42"/>
            <p:cNvSpPr/>
            <p:nvPr/>
          </p:nvSpPr>
          <p:spPr>
            <a:xfrm>
              <a:off x="1476830" y="3023759"/>
              <a:ext cx="1284513" cy="23876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États des Processus</a:t>
              </a:r>
              <a:endParaRPr lang="fr-M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Pentagon 43"/>
            <p:cNvSpPr/>
            <p:nvPr/>
          </p:nvSpPr>
          <p:spPr>
            <a:xfrm>
              <a:off x="1716495" y="2825822"/>
              <a:ext cx="805181" cy="348808"/>
            </a:xfrm>
            <a:prstGeom prst="homePlate">
              <a:avLst/>
            </a:prstGeom>
            <a:solidFill>
              <a:srgbClr val="A79CAC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315269" y="3132973"/>
            <a:ext cx="1284513" cy="2585537"/>
            <a:chOff x="1476830" y="2825822"/>
            <a:chExt cx="1284513" cy="2585537"/>
          </a:xfrm>
        </p:grpSpPr>
        <p:sp>
          <p:nvSpPr>
            <p:cNvPr id="46" name="Rectangle 45"/>
            <p:cNvSpPr/>
            <p:nvPr/>
          </p:nvSpPr>
          <p:spPr>
            <a:xfrm>
              <a:off x="1476830" y="3023759"/>
              <a:ext cx="1284513" cy="23876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Signaux</a:t>
              </a:r>
              <a:endParaRPr lang="fr-M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Pentagon 46"/>
            <p:cNvSpPr/>
            <p:nvPr/>
          </p:nvSpPr>
          <p:spPr>
            <a:xfrm>
              <a:off x="1716495" y="2825822"/>
              <a:ext cx="805181" cy="348808"/>
            </a:xfrm>
            <a:prstGeom prst="homePlate">
              <a:avLst/>
            </a:prstGeom>
            <a:solidFill>
              <a:srgbClr val="A79CAC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9032350" y="2372383"/>
            <a:ext cx="1284513" cy="2585537"/>
            <a:chOff x="1476830" y="2825822"/>
            <a:chExt cx="1284513" cy="2585537"/>
          </a:xfrm>
        </p:grpSpPr>
        <p:sp>
          <p:nvSpPr>
            <p:cNvPr id="49" name="Rectangle 48"/>
            <p:cNvSpPr/>
            <p:nvPr/>
          </p:nvSpPr>
          <p:spPr>
            <a:xfrm>
              <a:off x="1476830" y="3023759"/>
              <a:ext cx="1284513" cy="23876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des Ressources</a:t>
              </a:r>
              <a:endParaRPr lang="fr-MA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Pentagon 49"/>
            <p:cNvSpPr/>
            <p:nvPr/>
          </p:nvSpPr>
          <p:spPr>
            <a:xfrm>
              <a:off x="1716495" y="2825822"/>
              <a:ext cx="805181" cy="348808"/>
            </a:xfrm>
            <a:prstGeom prst="homePlate">
              <a:avLst/>
            </a:prstGeom>
            <a:solidFill>
              <a:srgbClr val="A79CAC"/>
            </a:solidFill>
            <a:ln w="381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fr-MA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14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0219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0" name="Group 19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946400" y="1243355"/>
            <a:ext cx="8861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Illustration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fonctionnalités de gestion des processus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Linux: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192" y="2712926"/>
            <a:ext cx="7545613" cy="2138474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192" y="4847673"/>
            <a:ext cx="7545613" cy="7891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119087" y="1967898"/>
            <a:ext cx="3414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L’utilisation de la commande ‘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‘: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15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89905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-43541" y="696685"/>
            <a:ext cx="2162628" cy="493486"/>
          </a:xfrm>
          <a:prstGeom prst="roundRect">
            <a:avLst/>
          </a:prstGeom>
          <a:solidFill>
            <a:srgbClr val="474972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/>
          <p:cNvSpPr/>
          <p:nvPr/>
        </p:nvSpPr>
        <p:spPr>
          <a:xfrm>
            <a:off x="1828800" y="696685"/>
            <a:ext cx="45719" cy="493486"/>
          </a:xfrm>
          <a:prstGeom prst="rect">
            <a:avLst/>
          </a:prstGeom>
          <a:solidFill>
            <a:schemeClr val="bg1"/>
          </a:solidFill>
          <a:ln>
            <a:solidFill>
              <a:srgbClr val="4749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grpSp>
        <p:nvGrpSpPr>
          <p:cNvPr id="20" name="Group 19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pic>
        <p:nvPicPr>
          <p:cNvPr id="26" name="Picture 2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8" y="2564437"/>
            <a:ext cx="7196282" cy="278731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946400" y="1243355"/>
            <a:ext cx="8861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Illustration </a:t>
            </a:r>
            <a:r>
              <a:rPr lang="fr-FR" sz="2400" dirty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fonctionnalités de gestion des processus </a:t>
            </a:r>
            <a:r>
              <a:rPr lang="fr-FR" sz="2400" dirty="0" smtClean="0">
                <a:solidFill>
                  <a:srgbClr val="47497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Linux:</a:t>
            </a:r>
            <a:endParaRPr lang="fr-MA" sz="2400" dirty="0">
              <a:solidFill>
                <a:srgbClr val="47497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436" y="3261321"/>
            <a:ext cx="6761573" cy="30909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119087" y="1967898"/>
            <a:ext cx="5286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commande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‘top’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utilisée à deux moments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différents:</a:t>
            </a:r>
            <a:endParaRPr lang="fr-M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16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1798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972113" y="2321004"/>
            <a:ext cx="8247771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800" dirty="0" smtClean="0">
                <a:solidFill>
                  <a:srgbClr val="1519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fr-MA" sz="13800" dirty="0">
              <a:solidFill>
                <a:srgbClr val="1519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17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70205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0432473" y="401782"/>
            <a:ext cx="1648751" cy="788389"/>
            <a:chOff x="10432473" y="401782"/>
            <a:chExt cx="1648751" cy="788389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 rot="10800000">
            <a:off x="138485" y="5702474"/>
            <a:ext cx="1648751" cy="788389"/>
            <a:chOff x="10432473" y="401782"/>
            <a:chExt cx="1648751" cy="788389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10432473" y="540327"/>
              <a:ext cx="1648751" cy="13855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11859491" y="401782"/>
              <a:ext cx="13854" cy="788389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1055927" y="601248"/>
              <a:ext cx="928315" cy="9897"/>
            </a:xfrm>
            <a:prstGeom prst="line">
              <a:avLst/>
            </a:prstGeom>
            <a:ln w="28575">
              <a:solidFill>
                <a:srgbClr val="B7CB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-43540" y="-8101"/>
            <a:ext cx="12275641" cy="6884139"/>
            <a:chOff x="-43540" y="-8101"/>
            <a:chExt cx="12275641" cy="6884139"/>
          </a:xfrm>
        </p:grpSpPr>
        <p:sp>
          <p:nvSpPr>
            <p:cNvPr id="21" name="Rounded Rectangle 20"/>
            <p:cNvSpPr/>
            <p:nvPr/>
          </p:nvSpPr>
          <p:spPr>
            <a:xfrm>
              <a:off x="0" y="0"/>
              <a:ext cx="12191999" cy="6858000"/>
            </a:xfrm>
            <a:prstGeom prst="roundRect">
              <a:avLst>
                <a:gd name="adj" fmla="val 3138"/>
              </a:avLst>
            </a:prstGeom>
            <a:noFill/>
            <a:ln w="111125"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-43540" y="-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2105693" y="-810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121325" y="6762031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-1" y="6781909"/>
              <a:ext cx="110776" cy="94129"/>
            </a:xfrm>
            <a:prstGeom prst="rect">
              <a:avLst/>
            </a:prstGeom>
            <a:solidFill>
              <a:srgbClr val="A79CAC"/>
            </a:solidFill>
            <a:ln>
              <a:solidFill>
                <a:srgbClr val="A79C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MA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99625" y="2767280"/>
            <a:ext cx="109824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8000" dirty="0" smtClean="0">
                <a:solidFill>
                  <a:srgbClr val="1519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attention</a:t>
            </a:r>
            <a:endParaRPr lang="fr-MA" sz="8000" dirty="0">
              <a:solidFill>
                <a:srgbClr val="1519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AC0E6-9C88-46B8-AFD8-265063A8875F}" type="slidenum">
              <a:rPr lang="fr-MA" smtClean="0"/>
              <a:t>18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6375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646</Words>
  <Application>Microsoft Office PowerPoint</Application>
  <PresentationFormat>Widescreen</PresentationFormat>
  <Paragraphs>135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Prince&amp;Hasnae</dc:creator>
  <cp:lastModifiedBy>Prince&amp;Hasnae</cp:lastModifiedBy>
  <cp:revision>178</cp:revision>
  <dcterms:created xsi:type="dcterms:W3CDTF">2024-04-16T20:07:37Z</dcterms:created>
  <dcterms:modified xsi:type="dcterms:W3CDTF">2024-04-21T19:42:46Z</dcterms:modified>
</cp:coreProperties>
</file>