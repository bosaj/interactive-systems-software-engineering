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3.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53" r:id="rId4"/>
  </p:sldMasterIdLst>
  <p:notesMasterIdLst>
    <p:notesMasterId r:id="rId37"/>
  </p:notesMasterIdLst>
  <p:handoutMasterIdLst>
    <p:handoutMasterId r:id="rId38"/>
  </p:handoutMasterIdLst>
  <p:sldIdLst>
    <p:sldId id="282" r:id="rId5"/>
    <p:sldId id="377" r:id="rId6"/>
    <p:sldId id="280" r:id="rId7"/>
    <p:sldId id="328" r:id="rId8"/>
    <p:sldId id="329" r:id="rId9"/>
    <p:sldId id="336" r:id="rId10"/>
    <p:sldId id="332" r:id="rId11"/>
    <p:sldId id="337" r:id="rId12"/>
    <p:sldId id="335" r:id="rId13"/>
    <p:sldId id="333" r:id="rId14"/>
    <p:sldId id="334" r:id="rId15"/>
    <p:sldId id="338" r:id="rId16"/>
    <p:sldId id="341" r:id="rId17"/>
    <p:sldId id="342" r:id="rId18"/>
    <p:sldId id="343" r:id="rId19"/>
    <p:sldId id="344" r:id="rId20"/>
    <p:sldId id="345" r:id="rId21"/>
    <p:sldId id="346" r:id="rId22"/>
    <p:sldId id="347" r:id="rId23"/>
    <p:sldId id="304" r:id="rId24"/>
    <p:sldId id="305" r:id="rId25"/>
    <p:sldId id="306" r:id="rId26"/>
    <p:sldId id="348" r:id="rId27"/>
    <p:sldId id="321" r:id="rId28"/>
    <p:sldId id="350" r:id="rId29"/>
    <p:sldId id="322" r:id="rId30"/>
    <p:sldId id="323" r:id="rId31"/>
    <p:sldId id="324" r:id="rId32"/>
    <p:sldId id="325" r:id="rId33"/>
    <p:sldId id="349" r:id="rId34"/>
    <p:sldId id="378" r:id="rId35"/>
    <p:sldId id="379" r:id="rId36"/>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75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9E1818"/>
    <a:srgbClr val="F61833"/>
    <a:srgbClr val="2022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howOutlineIcons="0">
    <p:restoredLeft sz="15620"/>
    <p:restoredTop sz="94660"/>
  </p:normalViewPr>
  <p:slideViewPr>
    <p:cSldViewPr snapToGrid="0" showGuides="1">
      <p:cViewPr>
        <p:scale>
          <a:sx n="75" d="100"/>
          <a:sy n="75" d="100"/>
        </p:scale>
        <p:origin x="2064" y="1181"/>
      </p:cViewPr>
      <p:guideLst>
        <p:guide orient="horz" pos="2160"/>
        <p:guide pos="2755"/>
      </p:guideLst>
    </p:cSldViewPr>
  </p:slideViewPr>
  <p:notesTextViewPr>
    <p:cViewPr>
      <p:scale>
        <a:sx n="1" d="1"/>
        <a:sy n="1" d="1"/>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Master" Target="slideMasters/slideMaster3.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notesMaster" Target="notesMasters/notesMaster1.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anose="020F0502020204030204" pitchFamily="34" charset="0"/>
                <a:ea typeface="SimSun" panose="02010600030101010101" pitchFamily="2"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anose="020F0502020204030204" pitchFamily="34" charset="0"/>
                <a:ea typeface="SimSun"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ea typeface="Arial" panose="020B0604020202020204" pitchFamily="34" charset="0"/>
              </a:defRPr>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ea typeface="Arial" panose="020B0604020202020204" pitchFamily="34" charset="0"/>
              </a:defRPr>
            </a:lvl1pPr>
          </a:lstStyle>
          <a:p>
            <a:pPr fontAlgn="base"/>
            <a:fld id="{D2A48B96-639E-45A3-A0BA-2464DFDB1FAA}" type="datetimeFigureOut">
              <a:rPr lang="zh-CN" altLang="en-US" strike="noStrike" noProof="1" smtClean="0">
                <a:latin typeface="Arial" panose="020B0604020202020204" pitchFamily="34" charset="0"/>
                <a:ea typeface="Arial" panose="020B0604020202020204" pitchFamily="34" charset="0"/>
                <a:cs typeface="+mn-cs"/>
              </a:rPr>
            </a:fld>
            <a:endParaRPr lang="zh-CN" altLang="en-US" strike="noStrike" noProof="1"/>
          </a:p>
        </p:txBody>
      </p:sp>
      <p:sp>
        <p:nvSpPr>
          <p:cNvPr id="3076"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3077"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nchorCtr="0"/>
          <a:p>
            <a:pPr lvl="0"/>
            <a:r>
              <a:rPr lang="zh-CN" altLang="en-US"/>
              <a:t> Click to edit Master text style</a:t>
            </a:r>
            <a:endParaRPr lang="zh-CN" altLang="en-US"/>
          </a:p>
          <a:p>
            <a:pPr lvl="0"/>
            <a:r>
              <a:rPr lang="zh-CN" altLang="en-US"/>
              <a:t>              Second level</a:t>
            </a:r>
            <a:endParaRPr lang="zh-CN" altLang="en-US"/>
          </a:p>
          <a:p>
            <a:pPr lvl="0"/>
            <a:r>
              <a:rPr lang="zh-CN" altLang="en-US"/>
              <a:t>                            Third level</a:t>
            </a:r>
            <a:endParaRPr lang="zh-CN" altLang="en-US"/>
          </a:p>
          <a:p>
            <a:pPr lvl="0"/>
            <a:r>
              <a:rPr lang="zh-CN" altLang="en-US"/>
              <a:t>                                      Fourth level</a:t>
            </a:r>
            <a:endParaRPr lang="zh-CN" altLang="en-US"/>
          </a:p>
          <a:p>
            <a:pPr lvl="0"/>
            <a:r>
              <a:rPr lang="zh-CN" altLang="en-US"/>
              <a:t>                                                    Fifth level</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atin typeface="Arial" panose="020B0604020202020204" pitchFamily="34" charset="0"/>
                <a:ea typeface="Arial" panose="020B0604020202020204" pitchFamily="34" charset="0"/>
              </a:defRPr>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atin typeface="Arial" panose="020B0604020202020204" pitchFamily="34" charset="0"/>
                <a:ea typeface="Arial" panose="020B0604020202020204" pitchFamily="34" charset="0"/>
              </a:defRPr>
            </a:lvl1pPr>
          </a:lstStyle>
          <a:p>
            <a:pPr fontAlgn="base"/>
            <a:fld id="{A6837353-30EB-4A48-80EB-173D804AEFBD}" type="slidenum">
              <a:rPr lang="zh-CN" altLang="en-US" strike="noStrike" noProof="1" smtClean="0">
                <a:latin typeface="Arial" panose="020B0604020202020204" pitchFamily="34" charset="0"/>
                <a:ea typeface="Arial" panose="020B0604020202020204" pitchFamily="34" charset="0"/>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pPr fontAlgn="auto"/>
            <a:r>
              <a:rPr lang="zh-CN" altLang="en-US" strike="noStrike" noProof="1" smtClean="0"/>
              <a:t>Click to edit Master title style</a:t>
            </a:r>
            <a:endParaRPr lang="zh-CN" altLang="en-US" strike="noStrike" noProof="1" smtClean="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smtClean="0"/>
              <a:t>Click to edit Master title style</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6087A6AC-F4CC-4AE9-9544-8D77F31D3FDC}" type="slidenum">
              <a:rPr kumimoji="0" lang="zh-CN" alt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Arial" panose="020B0604020202020204" pitchFamily="34" charset="0"/>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Arial" panose="020B0604020202020204" pitchFamily="34" charset="0"/>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smtClean="0"/>
              <a:t>Click to edit Master title style</a:t>
            </a:r>
            <a:endParaRPr lang="zh-CN" altLang="en-US" strike="noStrike" noProof="1" smtClean="0"/>
          </a:p>
        </p:txBody>
      </p:sp>
      <p:sp>
        <p:nvSpPr>
          <p:cNvPr id="3" name="内容占位符 2"/>
          <p:cNvSpPr>
            <a:spLocks noGrp="1"/>
          </p:cNvSpPr>
          <p:nvPr>
            <p:ph idx="1" hasCustomPrompt="1"/>
          </p:nvPr>
        </p:nvSpPr>
        <p:spPr/>
        <p:txBody>
          <a:bodyPr/>
          <a:lstStyle/>
          <a:p>
            <a:pPr lvl="0" fontAlgn="auto"/>
            <a:r>
              <a:rPr lang="zh-CN" altLang="en-US" strike="noStrike" noProof="1" smtClean="0"/>
              <a:t> Click to edit Master text style</a:t>
            </a:r>
            <a:endParaRPr lang="zh-CN" altLang="en-US" strike="noStrike" noProof="1" smtClean="0"/>
          </a:p>
          <a:p>
            <a:pPr lvl="0" fontAlgn="auto"/>
            <a:r>
              <a:rPr lang="zh-CN" altLang="en-US" strike="noStrike" noProof="1" smtClean="0"/>
              <a:t>              Second level</a:t>
            </a:r>
            <a:endParaRPr lang="zh-CN" altLang="en-US" strike="noStrike" noProof="1" smtClean="0"/>
          </a:p>
          <a:p>
            <a:pPr lvl="0" fontAlgn="auto"/>
            <a:r>
              <a:rPr lang="zh-CN" altLang="en-US" strike="noStrike" noProof="1" smtClean="0"/>
              <a:t>                            Third level</a:t>
            </a:r>
            <a:endParaRPr lang="zh-CN" altLang="en-US" strike="noStrike" noProof="1" smtClean="0"/>
          </a:p>
          <a:p>
            <a:pPr lvl="0" fontAlgn="auto"/>
            <a:r>
              <a:rPr lang="zh-CN" altLang="en-US" strike="noStrike" noProof="1" smtClean="0"/>
              <a:t>                                      Fourth level</a:t>
            </a:r>
            <a:endParaRPr lang="zh-CN" altLang="en-US" strike="noStrike" noProof="1" smtClean="0"/>
          </a:p>
          <a:p>
            <a:pPr lvl="0" fontAlgn="auto"/>
            <a:r>
              <a:rPr lang="zh-CN" altLang="en-US" strike="noStrike" noProof="1" smtClean="0"/>
              <a:t>                                                    Fifth level</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6087A6AC-F4CC-4AE9-9544-8D77F31D3FDC}" type="slidenum">
              <a:rPr kumimoji="0" lang="zh-CN" alt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Arial" panose="020B0604020202020204" pitchFamily="34" charset="0"/>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Arial" panose="020B0604020202020204" pitchFamily="34" charset="0"/>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pPr fontAlgn="base"/>
            <a:r>
              <a:rPr lang="zh-CN" altLang="en-US" strike="noStrike" noProof="1" smtClean="0"/>
              <a:t>Click to edit Master title style</a:t>
            </a:r>
            <a:endParaRPr lang="zh-CN" altLang="en-US" strike="noStrike" noProof="1" smtClean="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Click to edit Master title style</a:t>
            </a:r>
            <a:endParaRPr lang="zh-CN" altLang="en-US" strike="noStrike" noProof="1" smtClean="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4A132D4-9579-43D3-893F-C68241121384}" type="slidenum">
              <a:rPr kumimoji="0" lang="zh-CN" altLang="en-US" sz="1200" b="0" i="0" u="none" strike="noStrike" kern="1200" cap="none" spc="0" normalizeH="0" baseline="0" noProof="0">
                <a:ln>
                  <a:noFill/>
                </a:ln>
                <a:solidFill>
                  <a:schemeClr val="tx1">
                    <a:tint val="75000"/>
                  </a:schemeClr>
                </a:solidFill>
                <a:effectLst/>
                <a:uLnTx/>
                <a:uFillTx/>
                <a:latin typeface="+mn-lt"/>
                <a:ea typeface="Arial" panose="020B0604020202020204" pitchFamily="34" charset="0"/>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Arial" panose="020B0604020202020204" pitchFamily="34" charset="0"/>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pPr fontAlgn="auto"/>
            <a:r>
              <a:rPr lang="zh-CN" altLang="en-US" strike="noStrike" noProof="1" smtClean="0"/>
              <a:t>Click to edit Master title style</a:t>
            </a:r>
            <a:endParaRPr lang="zh-CN" altLang="en-US" strike="noStrike" noProof="1" smtClean="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smtClean="0"/>
              <a:t>Click to edit Master title style</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6087A6AC-F4CC-4AE9-9544-8D77F31D3FDC}" type="slidenum">
              <a:rPr kumimoji="0" lang="zh-CN" alt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Arial" panose="020B0604020202020204" pitchFamily="34" charset="0"/>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Arial" panose="020B0604020202020204" pitchFamily="34" charset="0"/>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smtClean="0"/>
              <a:t>Click to edit Master title style</a:t>
            </a:r>
            <a:endParaRPr lang="zh-CN" altLang="en-US" strike="noStrike" noProof="1" smtClean="0"/>
          </a:p>
        </p:txBody>
      </p:sp>
      <p:sp>
        <p:nvSpPr>
          <p:cNvPr id="3" name="内容占位符 2"/>
          <p:cNvSpPr>
            <a:spLocks noGrp="1"/>
          </p:cNvSpPr>
          <p:nvPr>
            <p:ph idx="1" hasCustomPrompt="1"/>
          </p:nvPr>
        </p:nvSpPr>
        <p:spPr/>
        <p:txBody>
          <a:bodyPr/>
          <a:lstStyle/>
          <a:p>
            <a:pPr lvl="0" fontAlgn="auto"/>
            <a:r>
              <a:rPr lang="zh-CN" altLang="en-US" strike="noStrike" noProof="1" smtClean="0"/>
              <a:t> Click to edit Master text style</a:t>
            </a:r>
            <a:endParaRPr lang="zh-CN" altLang="en-US" strike="noStrike" noProof="1" smtClean="0"/>
          </a:p>
          <a:p>
            <a:pPr lvl="0" fontAlgn="auto"/>
            <a:r>
              <a:rPr lang="zh-CN" altLang="en-US" strike="noStrike" noProof="1" smtClean="0"/>
              <a:t>              Second level</a:t>
            </a:r>
            <a:endParaRPr lang="zh-CN" altLang="en-US" strike="noStrike" noProof="1" smtClean="0"/>
          </a:p>
          <a:p>
            <a:pPr lvl="0" fontAlgn="auto"/>
            <a:r>
              <a:rPr lang="zh-CN" altLang="en-US" strike="noStrike" noProof="1" smtClean="0"/>
              <a:t>                            Third level</a:t>
            </a:r>
            <a:endParaRPr lang="zh-CN" altLang="en-US" strike="noStrike" noProof="1" smtClean="0"/>
          </a:p>
          <a:p>
            <a:pPr lvl="0" fontAlgn="auto"/>
            <a:r>
              <a:rPr lang="zh-CN" altLang="en-US" strike="noStrike" noProof="1" smtClean="0"/>
              <a:t>                                      Fourth level</a:t>
            </a:r>
            <a:endParaRPr lang="zh-CN" altLang="en-US" strike="noStrike" noProof="1" smtClean="0"/>
          </a:p>
          <a:p>
            <a:pPr lvl="0" fontAlgn="auto"/>
            <a:r>
              <a:rPr lang="zh-CN" altLang="en-US" strike="noStrike" noProof="1" smtClean="0"/>
              <a:t>                                                    Fifth level</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6087A6AC-F4CC-4AE9-9544-8D77F31D3FDC}" type="slidenum">
              <a:rPr kumimoji="0" lang="zh-CN" alt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Arial" panose="020B0604020202020204" pitchFamily="34" charset="0"/>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Arial" panose="020B0604020202020204" pitchFamily="34" charset="0"/>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A5482218-4226-4C28-A117-890E18531634}"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Click to edit Master title style</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nchorCtr="0"/>
          <a:p>
            <a:pPr lvl="0"/>
            <a:r>
              <a:rPr lang="zh-CN" altLang="en-US" dirty="0"/>
              <a:t> Click to edit Master text style</a:t>
            </a:r>
            <a:endParaRPr lang="zh-CN" altLang="en-US" dirty="0"/>
          </a:p>
          <a:p>
            <a:pPr lvl="0"/>
            <a:r>
              <a:rPr lang="zh-CN" altLang="en-US" dirty="0"/>
              <a:t>              Second level</a:t>
            </a:r>
            <a:endParaRPr lang="zh-CN" altLang="en-US" dirty="0"/>
          </a:p>
          <a:p>
            <a:pPr lvl="0"/>
            <a:r>
              <a:rPr lang="zh-CN" altLang="en-US" dirty="0"/>
              <a:t>                            Third level</a:t>
            </a:r>
            <a:endParaRPr lang="zh-CN" altLang="en-US" dirty="0"/>
          </a:p>
          <a:p>
            <a:pPr lvl="0"/>
            <a:r>
              <a:rPr lang="zh-CN" altLang="en-US" dirty="0"/>
              <a:t>                                      Fourth level</a:t>
            </a:r>
            <a:endParaRPr lang="zh-CN" altLang="en-US" dirty="0"/>
          </a:p>
          <a:p>
            <a:pPr lvl="0"/>
            <a:r>
              <a:rPr lang="zh-CN" altLang="en-US" dirty="0"/>
              <a:t>                                                    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6087A6AC-F4CC-4AE9-9544-8D77F31D3FDC}" type="slidenum">
              <a:rPr kumimoji="0" lang="zh-CN" alt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Arial" panose="020B0604020202020204" pitchFamily="34" charset="0"/>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Arial" panose="020B0604020202020204" pitchFamily="34" charset="0"/>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dirty="0"/>
              <a:t>Click to edit Master title style</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nchorCtr="0"/>
          <a:lstStyle/>
          <a:p>
            <a:pPr lvl="0"/>
            <a:r>
              <a:rPr lang="zh-CN" altLang="en-US" dirty="0"/>
              <a:t>Click to edit Master text style</a:t>
            </a:r>
            <a:endParaRPr lang="zh-CN" altLang="en-US" dirty="0"/>
          </a:p>
          <a:p>
            <a:pPr lvl="1" indent="-228600"/>
            <a:r>
              <a:rPr lang="zh-CN" altLang="en-US" dirty="0"/>
              <a:t>Second level</a:t>
            </a:r>
            <a:endParaRPr lang="zh-CN" altLang="en-US" dirty="0"/>
          </a:p>
          <a:p>
            <a:pPr lvl="2" indent="-228600"/>
            <a:r>
              <a:rPr lang="zh-CN" altLang="en-US" dirty="0"/>
              <a:t>Third level</a:t>
            </a:r>
            <a:endParaRPr lang="zh-CN" altLang="en-US" dirty="0"/>
          </a:p>
          <a:p>
            <a:pPr lvl="3" indent="-228600"/>
            <a:r>
              <a:rPr lang="zh-CN" altLang="en-US" dirty="0"/>
              <a:t>Fourth level</a:t>
            </a:r>
            <a:endParaRPr lang="zh-CN" altLang="en-US" dirty="0"/>
          </a:p>
          <a:p>
            <a:pPr lvl="4" indent="-228600"/>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ea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F4A132D4-9579-43D3-893F-C68241121384}" type="slidenum">
              <a:rPr kumimoji="0" lang="zh-CN" altLang="en-US" sz="1200" b="0" i="0" u="none" strike="noStrike" kern="1200" cap="none" spc="0" normalizeH="0" baseline="0" noProof="0">
                <a:ln>
                  <a:noFill/>
                </a:ln>
                <a:solidFill>
                  <a:schemeClr val="tx1">
                    <a:tint val="75000"/>
                  </a:schemeClr>
                </a:solidFill>
                <a:effectLst/>
                <a:uLnTx/>
                <a:uFillTx/>
                <a:latin typeface="+mn-lt"/>
                <a:ea typeface="Arial" panose="020B0604020202020204" pitchFamily="34" charset="0"/>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Arial" panose="020B0604020202020204" pitchFamily="34" charset="0"/>
              <a:cs typeface="+mn-cs"/>
            </a:endParaRPr>
          </a:p>
        </p:txBody>
      </p:sp>
    </p:spTree>
  </p:cSld>
  <p:clrMap bg1="lt1" tx1="dk1" bg2="lt2" tx2="dk2" accent1="accent1" accent2="accent2" accent3="accent3" accent4="accent4" accent5="accent5" accent6="accent6" hlink="hlink" folHlink="folHlink"/>
  <p:sldLayoutIdLst>
    <p:sldLayoutId id="2147483652" r:id="rId1"/>
  </p:sldLayoutIdLst>
  <p:hf sldNum="0" hdr="0" ftr="0" dt="0"/>
  <p:txStyles>
    <p:titleStyle>
      <a:lvl1pPr algn="l" rtl="0" fontAlgn="base">
        <a:lnSpc>
          <a:spcPct val="90000"/>
        </a:lnSpc>
        <a:spcBef>
          <a:spcPct val="0"/>
        </a:spcBef>
        <a:spcAft>
          <a:spcPct val="0"/>
        </a:spcAft>
        <a:defRPr sz="4400" kern="1200">
          <a:solidFill>
            <a:schemeClr val="tx1"/>
          </a:solidFill>
          <a:latin typeface="+mj-lt"/>
          <a:ea typeface="Arial" panose="020B0604020202020204" pitchFamily="34" charset="0"/>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Arial" panose="020B0604020202020204" pitchFamily="34" charset="0"/>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Arial" panose="020B0604020202020204" pitchFamily="34" charset="0"/>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Arial" panose="020B0604020202020204" pitchFamily="34" charset="0"/>
          <a:cs typeface="+mn-cs"/>
        </a:defRPr>
      </a:lvl3pPr>
      <a:lvl4pPr marL="16002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Arial" panose="020B0604020202020204" pitchFamily="34" charset="0"/>
          <a:cs typeface="+mn-cs"/>
        </a:defRPr>
      </a:lvl4pPr>
      <a:lvl5pPr marL="20574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Click to edit Master title style</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nchorCtr="0"/>
          <a:p>
            <a:pPr lvl="0"/>
            <a:r>
              <a:rPr lang="zh-CN" altLang="en-US" dirty="0"/>
              <a:t> Click to edit Master text style</a:t>
            </a:r>
            <a:endParaRPr lang="zh-CN" altLang="en-US" dirty="0"/>
          </a:p>
          <a:p>
            <a:pPr lvl="0"/>
            <a:r>
              <a:rPr lang="zh-CN" altLang="en-US" dirty="0"/>
              <a:t>              Second level</a:t>
            </a:r>
            <a:endParaRPr lang="zh-CN" altLang="en-US" dirty="0"/>
          </a:p>
          <a:p>
            <a:pPr lvl="0"/>
            <a:r>
              <a:rPr lang="zh-CN" altLang="en-US" dirty="0"/>
              <a:t>                            Third level</a:t>
            </a:r>
            <a:endParaRPr lang="zh-CN" altLang="en-US" dirty="0"/>
          </a:p>
          <a:p>
            <a:pPr lvl="0"/>
            <a:r>
              <a:rPr lang="zh-CN" altLang="en-US" dirty="0"/>
              <a:t>                                      Fourth level</a:t>
            </a:r>
            <a:endParaRPr lang="zh-CN" altLang="en-US" dirty="0"/>
          </a:p>
          <a:p>
            <a:pPr lvl="0"/>
            <a:r>
              <a:rPr lang="zh-CN" altLang="en-US" dirty="0"/>
              <a:t>                                                    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6087A6AC-F4CC-4AE9-9544-8D77F31D3FDC}" type="slidenum">
              <a:rPr kumimoji="0" lang="zh-CN" alt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Arial" panose="020B0604020202020204" pitchFamily="34" charset="0"/>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Arial" panose="020B0604020202020204" pitchFamily="34" charset="0"/>
              <a:cs typeface="+mn-cs"/>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GIF"/></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jpe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sv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5" name="组合 2"/>
          <p:cNvGrpSpPr/>
          <p:nvPr/>
        </p:nvGrpSpPr>
        <p:grpSpPr>
          <a:xfrm>
            <a:off x="-910590" y="0"/>
            <a:ext cx="4114800" cy="6872605"/>
            <a:chOff x="0" y="0"/>
            <a:chExt cx="5562600" cy="6858000"/>
          </a:xfrm>
        </p:grpSpPr>
        <p:sp>
          <p:nvSpPr>
            <p:cNvPr id="5" name="矩形 1"/>
            <p:cNvSpPr/>
            <p:nvPr/>
          </p:nvSpPr>
          <p:spPr>
            <a:xfrm>
              <a:off x="152371" y="0"/>
              <a:ext cx="5410229" cy="6858000"/>
            </a:xfrm>
            <a:custGeom>
              <a:avLst/>
              <a:gdLst>
                <a:gd name="connsiteX0" fmla="*/ 0 w 5207000"/>
                <a:gd name="connsiteY0" fmla="*/ 0 h 6858000"/>
                <a:gd name="connsiteX1" fmla="*/ 5207000 w 5207000"/>
                <a:gd name="connsiteY1" fmla="*/ 0 h 6858000"/>
                <a:gd name="connsiteX2" fmla="*/ 5207000 w 5207000"/>
                <a:gd name="connsiteY2" fmla="*/ 6858000 h 6858000"/>
                <a:gd name="connsiteX3" fmla="*/ 0 w 5207000"/>
                <a:gd name="connsiteY3" fmla="*/ 6858000 h 6858000"/>
                <a:gd name="connsiteX4" fmla="*/ 0 w 5207000"/>
                <a:gd name="connsiteY4" fmla="*/ 0 h 6858000"/>
                <a:gd name="connsiteX0-1" fmla="*/ 0 w 5207000"/>
                <a:gd name="connsiteY0-2" fmla="*/ 0 h 6858000"/>
                <a:gd name="connsiteX1-3" fmla="*/ 5207000 w 5207000"/>
                <a:gd name="connsiteY1-4" fmla="*/ 0 h 6858000"/>
                <a:gd name="connsiteX2-5" fmla="*/ 4445000 w 5207000"/>
                <a:gd name="connsiteY2-6" fmla="*/ 6858000 h 6858000"/>
                <a:gd name="connsiteX3-7" fmla="*/ 0 w 5207000"/>
                <a:gd name="connsiteY3-8" fmla="*/ 6858000 h 6858000"/>
                <a:gd name="connsiteX4-9" fmla="*/ 0 w 5207000"/>
                <a:gd name="connsiteY4-10" fmla="*/ 0 h 6858000"/>
                <a:gd name="connsiteX0-11" fmla="*/ 0 w 5410200"/>
                <a:gd name="connsiteY0-12" fmla="*/ 0 h 6858000"/>
                <a:gd name="connsiteX1-13" fmla="*/ 5410200 w 5410200"/>
                <a:gd name="connsiteY1-14" fmla="*/ 0 h 6858000"/>
                <a:gd name="connsiteX2-15" fmla="*/ 4445000 w 5410200"/>
                <a:gd name="connsiteY2-16" fmla="*/ 6858000 h 6858000"/>
                <a:gd name="connsiteX3-17" fmla="*/ 0 w 5410200"/>
                <a:gd name="connsiteY3-18" fmla="*/ 6858000 h 6858000"/>
                <a:gd name="connsiteX4-19" fmla="*/ 0 w 5410200"/>
                <a:gd name="connsiteY4-20" fmla="*/ 0 h 6858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410200" h="6858000">
                  <a:moveTo>
                    <a:pt x="0" y="0"/>
                  </a:moveTo>
                  <a:lnTo>
                    <a:pt x="5410200" y="0"/>
                  </a:lnTo>
                  <a:lnTo>
                    <a:pt x="4445000" y="6858000"/>
                  </a:lnTo>
                  <a:lnTo>
                    <a:pt x="0" y="6858000"/>
                  </a:lnTo>
                  <a:lnTo>
                    <a:pt x="0" y="0"/>
                  </a:lnTo>
                  <a:close/>
                </a:path>
              </a:pathLst>
            </a:custGeom>
            <a:solidFill>
              <a:srgbClr val="8B8C8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矩形 1"/>
            <p:cNvSpPr/>
            <p:nvPr/>
          </p:nvSpPr>
          <p:spPr>
            <a:xfrm>
              <a:off x="0" y="0"/>
              <a:ext cx="5410230" cy="6858000"/>
            </a:xfrm>
            <a:custGeom>
              <a:avLst/>
              <a:gdLst>
                <a:gd name="connsiteX0" fmla="*/ 0 w 5207000"/>
                <a:gd name="connsiteY0" fmla="*/ 0 h 6858000"/>
                <a:gd name="connsiteX1" fmla="*/ 5207000 w 5207000"/>
                <a:gd name="connsiteY1" fmla="*/ 0 h 6858000"/>
                <a:gd name="connsiteX2" fmla="*/ 5207000 w 5207000"/>
                <a:gd name="connsiteY2" fmla="*/ 6858000 h 6858000"/>
                <a:gd name="connsiteX3" fmla="*/ 0 w 5207000"/>
                <a:gd name="connsiteY3" fmla="*/ 6858000 h 6858000"/>
                <a:gd name="connsiteX4" fmla="*/ 0 w 5207000"/>
                <a:gd name="connsiteY4" fmla="*/ 0 h 6858000"/>
                <a:gd name="connsiteX0-1" fmla="*/ 0 w 5207000"/>
                <a:gd name="connsiteY0-2" fmla="*/ 0 h 6858000"/>
                <a:gd name="connsiteX1-3" fmla="*/ 5207000 w 5207000"/>
                <a:gd name="connsiteY1-4" fmla="*/ 0 h 6858000"/>
                <a:gd name="connsiteX2-5" fmla="*/ 4445000 w 5207000"/>
                <a:gd name="connsiteY2-6" fmla="*/ 6858000 h 6858000"/>
                <a:gd name="connsiteX3-7" fmla="*/ 0 w 5207000"/>
                <a:gd name="connsiteY3-8" fmla="*/ 6858000 h 6858000"/>
                <a:gd name="connsiteX4-9" fmla="*/ 0 w 5207000"/>
                <a:gd name="connsiteY4-10" fmla="*/ 0 h 6858000"/>
                <a:gd name="connsiteX0-11" fmla="*/ 0 w 5410200"/>
                <a:gd name="connsiteY0-12" fmla="*/ 0 h 6858000"/>
                <a:gd name="connsiteX1-13" fmla="*/ 5410200 w 5410200"/>
                <a:gd name="connsiteY1-14" fmla="*/ 0 h 6858000"/>
                <a:gd name="connsiteX2-15" fmla="*/ 4445000 w 5410200"/>
                <a:gd name="connsiteY2-16" fmla="*/ 6858000 h 6858000"/>
                <a:gd name="connsiteX3-17" fmla="*/ 0 w 5410200"/>
                <a:gd name="connsiteY3-18" fmla="*/ 6858000 h 6858000"/>
                <a:gd name="connsiteX4-19" fmla="*/ 0 w 5410200"/>
                <a:gd name="connsiteY4-20" fmla="*/ 0 h 6858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410200" h="6858000">
                  <a:moveTo>
                    <a:pt x="0" y="0"/>
                  </a:moveTo>
                  <a:lnTo>
                    <a:pt x="5410200" y="0"/>
                  </a:lnTo>
                  <a:lnTo>
                    <a:pt x="4445000" y="6858000"/>
                  </a:lnTo>
                  <a:lnTo>
                    <a:pt x="0" y="6858000"/>
                  </a:lnTo>
                  <a:lnTo>
                    <a:pt x="0" y="0"/>
                  </a:lnTo>
                  <a:close/>
                </a:path>
              </a:pathLst>
            </a:custGeom>
            <a:solidFill>
              <a:srgbClr val="202221"/>
            </a:solidFill>
            <a:ln>
              <a:solidFill>
                <a:srgbClr val="20222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16" name="Grouper 15"/>
          <p:cNvGrpSpPr/>
          <p:nvPr/>
        </p:nvGrpSpPr>
        <p:grpSpPr>
          <a:xfrm>
            <a:off x="96520" y="1419860"/>
            <a:ext cx="3843655" cy="3841750"/>
            <a:chOff x="2790" y="2398"/>
            <a:chExt cx="6053" cy="6050"/>
          </a:xfrm>
        </p:grpSpPr>
        <p:sp>
          <p:nvSpPr>
            <p:cNvPr id="28" name="椭圆 27"/>
            <p:cNvSpPr/>
            <p:nvPr/>
          </p:nvSpPr>
          <p:spPr>
            <a:xfrm>
              <a:off x="2790" y="2398"/>
              <a:ext cx="6053" cy="60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椭圆 16"/>
            <p:cNvSpPr/>
            <p:nvPr/>
          </p:nvSpPr>
          <p:spPr>
            <a:xfrm>
              <a:off x="2993" y="2578"/>
              <a:ext cx="5648" cy="5645"/>
            </a:xfrm>
            <a:prstGeom prst="ellipse">
              <a:avLst/>
            </a:prstGeom>
            <a:gradFill>
              <a:gsLst>
                <a:gs pos="0">
                  <a:srgbClr val="E30000"/>
                </a:gs>
                <a:gs pos="100000">
                  <a:srgbClr val="760303"/>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4104" name="文本框 9"/>
          <p:cNvSpPr txBox="1"/>
          <p:nvPr/>
        </p:nvSpPr>
        <p:spPr>
          <a:xfrm>
            <a:off x="4373880" y="2552065"/>
            <a:ext cx="6663690" cy="1753235"/>
          </a:xfrm>
          <a:prstGeom prst="rect">
            <a:avLst/>
          </a:prstGeom>
          <a:noFill/>
          <a:ln w="9525">
            <a:noFill/>
          </a:ln>
        </p:spPr>
        <p:txBody>
          <a:bodyPr wrap="square" anchor="t" anchorCtr="0">
            <a:spAutoFit/>
          </a:bodyPr>
          <a:lstStyle/>
          <a:p>
            <a:pPr algn="ctr"/>
            <a:r>
              <a:rPr lang="en-US" altLang="fr-FR" sz="3600" dirty="0">
                <a:solidFill>
                  <a:srgbClr val="C00000"/>
                </a:solidFill>
                <a:latin typeface="Arial" panose="020B0604020202020204" pitchFamily="34" charset="0"/>
                <a:ea typeface="Arial" panose="020B0604020202020204" pitchFamily="34" charset="0"/>
              </a:rPr>
              <a:t>L</a:t>
            </a:r>
            <a:r>
              <a:rPr lang="en-US" altLang="fr-FR" sz="3600" dirty="0">
                <a:solidFill>
                  <a:srgbClr val="262626"/>
                </a:solidFill>
                <a:latin typeface="Arial" panose="020B0604020202020204" pitchFamily="34" charset="0"/>
                <a:ea typeface="Arial" panose="020B0604020202020204" pitchFamily="34" charset="0"/>
              </a:rPr>
              <a:t>e rôle des systèmes d'exploitation dans la gestion des </a:t>
            </a:r>
            <a:r>
              <a:rPr lang="en-US" altLang="fr-FR" sz="3600" dirty="0">
                <a:solidFill>
                  <a:srgbClr val="C00000"/>
                </a:solidFill>
                <a:latin typeface="Arial" panose="020B0604020202020204" pitchFamily="34" charset="0"/>
                <a:ea typeface="Arial" panose="020B0604020202020204" pitchFamily="34" charset="0"/>
              </a:rPr>
              <a:t>processus</a:t>
            </a:r>
            <a:endParaRPr lang="en-US" altLang="fr-FR" sz="3600" dirty="0">
              <a:solidFill>
                <a:srgbClr val="262626"/>
              </a:solidFill>
              <a:latin typeface="Arial" panose="020B0604020202020204" pitchFamily="34" charset="0"/>
              <a:ea typeface="Arial" panose="020B0604020202020204" pitchFamily="34" charset="0"/>
            </a:endParaRPr>
          </a:p>
        </p:txBody>
      </p:sp>
      <p:grpSp>
        <p:nvGrpSpPr>
          <p:cNvPr id="23" name="Grouper 22"/>
          <p:cNvGrpSpPr/>
          <p:nvPr/>
        </p:nvGrpSpPr>
        <p:grpSpPr>
          <a:xfrm>
            <a:off x="9342120" y="5261610"/>
            <a:ext cx="2425065" cy="1261624"/>
            <a:chOff x="14776" y="8383"/>
            <a:chExt cx="3819" cy="2061"/>
          </a:xfrm>
        </p:grpSpPr>
        <p:sp>
          <p:nvSpPr>
            <p:cNvPr id="21" name="矩形 7"/>
            <p:cNvSpPr/>
            <p:nvPr/>
          </p:nvSpPr>
          <p:spPr>
            <a:xfrm>
              <a:off x="14776" y="9120"/>
              <a:ext cx="3819" cy="1324"/>
            </a:xfrm>
            <a:prstGeom prst="rect">
              <a:avLst/>
            </a:prstGeom>
            <a:solidFill>
              <a:srgbClr val="9E18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ea typeface="Microsoft YaHei" panose="020B0503020204020204" pitchFamily="34" charset="-122"/>
                  <a:sym typeface="+mn-lt"/>
                </a:rPr>
                <a:t>ABAAOUD YOUNES</a:t>
              </a:r>
              <a:endParaRPr lang="en-US" altLang="zh-CN" sz="1600" dirty="0">
                <a:solidFill>
                  <a:schemeClr val="bg1"/>
                </a:solidFill>
                <a:ea typeface="Microsoft YaHei" panose="020B0503020204020204" pitchFamily="34" charset="-122"/>
                <a:sym typeface="+mn-lt"/>
              </a:endParaRPr>
            </a:p>
            <a:p>
              <a:pPr algn="ctr"/>
              <a:r>
                <a:rPr lang="en-US" altLang="zh-CN" sz="1600" dirty="0">
                  <a:solidFill>
                    <a:schemeClr val="bg1"/>
                  </a:solidFill>
                  <a:ea typeface="Microsoft YaHei" panose="020B0503020204020204" pitchFamily="34" charset="-122"/>
                  <a:sym typeface="+mn-lt"/>
                </a:rPr>
                <a:t>ARBIB MOHAMMED</a:t>
              </a:r>
              <a:endParaRPr lang="en-US" altLang="zh-CN" sz="1600" dirty="0">
                <a:solidFill>
                  <a:schemeClr val="bg1"/>
                </a:solidFill>
                <a:ea typeface="Microsoft YaHei" panose="020B0503020204020204" pitchFamily="34" charset="-122"/>
                <a:sym typeface="+mn-lt"/>
              </a:endParaRPr>
            </a:p>
          </p:txBody>
        </p:sp>
        <p:sp>
          <p:nvSpPr>
            <p:cNvPr id="22" name="Zone de texte 21"/>
            <p:cNvSpPr txBox="1"/>
            <p:nvPr/>
          </p:nvSpPr>
          <p:spPr>
            <a:xfrm>
              <a:off x="14776" y="8383"/>
              <a:ext cx="3490" cy="602"/>
            </a:xfrm>
            <a:prstGeom prst="rect">
              <a:avLst/>
            </a:prstGeom>
            <a:noFill/>
          </p:spPr>
          <p:txBody>
            <a:bodyPr wrap="square" rtlCol="0">
              <a:spAutoFit/>
            </a:bodyPr>
            <a:lstStyle/>
            <a:p>
              <a:r>
                <a:rPr lang="fr-FR" altLang="en-US"/>
                <a:t> </a:t>
              </a:r>
              <a:r>
                <a:rPr lang="fr-FR" altLang="en-US" b="1"/>
                <a:t>Présenté par</a:t>
              </a:r>
              <a:r>
                <a:rPr lang="fr-FR" altLang="en-US"/>
                <a:t>:</a:t>
              </a:r>
              <a:endParaRPr lang="fr-FR" altLang="en-US"/>
            </a:p>
          </p:txBody>
        </p:sp>
      </p:grpSp>
      <p:pic>
        <p:nvPicPr>
          <p:cNvPr id="6" name="Image 5" descr="processor"/>
          <p:cNvPicPr>
            <a:picLocks noChangeAspect="1"/>
          </p:cNvPicPr>
          <p:nvPr/>
        </p:nvPicPr>
        <p:blipFill>
          <a:blip r:embed="rId1"/>
          <a:srcRect l="17200" t="4056" r="14356" b="2392"/>
          <a:stretch>
            <a:fillRect/>
          </a:stretch>
        </p:blipFill>
        <p:spPr>
          <a:xfrm>
            <a:off x="382905" y="1645920"/>
            <a:ext cx="3268980" cy="3361055"/>
          </a:xfrm>
          <a:prstGeom prst="ellipse">
            <a:avLst/>
          </a:prstGeom>
        </p:spPr>
      </p:pic>
      <p:pic>
        <p:nvPicPr>
          <p:cNvPr id="7" name="Image 6" descr="logo"/>
          <p:cNvPicPr>
            <a:picLocks noChangeAspect="1"/>
          </p:cNvPicPr>
          <p:nvPr/>
        </p:nvPicPr>
        <p:blipFill>
          <a:blip r:embed="rId2"/>
          <a:stretch>
            <a:fillRect/>
          </a:stretch>
        </p:blipFill>
        <p:spPr>
          <a:xfrm>
            <a:off x="6096000" y="306705"/>
            <a:ext cx="2566035" cy="1484630"/>
          </a:xfrm>
          <a:prstGeom prst="rect">
            <a:avLst/>
          </a:prstGeom>
        </p:spPr>
      </p:pic>
      <p:grpSp>
        <p:nvGrpSpPr>
          <p:cNvPr id="9" name="Grouper 8"/>
          <p:cNvGrpSpPr/>
          <p:nvPr/>
        </p:nvGrpSpPr>
        <p:grpSpPr>
          <a:xfrm>
            <a:off x="3204210" y="5473700"/>
            <a:ext cx="2425065" cy="1002688"/>
            <a:chOff x="14776" y="8383"/>
            <a:chExt cx="3819" cy="1638"/>
          </a:xfrm>
        </p:grpSpPr>
        <p:sp>
          <p:nvSpPr>
            <p:cNvPr id="11" name="矩形 7"/>
            <p:cNvSpPr/>
            <p:nvPr/>
          </p:nvSpPr>
          <p:spPr>
            <a:xfrm>
              <a:off x="14776" y="9192"/>
              <a:ext cx="3819" cy="829"/>
            </a:xfrm>
            <a:prstGeom prst="rect">
              <a:avLst/>
            </a:prstGeom>
            <a:solidFill>
              <a:srgbClr val="9E18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dirty="0">
                  <a:solidFill>
                    <a:schemeClr val="bg1"/>
                  </a:solidFill>
                  <a:ea typeface="Microsoft YaHei" panose="020B0503020204020204" pitchFamily="34" charset="-122"/>
                  <a:sym typeface="+mn-lt"/>
                </a:rPr>
                <a:t>Groupe A</a:t>
              </a:r>
              <a:endParaRPr lang="en-US" altLang="zh-CN" sz="1600" dirty="0">
                <a:solidFill>
                  <a:schemeClr val="bg1"/>
                </a:solidFill>
                <a:ea typeface="Microsoft YaHei" panose="020B0503020204020204" pitchFamily="34" charset="-122"/>
                <a:sym typeface="+mn-lt"/>
              </a:endParaRPr>
            </a:p>
          </p:txBody>
        </p:sp>
        <p:sp>
          <p:nvSpPr>
            <p:cNvPr id="12" name="Zone de texte 11"/>
            <p:cNvSpPr txBox="1"/>
            <p:nvPr/>
          </p:nvSpPr>
          <p:spPr>
            <a:xfrm>
              <a:off x="14776" y="8383"/>
              <a:ext cx="3490" cy="602"/>
            </a:xfrm>
            <a:prstGeom prst="rect">
              <a:avLst/>
            </a:prstGeom>
            <a:noFill/>
          </p:spPr>
          <p:txBody>
            <a:bodyPr wrap="square" rtlCol="0">
              <a:spAutoFit/>
            </a:bodyPr>
            <a:p>
              <a:r>
                <a:rPr lang="fr-FR" altLang="en-US"/>
                <a:t> </a:t>
              </a:r>
              <a:r>
                <a:rPr lang="fr-FR" altLang="en-US" b="1"/>
                <a:t>Préalisé par</a:t>
              </a:r>
              <a:r>
                <a:rPr lang="fr-FR" altLang="en-US"/>
                <a:t>:</a:t>
              </a:r>
              <a:endParaRPr lang="fr-FR" altLang="en-US"/>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nvSpPr>
        <p:spPr>
          <a:xfrm>
            <a:off x="1249363" y="2294255"/>
            <a:ext cx="4637088" cy="257810"/>
          </a:xfrm>
          <a:prstGeom prst="rect">
            <a:avLst/>
          </a:prstGeom>
          <a:noFill/>
        </p:spPr>
        <p:txBody>
          <a:bodyPr wrap="square" lIns="0" tIns="0" rIns="0" bIns="0" rtlCol="0" anchor="t" anchorCtr="0">
            <a:spAutoFit/>
          </a:bodyPr>
          <a:lstStyle/>
          <a:p>
            <a:pPr marL="0" marR="0" lvl="0" indent="0" algn="l" defTabSz="1216660" rtl="0" eaLnBrk="1" fontAlgn="auto" latinLnBrk="0" hangingPunct="1">
              <a:lnSpc>
                <a:spcPct val="120000"/>
              </a:lnSpc>
              <a:spcBef>
                <a:spcPct val="20000"/>
              </a:spcBef>
              <a:spcAft>
                <a:spcPts val="0"/>
              </a:spcAft>
              <a:buClrTx/>
              <a:buSzTx/>
              <a:buFontTx/>
              <a:buNone/>
              <a:defRPr/>
            </a:pPr>
            <a:endParaRPr kumimoji="0" lang="zh-CN" altLang="en-US" sz="1400" b="0" i="0" u="none" strike="noStrike" kern="1200" cap="none" spc="0" normalizeH="0" baseline="0" noProof="0" dirty="0" smtClean="0">
              <a:ln>
                <a:noFill/>
              </a:ln>
              <a:solidFill>
                <a:schemeClr val="tx1">
                  <a:lumMod val="85000"/>
                  <a:lumOff val="15000"/>
                </a:schemeClr>
              </a:solidFill>
              <a:effectLst/>
              <a:uLnTx/>
              <a:uFillTx/>
              <a:latin typeface="Arial" panose="020B0604020202020204" pitchFamily="34" charset="0"/>
              <a:ea typeface="Arial" panose="020B0604020202020204" pitchFamily="34" charset="0"/>
              <a:cs typeface="+mn-cs"/>
              <a:sym typeface="Arial" panose="020B0604020202020204" pitchFamily="34" charset="0"/>
            </a:endParaRPr>
          </a:p>
        </p:txBody>
      </p:sp>
      <p:pic>
        <p:nvPicPr>
          <p:cNvPr id="3" name="Espace réservé du contenu 2" descr="wp7541470-ms-dos-wallpapers"/>
          <p:cNvPicPr>
            <a:picLocks noChangeAspect="1"/>
          </p:cNvPicPr>
          <p:nvPr>
            <p:ph idx="1"/>
          </p:nvPr>
        </p:nvPicPr>
        <p:blipFill>
          <a:blip r:embed="rId1"/>
          <a:stretch>
            <a:fillRect/>
          </a:stretch>
        </p:blipFill>
        <p:spPr>
          <a:xfrm>
            <a:off x="1035685" y="2172970"/>
            <a:ext cx="3364230" cy="2378075"/>
          </a:xfrm>
          <a:prstGeom prst="rect">
            <a:avLst/>
          </a:prstGeom>
        </p:spPr>
      </p:pic>
      <p:pic>
        <p:nvPicPr>
          <p:cNvPr id="5" name="Image 4" descr="windows"/>
          <p:cNvPicPr>
            <a:picLocks noChangeAspect="1"/>
          </p:cNvPicPr>
          <p:nvPr/>
        </p:nvPicPr>
        <p:blipFill>
          <a:blip r:embed="rId2"/>
          <a:stretch>
            <a:fillRect/>
          </a:stretch>
        </p:blipFill>
        <p:spPr>
          <a:xfrm>
            <a:off x="6193790" y="2172335"/>
            <a:ext cx="2562860" cy="2216785"/>
          </a:xfrm>
          <a:prstGeom prst="rect">
            <a:avLst/>
          </a:prstGeom>
        </p:spPr>
      </p:pic>
      <p:pic>
        <p:nvPicPr>
          <p:cNvPr id="6" name="Image 5" descr="logo-linux"/>
          <p:cNvPicPr>
            <a:picLocks noChangeAspect="1"/>
          </p:cNvPicPr>
          <p:nvPr/>
        </p:nvPicPr>
        <p:blipFill>
          <a:blip r:embed="rId3"/>
          <a:stretch>
            <a:fillRect/>
          </a:stretch>
        </p:blipFill>
        <p:spPr>
          <a:xfrm>
            <a:off x="9065895" y="2294255"/>
            <a:ext cx="2730500" cy="1931670"/>
          </a:xfrm>
          <a:prstGeom prst="rect">
            <a:avLst/>
          </a:prstGeom>
        </p:spPr>
      </p:pic>
      <p:sp>
        <p:nvSpPr>
          <p:cNvPr id="7" name="Zone de texte 6"/>
          <p:cNvSpPr txBox="1"/>
          <p:nvPr/>
        </p:nvSpPr>
        <p:spPr>
          <a:xfrm>
            <a:off x="1041400" y="4986655"/>
            <a:ext cx="3627120" cy="645160"/>
          </a:xfrm>
          <a:prstGeom prst="rect">
            <a:avLst/>
          </a:prstGeom>
          <a:noFill/>
        </p:spPr>
        <p:txBody>
          <a:bodyPr wrap="square" rtlCol="0">
            <a:spAutoFit/>
          </a:bodyPr>
          <a:p>
            <a:r>
              <a:rPr lang="en-US" altLang="fr-FR">
                <a:latin typeface="Arial" panose="020B0604020202020204" pitchFamily="34" charset="0"/>
                <a:cs typeface="Arial" panose="020B0604020202020204" pitchFamily="34" charset="0"/>
              </a:rPr>
              <a:t>Un </a:t>
            </a:r>
            <a:r>
              <a:rPr lang="fr-FR" altLang="en-US">
                <a:latin typeface="Arial" panose="020B0604020202020204" pitchFamily="34" charset="0"/>
                <a:cs typeface="Arial" panose="020B0604020202020204" pitchFamily="34" charset="0"/>
              </a:rPr>
              <a:t>système d'exploitatio</a:t>
            </a:r>
            <a:r>
              <a:rPr lang="en-US" altLang="fr-FR">
                <a:latin typeface="Arial" panose="020B0604020202020204" pitchFamily="34" charset="0"/>
                <a:cs typeface="Arial" panose="020B0604020202020204" pitchFamily="34" charset="0"/>
              </a:rPr>
              <a:t>n </a:t>
            </a:r>
            <a:endParaRPr lang="en-US" altLang="fr-FR">
              <a:latin typeface="Arial" panose="020B0604020202020204" pitchFamily="34" charset="0"/>
              <a:cs typeface="Arial" panose="020B0604020202020204" pitchFamily="34" charset="0"/>
            </a:endParaRPr>
          </a:p>
          <a:p>
            <a:r>
              <a:rPr lang="fr-FR" altLang="en-US">
                <a:latin typeface="Arial" panose="020B0604020202020204" pitchFamily="34" charset="0"/>
                <a:cs typeface="Arial" panose="020B0604020202020204" pitchFamily="34" charset="0"/>
              </a:rPr>
              <a:t>mono-programmé</a:t>
            </a:r>
            <a:endParaRPr lang="fr-FR" altLang="en-US">
              <a:latin typeface="Arial" panose="020B0604020202020204" pitchFamily="34" charset="0"/>
              <a:cs typeface="Arial" panose="020B0604020202020204" pitchFamily="34" charset="0"/>
            </a:endParaRPr>
          </a:p>
        </p:txBody>
      </p:sp>
      <p:sp>
        <p:nvSpPr>
          <p:cNvPr id="8" name="Zone de texte 7"/>
          <p:cNvSpPr txBox="1"/>
          <p:nvPr/>
        </p:nvSpPr>
        <p:spPr>
          <a:xfrm>
            <a:off x="6397625" y="4986655"/>
            <a:ext cx="5398135" cy="368300"/>
          </a:xfrm>
          <a:prstGeom prst="rect">
            <a:avLst/>
          </a:prstGeom>
          <a:noFill/>
        </p:spPr>
        <p:txBody>
          <a:bodyPr wrap="square" rtlCol="0">
            <a:spAutoFit/>
          </a:bodyPr>
          <a:p>
            <a:r>
              <a:rPr lang="en-US" altLang="fr-FR">
                <a:latin typeface="Arial" panose="020B0604020202020204" pitchFamily="34" charset="0"/>
                <a:cs typeface="Arial" panose="020B0604020202020204" pitchFamily="34" charset="0"/>
                <a:sym typeface="+mn-ea"/>
              </a:rPr>
              <a:t>des </a:t>
            </a:r>
            <a:r>
              <a:rPr lang="fr-FR" altLang="en-US">
                <a:latin typeface="Arial" panose="020B0604020202020204" pitchFamily="34" charset="0"/>
                <a:cs typeface="Arial" panose="020B0604020202020204" pitchFamily="34" charset="0"/>
                <a:sym typeface="+mn-ea"/>
              </a:rPr>
              <a:t>système</a:t>
            </a:r>
            <a:r>
              <a:rPr lang="en-US" altLang="fr-FR">
                <a:latin typeface="Arial" panose="020B0604020202020204" pitchFamily="34" charset="0"/>
                <a:cs typeface="Arial" panose="020B0604020202020204" pitchFamily="34" charset="0"/>
                <a:sym typeface="+mn-ea"/>
              </a:rPr>
              <a:t>s</a:t>
            </a:r>
            <a:r>
              <a:rPr lang="fr-FR" altLang="en-US">
                <a:latin typeface="Arial" panose="020B0604020202020204" pitchFamily="34" charset="0"/>
                <a:cs typeface="Arial" panose="020B0604020202020204" pitchFamily="34" charset="0"/>
                <a:sym typeface="+mn-ea"/>
              </a:rPr>
              <a:t> d'exploitatio</a:t>
            </a:r>
            <a:r>
              <a:rPr lang="en-US" altLang="fr-FR">
                <a:latin typeface="Arial" panose="020B0604020202020204" pitchFamily="34" charset="0"/>
                <a:cs typeface="Arial" panose="020B0604020202020204" pitchFamily="34" charset="0"/>
                <a:sym typeface="+mn-ea"/>
              </a:rPr>
              <a:t>n multi</a:t>
            </a:r>
            <a:r>
              <a:rPr lang="fr-FR" altLang="en-US">
                <a:latin typeface="Arial" panose="020B0604020202020204" pitchFamily="34" charset="0"/>
                <a:cs typeface="Arial" panose="020B0604020202020204" pitchFamily="34" charset="0"/>
              </a:rPr>
              <a:t>programmés</a:t>
            </a:r>
            <a:endParaRPr lang="fr-FR" altLang="en-US">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2221"/>
        </a:solidFill>
        <a:effectLst/>
      </p:bgPr>
    </p:bg>
    <p:spTree>
      <p:nvGrpSpPr>
        <p:cNvPr id="1" name=""/>
        <p:cNvGrpSpPr/>
        <p:nvPr/>
      </p:nvGrpSpPr>
      <p:grpSpPr/>
      <p:sp>
        <p:nvSpPr>
          <p:cNvPr id="12" name="等腰三角形 11"/>
          <p:cNvSpPr/>
          <p:nvPr/>
        </p:nvSpPr>
        <p:spPr>
          <a:xfrm flipV="1">
            <a:off x="1091565" y="-635"/>
            <a:ext cx="1228725" cy="2511425"/>
          </a:xfrm>
          <a:prstGeom prst="triangle">
            <a:avLst/>
          </a:prstGeom>
          <a:solidFill>
            <a:srgbClr val="D619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125" name="文本框 15"/>
          <p:cNvSpPr txBox="1"/>
          <p:nvPr/>
        </p:nvSpPr>
        <p:spPr>
          <a:xfrm>
            <a:off x="682625" y="2767965"/>
            <a:ext cx="2286000" cy="1322070"/>
          </a:xfrm>
          <a:prstGeom prst="rect">
            <a:avLst/>
          </a:prstGeom>
          <a:noFill/>
          <a:ln w="9525">
            <a:noFill/>
          </a:ln>
        </p:spPr>
        <p:txBody>
          <a:bodyPr wrap="square" anchor="t">
            <a:spAutoFit/>
          </a:bodyPr>
          <a:p>
            <a:r>
              <a:rPr lang="en-US" altLang="zh-CN" sz="8000" b="1" dirty="0">
                <a:solidFill>
                  <a:schemeClr val="bg1"/>
                </a:solidFill>
                <a:ea typeface="Calibri" panose="020F0502020204030204" pitchFamily="34" charset="0"/>
              </a:rPr>
              <a:t>Plan</a:t>
            </a:r>
            <a:endParaRPr lang="en-US" altLang="zh-CN" sz="8000" b="1" dirty="0">
              <a:solidFill>
                <a:schemeClr val="bg1"/>
              </a:solidFill>
              <a:ea typeface="Calibri" panose="020F0502020204030204" pitchFamily="34" charset="0"/>
            </a:endParaRPr>
          </a:p>
        </p:txBody>
      </p:sp>
      <p:grpSp>
        <p:nvGrpSpPr>
          <p:cNvPr id="6" name="Grouper 5"/>
          <p:cNvGrpSpPr/>
          <p:nvPr/>
        </p:nvGrpSpPr>
        <p:grpSpPr>
          <a:xfrm>
            <a:off x="2734945" y="1137920"/>
            <a:ext cx="9293302" cy="4692015"/>
            <a:chOff x="7182" y="3174"/>
            <a:chExt cx="12858" cy="6040"/>
          </a:xfrm>
        </p:grpSpPr>
        <p:sp>
          <p:nvSpPr>
            <p:cNvPr id="17" name="矩形 16"/>
            <p:cNvSpPr/>
            <p:nvPr/>
          </p:nvSpPr>
          <p:spPr bwMode="auto">
            <a:xfrm>
              <a:off x="7182" y="3174"/>
              <a:ext cx="1358" cy="780"/>
            </a:xfrm>
            <a:prstGeom prst="rect">
              <a:avLst/>
            </a:prstGeom>
            <a:solidFill>
              <a:srgbClr val="D6192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FFFFFF"/>
                  </a:solidFill>
                  <a:effectLst/>
                  <a:uLnTx/>
                  <a:uFillTx/>
                  <a:latin typeface="+mn-lt"/>
                  <a:ea typeface="+mn-ea"/>
                  <a:cs typeface="+mn-cs"/>
                  <a:sym typeface="+mn-ea"/>
                </a:rPr>
                <a:t>01</a:t>
              </a:r>
              <a:endParaRPr kumimoji="0" lang="zh-CN" altLang="en-US" sz="2800" b="1" i="0" u="none" strike="noStrike" kern="1200" cap="none" spc="0" normalizeH="0" baseline="0" noProof="0" dirty="0">
                <a:ln>
                  <a:noFill/>
                </a:ln>
                <a:solidFill>
                  <a:srgbClr val="FFFFFF"/>
                </a:solidFill>
                <a:effectLst/>
                <a:uLnTx/>
                <a:uFillTx/>
                <a:latin typeface="+mn-lt"/>
                <a:ea typeface="+mn-ea"/>
                <a:cs typeface="+mn-cs"/>
                <a:sym typeface="+mn-ea"/>
              </a:endParaRPr>
            </a:p>
          </p:txBody>
        </p:sp>
        <p:sp>
          <p:nvSpPr>
            <p:cNvPr id="5127" name="矩形 2"/>
            <p:cNvSpPr/>
            <p:nvPr/>
          </p:nvSpPr>
          <p:spPr>
            <a:xfrm>
              <a:off x="8604" y="3199"/>
              <a:ext cx="7059" cy="728"/>
            </a:xfrm>
            <a:prstGeom prst="rect">
              <a:avLst/>
            </a:prstGeom>
            <a:noFill/>
            <a:ln w="9525">
              <a:noFill/>
            </a:ln>
          </p:spPr>
          <p:txBody>
            <a:bodyPr lIns="0" tIns="0" rIns="0" bIns="0" anchor="ctr"/>
            <a:p>
              <a:pPr algn="just">
                <a:buFont typeface="Arial" panose="020B0604020202020204" pitchFamily="34" charset="0"/>
              </a:pPr>
              <a:r>
                <a:rPr lang="en-US" sz="2000" b="1" dirty="0">
                  <a:solidFill>
                    <a:srgbClr val="FFFFFF"/>
                  </a:solidFill>
                  <a:latin typeface="Arial" panose="020B0604020202020204" pitchFamily="34" charset="0"/>
                  <a:ea typeface="黑体" panose="02010609060101010101" pitchFamily="49" charset="-122"/>
                  <a:sym typeface="+mn-lt"/>
                </a:rPr>
                <a:t>NOTIONS GENERALES</a:t>
              </a:r>
              <a:endParaRPr lang="en-US" sz="2000" b="1" dirty="0">
                <a:solidFill>
                  <a:srgbClr val="FFFFFF"/>
                </a:solidFill>
                <a:latin typeface="Arial" panose="020B0604020202020204" pitchFamily="34" charset="0"/>
                <a:ea typeface="黑体" panose="02010609060101010101" pitchFamily="49" charset="-122"/>
                <a:sym typeface="+mn-lt"/>
              </a:endParaRPr>
            </a:p>
          </p:txBody>
        </p:sp>
        <p:sp>
          <p:nvSpPr>
            <p:cNvPr id="19" name="矩形 18"/>
            <p:cNvSpPr/>
            <p:nvPr/>
          </p:nvSpPr>
          <p:spPr bwMode="auto">
            <a:xfrm>
              <a:off x="7182" y="4224"/>
              <a:ext cx="1358" cy="780"/>
            </a:xfrm>
            <a:prstGeom prst="rect">
              <a:avLst/>
            </a:prstGeom>
            <a:solidFill>
              <a:srgbClr val="D6192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FFFFFF"/>
                  </a:solidFill>
                  <a:effectLst/>
                  <a:uLnTx/>
                  <a:uFillTx/>
                  <a:latin typeface="+mn-lt"/>
                  <a:ea typeface="+mn-ea"/>
                  <a:cs typeface="+mn-cs"/>
                  <a:sym typeface="+mn-ea"/>
                </a:rPr>
                <a:t>02</a:t>
              </a:r>
              <a:endParaRPr kumimoji="0" lang="zh-CN" altLang="en-US" sz="2800" b="1" i="0" u="none" strike="noStrike" kern="1200" cap="none" spc="0" normalizeH="0" baseline="0" noProof="0" dirty="0">
                <a:ln>
                  <a:noFill/>
                </a:ln>
                <a:solidFill>
                  <a:srgbClr val="FFFFFF"/>
                </a:solidFill>
                <a:effectLst/>
                <a:uLnTx/>
                <a:uFillTx/>
                <a:latin typeface="+mn-lt"/>
                <a:ea typeface="+mn-ea"/>
                <a:cs typeface="+mn-cs"/>
                <a:sym typeface="+mn-ea"/>
              </a:endParaRPr>
            </a:p>
          </p:txBody>
        </p:sp>
        <p:sp>
          <p:nvSpPr>
            <p:cNvPr id="5129" name="矩形 28"/>
            <p:cNvSpPr/>
            <p:nvPr/>
          </p:nvSpPr>
          <p:spPr>
            <a:xfrm>
              <a:off x="8604" y="4249"/>
              <a:ext cx="11063" cy="728"/>
            </a:xfrm>
            <a:prstGeom prst="rect">
              <a:avLst/>
            </a:prstGeom>
            <a:noFill/>
            <a:ln w="9525">
              <a:noFill/>
            </a:ln>
          </p:spPr>
          <p:txBody>
            <a:bodyPr lIns="0" tIns="0" rIns="0" bIns="0" anchor="ctr"/>
            <a:p>
              <a:pPr algn="just">
                <a:buFont typeface="Arial" panose="020B0604020202020204" pitchFamily="34" charset="0"/>
              </a:pPr>
              <a:r>
                <a:rPr lang="en-US" altLang="da-DK" sz="2000" b="1" dirty="0">
                  <a:solidFill>
                    <a:srgbClr val="FFFFFF"/>
                  </a:solidFill>
                  <a:latin typeface="Arial" panose="020B0604020202020204" pitchFamily="34" charset="0"/>
                  <a:ea typeface="黑体" panose="02010609060101010101" pitchFamily="49" charset="-122"/>
                  <a:sym typeface="+mn-lt"/>
                </a:rPr>
                <a:t>LA CREATION  D’UN PROCESSUS</a:t>
              </a:r>
              <a:endParaRPr lang="en-US" altLang="da-DK" sz="2000" b="1" dirty="0">
                <a:solidFill>
                  <a:srgbClr val="FFFFFF"/>
                </a:solidFill>
                <a:latin typeface="Arial" panose="020B0604020202020204" pitchFamily="34" charset="0"/>
                <a:ea typeface="黑体" panose="02010609060101010101" pitchFamily="49" charset="-122"/>
                <a:sym typeface="+mn-lt"/>
              </a:endParaRPr>
            </a:p>
          </p:txBody>
        </p:sp>
        <p:sp>
          <p:nvSpPr>
            <p:cNvPr id="21" name="矩形 20"/>
            <p:cNvSpPr/>
            <p:nvPr/>
          </p:nvSpPr>
          <p:spPr bwMode="auto">
            <a:xfrm>
              <a:off x="7182" y="5277"/>
              <a:ext cx="1358" cy="780"/>
            </a:xfrm>
            <a:prstGeom prst="rect">
              <a:avLst/>
            </a:prstGeom>
            <a:solidFill>
              <a:srgbClr val="D6192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FFFFFF"/>
                  </a:solidFill>
                  <a:effectLst/>
                  <a:uLnTx/>
                  <a:uFillTx/>
                  <a:latin typeface="+mn-lt"/>
                  <a:ea typeface="+mn-ea"/>
                  <a:cs typeface="+mn-cs"/>
                  <a:sym typeface="+mn-ea"/>
                </a:rPr>
                <a:t>03</a:t>
              </a:r>
              <a:endParaRPr kumimoji="0" lang="zh-CN" altLang="en-US" sz="2800" b="1" i="0" u="none" strike="noStrike" kern="1200" cap="none" spc="0" normalizeH="0" baseline="0" noProof="0" dirty="0">
                <a:ln>
                  <a:noFill/>
                </a:ln>
                <a:solidFill>
                  <a:srgbClr val="FFFFFF"/>
                </a:solidFill>
                <a:effectLst/>
                <a:uLnTx/>
                <a:uFillTx/>
                <a:latin typeface="+mn-lt"/>
                <a:ea typeface="+mn-ea"/>
                <a:cs typeface="+mn-cs"/>
                <a:sym typeface="+mn-ea"/>
              </a:endParaRPr>
            </a:p>
          </p:txBody>
        </p:sp>
        <p:sp>
          <p:nvSpPr>
            <p:cNvPr id="5131" name="矩形 26"/>
            <p:cNvSpPr/>
            <p:nvPr/>
          </p:nvSpPr>
          <p:spPr>
            <a:xfrm>
              <a:off x="8604" y="5304"/>
              <a:ext cx="8230" cy="725"/>
            </a:xfrm>
            <a:prstGeom prst="rect">
              <a:avLst/>
            </a:prstGeom>
            <a:noFill/>
            <a:ln w="9525">
              <a:noFill/>
            </a:ln>
          </p:spPr>
          <p:txBody>
            <a:bodyPr lIns="0" tIns="0" rIns="0" bIns="0" anchor="ctr"/>
            <a:p>
              <a:pPr algn="just">
                <a:buFont typeface="Arial" panose="020B0604020202020204" pitchFamily="34" charset="0"/>
              </a:pPr>
              <a:r>
                <a:rPr lang="en-US" altLang="da-DK" sz="2000" b="1" dirty="0">
                  <a:solidFill>
                    <a:srgbClr val="FFFFFF"/>
                  </a:solidFill>
                  <a:latin typeface="Arial" panose="020B0604020202020204" pitchFamily="34" charset="0"/>
                  <a:ea typeface="黑体" panose="02010609060101010101" pitchFamily="49" charset="-122"/>
                  <a:sym typeface="+mn-lt"/>
                </a:rPr>
                <a:t>ORDONNANCEMENT</a:t>
              </a:r>
              <a:endParaRPr lang="en-US" altLang="da-DK" sz="2000" b="1" dirty="0">
                <a:solidFill>
                  <a:srgbClr val="FFFFFF"/>
                </a:solidFill>
                <a:latin typeface="Arial" panose="020B0604020202020204" pitchFamily="34" charset="0"/>
                <a:ea typeface="黑体" panose="02010609060101010101" pitchFamily="49" charset="-122"/>
                <a:sym typeface="+mn-lt"/>
              </a:endParaRPr>
            </a:p>
          </p:txBody>
        </p:sp>
        <p:sp>
          <p:nvSpPr>
            <p:cNvPr id="23" name="矩形 22"/>
            <p:cNvSpPr/>
            <p:nvPr/>
          </p:nvSpPr>
          <p:spPr bwMode="auto">
            <a:xfrm>
              <a:off x="7182" y="6329"/>
              <a:ext cx="1358" cy="780"/>
            </a:xfrm>
            <a:prstGeom prst="rect">
              <a:avLst/>
            </a:prstGeom>
            <a:solidFill>
              <a:srgbClr val="D6192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FFFFFF"/>
                  </a:solidFill>
                  <a:effectLst/>
                  <a:uLnTx/>
                  <a:uFillTx/>
                  <a:latin typeface="+mn-lt"/>
                  <a:ea typeface="+mn-ea"/>
                  <a:cs typeface="+mn-cs"/>
                  <a:sym typeface="+mn-ea"/>
                </a:rPr>
                <a:t>04</a:t>
              </a:r>
              <a:endParaRPr kumimoji="0" lang="zh-CN" altLang="en-US" sz="2800" b="1" i="0" u="none" strike="noStrike" kern="1200" cap="none" spc="0" normalizeH="0" baseline="0" noProof="0" dirty="0">
                <a:ln>
                  <a:noFill/>
                </a:ln>
                <a:solidFill>
                  <a:srgbClr val="FFFFFF"/>
                </a:solidFill>
                <a:effectLst/>
                <a:uLnTx/>
                <a:uFillTx/>
                <a:latin typeface="+mn-lt"/>
                <a:ea typeface="+mn-ea"/>
                <a:cs typeface="+mn-cs"/>
                <a:sym typeface="+mn-ea"/>
              </a:endParaRPr>
            </a:p>
          </p:txBody>
        </p:sp>
        <p:sp>
          <p:nvSpPr>
            <p:cNvPr id="5133" name="矩形 32"/>
            <p:cNvSpPr/>
            <p:nvPr/>
          </p:nvSpPr>
          <p:spPr>
            <a:xfrm>
              <a:off x="8604" y="6354"/>
              <a:ext cx="9649" cy="728"/>
            </a:xfrm>
            <a:prstGeom prst="rect">
              <a:avLst/>
            </a:prstGeom>
            <a:noFill/>
            <a:ln w="9525">
              <a:noFill/>
            </a:ln>
          </p:spPr>
          <p:txBody>
            <a:bodyPr lIns="0" tIns="0" rIns="0" bIns="0" anchor="ctr"/>
            <a:p>
              <a:pPr algn="just">
                <a:buFont typeface="Arial" panose="020B0604020202020204" pitchFamily="34" charset="0"/>
              </a:pPr>
              <a:r>
                <a:rPr lang="en-US" altLang="da-DK" sz="2000" b="1" dirty="0">
                  <a:solidFill>
                    <a:srgbClr val="FFFFFF"/>
                  </a:solidFill>
                  <a:latin typeface="Arial" panose="020B0604020202020204" pitchFamily="34" charset="0"/>
                  <a:ea typeface="黑体" panose="02010609060101010101" pitchFamily="49" charset="-122"/>
                  <a:sym typeface="+mn-lt"/>
                </a:rPr>
                <a:t>LES ETATS ET LES TRANSITIONS DES PROCESSUS</a:t>
              </a:r>
              <a:endParaRPr lang="en-US" altLang="da-DK" sz="2000" b="1" dirty="0">
                <a:solidFill>
                  <a:srgbClr val="FFFFFF"/>
                </a:solidFill>
                <a:latin typeface="Arial" panose="020B0604020202020204" pitchFamily="34" charset="0"/>
                <a:ea typeface="黑体" panose="02010609060101010101" pitchFamily="49" charset="-122"/>
                <a:sym typeface="+mn-lt"/>
              </a:endParaRPr>
            </a:p>
          </p:txBody>
        </p:sp>
        <p:sp>
          <p:nvSpPr>
            <p:cNvPr id="2" name="矩形 16"/>
            <p:cNvSpPr/>
            <p:nvPr/>
          </p:nvSpPr>
          <p:spPr bwMode="auto">
            <a:xfrm>
              <a:off x="7182" y="7382"/>
              <a:ext cx="1358" cy="780"/>
            </a:xfrm>
            <a:prstGeom prst="rect">
              <a:avLst/>
            </a:prstGeom>
            <a:solidFill>
              <a:srgbClr val="D6192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FFFFFF"/>
                  </a:solidFill>
                  <a:effectLst/>
                  <a:uLnTx/>
                  <a:uFillTx/>
                  <a:latin typeface="+mn-lt"/>
                  <a:ea typeface="+mn-ea"/>
                  <a:cs typeface="+mn-cs"/>
                  <a:sym typeface="+mn-ea"/>
                </a:rPr>
                <a:t>05</a:t>
              </a:r>
              <a:endParaRPr kumimoji="0" lang="zh-CN" altLang="en-US" sz="2800" b="1" i="0" u="none" strike="noStrike" kern="1200" cap="none" spc="0" normalizeH="0" baseline="0" noProof="0" dirty="0">
                <a:ln>
                  <a:noFill/>
                </a:ln>
                <a:solidFill>
                  <a:srgbClr val="FFFFFF"/>
                </a:solidFill>
                <a:effectLst/>
                <a:uLnTx/>
                <a:uFillTx/>
                <a:latin typeface="+mn-lt"/>
                <a:ea typeface="+mn-ea"/>
                <a:cs typeface="+mn-cs"/>
                <a:sym typeface="+mn-ea"/>
              </a:endParaRPr>
            </a:p>
          </p:txBody>
        </p:sp>
        <p:sp>
          <p:nvSpPr>
            <p:cNvPr id="3" name="矩形 2"/>
            <p:cNvSpPr/>
            <p:nvPr/>
          </p:nvSpPr>
          <p:spPr>
            <a:xfrm>
              <a:off x="8604" y="7407"/>
              <a:ext cx="11436" cy="728"/>
            </a:xfrm>
            <a:prstGeom prst="rect">
              <a:avLst/>
            </a:prstGeom>
            <a:noFill/>
            <a:ln w="9525">
              <a:noFill/>
            </a:ln>
          </p:spPr>
          <p:txBody>
            <a:bodyPr lIns="0" tIns="0" rIns="0" bIns="0" anchor="ctr"/>
            <a:p>
              <a:pPr algn="just">
                <a:buFont typeface="Arial" panose="020B0604020202020204" pitchFamily="34" charset="0"/>
              </a:pPr>
              <a:r>
                <a:rPr lang="en-US" altLang="zh-CN" sz="2000" b="1" dirty="0">
                  <a:solidFill>
                    <a:srgbClr val="FFFFFF"/>
                  </a:solidFill>
                  <a:latin typeface="Arial" panose="020B0604020202020204" pitchFamily="34" charset="0"/>
                  <a:ea typeface="黑体" panose="02010609060101010101" pitchFamily="49" charset="-122"/>
                  <a:sym typeface="+mn-lt"/>
                </a:rPr>
                <a:t>LA  SYNCHRONISATION INTERPROCESSUS</a:t>
              </a:r>
              <a:endParaRPr lang="en-US" altLang="zh-CN" sz="2000" b="1" dirty="0">
                <a:solidFill>
                  <a:srgbClr val="FFFFFF"/>
                </a:solidFill>
                <a:latin typeface="Arial" panose="020B0604020202020204" pitchFamily="34" charset="0"/>
                <a:ea typeface="黑体" panose="02010609060101010101" pitchFamily="49" charset="-122"/>
                <a:sym typeface="+mn-lt"/>
              </a:endParaRPr>
            </a:p>
          </p:txBody>
        </p:sp>
        <p:sp>
          <p:nvSpPr>
            <p:cNvPr id="4" name="矩形 16"/>
            <p:cNvSpPr/>
            <p:nvPr/>
          </p:nvSpPr>
          <p:spPr bwMode="auto">
            <a:xfrm>
              <a:off x="7182" y="8434"/>
              <a:ext cx="1358" cy="780"/>
            </a:xfrm>
            <a:prstGeom prst="rect">
              <a:avLst/>
            </a:prstGeom>
            <a:solidFill>
              <a:srgbClr val="D6192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FFFFFF"/>
                  </a:solidFill>
                  <a:effectLst/>
                  <a:uLnTx/>
                  <a:uFillTx/>
                  <a:latin typeface="+mn-lt"/>
                  <a:ea typeface="+mn-ea"/>
                  <a:cs typeface="+mn-cs"/>
                  <a:sym typeface="+mn-ea"/>
                </a:rPr>
                <a:t>06</a:t>
              </a:r>
              <a:endParaRPr kumimoji="0" lang="zh-CN" altLang="en-US" sz="2800" b="1" i="0" u="none" strike="noStrike" kern="1200" cap="none" spc="0" normalizeH="0" baseline="0" noProof="0" dirty="0">
                <a:ln>
                  <a:noFill/>
                </a:ln>
                <a:solidFill>
                  <a:srgbClr val="FFFFFF"/>
                </a:solidFill>
                <a:effectLst/>
                <a:uLnTx/>
                <a:uFillTx/>
                <a:latin typeface="+mn-lt"/>
                <a:ea typeface="+mn-ea"/>
                <a:cs typeface="+mn-cs"/>
                <a:sym typeface="+mn-ea"/>
              </a:endParaRPr>
            </a:p>
          </p:txBody>
        </p:sp>
        <p:sp>
          <p:nvSpPr>
            <p:cNvPr id="5" name="矩形 2"/>
            <p:cNvSpPr/>
            <p:nvPr/>
          </p:nvSpPr>
          <p:spPr>
            <a:xfrm>
              <a:off x="8604" y="8459"/>
              <a:ext cx="7059" cy="728"/>
            </a:xfrm>
            <a:prstGeom prst="rect">
              <a:avLst/>
            </a:prstGeom>
            <a:noFill/>
            <a:ln w="9525">
              <a:noFill/>
            </a:ln>
          </p:spPr>
          <p:txBody>
            <a:bodyPr lIns="0" tIns="0" rIns="0" bIns="0" anchor="ctr"/>
            <a:p>
              <a:pPr algn="just">
                <a:buFont typeface="Arial" panose="020B0604020202020204" pitchFamily="34" charset="0"/>
              </a:pPr>
              <a:r>
                <a:rPr lang="en-US" altLang="zh-CN" sz="2000" b="1" dirty="0">
                  <a:solidFill>
                    <a:srgbClr val="FFFFFF"/>
                  </a:solidFill>
                  <a:latin typeface="Arial" panose="020B0604020202020204" pitchFamily="34" charset="0"/>
                  <a:ea typeface="黑体" panose="02010609060101010101" pitchFamily="49" charset="-122"/>
                  <a:sym typeface="+mn-lt"/>
                </a:rPr>
                <a:t>CONCLUSION</a:t>
              </a:r>
              <a:endParaRPr lang="en-US" altLang="zh-CN" sz="2000" b="1" dirty="0">
                <a:solidFill>
                  <a:srgbClr val="FFFFFF"/>
                </a:solidFill>
                <a:latin typeface="Arial" panose="020B0604020202020204" pitchFamily="34" charset="0"/>
                <a:ea typeface="黑体" panose="02010609060101010101" pitchFamily="49" charset="-122"/>
                <a:sym typeface="+mn-lt"/>
              </a:endParaRPr>
            </a:p>
          </p:txBody>
        </p:sp>
      </p:gr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635"/>
            <a:ext cx="12306300" cy="6857365"/>
          </a:xfrm>
          <a:prstGeom prst="rect">
            <a:avLst/>
          </a:prstGeom>
          <a:solidFill>
            <a:srgbClr val="20222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fr-FR" altLang="en-US"/>
          </a:p>
        </p:txBody>
      </p:sp>
      <p:sp>
        <p:nvSpPr>
          <p:cNvPr id="7" name="椭圆 6"/>
          <p:cNvSpPr/>
          <p:nvPr/>
        </p:nvSpPr>
        <p:spPr>
          <a:xfrm>
            <a:off x="467678" y="1214755"/>
            <a:ext cx="2689225" cy="2689225"/>
          </a:xfrm>
          <a:prstGeom prst="ellipse">
            <a:avLst/>
          </a:prstGeom>
          <a:solidFill>
            <a:srgbClr val="D61920">
              <a:alpha val="8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4339" name="文本框 6"/>
          <p:cNvSpPr txBox="1"/>
          <p:nvPr/>
        </p:nvSpPr>
        <p:spPr>
          <a:xfrm>
            <a:off x="1094105" y="1723390"/>
            <a:ext cx="1436370" cy="1445260"/>
          </a:xfrm>
          <a:prstGeom prst="rect">
            <a:avLst/>
          </a:prstGeom>
          <a:noFill/>
          <a:ln w="9525">
            <a:noFill/>
          </a:ln>
        </p:spPr>
        <p:txBody>
          <a:bodyPr wrap="square" anchor="t">
            <a:spAutoFit/>
          </a:bodyPr>
          <a:p>
            <a:pPr>
              <a:buFont typeface="Arial" panose="020B0604020202020204" pitchFamily="34" charset="0"/>
            </a:pPr>
            <a:r>
              <a:rPr lang="en-US" altLang="zh-CN" sz="8800" b="1" dirty="0">
                <a:solidFill>
                  <a:schemeClr val="bg1"/>
                </a:solidFill>
                <a:ea typeface="Calibri" panose="020F0502020204030204" pitchFamily="34" charset="0"/>
              </a:rPr>
              <a:t>01</a:t>
            </a:r>
            <a:endParaRPr lang="en-US" altLang="zh-CN" sz="8800" b="1" dirty="0">
              <a:solidFill>
                <a:schemeClr val="bg1"/>
              </a:solidFill>
              <a:ea typeface="Calibri" panose="020F0502020204030204" pitchFamily="34" charset="0"/>
            </a:endParaRPr>
          </a:p>
        </p:txBody>
      </p:sp>
      <p:sp>
        <p:nvSpPr>
          <p:cNvPr id="9" name="矩形 7"/>
          <p:cNvSpPr>
            <a:spLocks noChangeArrowheads="1"/>
          </p:cNvSpPr>
          <p:nvPr/>
        </p:nvSpPr>
        <p:spPr bwMode="auto">
          <a:xfrm>
            <a:off x="3292475" y="2143760"/>
            <a:ext cx="8733155" cy="66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1pPr>
            <a:lvl2pPr marL="742950" indent="-285750" defTabSz="1216025">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2pPr>
            <a:lvl3pPr marL="1143000" indent="-228600" defTabSz="1216025">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3pPr>
            <a:lvl4pPr marL="16002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4pPr>
            <a:lvl5pPr marL="20574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5pPr>
            <a:lvl6pPr marL="25146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6pPr>
            <a:lvl7pPr marL="29718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7pPr>
            <a:lvl8pPr marL="34290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8pPr>
            <a:lvl9pPr marL="38862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9pPr>
          </a:lstStyle>
          <a:p>
            <a:pPr algn="l">
              <a:buFont typeface="Arial" panose="020B0604020202020204" pitchFamily="34" charset="0"/>
              <a:buNone/>
            </a:pPr>
            <a:r>
              <a:rPr lang="en-US" sz="4800" b="1" dirty="0">
                <a:solidFill>
                  <a:srgbClr val="FFFFFF"/>
                </a:solidFill>
                <a:latin typeface="Arial" panose="020B0604020202020204" pitchFamily="34" charset="0"/>
                <a:ea typeface="黑体" panose="02010609060101010101" pitchFamily="49" charset="-122"/>
                <a:sym typeface="+mn-lt"/>
              </a:rPr>
              <a:t>NOTIONS GENERALES</a:t>
            </a:r>
            <a:endParaRPr kumimoji="0" lang="en-US" altLang="zh-CN" sz="4800" b="1" i="0" u="none" strike="noStrike" kern="1200" cap="none" spc="0" normalizeH="0" baseline="0" noProof="0" dirty="0">
              <a:ln>
                <a:noFill/>
              </a:ln>
              <a:solidFill>
                <a:srgbClr val="FFFFFF"/>
              </a:solidFill>
              <a:effectLst/>
              <a:uLnTx/>
              <a:uFillTx/>
              <a:latin typeface="Arial" panose="020B0604020202020204" pitchFamily="34" charset="0"/>
              <a:ea typeface="黑体" panose="02010609060101010101" pitchFamily="49" charset="-122"/>
              <a:cs typeface="+mn-cs"/>
              <a:sym typeface="+mn-lt"/>
            </a:endParaRPr>
          </a:p>
        </p:txBody>
      </p:sp>
      <p:sp>
        <p:nvSpPr>
          <p:cNvPr id="3" name="Zone de texte 2"/>
          <p:cNvSpPr txBox="1"/>
          <p:nvPr/>
        </p:nvSpPr>
        <p:spPr>
          <a:xfrm>
            <a:off x="3629025" y="3482975"/>
            <a:ext cx="7893685" cy="1814830"/>
          </a:xfrm>
          <a:prstGeom prst="rect">
            <a:avLst/>
          </a:prstGeom>
          <a:noFill/>
        </p:spPr>
        <p:txBody>
          <a:bodyPr wrap="square" rtlCol="0">
            <a:spAutoFit/>
          </a:bodyPr>
          <a:p>
            <a:pPr marL="285750" indent="-285750">
              <a:buFont typeface="Arial" panose="020B0604020202020204" pitchFamily="34" charset="0"/>
              <a:buChar char="•"/>
            </a:pPr>
            <a:r>
              <a:rPr lang="en-US" altLang="fr-FR" sz="2800">
                <a:solidFill>
                  <a:schemeClr val="bg1"/>
                </a:solidFill>
                <a:latin typeface="Arial" panose="020B0604020202020204" pitchFamily="34" charset="0"/>
                <a:cs typeface="Arial" panose="020B0604020202020204" pitchFamily="34" charset="0"/>
              </a:rPr>
              <a:t>Système d'exploitation</a:t>
            </a:r>
            <a:endParaRPr lang="en-US" altLang="fr-FR" sz="280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fr-FR" sz="2800">
                <a:solidFill>
                  <a:schemeClr val="bg1"/>
                </a:solidFill>
                <a:latin typeface="Arial" panose="020B0604020202020204" pitchFamily="34" charset="0"/>
                <a:cs typeface="Arial" panose="020B0604020202020204" pitchFamily="34" charset="0"/>
              </a:rPr>
              <a:t>Processus</a:t>
            </a:r>
            <a:endParaRPr lang="en-US" altLang="fr-FR" sz="280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fr-FR" sz="2800">
                <a:solidFill>
                  <a:schemeClr val="bg1"/>
                </a:solidFill>
                <a:latin typeface="Arial" panose="020B0604020202020204" pitchFamily="34" charset="0"/>
                <a:cs typeface="Arial" panose="020B0604020202020204" pitchFamily="34" charset="0"/>
              </a:rPr>
              <a:t>Difference entre programme et processus</a:t>
            </a:r>
            <a:endParaRPr lang="en-US" altLang="fr-FR" sz="2800">
              <a:solidFill>
                <a:schemeClr val="bg1"/>
              </a:solidFill>
              <a:latin typeface="Arial" panose="020B0604020202020204" pitchFamily="34" charset="0"/>
              <a:cs typeface="Arial" panose="020B0604020202020204" pitchFamily="34" charset="0"/>
            </a:endParaRPr>
          </a:p>
          <a:p>
            <a:endParaRPr lang="en-US" altLang="fr-FR" sz="2800">
              <a:solidFill>
                <a:schemeClr val="bg1"/>
              </a:solidFill>
              <a:latin typeface="Arial" panose="020B0604020202020204" pitchFamily="34" charset="0"/>
              <a:cs typeface="Arial" panose="020B0604020202020204" pitchFamily="34" charset="0"/>
            </a:endParaRP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6425" y="2174875"/>
            <a:ext cx="4879975" cy="1997075"/>
          </a:xfrm>
        </p:spPr>
        <p:txBody>
          <a:bodyPr>
            <a:normAutofit fontScale="90000"/>
          </a:bodyPr>
          <a:p>
            <a:pPr marL="0" indent="0" algn="just">
              <a:lnSpc>
                <a:spcPct val="150000"/>
              </a:lnSpc>
              <a:buNone/>
            </a:pPr>
            <a:r>
              <a:rPr lang="en-US" sz="1800" b="1">
                <a:solidFill>
                  <a:srgbClr val="C00000"/>
                </a:solidFill>
              </a:rPr>
              <a:t>Un système d'exploitation</a:t>
            </a:r>
            <a:r>
              <a:rPr lang="en-US" sz="1800"/>
              <a:t> est un logiciel essentiel qui coordonne l'utilisation des ressources informatiques et fournit une interface entre l'utilisateur et l'ordinateur, assurant ainsi une gestion efficace et sécurisée des opérations.</a:t>
            </a:r>
            <a:endParaRPr lang="en-US" sz="1800"/>
          </a:p>
        </p:txBody>
      </p:sp>
      <p:pic>
        <p:nvPicPr>
          <p:cNvPr id="101" name="Picture 100"/>
          <p:cNvPicPr/>
          <p:nvPr/>
        </p:nvPicPr>
        <p:blipFill>
          <a:blip r:embed="rId1"/>
          <a:stretch>
            <a:fillRect/>
          </a:stretch>
        </p:blipFill>
        <p:spPr>
          <a:xfrm>
            <a:off x="6772275" y="1327785"/>
            <a:ext cx="5079365" cy="4010660"/>
          </a:xfrm>
          <a:prstGeom prst="rect">
            <a:avLst/>
          </a:prstGeom>
          <a:noFill/>
          <a:ln w="9525">
            <a:noFill/>
          </a:ln>
          <a:effectLst/>
        </p:spPr>
      </p:pic>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ysClr val="windowText" lastClr="000000">
                <a:lumMod val="85000"/>
                <a:lumOff val="15000"/>
              </a:sys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Arial" panose="020B0604020202020204" pitchFamily="34" charset="0"/>
                <a:ea typeface="Arial" panose="020B0604020202020204" pitchFamily="34" charset="0"/>
                <a:cs typeface="+mn-ea"/>
              </a:endParaRPr>
            </a:p>
          </p:txBody>
        </p:sp>
        <p:sp>
          <p:nvSpPr>
            <p:cNvPr id="20" name="矩形 19"/>
            <p:cNvSpPr/>
            <p:nvPr/>
          </p:nvSpPr>
          <p:spPr>
            <a:xfrm flipH="1">
              <a:off x="669819" y="177800"/>
              <a:ext cx="127688" cy="596900"/>
            </a:xfrm>
            <a:prstGeom prst="rect">
              <a:avLst/>
            </a:prstGeom>
            <a:solidFill>
              <a:srgbClr val="F61833"/>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Arial" panose="020B0604020202020204" pitchFamily="34" charset="0"/>
                <a:ea typeface="Arial" panose="020B0604020202020204" pitchFamily="34" charset="0"/>
                <a:cs typeface="+mn-ea"/>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sym typeface="+mn-ea"/>
                </a:rPr>
                <a:t>Système d’Exploitation</a:t>
              </a:r>
              <a:r>
                <a:rPr lang="en-US" altLang="zh-CN" sz="2800" b="1" dirty="0">
                  <a:latin typeface="Arial" panose="020B0604020202020204" pitchFamily="34" charset="0"/>
                  <a:ea typeface="Arial" panose="020B0604020202020204" pitchFamily="34" charset="0"/>
                </a:rPr>
                <a:t> </a:t>
              </a:r>
              <a:endParaRPr lang="en-US" altLang="zh-CN" sz="2800" b="1" dirty="0">
                <a:latin typeface="Arial" panose="020B0604020202020204" pitchFamily="34" charset="0"/>
                <a:ea typeface="Arial" panose="020B0604020202020204" pitchFamily="34" charset="0"/>
              </a:endParaRPr>
            </a:p>
          </p:txBody>
        </p:sp>
      </p:grpSp>
      <p:grpSp>
        <p:nvGrpSpPr>
          <p:cNvPr id="11" name="Grouper 10"/>
          <p:cNvGrpSpPr/>
          <p:nvPr/>
        </p:nvGrpSpPr>
        <p:grpSpPr>
          <a:xfrm>
            <a:off x="5896610" y="1914525"/>
            <a:ext cx="466090" cy="2517140"/>
            <a:chOff x="7215" y="3780"/>
            <a:chExt cx="734" cy="3964"/>
          </a:xfrm>
        </p:grpSpPr>
        <p:cxnSp>
          <p:nvCxnSpPr>
            <p:cNvPr id="12" name="直接连接符 11"/>
            <p:cNvCxnSpPr/>
            <p:nvPr/>
          </p:nvCxnSpPr>
          <p:spPr>
            <a:xfrm>
              <a:off x="7949" y="3780"/>
              <a:ext cx="0" cy="3965"/>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8" name="矩形 4"/>
            <p:cNvSpPr/>
            <p:nvPr/>
          </p:nvSpPr>
          <p:spPr>
            <a:xfrm>
              <a:off x="7215" y="4417"/>
              <a:ext cx="465" cy="2700"/>
            </a:xfrm>
            <a:prstGeom prst="rect">
              <a:avLst/>
            </a:prstGeom>
            <a:solidFill>
              <a:srgbClr val="9E1818"/>
            </a:solidFill>
            <a:ln>
              <a:noFill/>
            </a:ln>
          </p:spPr>
          <p:style>
            <a:lnRef idx="2">
              <a:srgbClr val="045249">
                <a:shade val="50000"/>
              </a:srgbClr>
            </a:lnRef>
            <a:fillRef idx="1">
              <a:srgbClr val="045249"/>
            </a:fillRef>
            <a:effectRef idx="0">
              <a:srgbClr val="045249"/>
            </a:effectRef>
            <a:fontRef idx="minor">
              <a:srgbClr val="FFFFFF"/>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charset="-122"/>
                <a:ea typeface="OPPOSans R" panose="00020600040101010101" charset="-122"/>
                <a:cs typeface="+mn-ea"/>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21" name="组合 3"/>
          <p:cNvGrpSpPr/>
          <p:nvPr/>
        </p:nvGrpSpPr>
        <p:grpSpPr>
          <a:xfrm>
            <a:off x="7515225" y="1966913"/>
            <a:ext cx="4113213" cy="4773612"/>
            <a:chOff x="1209675" y="1449388"/>
            <a:chExt cx="4113213" cy="4773612"/>
          </a:xfrm>
        </p:grpSpPr>
        <p:pic>
          <p:nvPicPr>
            <p:cNvPr id="5122" name="Picture 5"/>
            <p:cNvPicPr>
              <a:picLocks noChangeAspect="1"/>
            </p:cNvPicPr>
            <p:nvPr/>
          </p:nvPicPr>
          <p:blipFill>
            <a:blip r:embed="rId1"/>
            <a:stretch>
              <a:fillRect/>
            </a:stretch>
          </p:blipFill>
          <p:spPr>
            <a:xfrm>
              <a:off x="1563688" y="4632325"/>
              <a:ext cx="1909763" cy="1590675"/>
            </a:xfrm>
            <a:prstGeom prst="rect">
              <a:avLst/>
            </a:prstGeom>
            <a:noFill/>
            <a:ln w="9525">
              <a:noFill/>
            </a:ln>
          </p:spPr>
        </p:pic>
        <p:pic>
          <p:nvPicPr>
            <p:cNvPr id="5123" name="Picture 6"/>
            <p:cNvPicPr>
              <a:picLocks noChangeAspect="1"/>
            </p:cNvPicPr>
            <p:nvPr/>
          </p:nvPicPr>
          <p:blipFill>
            <a:blip r:embed="rId2"/>
            <a:stretch>
              <a:fillRect/>
            </a:stretch>
          </p:blipFill>
          <p:spPr>
            <a:xfrm>
              <a:off x="3465513" y="4632325"/>
              <a:ext cx="1857375" cy="1590675"/>
            </a:xfrm>
            <a:prstGeom prst="rect">
              <a:avLst/>
            </a:prstGeom>
            <a:noFill/>
            <a:ln w="9525">
              <a:noFill/>
            </a:ln>
          </p:spPr>
        </p:pic>
        <p:sp>
          <p:nvSpPr>
            <p:cNvPr id="5124" name="Freeform 7"/>
            <p:cNvSpPr/>
            <p:nvPr/>
          </p:nvSpPr>
          <p:spPr>
            <a:xfrm>
              <a:off x="3128963" y="3792538"/>
              <a:ext cx="752475" cy="981075"/>
            </a:xfrm>
            <a:custGeom>
              <a:avLst/>
              <a:gdLst/>
              <a:ahLst/>
              <a:cxnLst>
                <a:cxn ang="0">
                  <a:pos x="327548" y="839659"/>
                </a:cxn>
                <a:cxn ang="0">
                  <a:pos x="610833" y="919205"/>
                </a:cxn>
                <a:cxn ang="0">
                  <a:pos x="699359" y="636373"/>
                </a:cxn>
                <a:cxn ang="0">
                  <a:pos x="424927" y="141416"/>
                </a:cxn>
                <a:cxn ang="0">
                  <a:pos x="132790" y="61870"/>
                </a:cxn>
                <a:cxn ang="0">
                  <a:pos x="53116" y="344702"/>
                </a:cxn>
                <a:cxn ang="0">
                  <a:pos x="327548" y="839659"/>
                </a:cxn>
              </a:cxnLst>
              <a:pathLst>
                <a:path w="85" h="111">
                  <a:moveTo>
                    <a:pt x="37" y="95"/>
                  </a:moveTo>
                  <a:cubicBezTo>
                    <a:pt x="43" y="107"/>
                    <a:pt x="58" y="111"/>
                    <a:pt x="69" y="104"/>
                  </a:cubicBezTo>
                  <a:cubicBezTo>
                    <a:pt x="81" y="98"/>
                    <a:pt x="85" y="84"/>
                    <a:pt x="79" y="72"/>
                  </a:cubicBezTo>
                  <a:cubicBezTo>
                    <a:pt x="48" y="16"/>
                    <a:pt x="48" y="16"/>
                    <a:pt x="48" y="16"/>
                  </a:cubicBezTo>
                  <a:cubicBezTo>
                    <a:pt x="41" y="5"/>
                    <a:pt x="27" y="0"/>
                    <a:pt x="15" y="7"/>
                  </a:cubicBezTo>
                  <a:cubicBezTo>
                    <a:pt x="4" y="13"/>
                    <a:pt x="0" y="28"/>
                    <a:pt x="6" y="39"/>
                  </a:cubicBezTo>
                  <a:lnTo>
                    <a:pt x="37" y="95"/>
                  </a:lnTo>
                  <a:close/>
                </a:path>
              </a:pathLst>
            </a:custGeom>
            <a:solidFill>
              <a:srgbClr val="354743"/>
            </a:solidFill>
            <a:ln w="9525">
              <a:noFill/>
            </a:ln>
          </p:spPr>
          <p:txBody>
            <a:bodyPr/>
            <a:p>
              <a:endParaRPr lang="en-US"/>
            </a:p>
          </p:txBody>
        </p:sp>
        <p:sp>
          <p:nvSpPr>
            <p:cNvPr id="5125" name="Freeform 8"/>
            <p:cNvSpPr/>
            <p:nvPr/>
          </p:nvSpPr>
          <p:spPr>
            <a:xfrm>
              <a:off x="1484313" y="3792538"/>
              <a:ext cx="750888" cy="981075"/>
            </a:xfrm>
            <a:custGeom>
              <a:avLst/>
              <a:gdLst/>
              <a:ahLst/>
              <a:cxnLst>
                <a:cxn ang="0">
                  <a:pos x="415197" y="839659"/>
                </a:cxn>
                <a:cxn ang="0">
                  <a:pos x="132510" y="919205"/>
                </a:cxn>
                <a:cxn ang="0">
                  <a:pos x="53004" y="636373"/>
                </a:cxn>
                <a:cxn ang="0">
                  <a:pos x="326857" y="141416"/>
                </a:cxn>
                <a:cxn ang="0">
                  <a:pos x="609544" y="61870"/>
                </a:cxn>
                <a:cxn ang="0">
                  <a:pos x="689050" y="344702"/>
                </a:cxn>
                <a:cxn ang="0">
                  <a:pos x="415197" y="839659"/>
                </a:cxn>
              </a:cxnLst>
              <a:pathLst>
                <a:path w="85" h="111">
                  <a:moveTo>
                    <a:pt x="47" y="95"/>
                  </a:moveTo>
                  <a:cubicBezTo>
                    <a:pt x="41" y="107"/>
                    <a:pt x="27" y="111"/>
                    <a:pt x="15" y="104"/>
                  </a:cubicBezTo>
                  <a:cubicBezTo>
                    <a:pt x="4" y="98"/>
                    <a:pt x="0" y="84"/>
                    <a:pt x="6" y="72"/>
                  </a:cubicBezTo>
                  <a:cubicBezTo>
                    <a:pt x="37" y="16"/>
                    <a:pt x="37" y="16"/>
                    <a:pt x="37" y="16"/>
                  </a:cubicBezTo>
                  <a:cubicBezTo>
                    <a:pt x="43" y="5"/>
                    <a:pt x="58" y="0"/>
                    <a:pt x="69" y="7"/>
                  </a:cubicBezTo>
                  <a:cubicBezTo>
                    <a:pt x="81" y="13"/>
                    <a:pt x="85" y="28"/>
                    <a:pt x="78" y="39"/>
                  </a:cubicBezTo>
                  <a:lnTo>
                    <a:pt x="47" y="95"/>
                  </a:lnTo>
                  <a:close/>
                </a:path>
              </a:pathLst>
            </a:custGeom>
            <a:solidFill>
              <a:srgbClr val="354743"/>
            </a:solidFill>
            <a:ln w="9525">
              <a:noFill/>
            </a:ln>
          </p:spPr>
          <p:txBody>
            <a:bodyPr/>
            <a:p>
              <a:endParaRPr lang="en-US"/>
            </a:p>
          </p:txBody>
        </p:sp>
        <p:sp>
          <p:nvSpPr>
            <p:cNvPr id="5126" name="Oval 9"/>
            <p:cNvSpPr/>
            <p:nvPr/>
          </p:nvSpPr>
          <p:spPr>
            <a:xfrm>
              <a:off x="1209675" y="1449388"/>
              <a:ext cx="2962275" cy="2962275"/>
            </a:xfrm>
            <a:prstGeom prst="ellipse">
              <a:avLst/>
            </a:prstGeom>
            <a:solidFill>
              <a:srgbClr val="EF4137"/>
            </a:solidFill>
            <a:ln w="9525">
              <a:noFill/>
            </a:ln>
          </p:spPr>
          <p:txBody>
            <a:bodyPr anchor="t" anchorCtr="0"/>
            <a:p>
              <a:endParaRPr lang="zh-CN" altLang="en-US" dirty="0">
                <a:latin typeface="Arial" panose="020B0604020202020204" pitchFamily="34" charset="0"/>
                <a:ea typeface="Arial" panose="020B0604020202020204" pitchFamily="34" charset="0"/>
              </a:endParaRPr>
            </a:p>
          </p:txBody>
        </p:sp>
        <p:sp>
          <p:nvSpPr>
            <p:cNvPr id="5127" name="Oval 10"/>
            <p:cNvSpPr/>
            <p:nvPr/>
          </p:nvSpPr>
          <p:spPr>
            <a:xfrm>
              <a:off x="1536700" y="1776413"/>
              <a:ext cx="2317750" cy="2316162"/>
            </a:xfrm>
            <a:prstGeom prst="ellipse">
              <a:avLst/>
            </a:prstGeom>
            <a:solidFill>
              <a:srgbClr val="FFFFFF"/>
            </a:solidFill>
            <a:ln w="9525">
              <a:noFill/>
            </a:ln>
          </p:spPr>
          <p:txBody>
            <a:bodyPr anchor="t" anchorCtr="0"/>
            <a:p>
              <a:endParaRPr lang="zh-CN" altLang="en-US" dirty="0">
                <a:latin typeface="Arial" panose="020B0604020202020204" pitchFamily="34" charset="0"/>
                <a:ea typeface="Arial" panose="020B0604020202020204" pitchFamily="34" charset="0"/>
              </a:endParaRPr>
            </a:p>
          </p:txBody>
        </p:sp>
        <p:sp>
          <p:nvSpPr>
            <p:cNvPr id="5129" name="Oval 12"/>
            <p:cNvSpPr/>
            <p:nvPr/>
          </p:nvSpPr>
          <p:spPr>
            <a:xfrm>
              <a:off x="2200275" y="2439988"/>
              <a:ext cx="981075" cy="981075"/>
            </a:xfrm>
            <a:prstGeom prst="ellipse">
              <a:avLst/>
            </a:prstGeom>
            <a:solidFill>
              <a:srgbClr val="FFFFFF"/>
            </a:solidFill>
            <a:ln w="9525">
              <a:noFill/>
            </a:ln>
          </p:spPr>
          <p:txBody>
            <a:bodyPr anchor="t" anchorCtr="0"/>
            <a:p>
              <a:endParaRPr lang="zh-CN" altLang="en-US" dirty="0">
                <a:latin typeface="Arial" panose="020B0604020202020204" pitchFamily="34" charset="0"/>
                <a:ea typeface="Arial" panose="020B0604020202020204" pitchFamily="34" charset="0"/>
              </a:endParaRPr>
            </a:p>
          </p:txBody>
        </p:sp>
      </p:grpSp>
      <p:sp>
        <p:nvSpPr>
          <p:cNvPr id="16" name="矩形 15"/>
          <p:cNvSpPr/>
          <p:nvPr/>
        </p:nvSpPr>
        <p:spPr>
          <a:xfrm>
            <a:off x="1249363" y="2294255"/>
            <a:ext cx="4637088" cy="257810"/>
          </a:xfrm>
          <a:prstGeom prst="rect">
            <a:avLst/>
          </a:prstGeom>
          <a:noFill/>
        </p:spPr>
        <p:txBody>
          <a:bodyPr wrap="square" lIns="0" tIns="0" rIns="0" bIns="0" rtlCol="0" anchor="t" anchorCtr="0">
            <a:spAutoFit/>
          </a:bodyPr>
          <a:lstStyle/>
          <a:p>
            <a:pPr marL="0" marR="0" lvl="0" indent="0" algn="l" defTabSz="1216660" rtl="0" eaLnBrk="1" fontAlgn="auto" latinLnBrk="0" hangingPunct="1">
              <a:lnSpc>
                <a:spcPct val="120000"/>
              </a:lnSpc>
              <a:spcBef>
                <a:spcPct val="20000"/>
              </a:spcBef>
              <a:spcAft>
                <a:spcPts val="0"/>
              </a:spcAft>
              <a:buClrTx/>
              <a:buSzTx/>
              <a:buFontTx/>
              <a:buNone/>
              <a:defRPr/>
            </a:pPr>
            <a:endParaRPr kumimoji="0" lang="zh-CN" altLang="en-US" sz="1400" b="0" i="0" u="none" strike="noStrike" kern="1200" cap="none" spc="0" normalizeH="0" baseline="0" noProof="0" dirty="0" smtClean="0">
              <a:ln>
                <a:noFill/>
              </a:ln>
              <a:solidFill>
                <a:schemeClr val="tx1">
                  <a:lumMod val="85000"/>
                  <a:lumOff val="15000"/>
                </a:schemeClr>
              </a:solidFill>
              <a:effectLst/>
              <a:uLnTx/>
              <a:uFillTx/>
              <a:latin typeface="Arial" panose="020B0604020202020204" pitchFamily="34" charset="0"/>
              <a:ea typeface="Arial" panose="020B0604020202020204" pitchFamily="34" charset="0"/>
              <a:cs typeface="+mn-cs"/>
              <a:sym typeface="Arial" panose="020B0604020202020204" pitchFamily="34" charset="0"/>
            </a:endParaRPr>
          </a:p>
        </p:txBody>
      </p:sp>
      <p:cxnSp>
        <p:nvCxnSpPr>
          <p:cNvPr id="17" name="直接连接符 16"/>
          <p:cNvCxnSpPr/>
          <p:nvPr/>
        </p:nvCxnSpPr>
        <p:spPr>
          <a:xfrm>
            <a:off x="6524625" y="1984375"/>
            <a:ext cx="0" cy="3195638"/>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rPr>
                <a:t>Processus </a:t>
              </a:r>
              <a:endParaRPr lang="en-US" altLang="zh-CN" sz="2800" b="1" dirty="0">
                <a:latin typeface="Arial" panose="020B0604020202020204" pitchFamily="34" charset="0"/>
                <a:ea typeface="Arial" panose="020B0604020202020204" pitchFamily="34" charset="0"/>
              </a:endParaRPr>
            </a:p>
          </p:txBody>
        </p:sp>
      </p:grpSp>
      <p:sp>
        <p:nvSpPr>
          <p:cNvPr id="7" name="Text Box 6"/>
          <p:cNvSpPr txBox="1"/>
          <p:nvPr/>
        </p:nvSpPr>
        <p:spPr>
          <a:xfrm>
            <a:off x="680720" y="2294255"/>
            <a:ext cx="5205730" cy="2690495"/>
          </a:xfrm>
          <a:prstGeom prst="rect">
            <a:avLst/>
          </a:prstGeom>
          <a:noFill/>
        </p:spPr>
        <p:txBody>
          <a:bodyPr wrap="square" rtlCol="0">
            <a:noAutofit/>
          </a:bodyPr>
          <a:p>
            <a:r>
              <a:rPr lang="en-US" sz="2000" b="1">
                <a:solidFill>
                  <a:srgbClr val="C00000"/>
                </a:solidFill>
                <a:latin typeface="Arial" panose="020B0604020202020204" pitchFamily="34" charset="0"/>
                <a:ea typeface="Yu Gothic UI Semilight" panose="020B0400000000000000" charset="-128"/>
                <a:cs typeface="Arial" panose="020B0604020202020204" pitchFamily="34" charset="0"/>
              </a:rPr>
              <a:t>Un processus</a:t>
            </a:r>
            <a:r>
              <a:rPr lang="en-US" sz="2000">
                <a:latin typeface="Arial" panose="020B0604020202020204" pitchFamily="34" charset="0"/>
                <a:ea typeface="Yu Gothic UI Semilight" panose="020B0400000000000000" charset="-128"/>
                <a:cs typeface="Arial" panose="020B0604020202020204" pitchFamily="34" charset="0"/>
              </a:rPr>
              <a:t> est un programme en cours d'exécution sur un ordinateur. Il est caractérisé par :</a:t>
            </a:r>
            <a:endParaRPr lang="en-US" sz="2000">
              <a:latin typeface="Arial" panose="020B0604020202020204" pitchFamily="34" charset="0"/>
              <a:ea typeface="Yu Gothic UI Semilight" panose="020B0400000000000000" charset="-128"/>
              <a:cs typeface="Arial" panose="020B0604020202020204" pitchFamily="34" charset="0"/>
            </a:endParaRPr>
          </a:p>
          <a:p>
            <a:endParaRPr lang="en-US">
              <a:latin typeface="Yu Gothic UI Semilight" panose="020B0400000000000000" charset="-128"/>
              <a:ea typeface="Yu Gothic UI Semilight" panose="020B0400000000000000" charset="-128"/>
              <a:cs typeface="Cascadia Code Light" panose="020B0609020000020004" charset="0"/>
            </a:endParaRPr>
          </a:p>
          <a:p>
            <a:pPr marL="285750" indent="-285750">
              <a:buFont typeface="Arial" panose="020B0604020202020204" pitchFamily="34" charset="0"/>
              <a:buChar char="•"/>
            </a:pPr>
            <a:r>
              <a:rPr lang="en-US" b="1">
                <a:latin typeface="Arial" panose="020B0604020202020204" pitchFamily="34" charset="0"/>
                <a:ea typeface="Yu Gothic UI Semilight" panose="020B0400000000000000" charset="-128"/>
                <a:cs typeface="Arial" panose="020B0604020202020204" pitchFamily="34" charset="0"/>
              </a:rPr>
              <a:t>un ensemble d'instructions à exécuter</a:t>
            </a:r>
            <a:r>
              <a:rPr lang="en-US">
                <a:latin typeface="Arial" panose="020B0604020202020204" pitchFamily="34" charset="0"/>
                <a:ea typeface="Yu Gothic UI Semilight" panose="020B0400000000000000" charset="-128"/>
                <a:cs typeface="Arial" panose="020B0604020202020204" pitchFamily="34" charset="0"/>
              </a:rPr>
              <a:t> </a:t>
            </a:r>
            <a:endParaRPr lang="en-US">
              <a:latin typeface="Arial" panose="020B0604020202020204" pitchFamily="34" charset="0"/>
              <a:ea typeface="Yu Gothic UI Semilight" panose="020B0400000000000000" charset="-128"/>
              <a:cs typeface="Arial" panose="020B0604020202020204" pitchFamily="34" charset="0"/>
            </a:endParaRPr>
          </a:p>
          <a:p>
            <a:pPr marL="285750" indent="-285750">
              <a:buFont typeface="Arial" panose="020B0604020202020204" pitchFamily="34" charset="0"/>
              <a:buChar char="•"/>
            </a:pPr>
            <a:r>
              <a:rPr lang="en-US" b="1">
                <a:latin typeface="Arial" panose="020B0604020202020204" pitchFamily="34" charset="0"/>
                <a:ea typeface="Yu Gothic UI Semilight" panose="020B0400000000000000" charset="-128"/>
                <a:cs typeface="Arial" panose="020B0604020202020204" pitchFamily="34" charset="0"/>
              </a:rPr>
              <a:t>un espace mémoire dédié à ce processus</a:t>
            </a:r>
            <a:r>
              <a:rPr lang="en-US">
                <a:latin typeface="Arial" panose="020B0604020202020204" pitchFamily="34" charset="0"/>
                <a:ea typeface="Yu Gothic UI Semilight" panose="020B0400000000000000" charset="-128"/>
                <a:cs typeface="Arial" panose="020B0604020202020204" pitchFamily="34" charset="0"/>
              </a:rPr>
              <a:t> </a:t>
            </a:r>
            <a:endParaRPr lang="en-US">
              <a:latin typeface="Arial" panose="020B0604020202020204" pitchFamily="34" charset="0"/>
              <a:ea typeface="Yu Gothic UI Semilight" panose="020B0400000000000000" charset="-128"/>
              <a:cs typeface="Arial" panose="020B0604020202020204" pitchFamily="34" charset="0"/>
            </a:endParaRPr>
          </a:p>
          <a:p>
            <a:pPr marL="285750" indent="-285750">
              <a:buFont typeface="Arial" panose="020B0604020202020204" pitchFamily="34" charset="0"/>
              <a:buChar char="•"/>
            </a:pPr>
            <a:r>
              <a:rPr lang="en-US" b="1">
                <a:latin typeface="Arial" panose="020B0604020202020204" pitchFamily="34" charset="0"/>
                <a:ea typeface="Yu Gothic UI Semilight" panose="020B0400000000000000" charset="-128"/>
                <a:cs typeface="Arial" panose="020B0604020202020204" pitchFamily="34" charset="0"/>
              </a:rPr>
              <a:t>des ressources matérielles</a:t>
            </a:r>
            <a:r>
              <a:rPr lang="en-US" b="1">
                <a:latin typeface="Arial" panose="020B0604020202020204" pitchFamily="34" charset="0"/>
                <a:cs typeface="Arial" panose="020B0604020202020204" pitchFamily="34" charset="0"/>
              </a:rPr>
              <a:t> </a:t>
            </a:r>
            <a:endParaRPr lang="en-US">
              <a:latin typeface="Arial" panose="020B0604020202020204" pitchFamily="34" charset="0"/>
              <a:cs typeface="Arial" panose="020B0604020202020204" pitchFamily="34" charset="0"/>
            </a:endParaRPr>
          </a:p>
        </p:txBody>
      </p:sp>
      <p:pic>
        <p:nvPicPr>
          <p:cNvPr id="6" name="Espace réservé du contenu 5" descr="processor"/>
          <p:cNvPicPr>
            <a:picLocks noChangeAspect="1"/>
          </p:cNvPicPr>
          <p:nvPr>
            <p:ph idx="1"/>
          </p:nvPr>
        </p:nvPicPr>
        <p:blipFill>
          <a:blip r:embed="rId3"/>
          <a:srcRect l="17200" t="4056" r="14356" b="2392"/>
          <a:stretch>
            <a:fillRect/>
          </a:stretch>
        </p:blipFill>
        <p:spPr>
          <a:xfrm>
            <a:off x="8035290" y="2536190"/>
            <a:ext cx="1931035" cy="1768475"/>
          </a:xfrm>
          <a:prstGeom prst="ellipse">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1" name="Group 70"/>
          <p:cNvGrpSpPr/>
          <p:nvPr/>
        </p:nvGrpSpPr>
        <p:grpSpPr>
          <a:xfrm>
            <a:off x="693420" y="1632947"/>
            <a:ext cx="10313670" cy="3705983"/>
            <a:chOff x="0" y="483"/>
            <a:chExt cx="18069" cy="9103"/>
          </a:xfrm>
        </p:grpSpPr>
        <p:grpSp>
          <p:nvGrpSpPr>
            <p:cNvPr id="52" name="Group 51"/>
            <p:cNvGrpSpPr/>
            <p:nvPr/>
          </p:nvGrpSpPr>
          <p:grpSpPr>
            <a:xfrm>
              <a:off x="0" y="815"/>
              <a:ext cx="2891" cy="4281"/>
              <a:chOff x="4627" y="7287"/>
              <a:chExt cx="2607" cy="2874"/>
            </a:xfrm>
          </p:grpSpPr>
          <p:sp>
            <p:nvSpPr>
              <p:cNvPr id="49" name="Rectangles 48"/>
              <p:cNvSpPr/>
              <p:nvPr/>
            </p:nvSpPr>
            <p:spPr>
              <a:xfrm>
                <a:off x="4628" y="7304"/>
                <a:ext cx="2606" cy="2857"/>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50" name="Rectangles 49"/>
              <p:cNvSpPr/>
              <p:nvPr/>
            </p:nvSpPr>
            <p:spPr>
              <a:xfrm>
                <a:off x="4627" y="7287"/>
                <a:ext cx="2590" cy="802"/>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51" name="Text Box 50"/>
              <p:cNvSpPr txBox="1"/>
              <p:nvPr/>
            </p:nvSpPr>
            <p:spPr>
              <a:xfrm>
                <a:off x="4911" y="7471"/>
                <a:ext cx="2322" cy="658"/>
              </a:xfrm>
              <a:prstGeom prst="rect">
                <a:avLst/>
              </a:prstGeom>
              <a:noFill/>
            </p:spPr>
            <p:txBody>
              <a:bodyPr wrap="square" rtlCol="0">
                <a:spAutoFit/>
              </a:bodyPr>
              <a:p>
                <a:r>
                  <a:rPr lang="en-US" sz="2000" b="1"/>
                  <a:t>Disque dure</a:t>
                </a:r>
                <a:endParaRPr lang="en-US" sz="2000" b="1"/>
              </a:p>
            </p:txBody>
          </p:sp>
        </p:grpSp>
        <p:grpSp>
          <p:nvGrpSpPr>
            <p:cNvPr id="70" name="Group 69"/>
            <p:cNvGrpSpPr/>
            <p:nvPr/>
          </p:nvGrpSpPr>
          <p:grpSpPr>
            <a:xfrm>
              <a:off x="119" y="483"/>
              <a:ext cx="17950" cy="9103"/>
              <a:chOff x="119" y="483"/>
              <a:chExt cx="17950" cy="9103"/>
            </a:xfrm>
          </p:grpSpPr>
          <p:pic>
            <p:nvPicPr>
              <p:cNvPr id="26" name="Picture 25"/>
              <p:cNvPicPr>
                <a:picLocks noChangeAspect="1"/>
              </p:cNvPicPr>
              <p:nvPr/>
            </p:nvPicPr>
            <p:blipFill>
              <a:blip r:embed="rId1"/>
              <a:stretch>
                <a:fillRect/>
              </a:stretch>
            </p:blipFill>
            <p:spPr>
              <a:xfrm>
                <a:off x="244" y="2399"/>
                <a:ext cx="2384" cy="2276"/>
              </a:xfrm>
              <a:prstGeom prst="rect">
                <a:avLst/>
              </a:prstGeom>
              <a:effectLst>
                <a:innerShdw blurRad="63500" dist="50800" dir="2700000">
                  <a:prstClr val="black">
                    <a:alpha val="50000"/>
                  </a:prstClr>
                </a:innerShdw>
              </a:effectLst>
            </p:spPr>
          </p:pic>
          <p:pic>
            <p:nvPicPr>
              <p:cNvPr id="36" name="Picture 35"/>
              <p:cNvPicPr>
                <a:picLocks noChangeAspect="1"/>
              </p:cNvPicPr>
              <p:nvPr/>
            </p:nvPicPr>
            <p:blipFill>
              <a:blip r:embed="rId2"/>
              <a:stretch>
                <a:fillRect/>
              </a:stretch>
            </p:blipFill>
            <p:spPr>
              <a:xfrm>
                <a:off x="14417" y="2915"/>
                <a:ext cx="3030" cy="960"/>
              </a:xfrm>
              <a:prstGeom prst="rect">
                <a:avLst/>
              </a:prstGeom>
            </p:spPr>
          </p:pic>
          <p:pic>
            <p:nvPicPr>
              <p:cNvPr id="37" name="Picture 36"/>
              <p:cNvPicPr>
                <a:picLocks noChangeAspect="1"/>
              </p:cNvPicPr>
              <p:nvPr/>
            </p:nvPicPr>
            <p:blipFill>
              <a:blip r:embed="rId3"/>
              <a:stretch>
                <a:fillRect/>
              </a:stretch>
            </p:blipFill>
            <p:spPr>
              <a:xfrm>
                <a:off x="8711" y="1990"/>
                <a:ext cx="4650" cy="2925"/>
              </a:xfrm>
              <a:prstGeom prst="rect">
                <a:avLst/>
              </a:prstGeom>
            </p:spPr>
          </p:pic>
          <p:sp>
            <p:nvSpPr>
              <p:cNvPr id="39" name="Double Brace 38"/>
              <p:cNvSpPr/>
              <p:nvPr/>
            </p:nvSpPr>
            <p:spPr>
              <a:xfrm>
                <a:off x="4193" y="3026"/>
                <a:ext cx="3461" cy="551"/>
              </a:xfrm>
              <a:prstGeom prst="bracePair">
                <a:avLst/>
              </a:prstGeom>
            </p:spPr>
            <p:style>
              <a:lnRef idx="2">
                <a:schemeClr val="accent1"/>
              </a:lnRef>
              <a:fillRef idx="0">
                <a:srgbClr val="FFFFFF"/>
              </a:fillRef>
              <a:effectRef idx="0">
                <a:srgbClr val="FFFFFF"/>
              </a:effectRef>
              <a:fontRef idx="minor">
                <a:schemeClr val="tx1"/>
              </a:fontRef>
            </p:style>
            <p:txBody>
              <a:bodyPr rtlCol="0" anchor="ctr"/>
              <a:p>
                <a:pPr algn="ctr"/>
                <a:r>
                  <a:rPr lang="en-US"/>
                  <a:t>double clique sur le programme</a:t>
                </a:r>
                <a:endParaRPr lang="en-US"/>
              </a:p>
            </p:txBody>
          </p:sp>
          <p:sp>
            <p:nvSpPr>
              <p:cNvPr id="41" name="Left Brace 40"/>
              <p:cNvSpPr/>
              <p:nvPr/>
            </p:nvSpPr>
            <p:spPr>
              <a:xfrm rot="16200000">
                <a:off x="10361" y="-275"/>
                <a:ext cx="919" cy="13252"/>
              </a:xfrm>
              <a:prstGeom prst="leftBrace">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42" name="Plus 41"/>
              <p:cNvSpPr/>
              <p:nvPr/>
            </p:nvSpPr>
            <p:spPr>
              <a:xfrm>
                <a:off x="7654" y="2915"/>
                <a:ext cx="1053" cy="836"/>
              </a:xfrm>
              <a:prstGeom prst="mathPlus">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3" name="Plus 42"/>
              <p:cNvSpPr/>
              <p:nvPr/>
            </p:nvSpPr>
            <p:spPr>
              <a:xfrm>
                <a:off x="13361" y="2915"/>
                <a:ext cx="1053" cy="836"/>
              </a:xfrm>
              <a:prstGeom prst="mathPlus">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4" name="Notched Right Arrow 43"/>
              <p:cNvSpPr/>
              <p:nvPr/>
            </p:nvSpPr>
            <p:spPr>
              <a:xfrm>
                <a:off x="3047" y="3109"/>
                <a:ext cx="728" cy="468"/>
              </a:xfrm>
              <a:prstGeom prst="notched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5" name="Text Box 44"/>
              <p:cNvSpPr txBox="1"/>
              <p:nvPr/>
            </p:nvSpPr>
            <p:spPr>
              <a:xfrm>
                <a:off x="9835" y="7179"/>
                <a:ext cx="3526" cy="1131"/>
              </a:xfrm>
              <a:prstGeom prst="rect">
                <a:avLst/>
              </a:prstGeom>
              <a:noFill/>
            </p:spPr>
            <p:txBody>
              <a:bodyPr wrap="square" rtlCol="0">
                <a:spAutoFit/>
              </a:bodyPr>
              <a:p>
                <a:r>
                  <a:rPr lang="en-US" sz="2400" b="1">
                    <a:solidFill>
                      <a:srgbClr val="000000"/>
                    </a:solidFill>
                  </a:rPr>
                  <a:t>Le processus </a:t>
                </a:r>
                <a:endParaRPr lang="en-US" sz="2400" b="1">
                  <a:solidFill>
                    <a:srgbClr val="000000"/>
                  </a:solidFill>
                </a:endParaRPr>
              </a:p>
            </p:txBody>
          </p:sp>
          <p:sp>
            <p:nvSpPr>
              <p:cNvPr id="46" name="Left Brace 45"/>
              <p:cNvSpPr/>
              <p:nvPr/>
            </p:nvSpPr>
            <p:spPr>
              <a:xfrm rot="16200000">
                <a:off x="759" y="5521"/>
                <a:ext cx="919" cy="1661"/>
              </a:xfrm>
              <a:prstGeom prst="leftBrace">
                <a:avLst/>
              </a:prstGeom>
              <a:noFill/>
              <a:ln>
                <a:solidFill>
                  <a:srgbClr val="FF0000"/>
                </a:solidFill>
              </a:ln>
              <a:extLst>
                <a:ext uri="{909E8E84-426E-40DD-AFC4-6F175D3DCCD1}">
                  <a14:hiddenFill xmlns:a14="http://schemas.microsoft.com/office/drawing/2010/main">
                    <a:solidFill>
                      <a:srgbClr val="FF0000"/>
                    </a:solidFill>
                  </a14:hiddenFill>
                </a:ext>
              </a:extLst>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48" name="Text Box 47"/>
              <p:cNvSpPr txBox="1"/>
              <p:nvPr/>
            </p:nvSpPr>
            <p:spPr>
              <a:xfrm>
                <a:off x="388" y="7180"/>
                <a:ext cx="7961" cy="1131"/>
              </a:xfrm>
              <a:prstGeom prst="rect">
                <a:avLst/>
              </a:prstGeom>
              <a:noFill/>
            </p:spPr>
            <p:txBody>
              <a:bodyPr wrap="square" rtlCol="0">
                <a:spAutoFit/>
              </a:bodyPr>
              <a:p>
                <a:r>
                  <a:rPr lang="en-US" sz="2400" b="1"/>
                  <a:t>Le programme</a:t>
                </a:r>
                <a:r>
                  <a:rPr lang="en-US"/>
                  <a:t> </a:t>
                </a:r>
                <a:endParaRPr lang="en-US"/>
              </a:p>
            </p:txBody>
          </p:sp>
          <p:grpSp>
            <p:nvGrpSpPr>
              <p:cNvPr id="53" name="Group 52"/>
              <p:cNvGrpSpPr/>
              <p:nvPr/>
            </p:nvGrpSpPr>
            <p:grpSpPr>
              <a:xfrm>
                <a:off x="3915" y="483"/>
                <a:ext cx="14154" cy="4614"/>
                <a:chOff x="4627" y="7083"/>
                <a:chExt cx="2607" cy="3078"/>
              </a:xfrm>
            </p:grpSpPr>
            <p:sp>
              <p:nvSpPr>
                <p:cNvPr id="54" name="Rectangles 53"/>
                <p:cNvSpPr/>
                <p:nvPr/>
              </p:nvSpPr>
              <p:spPr>
                <a:xfrm>
                  <a:off x="4628" y="7304"/>
                  <a:ext cx="2606" cy="2857"/>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55" name="Rectangles 54"/>
                <p:cNvSpPr/>
                <p:nvPr/>
              </p:nvSpPr>
              <p:spPr>
                <a:xfrm>
                  <a:off x="4627" y="7303"/>
                  <a:ext cx="2607" cy="786"/>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56" name="Text Box 55"/>
                <p:cNvSpPr txBox="1"/>
                <p:nvPr/>
              </p:nvSpPr>
              <p:spPr>
                <a:xfrm>
                  <a:off x="4911" y="7083"/>
                  <a:ext cx="2089" cy="1057"/>
                </a:xfrm>
                <a:prstGeom prst="rect">
                  <a:avLst/>
                </a:prstGeom>
                <a:noFill/>
              </p:spPr>
              <p:txBody>
                <a:bodyPr wrap="square" rtlCol="0">
                  <a:spAutoFit/>
                </a:bodyPr>
                <a:p>
                  <a:pPr algn="ctr"/>
                  <a:r>
                    <a:rPr lang="en-US" sz="3600" b="1"/>
                    <a:t>RAM</a:t>
                  </a:r>
                  <a:endParaRPr lang="en-US" sz="3600" b="1"/>
                </a:p>
              </p:txBody>
            </p:sp>
          </p:grpSp>
          <p:sp>
            <p:nvSpPr>
              <p:cNvPr id="65" name="Rectangles 64"/>
              <p:cNvSpPr/>
              <p:nvPr/>
            </p:nvSpPr>
            <p:spPr>
              <a:xfrm>
                <a:off x="9599" y="7604"/>
                <a:ext cx="236" cy="1026"/>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6" name="Text Box 65"/>
              <p:cNvSpPr txBox="1"/>
              <p:nvPr/>
            </p:nvSpPr>
            <p:spPr>
              <a:xfrm>
                <a:off x="9939" y="7904"/>
                <a:ext cx="7618" cy="1660"/>
              </a:xfrm>
              <a:prstGeom prst="rect">
                <a:avLst/>
              </a:prstGeom>
              <a:noFill/>
            </p:spPr>
            <p:txBody>
              <a:bodyPr wrap="square" rtlCol="0">
                <a:spAutoFit/>
              </a:bodyPr>
              <a:p>
                <a:r>
                  <a:rPr lang="en-US" sz="2000" b="1">
                    <a:sym typeface="+mn-ea"/>
                  </a:rPr>
                  <a:t>est un programme en cours d’exection </a:t>
                </a:r>
                <a:endParaRPr lang="en-US"/>
              </a:p>
              <a:p>
                <a:endParaRPr lang="en-US"/>
              </a:p>
            </p:txBody>
          </p:sp>
          <p:sp>
            <p:nvSpPr>
              <p:cNvPr id="67" name="Rectangles 66"/>
              <p:cNvSpPr/>
              <p:nvPr/>
            </p:nvSpPr>
            <p:spPr>
              <a:xfrm>
                <a:off x="119" y="7607"/>
                <a:ext cx="269" cy="1026"/>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8" name="Text Box 67"/>
              <p:cNvSpPr txBox="1"/>
              <p:nvPr/>
            </p:nvSpPr>
            <p:spPr>
              <a:xfrm>
                <a:off x="388" y="7926"/>
                <a:ext cx="6400" cy="1660"/>
              </a:xfrm>
              <a:prstGeom prst="rect">
                <a:avLst/>
              </a:prstGeom>
              <a:noFill/>
            </p:spPr>
            <p:txBody>
              <a:bodyPr wrap="square" rtlCol="0">
                <a:spAutoFit/>
              </a:bodyPr>
              <a:p>
                <a:r>
                  <a:rPr lang="en-US" sz="2000" b="1">
                    <a:sym typeface="+mn-ea"/>
                  </a:rPr>
                  <a:t>est un suit d’instruction</a:t>
                </a:r>
                <a:endParaRPr lang="en-US"/>
              </a:p>
              <a:p>
                <a:endParaRPr lang="en-US"/>
              </a:p>
            </p:txBody>
          </p:sp>
        </p:grpSp>
      </p:grpSp>
      <p:sp>
        <p:nvSpPr>
          <p:cNvPr id="16" name="矩形 15"/>
          <p:cNvSpPr/>
          <p:nvPr/>
        </p:nvSpPr>
        <p:spPr>
          <a:xfrm>
            <a:off x="1546543" y="2839720"/>
            <a:ext cx="4637088" cy="257810"/>
          </a:xfrm>
          <a:prstGeom prst="rect">
            <a:avLst/>
          </a:prstGeom>
          <a:noFill/>
        </p:spPr>
        <p:txBody>
          <a:bodyPr wrap="square" lIns="0" tIns="0" rIns="0" bIns="0" rtlCol="0" anchor="t" anchorCtr="0">
            <a:spAutoFit/>
          </a:bodyPr>
          <a:p>
            <a:pPr marL="0" marR="0" lvl="0" indent="0" algn="l" defTabSz="1216660" rtl="0" eaLnBrk="1" fontAlgn="auto" latinLnBrk="0" hangingPunct="1">
              <a:lnSpc>
                <a:spcPct val="120000"/>
              </a:lnSpc>
              <a:spcBef>
                <a:spcPct val="20000"/>
              </a:spcBef>
              <a:spcAft>
                <a:spcPts val="0"/>
              </a:spcAft>
              <a:buClrTx/>
              <a:buSzTx/>
              <a:buFontTx/>
              <a:buNone/>
              <a:defRPr/>
            </a:pPr>
            <a:endParaRPr kumimoji="0" lang="zh-CN" altLang="en-US" sz="1400" b="0" i="0" u="none" strike="noStrike" kern="1200" cap="none" spc="0" normalizeH="0" baseline="0" noProof="0" dirty="0" smtClean="0">
              <a:ln>
                <a:noFill/>
              </a:ln>
              <a:solidFill>
                <a:schemeClr val="tx1">
                  <a:lumMod val="85000"/>
                  <a:lumOff val="15000"/>
                </a:schemeClr>
              </a:solidFill>
              <a:effectLst/>
              <a:uLnTx/>
              <a:uFillTx/>
              <a:latin typeface="Arial" panose="020B0604020202020204" pitchFamily="34" charset="0"/>
              <a:ea typeface="Arial" panose="020B0604020202020204" pitchFamily="34" charset="0"/>
              <a:cs typeface="+mn-cs"/>
              <a:sym typeface="Arial" panose="020B0604020202020204" pitchFamily="34" charset="0"/>
            </a:endParaRPr>
          </a:p>
        </p:txBody>
      </p:sp>
      <p:grpSp>
        <p:nvGrpSpPr>
          <p:cNvPr id="5135" name="组合 17"/>
          <p:cNvGrpSpPr/>
          <p:nvPr/>
        </p:nvGrpSpPr>
        <p:grpSpPr>
          <a:xfrm>
            <a:off x="0" y="292100"/>
            <a:ext cx="10097135" cy="596894"/>
            <a:chOff x="0" y="177800"/>
            <a:chExt cx="9935749" cy="596900"/>
          </a:xfrm>
        </p:grpSpPr>
        <p:sp>
          <p:nvSpPr>
            <p:cNvPr id="19" name="矩形 18"/>
            <p:cNvSpPr/>
            <p:nvPr/>
          </p:nvSpPr>
          <p:spPr>
            <a:xfrm flipH="1">
              <a:off x="0" y="177800"/>
              <a:ext cx="596900" cy="596900"/>
            </a:xfrm>
            <a:prstGeom prst="rect">
              <a:avLst/>
            </a:prstGeom>
            <a:solidFill>
              <a:sysClr val="windowText" lastClr="000000">
                <a:lumMod val="85000"/>
                <a:lumOff val="15000"/>
              </a:sys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Arial" panose="020B0604020202020204" pitchFamily="34" charset="0"/>
                <a:ea typeface="Arial" panose="020B0604020202020204" pitchFamily="34" charset="0"/>
                <a:cs typeface="+mn-ea"/>
              </a:endParaRPr>
            </a:p>
          </p:txBody>
        </p:sp>
        <p:sp>
          <p:nvSpPr>
            <p:cNvPr id="20" name="矩形 19"/>
            <p:cNvSpPr/>
            <p:nvPr/>
          </p:nvSpPr>
          <p:spPr>
            <a:xfrm flipH="1">
              <a:off x="669819" y="177800"/>
              <a:ext cx="127688" cy="596900"/>
            </a:xfrm>
            <a:prstGeom prst="rect">
              <a:avLst/>
            </a:prstGeom>
            <a:solidFill>
              <a:srgbClr val="F61833"/>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Arial" panose="020B0604020202020204" pitchFamily="34" charset="0"/>
                <a:ea typeface="Arial" panose="020B0604020202020204" pitchFamily="34" charset="0"/>
                <a:cs typeface="+mn-ea"/>
              </a:endParaRPr>
            </a:p>
          </p:txBody>
        </p:sp>
        <p:sp>
          <p:nvSpPr>
            <p:cNvPr id="5138" name="文本框 20"/>
            <p:cNvSpPr txBox="1"/>
            <p:nvPr/>
          </p:nvSpPr>
          <p:spPr>
            <a:xfrm>
              <a:off x="870417" y="214630"/>
              <a:ext cx="9065332" cy="521975"/>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sym typeface="+mn-ea"/>
                </a:rPr>
                <a:t>La difference entre programme et processus</a:t>
              </a:r>
              <a:r>
                <a:rPr lang="en-US" altLang="zh-CN" sz="2800" b="1" dirty="0">
                  <a:latin typeface="Arial" panose="020B0604020202020204" pitchFamily="34" charset="0"/>
                  <a:ea typeface="Arial" panose="020B0604020202020204" pitchFamily="34" charset="0"/>
                </a:rPr>
                <a:t> </a:t>
              </a:r>
              <a:endParaRPr lang="en-US" altLang="zh-CN" sz="2800" b="1" dirty="0">
                <a:latin typeface="Arial" panose="020B0604020202020204" pitchFamily="34" charset="0"/>
                <a:ea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15875" y="635"/>
            <a:ext cx="12306300" cy="6857365"/>
          </a:xfrm>
          <a:prstGeom prst="rect">
            <a:avLst/>
          </a:prstGeom>
          <a:solidFill>
            <a:srgbClr val="20222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fr-FR" altLang="en-US"/>
          </a:p>
        </p:txBody>
      </p:sp>
      <p:sp>
        <p:nvSpPr>
          <p:cNvPr id="7" name="椭圆 6"/>
          <p:cNvSpPr/>
          <p:nvPr/>
        </p:nvSpPr>
        <p:spPr>
          <a:xfrm>
            <a:off x="467678" y="1214755"/>
            <a:ext cx="2689225" cy="2689225"/>
          </a:xfrm>
          <a:prstGeom prst="ellipse">
            <a:avLst/>
          </a:prstGeom>
          <a:solidFill>
            <a:srgbClr val="D61920">
              <a:alpha val="8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4339" name="文本框 6"/>
          <p:cNvSpPr txBox="1"/>
          <p:nvPr/>
        </p:nvSpPr>
        <p:spPr>
          <a:xfrm>
            <a:off x="1094105" y="1723390"/>
            <a:ext cx="1436370" cy="1445260"/>
          </a:xfrm>
          <a:prstGeom prst="rect">
            <a:avLst/>
          </a:prstGeom>
          <a:noFill/>
          <a:ln w="9525">
            <a:noFill/>
          </a:ln>
        </p:spPr>
        <p:txBody>
          <a:bodyPr wrap="square" anchor="t">
            <a:spAutoFit/>
          </a:bodyPr>
          <a:p>
            <a:pPr>
              <a:buFont typeface="Arial" panose="020B0604020202020204" pitchFamily="34" charset="0"/>
            </a:pPr>
            <a:r>
              <a:rPr lang="en-US" altLang="zh-CN" sz="8800" b="1" dirty="0">
                <a:solidFill>
                  <a:schemeClr val="bg1"/>
                </a:solidFill>
                <a:ea typeface="Calibri" panose="020F0502020204030204" pitchFamily="34" charset="0"/>
              </a:rPr>
              <a:t>02</a:t>
            </a:r>
            <a:endParaRPr lang="en-US" altLang="zh-CN" sz="8800" b="1" dirty="0">
              <a:solidFill>
                <a:schemeClr val="bg1"/>
              </a:solidFill>
              <a:ea typeface="Calibri" panose="020F0502020204030204" pitchFamily="34" charset="0"/>
            </a:endParaRPr>
          </a:p>
        </p:txBody>
      </p:sp>
      <p:sp>
        <p:nvSpPr>
          <p:cNvPr id="9" name="矩形 7"/>
          <p:cNvSpPr>
            <a:spLocks noChangeArrowheads="1"/>
          </p:cNvSpPr>
          <p:nvPr/>
        </p:nvSpPr>
        <p:spPr bwMode="auto">
          <a:xfrm>
            <a:off x="3382010" y="1972310"/>
            <a:ext cx="8733155" cy="66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1pPr>
            <a:lvl2pPr marL="742950" indent="-285750" defTabSz="1216025">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2pPr>
            <a:lvl3pPr marL="1143000" indent="-228600" defTabSz="1216025">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3pPr>
            <a:lvl4pPr marL="16002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4pPr>
            <a:lvl5pPr marL="20574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5pPr>
            <a:lvl6pPr marL="25146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6pPr>
            <a:lvl7pPr marL="29718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7pPr>
            <a:lvl8pPr marL="34290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8pPr>
            <a:lvl9pPr marL="38862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9pPr>
          </a:lstStyle>
          <a:p>
            <a:pPr algn="l">
              <a:buFont typeface="Arial" panose="020B0604020202020204" pitchFamily="34" charset="0"/>
              <a:buNone/>
            </a:pPr>
            <a:r>
              <a:rPr kumimoji="0" lang="en-US" altLang="zh-CN" sz="4800" b="1" i="0" u="none" strike="noStrike" kern="1200" cap="none" spc="0" normalizeH="0" baseline="0" noProof="0" dirty="0">
                <a:ln>
                  <a:noFill/>
                </a:ln>
                <a:solidFill>
                  <a:srgbClr val="FFFFFF"/>
                </a:solidFill>
                <a:effectLst/>
                <a:uLnTx/>
                <a:uFillTx/>
                <a:latin typeface="Arial" panose="020B0604020202020204" pitchFamily="34" charset="0"/>
                <a:ea typeface="黑体" panose="02010609060101010101" pitchFamily="49" charset="-122"/>
                <a:cs typeface="+mn-cs"/>
                <a:sym typeface="+mn-lt"/>
              </a:rPr>
              <a:t>Creation d’un processus</a:t>
            </a:r>
            <a:endParaRPr kumimoji="0" lang="en-US" altLang="zh-CN" sz="4800" b="1" i="0" u="none" strike="noStrike" kern="1200" cap="none" spc="0" normalizeH="0" baseline="0" noProof="0" dirty="0">
              <a:ln>
                <a:noFill/>
              </a:ln>
              <a:solidFill>
                <a:srgbClr val="FFFFFF"/>
              </a:solidFill>
              <a:effectLst/>
              <a:uLnTx/>
              <a:uFillTx/>
              <a:latin typeface="Arial" panose="020B0604020202020204" pitchFamily="34" charset="0"/>
              <a:ea typeface="黑体" panose="02010609060101010101" pitchFamily="49" charset="-122"/>
              <a:cs typeface="+mn-cs"/>
              <a:sym typeface="+mn-lt"/>
            </a:endParaRPr>
          </a:p>
        </p:txBody>
      </p:sp>
      <p:sp>
        <p:nvSpPr>
          <p:cNvPr id="3" name="Zone de texte 2"/>
          <p:cNvSpPr txBox="1"/>
          <p:nvPr/>
        </p:nvSpPr>
        <p:spPr>
          <a:xfrm>
            <a:off x="3382010" y="3168650"/>
            <a:ext cx="7893685" cy="1814830"/>
          </a:xfrm>
          <a:prstGeom prst="rect">
            <a:avLst/>
          </a:prstGeom>
          <a:noFill/>
        </p:spPr>
        <p:txBody>
          <a:bodyPr wrap="square" rtlCol="0">
            <a:spAutoFit/>
          </a:bodyPr>
          <a:p>
            <a:pPr marL="285750" indent="-285750">
              <a:buFont typeface="Arial" panose="020B0604020202020204" pitchFamily="34" charset="0"/>
              <a:buChar char="•"/>
            </a:pPr>
            <a:r>
              <a:rPr lang="en-US" altLang="fr-FR" sz="2800">
                <a:solidFill>
                  <a:schemeClr val="bg1"/>
                </a:solidFill>
                <a:latin typeface="Arial" panose="020B0604020202020204" pitchFamily="34" charset="0"/>
                <a:cs typeface="Arial" panose="020B0604020202020204" pitchFamily="34" charset="0"/>
              </a:rPr>
              <a:t>La cr</a:t>
            </a:r>
            <a:r>
              <a:rPr lang="fr-FR" altLang="fr-FR" sz="2800">
                <a:solidFill>
                  <a:schemeClr val="bg1"/>
                </a:solidFill>
                <a:latin typeface="Arial" panose="020B0604020202020204" pitchFamily="34" charset="0"/>
                <a:cs typeface="Arial" panose="020B0604020202020204" pitchFamily="34" charset="0"/>
              </a:rPr>
              <a:t>é</a:t>
            </a:r>
            <a:r>
              <a:rPr lang="en-US" altLang="fr-FR" sz="2800">
                <a:solidFill>
                  <a:schemeClr val="bg1"/>
                </a:solidFill>
                <a:latin typeface="Arial" panose="020B0604020202020204" pitchFamily="34" charset="0"/>
                <a:cs typeface="Arial" panose="020B0604020202020204" pitchFamily="34" charset="0"/>
              </a:rPr>
              <a:t>ation</a:t>
            </a:r>
            <a:endParaRPr lang="en-US" altLang="fr-FR" sz="2800">
              <a:solidFill>
                <a:schemeClr val="bg1"/>
              </a:solidFill>
              <a:latin typeface="Arial" panose="020B0604020202020204" pitchFamily="34" charset="0"/>
              <a:cs typeface="Arial" panose="020B0604020202020204" pitchFamily="34" charset="0"/>
            </a:endParaRPr>
          </a:p>
          <a:p>
            <a:pPr marL="285750" indent="-285750" algn="l">
              <a:buClrTx/>
              <a:buSzTx/>
              <a:buFont typeface="Arial" panose="020B0604020202020204" pitchFamily="34" charset="0"/>
              <a:buChar char="•"/>
            </a:pPr>
            <a:r>
              <a:rPr lang="en-US" altLang="fr-FR" sz="2800">
                <a:solidFill>
                  <a:schemeClr val="bg1"/>
                </a:solidFill>
                <a:latin typeface="Arial" panose="020B0604020202020204" pitchFamily="34" charset="0"/>
                <a:cs typeface="Arial" panose="020B0604020202020204" pitchFamily="34" charset="0"/>
                <a:sym typeface="+mn-ea"/>
              </a:rPr>
              <a:t>Bloc de Contrôle de Processus(PCB)</a:t>
            </a:r>
            <a:endParaRPr lang="en-US" altLang="fr-FR" sz="2800">
              <a:solidFill>
                <a:schemeClr val="bg1"/>
              </a:solidFill>
              <a:latin typeface="Arial" panose="020B0604020202020204" pitchFamily="34" charset="0"/>
              <a:cs typeface="Arial" panose="020B0604020202020204" pitchFamily="34" charset="0"/>
              <a:sym typeface="+mn-ea"/>
            </a:endParaRPr>
          </a:p>
          <a:p>
            <a:pPr marL="285750" indent="-285750" algn="l">
              <a:buClrTx/>
              <a:buSzTx/>
              <a:buFont typeface="Arial" panose="020B0604020202020204" pitchFamily="34" charset="0"/>
              <a:buChar char="•"/>
            </a:pPr>
            <a:r>
              <a:rPr lang="en-US" altLang="fr-FR" sz="2800">
                <a:solidFill>
                  <a:schemeClr val="bg1"/>
                </a:solidFill>
                <a:latin typeface="Arial" panose="020B0604020202020204" pitchFamily="34" charset="0"/>
                <a:cs typeface="Arial" panose="020B0604020202020204" pitchFamily="34" charset="0"/>
                <a:sym typeface="+mn-ea"/>
              </a:rPr>
              <a:t>File d’attente des processus</a:t>
            </a:r>
            <a:endParaRPr lang="en-US" altLang="fr-FR" sz="2800">
              <a:solidFill>
                <a:schemeClr val="bg1"/>
              </a:solidFill>
              <a:latin typeface="Arial" panose="020B0604020202020204" pitchFamily="34" charset="0"/>
              <a:cs typeface="Arial" panose="020B0604020202020204" pitchFamily="34" charset="0"/>
            </a:endParaRPr>
          </a:p>
          <a:p>
            <a:endParaRPr lang="en-US" altLang="fr-FR" sz="2800">
              <a:solidFill>
                <a:schemeClr val="bg1"/>
              </a:solidFill>
              <a:latin typeface="Arial" panose="020B0604020202020204" pitchFamily="34" charset="0"/>
              <a:cs typeface="Arial" panose="020B0604020202020204" pitchFamily="34" charset="0"/>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06276" y="1873805"/>
            <a:ext cx="3562046" cy="156845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3200" b="1" i="0" u="none" strike="noStrike" kern="1200" cap="none" spc="0" normalizeH="0" baseline="0" noProof="0" dirty="0">
                <a:ln>
                  <a:noFill/>
                </a:ln>
                <a:solidFill>
                  <a:schemeClr val="tx1"/>
                </a:solidFill>
                <a:effectLst/>
                <a:uLnTx/>
                <a:uFillTx/>
                <a:latin typeface="Arial" panose="020B0604020202020204" pitchFamily="34" charset="0"/>
                <a:ea typeface="OPPOSans B" panose="00020600040101010101" pitchFamily="18" charset="-122"/>
                <a:cs typeface="Arial" panose="020B0604020202020204" pitchFamily="34" charset="0"/>
              </a:rPr>
              <a:t>Quand un processus </a:t>
            </a:r>
            <a:endParaRPr kumimoji="1" lang="en-US" altLang="zh-CN" sz="3200" b="1" i="0" u="none" strike="noStrike" kern="1200" cap="none" spc="0" normalizeH="0" baseline="0" noProof="0" dirty="0">
              <a:ln>
                <a:noFill/>
              </a:ln>
              <a:solidFill>
                <a:schemeClr val="tx1"/>
              </a:solidFill>
              <a:effectLst/>
              <a:uLnTx/>
              <a:uFillTx/>
              <a:latin typeface="Arial" panose="020B0604020202020204" pitchFamily="34" charset="0"/>
              <a:ea typeface="OPPOSans B" panose="00020600040101010101" pitchFamily="18" charset="-122"/>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3200" b="1" i="0" u="none" strike="noStrike" kern="1200" cap="none" spc="0" normalizeH="0" baseline="0" noProof="0" dirty="0">
                <a:ln>
                  <a:noFill/>
                </a:ln>
                <a:solidFill>
                  <a:schemeClr val="tx1"/>
                </a:solidFill>
                <a:effectLst/>
                <a:uLnTx/>
                <a:uFillTx/>
                <a:latin typeface="Arial" panose="020B0604020202020204" pitchFamily="34" charset="0"/>
                <a:ea typeface="OPPOSans B" panose="00020600040101010101" pitchFamily="18" charset="-122"/>
                <a:cs typeface="Arial" panose="020B0604020202020204" pitchFamily="34" charset="0"/>
              </a:rPr>
              <a:t>est-il cr</a:t>
            </a:r>
            <a:r>
              <a:rPr kumimoji="1" lang="fr-FR" altLang="zh-CN" sz="3200" b="1" i="0" u="none" strike="noStrike" kern="1200" cap="none" spc="0" normalizeH="0" baseline="0" noProof="0" dirty="0">
                <a:ln>
                  <a:noFill/>
                </a:ln>
                <a:solidFill>
                  <a:schemeClr val="tx1"/>
                </a:solidFill>
                <a:effectLst/>
                <a:uLnTx/>
                <a:uFillTx/>
                <a:latin typeface="Arial" panose="020B0604020202020204" pitchFamily="34" charset="0"/>
                <a:ea typeface="OPPOSans B" panose="00020600040101010101" pitchFamily="18" charset="-122"/>
                <a:cs typeface="Arial" panose="020B0604020202020204" pitchFamily="34" charset="0"/>
              </a:rPr>
              <a:t>éé</a:t>
            </a:r>
            <a:r>
              <a:rPr kumimoji="1" lang="ar-MA" altLang="zh-CN" sz="3200" b="1" i="0" u="none" strike="noStrike" kern="1200" cap="none" spc="0" normalizeH="0" baseline="0" noProof="0" dirty="0">
                <a:ln>
                  <a:noFill/>
                </a:ln>
                <a:solidFill>
                  <a:schemeClr val="tx1"/>
                </a:solidFill>
                <a:effectLst/>
                <a:uLnTx/>
                <a:uFillTx/>
                <a:latin typeface="Arial" panose="020B0604020202020204" pitchFamily="34" charset="0"/>
                <a:ea typeface="OPPOSans B" panose="00020600040101010101" pitchFamily="18" charset="-122"/>
                <a:cs typeface="Arial" panose="020B0604020202020204" pitchFamily="34" charset="0"/>
              </a:rPr>
              <a:t> </a:t>
            </a:r>
            <a:r>
              <a:rPr kumimoji="1" lang="en-US" altLang="zh-CN" sz="3200" b="1" i="0" u="none" strike="noStrike" kern="1200" cap="none" spc="0" normalizeH="0" baseline="0" noProof="0" dirty="0">
                <a:ln>
                  <a:noFill/>
                </a:ln>
                <a:solidFill>
                  <a:schemeClr val="tx1"/>
                </a:solidFill>
                <a:effectLst/>
                <a:uLnTx/>
                <a:uFillTx/>
                <a:latin typeface="Arial" panose="020B0604020202020204" pitchFamily="34" charset="0"/>
                <a:ea typeface="OPPOSans B" panose="00020600040101010101" pitchFamily="18" charset="-122"/>
                <a:cs typeface="Arial" panose="020B0604020202020204" pitchFamily="34" charset="0"/>
              </a:rPr>
              <a:t>?</a:t>
            </a:r>
            <a:endParaRPr kumimoji="1" lang="en-US" altLang="zh-CN" sz="3200" b="1" i="0" u="none" strike="noStrike" kern="1200" cap="none" spc="0" normalizeH="0" baseline="0" noProof="0" dirty="0">
              <a:ln>
                <a:noFill/>
              </a:ln>
              <a:solidFill>
                <a:schemeClr val="tx1"/>
              </a:solidFill>
              <a:effectLst/>
              <a:uLnTx/>
              <a:uFillTx/>
              <a:latin typeface="Arial" panose="020B0604020202020204" pitchFamily="34" charset="0"/>
              <a:ea typeface="OPPOSans B" panose="00020600040101010101" pitchFamily="18" charset="-122"/>
              <a:cs typeface="Arial" panose="020B0604020202020204" pitchFamily="34" charset="0"/>
            </a:endParaRPr>
          </a:p>
        </p:txBody>
      </p:sp>
      <p:sp>
        <p:nvSpPr>
          <p:cNvPr id="5" name="矩形 4"/>
          <p:cNvSpPr/>
          <p:nvPr/>
        </p:nvSpPr>
        <p:spPr>
          <a:xfrm>
            <a:off x="4293734" y="1929950"/>
            <a:ext cx="295275" cy="1714500"/>
          </a:xfrm>
          <a:prstGeom prst="rect">
            <a:avLst/>
          </a:prstGeom>
          <a:solidFill>
            <a:srgbClr val="9E18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charset="-122"/>
              <a:ea typeface="OPPOSans R" panose="00020600040101010101" charset="-122"/>
              <a:cs typeface="+mn-cs"/>
            </a:endParaRPr>
          </a:p>
        </p:txBody>
      </p:sp>
      <p:grpSp>
        <p:nvGrpSpPr>
          <p:cNvPr id="6" name="Grouper 5"/>
          <p:cNvGrpSpPr/>
          <p:nvPr/>
        </p:nvGrpSpPr>
        <p:grpSpPr>
          <a:xfrm>
            <a:off x="5311140" y="1677035"/>
            <a:ext cx="5717540" cy="460375"/>
            <a:chOff x="8364" y="2641"/>
            <a:chExt cx="9004" cy="725"/>
          </a:xfrm>
        </p:grpSpPr>
        <p:sp>
          <p:nvSpPr>
            <p:cNvPr id="3" name="文本框 2"/>
            <p:cNvSpPr txBox="1"/>
            <p:nvPr/>
          </p:nvSpPr>
          <p:spPr>
            <a:xfrm>
              <a:off x="8994" y="2641"/>
              <a:ext cx="8374" cy="7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i="0" u="none" strike="noStrike" kern="1200" spc="0" normalizeH="0" noProof="0" dirty="0">
                  <a:ln>
                    <a:noFill/>
                  </a:ln>
                  <a:solidFill>
                    <a:srgbClr val="9E1818"/>
                  </a:solidFill>
                  <a:effectLst/>
                  <a:uLnTx/>
                  <a:uFillTx/>
                  <a:latin typeface="Arial" panose="020B0604020202020204" pitchFamily="34" charset="0"/>
                  <a:cs typeface="Arial" panose="020B0604020202020204" pitchFamily="34" charset="0"/>
                </a:rPr>
                <a:t>Au démarrage du système</a:t>
              </a:r>
              <a:endParaRPr kumimoji="0" lang="en-US" altLang="zh-CN" sz="2400" i="0" u="none" strike="noStrike" kern="1200" spc="0" normalizeH="0" noProof="0" dirty="0">
                <a:ln>
                  <a:noFill/>
                </a:ln>
                <a:solidFill>
                  <a:srgbClr val="9E1818"/>
                </a:solidFill>
                <a:effectLst/>
                <a:uLnTx/>
                <a:uFillTx/>
                <a:latin typeface="Arial" panose="020B0604020202020204" pitchFamily="34" charset="0"/>
                <a:cs typeface="Arial" panose="020B0604020202020204" pitchFamily="34" charset="0"/>
              </a:endParaRPr>
            </a:p>
          </p:txBody>
        </p:sp>
        <p:pic>
          <p:nvPicPr>
            <p:cNvPr id="13" name="图形 12" descr="徽章关注 轮廓"/>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64" y="2641"/>
              <a:ext cx="630" cy="630"/>
            </a:xfrm>
            <a:prstGeom prst="rect">
              <a:avLst/>
            </a:prstGeom>
          </p:spPr>
        </p:pic>
      </p:grpSp>
      <p:grpSp>
        <p:nvGrpSpPr>
          <p:cNvPr id="11" name="Grouper 10"/>
          <p:cNvGrpSpPr/>
          <p:nvPr/>
        </p:nvGrpSpPr>
        <p:grpSpPr>
          <a:xfrm>
            <a:off x="5311140" y="3021330"/>
            <a:ext cx="5717540" cy="460375"/>
            <a:chOff x="8364" y="4758"/>
            <a:chExt cx="9004" cy="725"/>
          </a:xfrm>
        </p:grpSpPr>
        <p:sp>
          <p:nvSpPr>
            <p:cNvPr id="7" name="文本框 6"/>
            <p:cNvSpPr txBox="1"/>
            <p:nvPr/>
          </p:nvSpPr>
          <p:spPr>
            <a:xfrm>
              <a:off x="8993" y="4758"/>
              <a:ext cx="8375" cy="725"/>
            </a:xfrm>
            <a:prstGeom prst="rect">
              <a:avLst/>
            </a:prstGeom>
            <a:noFill/>
          </p:spPr>
          <p:txBody>
            <a:bodyPr wrap="square" rtlCol="0">
              <a:spAutoFit/>
            </a:bodyPr>
            <a:lstStyle/>
            <a:p>
              <a:pPr marL="0" marR="0" lvl="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spc="0" normalizeH="0" noProof="0" dirty="0">
                  <a:ln>
                    <a:noFill/>
                  </a:ln>
                  <a:solidFill>
                    <a:srgbClr val="9E1818"/>
                  </a:solidFill>
                  <a:effectLst/>
                  <a:uLnTx/>
                  <a:uFillTx/>
                  <a:latin typeface="Arial" panose="020B0604020202020204" pitchFamily="34" charset="0"/>
                  <a:cs typeface="Arial" panose="020B0604020202020204" pitchFamily="34" charset="0"/>
                </a:rPr>
                <a:t>À la demande d’un utilisateur</a:t>
              </a:r>
              <a:endParaRPr kumimoji="0" lang="en-US" altLang="zh-CN" sz="2400" b="0" i="0" u="none" strike="noStrike" kern="1200" spc="0" normalizeH="0" noProof="0" dirty="0">
                <a:ln>
                  <a:noFill/>
                </a:ln>
                <a:solidFill>
                  <a:srgbClr val="9E1818"/>
                </a:solidFill>
                <a:effectLst/>
                <a:uLnTx/>
                <a:uFillTx/>
                <a:latin typeface="Arial" panose="020B0604020202020204" pitchFamily="34" charset="0"/>
                <a:cs typeface="Arial" panose="020B0604020202020204" pitchFamily="34" charset="0"/>
              </a:endParaRPr>
            </a:p>
          </p:txBody>
        </p:sp>
        <p:pic>
          <p:nvPicPr>
            <p:cNvPr id="14" name="图形 13" descr="徽章关注 轮廓"/>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64" y="4791"/>
              <a:ext cx="630" cy="630"/>
            </a:xfrm>
            <a:prstGeom prst="rect">
              <a:avLst/>
            </a:prstGeom>
          </p:spPr>
        </p:pic>
      </p:grpSp>
      <p:grpSp>
        <p:nvGrpSpPr>
          <p:cNvPr id="12" name="Grouper 11"/>
          <p:cNvGrpSpPr/>
          <p:nvPr/>
        </p:nvGrpSpPr>
        <p:grpSpPr>
          <a:xfrm>
            <a:off x="5311140" y="4433570"/>
            <a:ext cx="5718175" cy="460375"/>
            <a:chOff x="8364" y="6982"/>
            <a:chExt cx="9005" cy="725"/>
          </a:xfrm>
        </p:grpSpPr>
        <p:sp>
          <p:nvSpPr>
            <p:cNvPr id="9" name="文本框 8"/>
            <p:cNvSpPr txBox="1"/>
            <p:nvPr/>
          </p:nvSpPr>
          <p:spPr>
            <a:xfrm>
              <a:off x="8994" y="6982"/>
              <a:ext cx="8375" cy="725"/>
            </a:xfrm>
            <a:prstGeom prst="rect">
              <a:avLst/>
            </a:prstGeom>
            <a:noFill/>
          </p:spPr>
          <p:txBody>
            <a:bodyPr wrap="square" rtlCol="0">
              <a:spAutoFit/>
            </a:bodyPr>
            <a:lstStyle/>
            <a:p>
              <a:pPr marL="0" marR="0" lvl="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spc="0" normalizeH="0" noProof="0" dirty="0">
                  <a:ln>
                    <a:noFill/>
                  </a:ln>
                  <a:solidFill>
                    <a:srgbClr val="9E1818"/>
                  </a:solidFill>
                  <a:effectLst/>
                  <a:uLnTx/>
                  <a:uFillTx/>
                  <a:latin typeface="Arial" panose="020B0604020202020204" pitchFamily="34" charset="0"/>
                  <a:cs typeface="Arial" panose="020B0604020202020204" pitchFamily="34" charset="0"/>
                </a:rPr>
                <a:t>Par un autre processus </a:t>
              </a:r>
              <a:endParaRPr kumimoji="0" lang="en-US" altLang="zh-CN" sz="2400" b="0" i="0" u="none" strike="noStrike" kern="1200" spc="0" normalizeH="0" noProof="0" dirty="0">
                <a:ln>
                  <a:noFill/>
                </a:ln>
                <a:solidFill>
                  <a:srgbClr val="9E1818"/>
                </a:solidFill>
                <a:effectLst/>
                <a:uLnTx/>
                <a:uFillTx/>
                <a:latin typeface="Arial" panose="020B0604020202020204" pitchFamily="34" charset="0"/>
                <a:cs typeface="Arial" panose="020B0604020202020204" pitchFamily="34" charset="0"/>
              </a:endParaRPr>
            </a:p>
          </p:txBody>
        </p:sp>
        <p:pic>
          <p:nvPicPr>
            <p:cNvPr id="15" name="图形 14" descr="徽章关注 轮廓"/>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64" y="7006"/>
              <a:ext cx="630" cy="630"/>
            </a:xfrm>
            <a:prstGeom prst="rect">
              <a:avLst/>
            </a:prstGeom>
          </p:spPr>
        </p:pic>
      </p:grpSp>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ysClr val="windowText" lastClr="000000">
                <a:lumMod val="85000"/>
                <a:lumOff val="15000"/>
              </a:sys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Arial" panose="020B0604020202020204" pitchFamily="34" charset="0"/>
                <a:ea typeface="Arial" panose="020B0604020202020204" pitchFamily="34" charset="0"/>
                <a:cs typeface="+mn-ea"/>
              </a:endParaRPr>
            </a:p>
          </p:txBody>
        </p:sp>
        <p:sp>
          <p:nvSpPr>
            <p:cNvPr id="20" name="矩形 19"/>
            <p:cNvSpPr/>
            <p:nvPr/>
          </p:nvSpPr>
          <p:spPr>
            <a:xfrm flipH="1">
              <a:off x="669819" y="177800"/>
              <a:ext cx="127688" cy="596900"/>
            </a:xfrm>
            <a:prstGeom prst="rect">
              <a:avLst/>
            </a:prstGeom>
            <a:solidFill>
              <a:srgbClr val="F61833"/>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Arial" panose="020B0604020202020204" pitchFamily="34" charset="0"/>
                <a:ea typeface="Arial" panose="020B0604020202020204" pitchFamily="34" charset="0"/>
                <a:cs typeface="+mn-ea"/>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rPr>
                <a:t>La cr</a:t>
              </a:r>
              <a:r>
                <a:rPr lang="fr-FR" altLang="zh-CN" sz="2800" b="1" dirty="0">
                  <a:latin typeface="Arial" panose="020B0604020202020204" pitchFamily="34" charset="0"/>
                  <a:ea typeface="Arial" panose="020B0604020202020204" pitchFamily="34" charset="0"/>
                </a:rPr>
                <a:t>é</a:t>
              </a:r>
              <a:r>
                <a:rPr lang="en-US" altLang="zh-CN" sz="2800" b="1" dirty="0">
                  <a:latin typeface="Arial" panose="020B0604020202020204" pitchFamily="34" charset="0"/>
                  <a:ea typeface="Arial" panose="020B0604020202020204" pitchFamily="34" charset="0"/>
                </a:rPr>
                <a:t>ation d’un processus </a:t>
              </a:r>
              <a:endParaRPr lang="en-US" altLang="zh-CN" sz="2800" b="1" dirty="0">
                <a:latin typeface="Arial" panose="020B0604020202020204" pitchFamily="34" charset="0"/>
                <a:ea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strips(down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strips(downLeft)">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478790" y="2121535"/>
            <a:ext cx="7108190" cy="460375"/>
          </a:xfrm>
          <a:prstGeom prst="rect">
            <a:avLst/>
          </a:prstGeom>
          <a:noFill/>
        </p:spPr>
        <p:txBody>
          <a:bodyPr wrap="square" rtlCol="0">
            <a:spAutoFit/>
          </a:bodyPr>
          <a:p>
            <a:pPr marL="457200" indent="-457200">
              <a:buFont typeface="Wingdings" panose="05000000000000000000" charset="0"/>
              <a:buChar char="ü"/>
            </a:pPr>
            <a:r>
              <a:rPr lang="en-US" sz="2400" b="1">
                <a:solidFill>
                  <a:srgbClr val="C00000"/>
                </a:solidFill>
                <a:latin typeface="Arial" panose="020B0604020202020204" pitchFamily="34" charset="0"/>
                <a:cs typeface="Arial" panose="020B0604020202020204" pitchFamily="34" charset="0"/>
              </a:rPr>
              <a:t>Bloc de Contrôle de Processus(PCB)</a:t>
            </a:r>
            <a:endParaRPr lang="en-US" sz="2400" b="1">
              <a:solidFill>
                <a:srgbClr val="C00000"/>
              </a:solidFill>
              <a:latin typeface="Arial" panose="020B0604020202020204" pitchFamily="34" charset="0"/>
              <a:cs typeface="Arial" panose="020B0604020202020204" pitchFamily="34" charset="0"/>
            </a:endParaRPr>
          </a:p>
        </p:txBody>
      </p:sp>
      <p:sp>
        <p:nvSpPr>
          <p:cNvPr id="3" name="Text Box 2"/>
          <p:cNvSpPr txBox="1"/>
          <p:nvPr/>
        </p:nvSpPr>
        <p:spPr>
          <a:xfrm>
            <a:off x="884555" y="3027045"/>
            <a:ext cx="6391275" cy="2122170"/>
          </a:xfrm>
          <a:prstGeom prst="rect">
            <a:avLst/>
          </a:prstGeom>
          <a:noFill/>
        </p:spPr>
        <p:txBody>
          <a:bodyPr wrap="square" rtlCol="0" anchor="t">
            <a:noAutofit/>
          </a:bodyPr>
          <a:p>
            <a:r>
              <a:rPr lang="en-US"/>
              <a:t> </a:t>
            </a:r>
            <a:r>
              <a:rPr lang="en-US">
                <a:latin typeface="Arial" panose="020B0604020202020204" pitchFamily="34" charset="0"/>
                <a:cs typeface="Arial" panose="020B0604020202020204" pitchFamily="34" charset="0"/>
              </a:rPr>
              <a:t>Le PCB (Process Control Block) contient des informations sur chaque processus en cours d'exécution, telles que son identifiant (PID), son état, son compteur de programme, ses registres de processeur, ses descripteurs de fichiers, etc. Cela permet au système d'exploitation de suivre et de gérer efficacement les processus.</a:t>
            </a:r>
            <a:endParaRPr lang="en-US">
              <a:latin typeface="Arial" panose="020B0604020202020204" pitchFamily="34" charset="0"/>
              <a:cs typeface="Arial" panose="020B0604020202020204" pitchFamily="34" charset="0"/>
            </a:endParaRPr>
          </a:p>
        </p:txBody>
      </p:sp>
      <p:pic>
        <p:nvPicPr>
          <p:cNvPr id="8" name="Picture 7"/>
          <p:cNvPicPr>
            <a:picLocks noChangeAspect="1"/>
          </p:cNvPicPr>
          <p:nvPr/>
        </p:nvPicPr>
        <p:blipFill>
          <a:blip r:embed="rId1"/>
          <a:stretch>
            <a:fillRect/>
          </a:stretch>
        </p:blipFill>
        <p:spPr>
          <a:xfrm>
            <a:off x="8712200" y="1884045"/>
            <a:ext cx="2346325" cy="3929380"/>
          </a:xfrm>
          <a:prstGeom prst="rect">
            <a:avLst/>
          </a:prstGeom>
        </p:spPr>
      </p:pic>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ysClr val="windowText" lastClr="000000">
                <a:lumMod val="85000"/>
                <a:lumOff val="15000"/>
              </a:sys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Arial" panose="020B0604020202020204" pitchFamily="34" charset="0"/>
                <a:ea typeface="Arial" panose="020B0604020202020204" pitchFamily="34" charset="0"/>
                <a:cs typeface="+mn-ea"/>
              </a:endParaRPr>
            </a:p>
          </p:txBody>
        </p:sp>
        <p:sp>
          <p:nvSpPr>
            <p:cNvPr id="20" name="矩形 19"/>
            <p:cNvSpPr/>
            <p:nvPr/>
          </p:nvSpPr>
          <p:spPr>
            <a:xfrm flipH="1">
              <a:off x="669819" y="177800"/>
              <a:ext cx="127688" cy="596900"/>
            </a:xfrm>
            <a:prstGeom prst="rect">
              <a:avLst/>
            </a:prstGeom>
            <a:solidFill>
              <a:srgbClr val="F61833"/>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Arial" panose="020B0604020202020204" pitchFamily="34" charset="0"/>
                <a:ea typeface="Arial" panose="020B0604020202020204" pitchFamily="34" charset="0"/>
                <a:cs typeface="+mn-ea"/>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rPr>
                <a:t>La cr</a:t>
              </a:r>
              <a:r>
                <a:rPr lang="fr-FR" altLang="zh-CN" sz="2800" b="1" dirty="0">
                  <a:latin typeface="Arial" panose="020B0604020202020204" pitchFamily="34" charset="0"/>
                  <a:ea typeface="Arial" panose="020B0604020202020204" pitchFamily="34" charset="0"/>
                </a:rPr>
                <a:t>é</a:t>
              </a:r>
              <a:r>
                <a:rPr lang="en-US" altLang="zh-CN" sz="2800" b="1" dirty="0">
                  <a:latin typeface="Arial" panose="020B0604020202020204" pitchFamily="34" charset="0"/>
                  <a:ea typeface="Arial" panose="020B0604020202020204" pitchFamily="34" charset="0"/>
                </a:rPr>
                <a:t>ation d’un processus </a:t>
              </a:r>
              <a:endParaRPr lang="en-US" altLang="zh-CN" sz="2800" b="1" dirty="0">
                <a:latin typeface="Arial" panose="020B0604020202020204" pitchFamily="34" charset="0"/>
                <a:ea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882650" y="1674495"/>
            <a:ext cx="9102090" cy="460375"/>
          </a:xfrm>
          <a:prstGeom prst="rect">
            <a:avLst/>
          </a:prstGeom>
          <a:noFill/>
        </p:spPr>
        <p:txBody>
          <a:bodyPr wrap="square" rtlCol="0">
            <a:spAutoFit/>
          </a:bodyPr>
          <a:p>
            <a:pPr marL="457200" indent="-457200">
              <a:buFont typeface="Wingdings" panose="05000000000000000000" charset="0"/>
              <a:buChar char="ü"/>
            </a:pPr>
            <a:r>
              <a:rPr lang="en-US" sz="2400" b="1">
                <a:solidFill>
                  <a:srgbClr val="C00000"/>
                </a:solidFill>
                <a:latin typeface="Arial" panose="020B0604020202020204" pitchFamily="34" charset="0"/>
                <a:cs typeface="Arial" panose="020B0604020202020204" pitchFamily="34" charset="0"/>
              </a:rPr>
              <a:t>File d’attente des processus :</a:t>
            </a:r>
            <a:endParaRPr lang="en-US" sz="2400" b="1">
              <a:solidFill>
                <a:srgbClr val="C00000"/>
              </a:solidFill>
              <a:latin typeface="Arial" panose="020B0604020202020204" pitchFamily="34" charset="0"/>
              <a:cs typeface="Arial" panose="020B0604020202020204" pitchFamily="34" charset="0"/>
            </a:endParaRPr>
          </a:p>
        </p:txBody>
      </p:sp>
      <p:pic>
        <p:nvPicPr>
          <p:cNvPr id="117" name="Picture 116"/>
          <p:cNvPicPr/>
          <p:nvPr/>
        </p:nvPicPr>
        <p:blipFill>
          <a:blip r:embed="rId1"/>
          <a:stretch>
            <a:fillRect/>
          </a:stretch>
        </p:blipFill>
        <p:spPr>
          <a:xfrm>
            <a:off x="1323340" y="3428365"/>
            <a:ext cx="8542655" cy="3258820"/>
          </a:xfrm>
          <a:prstGeom prst="rect">
            <a:avLst/>
          </a:prstGeom>
          <a:noFill/>
          <a:ln w="9525">
            <a:noFill/>
          </a:ln>
        </p:spPr>
      </p:pic>
      <p:sp>
        <p:nvSpPr>
          <p:cNvPr id="2" name="Text Box 1"/>
          <p:cNvSpPr txBox="1"/>
          <p:nvPr/>
        </p:nvSpPr>
        <p:spPr>
          <a:xfrm>
            <a:off x="1323340" y="2459355"/>
            <a:ext cx="10198735" cy="645160"/>
          </a:xfrm>
          <a:prstGeom prst="rect">
            <a:avLst/>
          </a:prstGeom>
          <a:noFill/>
        </p:spPr>
        <p:txBody>
          <a:bodyPr wrap="square" rtlCol="0" anchor="t">
            <a:spAutoFit/>
          </a:bodyPr>
          <a:p>
            <a:r>
              <a:rPr lang="en-US">
                <a:latin typeface="Arial" panose="020B0604020202020204" pitchFamily="34" charset="0"/>
                <a:cs typeface="Arial" panose="020B0604020202020204" pitchFamily="34" charset="0"/>
              </a:rPr>
              <a:t>Une file d'attente des processus est une séquence de processus en attente d'exécution, où chaque processus attend son tour pour utiliser les ressources du système.</a:t>
            </a:r>
            <a:endParaRPr lang="en-US">
              <a:latin typeface="Arial" panose="020B0604020202020204" pitchFamily="34" charset="0"/>
              <a:cs typeface="Arial" panose="020B0604020202020204" pitchFamily="34" charset="0"/>
            </a:endParaRPr>
          </a:p>
        </p:txBody>
      </p:sp>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ysClr val="windowText" lastClr="000000">
                <a:lumMod val="85000"/>
                <a:lumOff val="15000"/>
              </a:sys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Arial" panose="020B0604020202020204" pitchFamily="34" charset="0"/>
                <a:ea typeface="Arial" panose="020B0604020202020204" pitchFamily="34" charset="0"/>
                <a:cs typeface="+mn-ea"/>
              </a:endParaRPr>
            </a:p>
          </p:txBody>
        </p:sp>
        <p:sp>
          <p:nvSpPr>
            <p:cNvPr id="20" name="矩形 19"/>
            <p:cNvSpPr/>
            <p:nvPr/>
          </p:nvSpPr>
          <p:spPr>
            <a:xfrm flipH="1">
              <a:off x="669819" y="177800"/>
              <a:ext cx="127688" cy="596900"/>
            </a:xfrm>
            <a:prstGeom prst="rect">
              <a:avLst/>
            </a:prstGeom>
            <a:solidFill>
              <a:srgbClr val="F61833"/>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Arial" panose="020B0604020202020204" pitchFamily="34" charset="0"/>
                <a:ea typeface="Arial" panose="020B0604020202020204" pitchFamily="34" charset="0"/>
                <a:cs typeface="+mn-ea"/>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rPr>
                <a:t>La cr</a:t>
              </a:r>
              <a:r>
                <a:rPr lang="fr-FR" altLang="zh-CN" sz="2800" b="1" dirty="0">
                  <a:latin typeface="Arial" panose="020B0604020202020204" pitchFamily="34" charset="0"/>
                  <a:ea typeface="Arial" panose="020B0604020202020204" pitchFamily="34" charset="0"/>
                </a:rPr>
                <a:t>é</a:t>
              </a:r>
              <a:r>
                <a:rPr lang="en-US" altLang="zh-CN" sz="2800" b="1" dirty="0">
                  <a:latin typeface="Arial" panose="020B0604020202020204" pitchFamily="34" charset="0"/>
                  <a:ea typeface="Arial" panose="020B0604020202020204" pitchFamily="34" charset="0"/>
                </a:rPr>
                <a:t>ation d’un processus </a:t>
              </a:r>
              <a:endParaRPr lang="en-US" altLang="zh-CN" sz="2800" b="1" dirty="0">
                <a:latin typeface="Arial" panose="020B0604020202020204" pitchFamily="34" charset="0"/>
                <a:ea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635"/>
            <a:ext cx="12306300" cy="6857365"/>
          </a:xfrm>
          <a:prstGeom prst="rect">
            <a:avLst/>
          </a:prstGeom>
          <a:solidFill>
            <a:srgbClr val="20222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fr-FR" altLang="en-US"/>
          </a:p>
        </p:txBody>
      </p:sp>
      <p:sp>
        <p:nvSpPr>
          <p:cNvPr id="7" name="椭圆 6"/>
          <p:cNvSpPr/>
          <p:nvPr/>
        </p:nvSpPr>
        <p:spPr>
          <a:xfrm>
            <a:off x="467678" y="1214755"/>
            <a:ext cx="2689225" cy="2689225"/>
          </a:xfrm>
          <a:prstGeom prst="ellipse">
            <a:avLst/>
          </a:prstGeom>
          <a:solidFill>
            <a:srgbClr val="D61920">
              <a:alpha val="8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4339" name="文本框 6"/>
          <p:cNvSpPr txBox="1"/>
          <p:nvPr/>
        </p:nvSpPr>
        <p:spPr>
          <a:xfrm>
            <a:off x="1094105" y="1723390"/>
            <a:ext cx="1436370" cy="1445260"/>
          </a:xfrm>
          <a:prstGeom prst="rect">
            <a:avLst/>
          </a:prstGeom>
          <a:noFill/>
          <a:ln w="9525">
            <a:noFill/>
          </a:ln>
        </p:spPr>
        <p:txBody>
          <a:bodyPr wrap="square" anchor="t">
            <a:spAutoFit/>
          </a:bodyPr>
          <a:p>
            <a:pPr>
              <a:buFont typeface="Arial" panose="020B0604020202020204" pitchFamily="34" charset="0"/>
            </a:pPr>
            <a:r>
              <a:rPr lang="en-US" altLang="zh-CN" sz="8800" b="1" dirty="0">
                <a:solidFill>
                  <a:schemeClr val="bg1"/>
                </a:solidFill>
                <a:ea typeface="Calibri" panose="020F0502020204030204" pitchFamily="34" charset="0"/>
              </a:rPr>
              <a:t>03</a:t>
            </a:r>
            <a:endParaRPr lang="en-US" altLang="zh-CN" sz="8800" b="1" dirty="0">
              <a:solidFill>
                <a:schemeClr val="bg1"/>
              </a:solidFill>
              <a:ea typeface="Calibri" panose="020F0502020204030204" pitchFamily="34" charset="0"/>
            </a:endParaRPr>
          </a:p>
        </p:txBody>
      </p:sp>
      <p:sp>
        <p:nvSpPr>
          <p:cNvPr id="9" name="矩形 7"/>
          <p:cNvSpPr>
            <a:spLocks noChangeArrowheads="1"/>
          </p:cNvSpPr>
          <p:nvPr/>
        </p:nvSpPr>
        <p:spPr bwMode="auto">
          <a:xfrm>
            <a:off x="3292475" y="2227580"/>
            <a:ext cx="8733155" cy="66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1pPr>
            <a:lvl2pPr marL="742950" indent="-285750" defTabSz="1216025">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2pPr>
            <a:lvl3pPr marL="1143000" indent="-228600" defTabSz="1216025">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3pPr>
            <a:lvl4pPr marL="16002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4pPr>
            <a:lvl5pPr marL="20574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5pPr>
            <a:lvl6pPr marL="25146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6pPr>
            <a:lvl7pPr marL="29718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7pPr>
            <a:lvl8pPr marL="34290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8pPr>
            <a:lvl9pPr marL="38862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9pPr>
          </a:lstStyle>
          <a:p>
            <a:pPr algn="l">
              <a:buFont typeface="Arial" panose="020B0604020202020204" pitchFamily="34" charset="0"/>
              <a:buNone/>
            </a:pPr>
            <a:r>
              <a:rPr kumimoji="0" lang="en-US" altLang="zh-CN" sz="4800" b="1" i="0" u="none" strike="noStrike" kern="1200" cap="none" spc="0" normalizeH="0" baseline="0" noProof="0" dirty="0">
                <a:ln>
                  <a:noFill/>
                </a:ln>
                <a:solidFill>
                  <a:srgbClr val="FFFFFF"/>
                </a:solidFill>
                <a:effectLst/>
                <a:uLnTx/>
                <a:uFillTx/>
                <a:latin typeface="Arial" panose="020B0604020202020204" pitchFamily="34" charset="0"/>
                <a:ea typeface="黑体" panose="02010609060101010101" pitchFamily="49" charset="-122"/>
                <a:cs typeface="+mn-cs"/>
                <a:sym typeface="+mn-lt"/>
              </a:rPr>
              <a:t>ORDONNANCEMENT</a:t>
            </a:r>
            <a:endParaRPr kumimoji="0" lang="en-US" altLang="zh-CN" sz="4800" b="1" i="0" u="none" strike="noStrike" kern="1200" cap="none" spc="0" normalizeH="0" baseline="0" noProof="0" dirty="0">
              <a:ln>
                <a:noFill/>
              </a:ln>
              <a:solidFill>
                <a:srgbClr val="FFFFFF"/>
              </a:solidFill>
              <a:effectLst/>
              <a:uLnTx/>
              <a:uFillTx/>
              <a:latin typeface="Arial" panose="020B0604020202020204" pitchFamily="34" charset="0"/>
              <a:ea typeface="黑体" panose="02010609060101010101" pitchFamily="49" charset="-122"/>
              <a:cs typeface="+mn-cs"/>
              <a:sym typeface="+mn-lt"/>
            </a:endParaRPr>
          </a:p>
        </p:txBody>
      </p:sp>
      <p:sp>
        <p:nvSpPr>
          <p:cNvPr id="3" name="Zone de texte 2"/>
          <p:cNvSpPr txBox="1"/>
          <p:nvPr/>
        </p:nvSpPr>
        <p:spPr>
          <a:xfrm>
            <a:off x="3629025" y="3482975"/>
            <a:ext cx="7893685" cy="953135"/>
          </a:xfrm>
          <a:prstGeom prst="rect">
            <a:avLst/>
          </a:prstGeom>
          <a:noFill/>
        </p:spPr>
        <p:txBody>
          <a:bodyPr wrap="square" rtlCol="0">
            <a:spAutoFit/>
          </a:bodyPr>
          <a:p>
            <a:pPr marL="285750" indent="-285750">
              <a:buFont typeface="Arial" panose="020B0604020202020204" pitchFamily="34" charset="0"/>
              <a:buChar char="•"/>
            </a:pPr>
            <a:r>
              <a:rPr lang="en-US" altLang="fr-FR" sz="2800">
                <a:solidFill>
                  <a:schemeClr val="bg1"/>
                </a:solidFill>
                <a:latin typeface="Arial" panose="020B0604020202020204" pitchFamily="34" charset="0"/>
                <a:cs typeface="Arial" panose="020B0604020202020204" pitchFamily="34" charset="0"/>
              </a:rPr>
              <a:t>D</a:t>
            </a:r>
            <a:r>
              <a:rPr lang="fr-FR" altLang="fr-FR" sz="2800">
                <a:solidFill>
                  <a:schemeClr val="bg1"/>
                </a:solidFill>
                <a:latin typeface="Arial" panose="020B0604020202020204" pitchFamily="34" charset="0"/>
                <a:cs typeface="Arial" panose="020B0604020202020204" pitchFamily="34" charset="0"/>
              </a:rPr>
              <a:t>é</a:t>
            </a:r>
            <a:r>
              <a:rPr lang="en-US" altLang="fr-FR" sz="2800">
                <a:solidFill>
                  <a:schemeClr val="bg1"/>
                </a:solidFill>
                <a:latin typeface="Arial" panose="020B0604020202020204" pitchFamily="34" charset="0"/>
                <a:cs typeface="Arial" panose="020B0604020202020204" pitchFamily="34" charset="0"/>
              </a:rPr>
              <a:t>finition</a:t>
            </a:r>
            <a:endParaRPr lang="en-US" altLang="fr-FR" sz="280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fr-FR" sz="2800">
                <a:solidFill>
                  <a:schemeClr val="bg1"/>
                </a:solidFill>
                <a:latin typeface="Arial" panose="020B0604020202020204" pitchFamily="34" charset="0"/>
                <a:cs typeface="Arial" panose="020B0604020202020204" pitchFamily="34" charset="0"/>
              </a:rPr>
              <a:t>Algorithmes</a:t>
            </a:r>
            <a:endParaRPr lang="en-US" altLang="fr-FR" sz="2800">
              <a:solidFill>
                <a:schemeClr val="bg1"/>
              </a:solidFill>
              <a:latin typeface="Arial" panose="020B0604020202020204" pitchFamily="34" charset="0"/>
              <a:cs typeface="Arial" panose="020B0604020202020204" pitchFamily="34" charset="0"/>
            </a:endParaRP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306195" y="2665730"/>
            <a:ext cx="10425430" cy="3217545"/>
          </a:xfrm>
          <a:prstGeom prst="rect">
            <a:avLst/>
          </a:prstGeom>
          <a:noFill/>
        </p:spPr>
        <p:txBody>
          <a:bodyPr wrap="square" rtlCol="0" anchor="t">
            <a:noAutofit/>
          </a:bodyPr>
          <a:p>
            <a:r>
              <a:rPr lang="en-US">
                <a:latin typeface="Arial" panose="020B0604020202020204" pitchFamily="34" charset="0"/>
                <a:cs typeface="Arial" panose="020B0604020202020204" pitchFamily="34" charset="0"/>
              </a:rPr>
              <a:t>C'est le système d'exploitation qui attribue aux processus leurs états élu, prêt et bloqué. Plus précisément, c'est l'ordonnanceur (un des composants du système d'exploitation) qui réalise cette tâche appelée ordonnancement des processus.</a:t>
            </a:r>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L'objectif de l'ordonnanceur est de choisir le processus à exécuter à l'instant </a:t>
            </a:r>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 (le processus élu) et déterminer le temps durant lequel le processeur lui sera alloué.</a:t>
            </a:r>
            <a:endParaRPr lang="en-US">
              <a:latin typeface="Arial" panose="020B0604020202020204" pitchFamily="34" charset="0"/>
              <a:cs typeface="Arial" panose="020B0604020202020204" pitchFamily="34" charset="0"/>
            </a:endParaRPr>
          </a:p>
        </p:txBody>
      </p:sp>
      <p:sp>
        <p:nvSpPr>
          <p:cNvPr id="5" name="Text Box 4"/>
          <p:cNvSpPr txBox="1"/>
          <p:nvPr/>
        </p:nvSpPr>
        <p:spPr>
          <a:xfrm>
            <a:off x="882650" y="1687830"/>
            <a:ext cx="9102090" cy="706755"/>
          </a:xfrm>
          <a:prstGeom prst="rect">
            <a:avLst/>
          </a:prstGeom>
          <a:noFill/>
        </p:spPr>
        <p:txBody>
          <a:bodyPr wrap="square" rtlCol="0">
            <a:spAutoFit/>
          </a:bodyPr>
          <a:p>
            <a:pPr marL="457200" indent="-457200">
              <a:buFont typeface="Wingdings" panose="05000000000000000000" charset="0"/>
              <a:buChar char="ü"/>
            </a:pPr>
            <a:r>
              <a:rPr lang="en-US" sz="4000" b="1">
                <a:solidFill>
                  <a:srgbClr val="C00000"/>
                </a:solidFill>
                <a:latin typeface="Arial" panose="020B0604020202020204" pitchFamily="34" charset="0"/>
                <a:cs typeface="Arial" panose="020B0604020202020204" pitchFamily="34" charset="0"/>
              </a:rPr>
              <a:t>Définition :</a:t>
            </a:r>
            <a:endParaRPr lang="en-US" sz="4000" b="1">
              <a:solidFill>
                <a:srgbClr val="C00000"/>
              </a:solidFill>
              <a:latin typeface="Arial" panose="020B0604020202020204" pitchFamily="34" charset="0"/>
              <a:cs typeface="Arial" panose="020B0604020202020204" pitchFamily="34" charset="0"/>
            </a:endParaRPr>
          </a:p>
        </p:txBody>
      </p:sp>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effectLst/>
                  <a:latin typeface="Arial" panose="020B0604020202020204" pitchFamily="34" charset="0"/>
                  <a:ea typeface="Arial" panose="020B0604020202020204" pitchFamily="34" charset="0"/>
                  <a:sym typeface="+mn-ea"/>
                </a:rPr>
                <a:t>l’ordonnacement</a:t>
              </a:r>
              <a:r>
                <a:rPr lang="en-US" altLang="zh-CN" sz="2800" b="1" dirty="0">
                  <a:latin typeface="Arial" panose="020B0604020202020204" pitchFamily="34" charset="0"/>
                  <a:ea typeface="Arial" panose="020B0604020202020204" pitchFamily="34" charset="0"/>
                </a:rPr>
                <a:t> </a:t>
              </a:r>
              <a:endParaRPr lang="en-US" altLang="zh-CN" sz="2800" b="1" dirty="0">
                <a:latin typeface="Arial" panose="020B0604020202020204" pitchFamily="34" charset="0"/>
                <a:ea typeface="Arial" panose="020B0604020202020204" pitchFamily="34" charset="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1325" y="2415540"/>
            <a:ext cx="8216900" cy="645160"/>
          </a:xfrm>
          <a:prstGeom prst="rect">
            <a:avLst/>
          </a:prstGeom>
          <a:noFill/>
        </p:spPr>
        <p:txBody>
          <a:bodyPr wrap="square" rtlCol="0" anchor="t">
            <a:spAutoFit/>
          </a:bodyPr>
          <a:p>
            <a:r>
              <a:rPr lang="en-US"/>
              <a:t>Principe : Les processus sont ordonnancés selon leur ordre d'arrivée ("premier arrivé, premier servi")</a:t>
            </a:r>
            <a:endParaRPr lang="en-US"/>
          </a:p>
        </p:txBody>
      </p:sp>
      <p:pic>
        <p:nvPicPr>
          <p:cNvPr id="110" name="Picture 109"/>
          <p:cNvPicPr/>
          <p:nvPr/>
        </p:nvPicPr>
        <p:blipFill>
          <a:blip r:embed="rId1"/>
          <a:stretch>
            <a:fillRect/>
          </a:stretch>
        </p:blipFill>
        <p:spPr>
          <a:xfrm>
            <a:off x="1711325" y="3689350"/>
            <a:ext cx="7815580" cy="2842895"/>
          </a:xfrm>
          <a:prstGeom prst="rect">
            <a:avLst/>
          </a:prstGeom>
          <a:noFill/>
          <a:ln w="9525">
            <a:noFill/>
          </a:ln>
        </p:spPr>
      </p:pic>
      <p:sp>
        <p:nvSpPr>
          <p:cNvPr id="5" name="Text Box 4"/>
          <p:cNvSpPr txBox="1"/>
          <p:nvPr/>
        </p:nvSpPr>
        <p:spPr>
          <a:xfrm>
            <a:off x="1711325" y="3131820"/>
            <a:ext cx="6677660" cy="368300"/>
          </a:xfrm>
          <a:prstGeom prst="rect">
            <a:avLst/>
          </a:prstGeom>
          <a:noFill/>
        </p:spPr>
        <p:txBody>
          <a:bodyPr wrap="square" rtlCol="0">
            <a:spAutoFit/>
          </a:bodyPr>
          <a:p>
            <a:r>
              <a:rPr lang="en-US"/>
              <a:t>Exemple : Les processus P1,P2,P3 et P4 arrivent dans cet order </a:t>
            </a:r>
            <a:r>
              <a:rPr lang="fr-FR" altLang="en-US"/>
              <a:t>à</a:t>
            </a:r>
            <a:r>
              <a:rPr lang="en-US"/>
              <a:t> t=0</a:t>
            </a:r>
            <a:endParaRPr lang="en-US"/>
          </a:p>
        </p:txBody>
      </p:sp>
      <p:sp>
        <p:nvSpPr>
          <p:cNvPr id="6" name="Text Box 5"/>
          <p:cNvSpPr txBox="1"/>
          <p:nvPr/>
        </p:nvSpPr>
        <p:spPr>
          <a:xfrm>
            <a:off x="1050925" y="1469390"/>
            <a:ext cx="11086465" cy="583565"/>
          </a:xfrm>
          <a:prstGeom prst="rect">
            <a:avLst/>
          </a:prstGeom>
          <a:noFill/>
        </p:spPr>
        <p:txBody>
          <a:bodyPr wrap="square" rtlCol="0">
            <a:spAutoFit/>
          </a:bodyPr>
          <a:p>
            <a:pPr marL="457200" indent="-457200">
              <a:buFont typeface="Wingdings" panose="05000000000000000000" charset="0"/>
              <a:buChar char="ü"/>
            </a:pPr>
            <a:r>
              <a:rPr lang="en-US" sz="3200" b="1">
                <a:solidFill>
                  <a:srgbClr val="C00000"/>
                </a:solidFill>
                <a:latin typeface="Arial" panose="020B0604020202020204" pitchFamily="34" charset="0"/>
                <a:cs typeface="Arial" panose="020B0604020202020204" pitchFamily="34" charset="0"/>
              </a:rPr>
              <a:t>Ordonnancement First Come First Served(FCFS)</a:t>
            </a:r>
            <a:endParaRPr lang="en-US" sz="3200" b="1">
              <a:solidFill>
                <a:srgbClr val="C00000"/>
              </a:solidFill>
              <a:latin typeface="Arial" panose="020B0604020202020204" pitchFamily="34" charset="0"/>
              <a:cs typeface="Arial" panose="020B0604020202020204" pitchFamily="34" charset="0"/>
            </a:endParaRPr>
          </a:p>
        </p:txBody>
      </p:sp>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effectLst/>
                  <a:latin typeface="Arial" panose="020B0604020202020204" pitchFamily="34" charset="0"/>
                  <a:ea typeface="Arial" panose="020B0604020202020204" pitchFamily="34" charset="0"/>
                  <a:sym typeface="+mn-ea"/>
                </a:rPr>
                <a:t>l’ordonnacement</a:t>
              </a:r>
              <a:r>
                <a:rPr lang="en-US" altLang="zh-CN" sz="2800" b="1" dirty="0">
                  <a:latin typeface="Arial" panose="020B0604020202020204" pitchFamily="34" charset="0"/>
                  <a:ea typeface="Arial" panose="020B0604020202020204" pitchFamily="34" charset="0"/>
                </a:rPr>
                <a:t> </a:t>
              </a:r>
              <a:endParaRPr lang="en-US" altLang="zh-CN" sz="2800" b="1" dirty="0">
                <a:latin typeface="Arial" panose="020B0604020202020204" pitchFamily="34" charset="0"/>
                <a:ea typeface="Arial" panose="020B0604020202020204" pitchFamily="34" charset="0"/>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8" name="Picture 107"/>
          <p:cNvPicPr/>
          <p:nvPr/>
        </p:nvPicPr>
        <p:blipFill>
          <a:blip r:embed="rId1"/>
          <a:stretch>
            <a:fillRect/>
          </a:stretch>
        </p:blipFill>
        <p:spPr>
          <a:xfrm>
            <a:off x="1633220" y="3428365"/>
            <a:ext cx="8307070" cy="2856865"/>
          </a:xfrm>
          <a:prstGeom prst="rect">
            <a:avLst/>
          </a:prstGeom>
          <a:noFill/>
          <a:ln w="9525">
            <a:noFill/>
          </a:ln>
        </p:spPr>
      </p:pic>
      <p:sp>
        <p:nvSpPr>
          <p:cNvPr id="3" name="Text Box 2"/>
          <p:cNvSpPr txBox="1"/>
          <p:nvPr/>
        </p:nvSpPr>
        <p:spPr>
          <a:xfrm>
            <a:off x="1633220" y="2273300"/>
            <a:ext cx="10114280" cy="368300"/>
          </a:xfrm>
          <a:prstGeom prst="rect">
            <a:avLst/>
          </a:prstGeom>
          <a:noFill/>
        </p:spPr>
        <p:txBody>
          <a:bodyPr wrap="square" rtlCol="0" anchor="t">
            <a:spAutoFit/>
          </a:bodyPr>
          <a:p>
            <a:r>
              <a:rPr lang="en-US"/>
              <a:t>Principe : Le processus dont le temps d'exécution est le plus court est ordonnancé en premier.</a:t>
            </a:r>
            <a:endParaRPr lang="en-US"/>
          </a:p>
        </p:txBody>
      </p:sp>
      <p:sp>
        <p:nvSpPr>
          <p:cNvPr id="5" name="Text Box 4"/>
          <p:cNvSpPr txBox="1"/>
          <p:nvPr/>
        </p:nvSpPr>
        <p:spPr>
          <a:xfrm>
            <a:off x="1633220" y="2759075"/>
            <a:ext cx="7273925" cy="368300"/>
          </a:xfrm>
          <a:prstGeom prst="rect">
            <a:avLst/>
          </a:prstGeom>
          <a:noFill/>
        </p:spPr>
        <p:txBody>
          <a:bodyPr wrap="square" rtlCol="0" anchor="t">
            <a:spAutoFit/>
          </a:bodyPr>
          <a:p>
            <a:r>
              <a:rPr lang="en-US">
                <a:sym typeface="+mn-ea"/>
              </a:rPr>
              <a:t>Exemple : Les processus P1,P2,P3 et P4 arrivent dans cet order </a:t>
            </a:r>
            <a:r>
              <a:rPr lang="fr-FR" altLang="en-US">
                <a:sym typeface="+mn-ea"/>
              </a:rPr>
              <a:t>à</a:t>
            </a:r>
            <a:r>
              <a:rPr lang="en-US">
                <a:sym typeface="+mn-ea"/>
              </a:rPr>
              <a:t> t=0</a:t>
            </a:r>
            <a:endParaRPr lang="en-US">
              <a:sym typeface="+mn-ea"/>
            </a:endParaRPr>
          </a:p>
        </p:txBody>
      </p:sp>
      <p:sp>
        <p:nvSpPr>
          <p:cNvPr id="8" name="Text Box 7"/>
          <p:cNvSpPr txBox="1"/>
          <p:nvPr/>
        </p:nvSpPr>
        <p:spPr>
          <a:xfrm>
            <a:off x="1146810" y="1386205"/>
            <a:ext cx="11086465" cy="583565"/>
          </a:xfrm>
          <a:prstGeom prst="rect">
            <a:avLst/>
          </a:prstGeom>
          <a:noFill/>
        </p:spPr>
        <p:txBody>
          <a:bodyPr wrap="square" rtlCol="0">
            <a:spAutoFit/>
          </a:bodyPr>
          <a:p>
            <a:pPr marL="457200" indent="-457200" algn="l">
              <a:buClrTx/>
              <a:buSzTx/>
              <a:buFont typeface="Wingdings" panose="05000000000000000000" charset="0"/>
              <a:buChar char="ü"/>
            </a:pPr>
            <a:r>
              <a:rPr lang="en-US" sz="3200" b="1">
                <a:solidFill>
                  <a:srgbClr val="C00000"/>
                </a:solidFill>
                <a:latin typeface="Arial" panose="020B0604020202020204" pitchFamily="34" charset="0"/>
                <a:cs typeface="Arial" panose="020B0604020202020204" pitchFamily="34" charset="0"/>
              </a:rPr>
              <a:t>Ordonnancement Shortest Job First (SJF)</a:t>
            </a:r>
            <a:endParaRPr lang="en-US" sz="3200" b="1">
              <a:solidFill>
                <a:srgbClr val="C00000"/>
              </a:solidFill>
              <a:latin typeface="Arial" panose="020B0604020202020204" pitchFamily="34" charset="0"/>
              <a:cs typeface="Arial" panose="020B0604020202020204" pitchFamily="34" charset="0"/>
            </a:endParaRPr>
          </a:p>
        </p:txBody>
      </p:sp>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effectLst/>
                  <a:latin typeface="Arial" panose="020B0604020202020204" pitchFamily="34" charset="0"/>
                  <a:ea typeface="Arial" panose="020B0604020202020204" pitchFamily="34" charset="0"/>
                  <a:sym typeface="+mn-ea"/>
                </a:rPr>
                <a:t>l’ordonnacement</a:t>
              </a:r>
              <a:r>
                <a:rPr lang="en-US" altLang="zh-CN" sz="2800" b="1" dirty="0">
                  <a:latin typeface="Arial" panose="020B0604020202020204" pitchFamily="34" charset="0"/>
                  <a:ea typeface="Arial" panose="020B0604020202020204" pitchFamily="34" charset="0"/>
                </a:rPr>
                <a:t> </a:t>
              </a:r>
              <a:endParaRPr lang="en-US" altLang="zh-CN" sz="2800" b="1" dirty="0">
                <a:latin typeface="Arial" panose="020B0604020202020204" pitchFamily="34" charset="0"/>
                <a:ea typeface="Arial" panose="020B0604020202020204" pitchFamily="34" charset="0"/>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914525" y="2173605"/>
            <a:ext cx="10114280" cy="645160"/>
          </a:xfrm>
          <a:prstGeom prst="rect">
            <a:avLst/>
          </a:prstGeom>
          <a:noFill/>
        </p:spPr>
        <p:txBody>
          <a:bodyPr wrap="square" rtlCol="0" anchor="t">
            <a:spAutoFit/>
          </a:bodyPr>
          <a:p>
            <a:r>
              <a:rPr lang="en-US"/>
              <a:t>Principe : </a:t>
            </a:r>
            <a:r>
              <a:rPr lang="en-US">
                <a:sym typeface="+mn-ea"/>
              </a:rPr>
              <a:t>Le processus dont le temps d'exécution restant est le plus court parmi ceux qui restent à exécuter est ordonnancé en premier.</a:t>
            </a:r>
            <a:endParaRPr lang="en-US"/>
          </a:p>
        </p:txBody>
      </p:sp>
      <p:sp>
        <p:nvSpPr>
          <p:cNvPr id="5" name="Text Box 4"/>
          <p:cNvSpPr txBox="1"/>
          <p:nvPr/>
        </p:nvSpPr>
        <p:spPr>
          <a:xfrm>
            <a:off x="1914525" y="2851785"/>
            <a:ext cx="6096000" cy="368300"/>
          </a:xfrm>
          <a:prstGeom prst="rect">
            <a:avLst/>
          </a:prstGeom>
          <a:noFill/>
        </p:spPr>
        <p:txBody>
          <a:bodyPr wrap="square" rtlCol="0" anchor="t">
            <a:spAutoFit/>
          </a:bodyPr>
          <a:p>
            <a:r>
              <a:rPr lang="en-US">
                <a:sym typeface="+mn-ea"/>
              </a:rPr>
              <a:t>Exemple : P3 et P4 arrivent </a:t>
            </a:r>
            <a:r>
              <a:rPr lang="fr-FR" altLang="en-US">
                <a:sym typeface="+mn-ea"/>
              </a:rPr>
              <a:t>à</a:t>
            </a:r>
            <a:r>
              <a:rPr lang="en-US">
                <a:sym typeface="+mn-ea"/>
              </a:rPr>
              <a:t> t=0 ,P2 </a:t>
            </a:r>
            <a:r>
              <a:rPr lang="fr-FR" altLang="en-US">
                <a:sym typeface="+mn-ea"/>
              </a:rPr>
              <a:t>à </a:t>
            </a:r>
            <a:r>
              <a:rPr lang="en-US">
                <a:sym typeface="+mn-ea"/>
              </a:rPr>
              <a:t>t=20 et P1 </a:t>
            </a:r>
            <a:r>
              <a:rPr lang="fr-FR" altLang="en-US">
                <a:sym typeface="+mn-ea"/>
              </a:rPr>
              <a:t>à</a:t>
            </a:r>
            <a:r>
              <a:rPr lang="en-US">
                <a:sym typeface="+mn-ea"/>
              </a:rPr>
              <a:t> t=50</a:t>
            </a:r>
            <a:endParaRPr lang="en-US">
              <a:sym typeface="+mn-ea"/>
            </a:endParaRPr>
          </a:p>
        </p:txBody>
      </p:sp>
      <p:pic>
        <p:nvPicPr>
          <p:cNvPr id="111" name="Picture 110"/>
          <p:cNvPicPr/>
          <p:nvPr/>
        </p:nvPicPr>
        <p:blipFill>
          <a:blip r:embed="rId1"/>
          <a:stretch>
            <a:fillRect/>
          </a:stretch>
        </p:blipFill>
        <p:spPr>
          <a:xfrm>
            <a:off x="1913890" y="3252470"/>
            <a:ext cx="9279255" cy="3043555"/>
          </a:xfrm>
          <a:prstGeom prst="rect">
            <a:avLst/>
          </a:prstGeom>
          <a:noFill/>
          <a:ln w="9525">
            <a:noFill/>
          </a:ln>
        </p:spPr>
      </p:pic>
      <p:sp>
        <p:nvSpPr>
          <p:cNvPr id="9" name="Text Box 8"/>
          <p:cNvSpPr txBox="1"/>
          <p:nvPr/>
        </p:nvSpPr>
        <p:spPr>
          <a:xfrm>
            <a:off x="1265555" y="1220470"/>
            <a:ext cx="11086465" cy="583565"/>
          </a:xfrm>
          <a:prstGeom prst="rect">
            <a:avLst/>
          </a:prstGeom>
          <a:noFill/>
        </p:spPr>
        <p:txBody>
          <a:bodyPr wrap="square" rtlCol="0">
            <a:spAutoFit/>
          </a:bodyPr>
          <a:p>
            <a:pPr marL="457200" indent="-457200" algn="l">
              <a:buClrTx/>
              <a:buSzTx/>
              <a:buFont typeface="Wingdings" panose="05000000000000000000" charset="0"/>
              <a:buChar char="ü"/>
            </a:pPr>
            <a:r>
              <a:rPr lang="en-US" sz="3200" b="1">
                <a:solidFill>
                  <a:srgbClr val="C00000"/>
                </a:solidFill>
                <a:latin typeface="Arial" panose="020B0604020202020204" pitchFamily="34" charset="0"/>
                <a:cs typeface="Arial" panose="020B0604020202020204" pitchFamily="34" charset="0"/>
              </a:rPr>
              <a:t>Ordonnancement Shortest Remaining Time (SRT)</a:t>
            </a:r>
            <a:endParaRPr lang="en-US" sz="3200" b="1">
              <a:solidFill>
                <a:srgbClr val="C00000"/>
              </a:solidFill>
              <a:latin typeface="Arial" panose="020B0604020202020204" pitchFamily="34" charset="0"/>
              <a:cs typeface="Arial" panose="020B0604020202020204" pitchFamily="34" charset="0"/>
            </a:endParaRPr>
          </a:p>
        </p:txBody>
      </p:sp>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effectLst/>
                  <a:latin typeface="Arial" panose="020B0604020202020204" pitchFamily="34" charset="0"/>
                  <a:ea typeface="Arial" panose="020B0604020202020204" pitchFamily="34" charset="0"/>
                  <a:sym typeface="+mn-ea"/>
                </a:rPr>
                <a:t>l’ordonnacement</a:t>
              </a:r>
              <a:r>
                <a:rPr lang="en-US" altLang="zh-CN" sz="2800" b="1" dirty="0">
                  <a:latin typeface="Arial" panose="020B0604020202020204" pitchFamily="34" charset="0"/>
                  <a:ea typeface="Arial" panose="020B0604020202020204" pitchFamily="34" charset="0"/>
                </a:rPr>
                <a:t> </a:t>
              </a:r>
              <a:endParaRPr lang="en-US" altLang="zh-CN" sz="2800" b="1" dirty="0">
                <a:latin typeface="Arial" panose="020B0604020202020204" pitchFamily="34" charset="0"/>
                <a:ea typeface="Arial" panose="020B0604020202020204" pitchFamily="34" charset="0"/>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 name="Picture 111"/>
          <p:cNvPicPr/>
          <p:nvPr/>
        </p:nvPicPr>
        <p:blipFill>
          <a:blip r:embed="rId1"/>
          <a:stretch>
            <a:fillRect/>
          </a:stretch>
        </p:blipFill>
        <p:spPr>
          <a:xfrm>
            <a:off x="1849755" y="3233420"/>
            <a:ext cx="9067165" cy="3101975"/>
          </a:xfrm>
          <a:prstGeom prst="rect">
            <a:avLst/>
          </a:prstGeom>
          <a:noFill/>
          <a:ln w="9525">
            <a:noFill/>
          </a:ln>
        </p:spPr>
      </p:pic>
      <p:sp>
        <p:nvSpPr>
          <p:cNvPr id="3" name="Text Box 2"/>
          <p:cNvSpPr txBox="1"/>
          <p:nvPr/>
        </p:nvSpPr>
        <p:spPr>
          <a:xfrm>
            <a:off x="1849755" y="2280285"/>
            <a:ext cx="10424795" cy="645160"/>
          </a:xfrm>
          <a:prstGeom prst="rect">
            <a:avLst/>
          </a:prstGeom>
          <a:noFill/>
        </p:spPr>
        <p:txBody>
          <a:bodyPr wrap="square" rtlCol="0" anchor="t">
            <a:spAutoFit/>
          </a:bodyPr>
          <a:p>
            <a:r>
              <a:rPr lang="en-US"/>
              <a:t>Principe : C'est la politique du tourniquet : allocation du processeur par tranche (quantum q) de temps.</a:t>
            </a:r>
            <a:endParaRPr lang="en-US"/>
          </a:p>
          <a:p>
            <a:r>
              <a:rPr lang="en-US"/>
              <a:t>Exemple : quantum q=20 et n=4 processus</a:t>
            </a:r>
            <a:endParaRPr lang="en-US"/>
          </a:p>
        </p:txBody>
      </p:sp>
      <p:sp>
        <p:nvSpPr>
          <p:cNvPr id="8" name="Text Box 7"/>
          <p:cNvSpPr txBox="1"/>
          <p:nvPr/>
        </p:nvSpPr>
        <p:spPr>
          <a:xfrm>
            <a:off x="1105535" y="1388745"/>
            <a:ext cx="11086465" cy="583565"/>
          </a:xfrm>
          <a:prstGeom prst="rect">
            <a:avLst/>
          </a:prstGeom>
          <a:noFill/>
        </p:spPr>
        <p:txBody>
          <a:bodyPr wrap="square" rtlCol="0">
            <a:spAutoFit/>
          </a:bodyPr>
          <a:p>
            <a:pPr marL="457200" indent="-457200" algn="l">
              <a:buClrTx/>
              <a:buSzTx/>
              <a:buFont typeface="Wingdings" panose="05000000000000000000" charset="0"/>
              <a:buChar char="ü"/>
            </a:pPr>
            <a:r>
              <a:rPr lang="en-US" sz="3200" b="1">
                <a:solidFill>
                  <a:srgbClr val="C00000"/>
                </a:solidFill>
                <a:latin typeface="Arial" panose="020B0604020202020204" pitchFamily="34" charset="0"/>
                <a:cs typeface="Arial" panose="020B0604020202020204" pitchFamily="34" charset="0"/>
              </a:rPr>
              <a:t>Ordonnancement temps-partagé (Round-Robin)</a:t>
            </a:r>
            <a:endParaRPr lang="en-US" sz="3200" b="1">
              <a:solidFill>
                <a:srgbClr val="C00000"/>
              </a:solidFill>
              <a:latin typeface="Arial" panose="020B0604020202020204" pitchFamily="34" charset="0"/>
              <a:cs typeface="Arial" panose="020B0604020202020204" pitchFamily="34" charset="0"/>
            </a:endParaRPr>
          </a:p>
        </p:txBody>
      </p:sp>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effectLst/>
                  <a:latin typeface="Arial" panose="020B0604020202020204" pitchFamily="34" charset="0"/>
                  <a:ea typeface="Arial" panose="020B0604020202020204" pitchFamily="34" charset="0"/>
                  <a:sym typeface="+mn-ea"/>
                </a:rPr>
                <a:t>l’ordonnacement</a:t>
              </a:r>
              <a:r>
                <a:rPr lang="en-US" altLang="zh-CN" sz="2800" b="1" dirty="0">
                  <a:latin typeface="Arial" panose="020B0604020202020204" pitchFamily="34" charset="0"/>
                  <a:ea typeface="Arial" panose="020B0604020202020204" pitchFamily="34" charset="0"/>
                </a:rPr>
                <a:t> </a:t>
              </a:r>
              <a:endParaRPr lang="en-US" altLang="zh-CN" sz="2800" b="1" dirty="0">
                <a:latin typeface="Arial" panose="020B0604020202020204" pitchFamily="34" charset="0"/>
                <a:ea typeface="Arial" panose="020B0604020202020204" pitchFamily="34" charset="0"/>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3" name="Picture 112"/>
          <p:cNvPicPr/>
          <p:nvPr/>
        </p:nvPicPr>
        <p:blipFill>
          <a:blip r:embed="rId1"/>
          <a:stretch>
            <a:fillRect/>
          </a:stretch>
        </p:blipFill>
        <p:spPr>
          <a:xfrm>
            <a:off x="1794510" y="3429000"/>
            <a:ext cx="8966835" cy="3254375"/>
          </a:xfrm>
          <a:prstGeom prst="rect">
            <a:avLst/>
          </a:prstGeom>
          <a:noFill/>
          <a:ln w="9525">
            <a:noFill/>
          </a:ln>
        </p:spPr>
      </p:pic>
      <p:sp>
        <p:nvSpPr>
          <p:cNvPr id="4" name="Text Box 3"/>
          <p:cNvSpPr txBox="1"/>
          <p:nvPr/>
        </p:nvSpPr>
        <p:spPr>
          <a:xfrm>
            <a:off x="1794510" y="1958340"/>
            <a:ext cx="10194925" cy="645160"/>
          </a:xfrm>
          <a:prstGeom prst="rect">
            <a:avLst/>
          </a:prstGeom>
          <a:noFill/>
        </p:spPr>
        <p:txBody>
          <a:bodyPr wrap="square" rtlCol="0" anchor="t">
            <a:spAutoFit/>
          </a:bodyPr>
          <a:p>
            <a:r>
              <a:rPr lang="en-US"/>
              <a:t>Principe : Allocation du processeur selon des priorités statiques (= numéros affectés aux processus pour toute la vie de l'application)</a:t>
            </a:r>
            <a:endParaRPr lang="en-US"/>
          </a:p>
        </p:txBody>
      </p:sp>
      <p:sp>
        <p:nvSpPr>
          <p:cNvPr id="5" name="Text Box 4"/>
          <p:cNvSpPr txBox="1"/>
          <p:nvPr/>
        </p:nvSpPr>
        <p:spPr>
          <a:xfrm>
            <a:off x="1794510" y="2646680"/>
            <a:ext cx="9062720" cy="645160"/>
          </a:xfrm>
          <a:prstGeom prst="rect">
            <a:avLst/>
          </a:prstGeom>
          <a:noFill/>
        </p:spPr>
        <p:txBody>
          <a:bodyPr wrap="square" rtlCol="0" anchor="t">
            <a:spAutoFit/>
          </a:bodyPr>
          <a:p>
            <a:r>
              <a:rPr lang="en-US"/>
              <a:t>Exemple : priorités  (</a:t>
            </a:r>
            <a:r>
              <a:rPr lang="en-US">
                <a:solidFill>
                  <a:srgbClr val="FF0000"/>
                </a:solidFill>
              </a:rPr>
              <a:t>P1</a:t>
            </a:r>
            <a:r>
              <a:rPr lang="en-US"/>
              <a:t>,P2,P3,P4)=(</a:t>
            </a:r>
            <a:r>
              <a:rPr lang="en-US">
                <a:solidFill>
                  <a:srgbClr val="FF0000"/>
                </a:solidFill>
              </a:rPr>
              <a:t>3</a:t>
            </a:r>
            <a:r>
              <a:rPr lang="en-US"/>
              <a:t>,2,0,1)où la priorité la plus forte est 0 (attention, dans certains systèmes c'est l'inverse : 0 est alors la priorité la plus faible)</a:t>
            </a:r>
            <a:endParaRPr lang="en-US"/>
          </a:p>
        </p:txBody>
      </p:sp>
      <p:sp>
        <p:nvSpPr>
          <p:cNvPr id="8" name="Text Box 7"/>
          <p:cNvSpPr txBox="1"/>
          <p:nvPr/>
        </p:nvSpPr>
        <p:spPr>
          <a:xfrm>
            <a:off x="1146810" y="1288415"/>
            <a:ext cx="11086465" cy="583565"/>
          </a:xfrm>
          <a:prstGeom prst="rect">
            <a:avLst/>
          </a:prstGeom>
          <a:noFill/>
        </p:spPr>
        <p:txBody>
          <a:bodyPr wrap="square" rtlCol="0">
            <a:spAutoFit/>
          </a:bodyPr>
          <a:p>
            <a:pPr marL="457200" indent="-457200" algn="l">
              <a:buClrTx/>
              <a:buSzTx/>
              <a:buFont typeface="Wingdings" panose="05000000000000000000" charset="0"/>
              <a:buChar char="ü"/>
            </a:pPr>
            <a:r>
              <a:rPr lang="en-US" sz="3200" b="1">
                <a:solidFill>
                  <a:srgbClr val="C00000"/>
                </a:solidFill>
                <a:latin typeface="Arial" panose="020B0604020202020204" pitchFamily="34" charset="0"/>
                <a:cs typeface="Arial" panose="020B0604020202020204" pitchFamily="34" charset="0"/>
              </a:rPr>
              <a:t>Ordonnancement à priorités statiques</a:t>
            </a:r>
            <a:endParaRPr lang="en-US" sz="3200" b="1">
              <a:solidFill>
                <a:srgbClr val="C00000"/>
              </a:solidFill>
              <a:latin typeface="Arial" panose="020B0604020202020204" pitchFamily="34" charset="0"/>
              <a:cs typeface="Arial" panose="020B0604020202020204" pitchFamily="34" charset="0"/>
            </a:endParaRPr>
          </a:p>
        </p:txBody>
      </p:sp>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effectLst/>
                  <a:latin typeface="Arial" panose="020B0604020202020204" pitchFamily="34" charset="0"/>
                  <a:ea typeface="Arial" panose="020B0604020202020204" pitchFamily="34" charset="0"/>
                  <a:sym typeface="+mn-ea"/>
                </a:rPr>
                <a:t>l’ordonnacement</a:t>
              </a:r>
              <a:r>
                <a:rPr lang="en-US" altLang="zh-CN" sz="2800" b="1" dirty="0">
                  <a:latin typeface="Arial" panose="020B0604020202020204" pitchFamily="34" charset="0"/>
                  <a:ea typeface="Arial" panose="020B0604020202020204" pitchFamily="34" charset="0"/>
                </a:rPr>
                <a:t> </a:t>
              </a:r>
              <a:endParaRPr lang="en-US" altLang="zh-CN" sz="2800" b="1" dirty="0">
                <a:latin typeface="Arial" panose="020B0604020202020204" pitchFamily="34" charset="0"/>
                <a:ea typeface="Arial" panose="020B0604020202020204" pitchFamily="34" charset="0"/>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635"/>
            <a:ext cx="12306300" cy="6857365"/>
          </a:xfrm>
          <a:prstGeom prst="rect">
            <a:avLst/>
          </a:prstGeom>
          <a:solidFill>
            <a:srgbClr val="20222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fr-FR" altLang="en-US"/>
          </a:p>
        </p:txBody>
      </p:sp>
      <p:sp>
        <p:nvSpPr>
          <p:cNvPr id="7" name="椭圆 6"/>
          <p:cNvSpPr/>
          <p:nvPr/>
        </p:nvSpPr>
        <p:spPr>
          <a:xfrm>
            <a:off x="467678" y="1214755"/>
            <a:ext cx="2689225" cy="2689225"/>
          </a:xfrm>
          <a:prstGeom prst="ellipse">
            <a:avLst/>
          </a:prstGeom>
          <a:solidFill>
            <a:srgbClr val="D61920">
              <a:alpha val="8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4339" name="文本框 6"/>
          <p:cNvSpPr txBox="1"/>
          <p:nvPr/>
        </p:nvSpPr>
        <p:spPr>
          <a:xfrm>
            <a:off x="1094105" y="1723390"/>
            <a:ext cx="1436370" cy="1445260"/>
          </a:xfrm>
          <a:prstGeom prst="rect">
            <a:avLst/>
          </a:prstGeom>
          <a:noFill/>
          <a:ln w="9525">
            <a:noFill/>
          </a:ln>
        </p:spPr>
        <p:txBody>
          <a:bodyPr wrap="square" anchor="t">
            <a:spAutoFit/>
          </a:bodyPr>
          <a:p>
            <a:pPr>
              <a:buFont typeface="Arial" panose="020B0604020202020204" pitchFamily="34" charset="0"/>
            </a:pPr>
            <a:r>
              <a:rPr lang="en-US" altLang="zh-CN" sz="8800" b="1" dirty="0">
                <a:solidFill>
                  <a:schemeClr val="bg1"/>
                </a:solidFill>
                <a:ea typeface="Calibri" panose="020F0502020204030204" pitchFamily="34" charset="0"/>
              </a:rPr>
              <a:t>04</a:t>
            </a:r>
            <a:endParaRPr lang="en-US" altLang="zh-CN" sz="8800" b="1" dirty="0">
              <a:solidFill>
                <a:schemeClr val="bg1"/>
              </a:solidFill>
              <a:ea typeface="Calibri" panose="020F0502020204030204" pitchFamily="34" charset="0"/>
            </a:endParaRPr>
          </a:p>
        </p:txBody>
      </p:sp>
      <p:sp>
        <p:nvSpPr>
          <p:cNvPr id="9" name="矩形 7"/>
          <p:cNvSpPr>
            <a:spLocks noChangeArrowheads="1"/>
          </p:cNvSpPr>
          <p:nvPr/>
        </p:nvSpPr>
        <p:spPr bwMode="auto">
          <a:xfrm>
            <a:off x="3308350" y="1563370"/>
            <a:ext cx="8733155" cy="1992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1pPr>
            <a:lvl2pPr marL="742950" indent="-285750" defTabSz="1216025">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2pPr>
            <a:lvl3pPr marL="1143000" indent="-228600" defTabSz="1216025">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3pPr>
            <a:lvl4pPr marL="16002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4pPr>
            <a:lvl5pPr marL="20574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5pPr>
            <a:lvl6pPr marL="25146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6pPr>
            <a:lvl7pPr marL="29718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7pPr>
            <a:lvl8pPr marL="34290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8pPr>
            <a:lvl9pPr marL="38862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9pPr>
          </a:lstStyle>
          <a:p>
            <a:pPr algn="l">
              <a:buFont typeface="Arial" panose="020B0604020202020204" pitchFamily="34" charset="0"/>
              <a:buNone/>
            </a:pPr>
            <a:r>
              <a:rPr lang="en-US" altLang="da-DK" sz="4800" b="1" dirty="0">
                <a:solidFill>
                  <a:srgbClr val="FFFFFF"/>
                </a:solidFill>
                <a:latin typeface="Arial" panose="020B0604020202020204" pitchFamily="34" charset="0"/>
                <a:ea typeface="黑体" panose="02010609060101010101" pitchFamily="49" charset="-122"/>
                <a:sym typeface="+mn-lt"/>
              </a:rPr>
              <a:t>LES ETATS ET LES TRANSITIONS DES PROCESSUS</a:t>
            </a:r>
            <a:endParaRPr kumimoji="0" lang="en-US" altLang="da-DK" sz="4800" b="1" i="0" u="none" strike="noStrike" kern="1200" cap="none" spc="0" normalizeH="0" baseline="0" noProof="0" dirty="0">
              <a:ln>
                <a:noFill/>
              </a:ln>
              <a:solidFill>
                <a:srgbClr val="FFFFFF"/>
              </a:solidFill>
              <a:effectLst/>
              <a:uLnTx/>
              <a:uFillTx/>
              <a:latin typeface="Arial" panose="020B0604020202020204" pitchFamily="34" charset="0"/>
              <a:ea typeface="黑体" panose="02010609060101010101" pitchFamily="49" charset="-122"/>
              <a:cs typeface="+mn-cs"/>
              <a:sym typeface="+mn-lt"/>
            </a:endParaRPr>
          </a:p>
        </p:txBody>
      </p:sp>
      <p:sp>
        <p:nvSpPr>
          <p:cNvPr id="3" name="Zone de texte 2"/>
          <p:cNvSpPr txBox="1"/>
          <p:nvPr/>
        </p:nvSpPr>
        <p:spPr>
          <a:xfrm>
            <a:off x="3712210" y="4238625"/>
            <a:ext cx="7893685" cy="1383665"/>
          </a:xfrm>
          <a:prstGeom prst="rect">
            <a:avLst/>
          </a:prstGeom>
          <a:noFill/>
        </p:spPr>
        <p:txBody>
          <a:bodyPr wrap="square" rtlCol="0">
            <a:spAutoFit/>
          </a:bodyPr>
          <a:p>
            <a:pPr marL="285750" indent="-285750">
              <a:buFont typeface="Arial" panose="020B0604020202020204" pitchFamily="34" charset="0"/>
              <a:buChar char="•"/>
            </a:pPr>
            <a:r>
              <a:rPr lang="en-US" altLang="fr-FR" sz="2800">
                <a:solidFill>
                  <a:schemeClr val="bg1"/>
                </a:solidFill>
                <a:latin typeface="Arial" panose="020B0604020202020204" pitchFamily="34" charset="0"/>
                <a:cs typeface="Arial" panose="020B0604020202020204" pitchFamily="34" charset="0"/>
              </a:rPr>
              <a:t>Les </a:t>
            </a:r>
            <a:r>
              <a:rPr lang="fr-FR" altLang="fr-FR" sz="2800">
                <a:solidFill>
                  <a:schemeClr val="bg1"/>
                </a:solidFill>
                <a:latin typeface="Arial" panose="020B0604020202020204" pitchFamily="34" charset="0"/>
                <a:cs typeface="Arial" panose="020B0604020202020204" pitchFamily="34" charset="0"/>
              </a:rPr>
              <a:t>é</a:t>
            </a:r>
            <a:r>
              <a:rPr lang="en-US" altLang="fr-FR" sz="2800">
                <a:solidFill>
                  <a:schemeClr val="bg1"/>
                </a:solidFill>
                <a:latin typeface="Arial" panose="020B0604020202020204" pitchFamily="34" charset="0"/>
                <a:cs typeface="Arial" panose="020B0604020202020204" pitchFamily="34" charset="0"/>
              </a:rPr>
              <a:t>tats d’un processus</a:t>
            </a:r>
            <a:endParaRPr lang="en-US" altLang="fr-FR" sz="280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fr-FR" sz="2800">
                <a:solidFill>
                  <a:schemeClr val="bg1"/>
                </a:solidFill>
                <a:latin typeface="Arial" panose="020B0604020202020204" pitchFamily="34" charset="0"/>
                <a:cs typeface="Arial" panose="020B0604020202020204" pitchFamily="34" charset="0"/>
              </a:rPr>
              <a:t>Transition d’</a:t>
            </a:r>
            <a:r>
              <a:rPr lang="fr-FR" altLang="fr-FR" sz="2800">
                <a:solidFill>
                  <a:schemeClr val="bg1"/>
                </a:solidFill>
                <a:latin typeface="Arial" panose="020B0604020202020204" pitchFamily="34" charset="0"/>
                <a:cs typeface="Arial" panose="020B0604020202020204" pitchFamily="34" charset="0"/>
              </a:rPr>
              <a:t>é</a:t>
            </a:r>
            <a:r>
              <a:rPr lang="en-US" altLang="fr-FR" sz="2800">
                <a:solidFill>
                  <a:schemeClr val="bg1"/>
                </a:solidFill>
                <a:latin typeface="Arial" panose="020B0604020202020204" pitchFamily="34" charset="0"/>
                <a:cs typeface="Arial" panose="020B0604020202020204" pitchFamily="34" charset="0"/>
              </a:rPr>
              <a:t>tat</a:t>
            </a:r>
            <a:endParaRPr lang="en-US" altLang="fr-FR" sz="280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altLang="fr-FR" sz="2800">
              <a:solidFill>
                <a:schemeClr val="bg1"/>
              </a:solidFill>
              <a:latin typeface="Arial" panose="020B0604020202020204" pitchFamily="34" charset="0"/>
              <a:cs typeface="Arial" panose="020B0604020202020204" pitchFamily="34" charset="0"/>
            </a:endParaRPr>
          </a:p>
        </p:txBody>
      </p:sp>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145" name="组合 4"/>
          <p:cNvGrpSpPr/>
          <p:nvPr/>
        </p:nvGrpSpPr>
        <p:grpSpPr>
          <a:xfrm>
            <a:off x="0" y="292100"/>
            <a:ext cx="5780404" cy="596900"/>
            <a:chOff x="0" y="177800"/>
            <a:chExt cx="5779384" cy="596900"/>
          </a:xfrm>
        </p:grpSpPr>
        <p:sp>
          <p:nvSpPr>
            <p:cNvPr id="6" name="矩形 5"/>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7" name="矩形 6"/>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6148" name="文本框 7"/>
            <p:cNvSpPr txBox="1"/>
            <p:nvPr/>
          </p:nvSpPr>
          <p:spPr>
            <a:xfrm>
              <a:off x="870431" y="214630"/>
              <a:ext cx="4908953" cy="521970"/>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sym typeface="+mn-ea"/>
                </a:rPr>
                <a:t>Les </a:t>
              </a:r>
              <a:r>
                <a:rPr lang="fr-FR" altLang="en-US" sz="2800" b="1" dirty="0">
                  <a:latin typeface="Arial" panose="020B0604020202020204" pitchFamily="34" charset="0"/>
                  <a:ea typeface="Arial" panose="020B0604020202020204" pitchFamily="34" charset="0"/>
                  <a:sym typeface="+mn-ea"/>
                </a:rPr>
                <a:t>é</a:t>
              </a:r>
              <a:r>
                <a:rPr lang="en-US" altLang="zh-CN" sz="2800" b="1" dirty="0">
                  <a:latin typeface="Arial" panose="020B0604020202020204" pitchFamily="34" charset="0"/>
                  <a:ea typeface="Arial" panose="020B0604020202020204" pitchFamily="34" charset="0"/>
                  <a:sym typeface="+mn-ea"/>
                </a:rPr>
                <a:t>tats d’un processus</a:t>
              </a:r>
              <a:endParaRPr lang="zh-CN" altLang="en-US" sz="2800" b="1" dirty="0">
                <a:latin typeface="Arial" panose="020B0604020202020204" pitchFamily="34" charset="0"/>
                <a:ea typeface="Arial" panose="020B0604020202020204" pitchFamily="34" charset="0"/>
              </a:endParaRPr>
            </a:p>
          </p:txBody>
        </p:sp>
      </p:grpSp>
      <p:grpSp>
        <p:nvGrpSpPr>
          <p:cNvPr id="2" name="Grouper 1"/>
          <p:cNvGrpSpPr/>
          <p:nvPr/>
        </p:nvGrpSpPr>
        <p:grpSpPr>
          <a:xfrm>
            <a:off x="5454650" y="1645920"/>
            <a:ext cx="6475730" cy="4370705"/>
            <a:chOff x="8364" y="2641"/>
            <a:chExt cx="10198" cy="6883"/>
          </a:xfrm>
        </p:grpSpPr>
        <p:sp>
          <p:nvSpPr>
            <p:cNvPr id="3" name="文本框 2"/>
            <p:cNvSpPr txBox="1"/>
            <p:nvPr/>
          </p:nvSpPr>
          <p:spPr>
            <a:xfrm>
              <a:off x="8994" y="2641"/>
              <a:ext cx="1088" cy="628"/>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spc="0" normalizeH="0" noProof="0" dirty="0">
                  <a:ln>
                    <a:noFill/>
                  </a:ln>
                  <a:solidFill>
                    <a:srgbClr val="9E1818"/>
                  </a:solidFill>
                  <a:effectLst/>
                  <a:uLnTx/>
                  <a:uFillTx/>
                  <a:latin typeface="Arial" panose="020B0604020202020204" pitchFamily="34" charset="0"/>
                  <a:ea typeface="OPPOSans M" panose="00020600040101010101" charset="-122"/>
                  <a:cs typeface="Arial" panose="020B0604020202020204" pitchFamily="34" charset="0"/>
                </a:rPr>
                <a:t>ELU</a:t>
              </a:r>
              <a:endParaRPr kumimoji="0" lang="en-US" altLang="zh-CN" sz="2000" b="1" i="0" u="none" strike="noStrike" kern="1200" spc="0" normalizeH="0" noProof="0" dirty="0">
                <a:ln>
                  <a:noFill/>
                </a:ln>
                <a:solidFill>
                  <a:srgbClr val="9E1818"/>
                </a:solidFill>
                <a:effectLst/>
                <a:uLnTx/>
                <a:uFillTx/>
                <a:latin typeface="Arial" panose="020B0604020202020204" pitchFamily="34" charset="0"/>
                <a:ea typeface="OPPOSans M" panose="00020600040101010101" charset="-122"/>
                <a:cs typeface="Arial" panose="020B0604020202020204" pitchFamily="34" charset="0"/>
              </a:endParaRPr>
            </a:p>
          </p:txBody>
        </p:sp>
        <p:sp>
          <p:nvSpPr>
            <p:cNvPr id="4" name="文本框 3"/>
            <p:cNvSpPr txBox="1"/>
            <p:nvPr/>
          </p:nvSpPr>
          <p:spPr>
            <a:xfrm>
              <a:off x="8994" y="3271"/>
              <a:ext cx="9056" cy="725"/>
            </a:xfrm>
            <a:prstGeom prst="rect">
              <a:avLst/>
            </a:prstGeom>
            <a:noFill/>
          </p:spPr>
          <p:txBody>
            <a:bodyPr wrap="square" rtlCol="0">
              <a:spAutoFit/>
            </a:bodyPr>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Le processus est en cours d'exécution.</a:t>
              </a:r>
              <a:endParaRPr kumimoji="0" lang="en-US" altLang="zh-CN"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 name="文本框 6"/>
            <p:cNvSpPr txBox="1"/>
            <p:nvPr/>
          </p:nvSpPr>
          <p:spPr>
            <a:xfrm>
              <a:off x="8994" y="4187"/>
              <a:ext cx="1999" cy="628"/>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altLang="zh-CN" sz="2000" b="1" i="0" u="none" strike="noStrike" kern="1200" spc="0" normalizeH="0" noProof="0" dirty="0">
                  <a:ln>
                    <a:noFill/>
                  </a:ln>
                  <a:solidFill>
                    <a:srgbClr val="9E1818"/>
                  </a:solidFill>
                  <a:effectLst/>
                  <a:uLnTx/>
                  <a:uFillTx/>
                  <a:latin typeface="Arial" panose="020B0604020202020204" pitchFamily="34" charset="0"/>
                  <a:ea typeface="OPPOSans M" panose="00020600040101010101" charset="-122"/>
                  <a:cs typeface="Arial" panose="020B0604020202020204" pitchFamily="34" charset="0"/>
                </a:rPr>
                <a:t>BLOQUÉ</a:t>
              </a:r>
              <a:endParaRPr kumimoji="0" altLang="zh-CN" sz="2000" b="1" i="0" u="none" strike="noStrike" kern="1200" spc="0" normalizeH="0" noProof="0" dirty="0">
                <a:ln>
                  <a:noFill/>
                </a:ln>
                <a:solidFill>
                  <a:srgbClr val="9E1818"/>
                </a:solidFill>
                <a:effectLst/>
                <a:uLnTx/>
                <a:uFillTx/>
                <a:latin typeface="Arial" panose="020B0604020202020204" pitchFamily="34" charset="0"/>
                <a:ea typeface="OPPOSans M" panose="00020600040101010101" charset="-122"/>
                <a:cs typeface="Arial" panose="020B0604020202020204" pitchFamily="34" charset="0"/>
              </a:endParaRPr>
            </a:p>
          </p:txBody>
        </p:sp>
        <p:sp>
          <p:nvSpPr>
            <p:cNvPr id="8" name="文本框 7"/>
            <p:cNvSpPr txBox="1"/>
            <p:nvPr/>
          </p:nvSpPr>
          <p:spPr>
            <a:xfrm>
              <a:off x="8994" y="4815"/>
              <a:ext cx="9568" cy="1888"/>
            </a:xfrm>
            <a:prstGeom prst="rect">
              <a:avLst/>
            </a:prstGeom>
            <a:noFill/>
          </p:spPr>
          <p:txBody>
            <a:bodyPr wrap="square" rtlCol="0">
              <a:spAutoFit/>
            </a:bodyPr>
            <a:p>
              <a:pPr>
                <a:lnSpc>
                  <a:spcPct val="120000"/>
                </a:lnSpc>
                <a:defRPr/>
              </a:pPr>
              <a:r>
                <a:rPr lang="en-US" altLang="zh-CN" sz="2000" noProof="0">
                  <a:ln>
                    <a:noFill/>
                  </a:ln>
                  <a:solidFill>
                    <a:prstClr val="black"/>
                  </a:solidFill>
                  <a:effectLst/>
                  <a:uLnTx/>
                  <a:uFillTx/>
                  <a:latin typeface="Arial" panose="020B0604020202020204" pitchFamily="34" charset="0"/>
                  <a:cs typeface="Arial" panose="020B0604020202020204" pitchFamily="34" charset="0"/>
                </a:rPr>
                <a:t>est un état d'attente d'un événement extérieur, tel qu'une entrée/sortie, nécessaire à la poursuite de l'exécution du processus.</a:t>
              </a:r>
              <a:endParaRPr lang="en-US" altLang="zh-CN" sz="2000" noProof="0">
                <a:ln>
                  <a:noFill/>
                </a:ln>
                <a:solidFill>
                  <a:prstClr val="black"/>
                </a:solidFill>
                <a:effectLst/>
                <a:uLnTx/>
                <a:uFillTx/>
                <a:latin typeface="Arial" panose="020B0604020202020204" pitchFamily="34" charset="0"/>
                <a:ea typeface="OPPOSans R" panose="00020600040101010101" charset="-122"/>
                <a:cs typeface="Arial" panose="020B0604020202020204" pitchFamily="34" charset="0"/>
              </a:endParaRPr>
            </a:p>
          </p:txBody>
        </p:sp>
        <p:sp>
          <p:nvSpPr>
            <p:cNvPr id="9" name="文本框 8"/>
            <p:cNvSpPr txBox="1"/>
            <p:nvPr/>
          </p:nvSpPr>
          <p:spPr>
            <a:xfrm>
              <a:off x="8994" y="6982"/>
              <a:ext cx="1355" cy="628"/>
            </a:xfrm>
            <a:prstGeom prst="rect">
              <a:avLst/>
            </a:prstGeom>
            <a:noFill/>
          </p:spPr>
          <p:txBody>
            <a:bodyPr wrap="non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spc="0" normalizeH="0" noProof="0" dirty="0">
                  <a:ln>
                    <a:noFill/>
                  </a:ln>
                  <a:solidFill>
                    <a:srgbClr val="9E1818"/>
                  </a:solidFill>
                  <a:effectLst/>
                  <a:uLnTx/>
                  <a:uFillTx/>
                  <a:latin typeface="Arial" panose="020B0604020202020204" pitchFamily="34" charset="0"/>
                  <a:ea typeface="OPPOSans M" panose="00020600040101010101" charset="-122"/>
                  <a:cs typeface="Arial" panose="020B0604020202020204" pitchFamily="34" charset="0"/>
                </a:rPr>
                <a:t>PRÊT</a:t>
              </a:r>
              <a:endParaRPr kumimoji="0" lang="en-US" altLang="zh-CN" sz="2000" b="1" i="0" u="none" strike="noStrike" kern="1200" spc="0" normalizeH="0" noProof="0" dirty="0">
                <a:ln>
                  <a:noFill/>
                </a:ln>
                <a:solidFill>
                  <a:srgbClr val="9E1818"/>
                </a:solidFill>
                <a:effectLst/>
                <a:uLnTx/>
                <a:uFillTx/>
                <a:latin typeface="Arial" panose="020B0604020202020204" pitchFamily="34" charset="0"/>
                <a:ea typeface="OPPOSans M" panose="00020600040101010101" charset="-122"/>
                <a:cs typeface="Arial" panose="020B0604020202020204" pitchFamily="34" charset="0"/>
              </a:endParaRPr>
            </a:p>
          </p:txBody>
        </p:sp>
        <p:sp>
          <p:nvSpPr>
            <p:cNvPr id="10" name="文本框 9"/>
            <p:cNvSpPr txBox="1"/>
            <p:nvPr/>
          </p:nvSpPr>
          <p:spPr>
            <a:xfrm>
              <a:off x="8994" y="7636"/>
              <a:ext cx="9056" cy="1888"/>
            </a:xfrm>
            <a:prstGeom prst="rect">
              <a:avLst/>
            </a:prstGeom>
            <a:noFill/>
          </p:spPr>
          <p:txBody>
            <a:bodyPr wrap="square" rtlCol="0">
              <a:spAutoFit/>
            </a:bodyPr>
            <a:p>
              <a:pPr>
                <a:lnSpc>
                  <a:spcPct val="120000"/>
                </a:lnSpc>
                <a:defRPr/>
              </a:pPr>
              <a:r>
                <a:rPr lang="en-US" altLang="zh-CN" sz="2000" noProof="0">
                  <a:ln>
                    <a:noFill/>
                  </a:ln>
                  <a:solidFill>
                    <a:prstClr val="black"/>
                  </a:solidFill>
                  <a:effectLst/>
                  <a:uLnTx/>
                  <a:uFillTx/>
                  <a:latin typeface="Arial" panose="020B0604020202020204" pitchFamily="34" charset="0"/>
                  <a:cs typeface="Arial" panose="020B0604020202020204" pitchFamily="34" charset="0"/>
                </a:rPr>
                <a:t>Le processus est prêt à être exécuté, mais il attend que le CPU soit disponible pour commencer son exécution.</a:t>
              </a:r>
              <a:endParaRPr lang="en-US" altLang="zh-CN" sz="200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13" name="图形 12" descr="徽章关注 轮廓"/>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64" y="2641"/>
              <a:ext cx="630" cy="630"/>
            </a:xfrm>
            <a:prstGeom prst="rect">
              <a:avLst/>
            </a:prstGeom>
          </p:spPr>
        </p:pic>
        <p:pic>
          <p:nvPicPr>
            <p:cNvPr id="14" name="图形 13" descr="徽章关注 轮廓"/>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64" y="4185"/>
              <a:ext cx="630" cy="630"/>
            </a:xfrm>
            <a:prstGeom prst="rect">
              <a:avLst/>
            </a:prstGeom>
          </p:spPr>
        </p:pic>
        <p:pic>
          <p:nvPicPr>
            <p:cNvPr id="15" name="图形 14" descr="徽章关注 轮廓"/>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64" y="7006"/>
              <a:ext cx="630" cy="630"/>
            </a:xfrm>
            <a:prstGeom prst="rect">
              <a:avLst/>
            </a:prstGeom>
          </p:spPr>
        </p:pic>
      </p:grpSp>
      <p:pic>
        <p:nvPicPr>
          <p:cNvPr id="16" name="Espace réservé du contenu 15" descr="Diagrammedétatdunprocessus_1"/>
          <p:cNvPicPr>
            <a:picLocks noChangeAspect="1"/>
          </p:cNvPicPr>
          <p:nvPr>
            <p:ph idx="1"/>
          </p:nvPr>
        </p:nvPicPr>
        <p:blipFill>
          <a:blip r:embed="rId2"/>
          <a:stretch>
            <a:fillRect/>
          </a:stretch>
        </p:blipFill>
        <p:spPr>
          <a:xfrm>
            <a:off x="371475" y="1377315"/>
            <a:ext cx="4039235" cy="4351655"/>
          </a:xfrm>
          <a:prstGeom prst="rect">
            <a:avLst/>
          </a:prstGeom>
        </p:spPr>
      </p:pic>
      <p:grpSp>
        <p:nvGrpSpPr>
          <p:cNvPr id="11" name="Grouper 10"/>
          <p:cNvGrpSpPr/>
          <p:nvPr/>
        </p:nvGrpSpPr>
        <p:grpSpPr>
          <a:xfrm>
            <a:off x="4581525" y="2400300"/>
            <a:ext cx="466090" cy="2517140"/>
            <a:chOff x="7215" y="3780"/>
            <a:chExt cx="734" cy="3964"/>
          </a:xfrm>
        </p:grpSpPr>
        <p:cxnSp>
          <p:nvCxnSpPr>
            <p:cNvPr id="12" name="直接连接符 11"/>
            <p:cNvCxnSpPr/>
            <p:nvPr/>
          </p:nvCxnSpPr>
          <p:spPr>
            <a:xfrm>
              <a:off x="7949" y="3780"/>
              <a:ext cx="0" cy="3965"/>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8" name="矩形 4"/>
            <p:cNvSpPr/>
            <p:nvPr/>
          </p:nvSpPr>
          <p:spPr>
            <a:xfrm>
              <a:off x="7215" y="4417"/>
              <a:ext cx="465" cy="2700"/>
            </a:xfrm>
            <a:prstGeom prst="rect">
              <a:avLst/>
            </a:prstGeom>
            <a:solidFill>
              <a:srgbClr val="9E1818"/>
            </a:solidFill>
            <a:ln>
              <a:noFill/>
            </a:ln>
          </p:spPr>
          <p:style>
            <a:lnRef idx="2">
              <a:srgbClr val="045249">
                <a:shade val="50000"/>
              </a:srgbClr>
            </a:lnRef>
            <a:fillRef idx="1">
              <a:srgbClr val="045249"/>
            </a:fillRef>
            <a:effectRef idx="0">
              <a:srgbClr val="045249"/>
            </a:effectRef>
            <a:fontRef idx="minor">
              <a:srgbClr val="FFFFFF"/>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charset="-122"/>
                <a:ea typeface="OPPOSans R" panose="00020600040101010101" charset="-122"/>
                <a:cs typeface="+mn-ea"/>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nvSpPr>
        <p:spPr>
          <a:xfrm>
            <a:off x="1249363" y="2294255"/>
            <a:ext cx="4637088" cy="257810"/>
          </a:xfrm>
          <a:prstGeom prst="rect">
            <a:avLst/>
          </a:prstGeom>
          <a:noFill/>
        </p:spPr>
        <p:txBody>
          <a:bodyPr wrap="square" lIns="0" tIns="0" rIns="0" bIns="0" rtlCol="0" anchor="t" anchorCtr="0">
            <a:spAutoFit/>
          </a:bodyPr>
          <a:lstStyle/>
          <a:p>
            <a:pPr marL="0" marR="0" lvl="0" indent="0" algn="l" defTabSz="1216660" rtl="0" eaLnBrk="1" fontAlgn="auto" latinLnBrk="0" hangingPunct="1">
              <a:lnSpc>
                <a:spcPct val="120000"/>
              </a:lnSpc>
              <a:spcBef>
                <a:spcPct val="20000"/>
              </a:spcBef>
              <a:spcAft>
                <a:spcPts val="0"/>
              </a:spcAft>
              <a:buClrTx/>
              <a:buSzTx/>
              <a:buFontTx/>
              <a:buNone/>
              <a:defRPr/>
            </a:pPr>
            <a:endParaRPr kumimoji="0" lang="zh-CN" altLang="en-US" sz="1400" b="0" i="0" u="none" strike="noStrike" kern="1200" cap="none" spc="0" normalizeH="0" baseline="0" noProof="0" dirty="0" smtClean="0">
              <a:ln>
                <a:noFill/>
              </a:ln>
              <a:solidFill>
                <a:schemeClr val="tx1">
                  <a:lumMod val="85000"/>
                  <a:lumOff val="15000"/>
                </a:schemeClr>
              </a:solidFill>
              <a:effectLst/>
              <a:uLnTx/>
              <a:uFillTx/>
              <a:latin typeface="Arial" panose="020B0604020202020204" pitchFamily="34" charset="0"/>
              <a:ea typeface="Arial" panose="020B0604020202020204" pitchFamily="34" charset="0"/>
              <a:cs typeface="+mn-cs"/>
              <a:sym typeface="Arial" panose="020B0604020202020204" pitchFamily="34" charset="0"/>
            </a:endParaRPr>
          </a:p>
        </p:txBody>
      </p:sp>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rPr>
                <a:t>Transition d'état </a:t>
              </a:r>
              <a:endParaRPr lang="en-US" altLang="zh-CN" sz="2800" b="1" dirty="0">
                <a:latin typeface="Arial" panose="020B0604020202020204" pitchFamily="34" charset="0"/>
                <a:ea typeface="Arial" panose="020B0604020202020204" pitchFamily="34" charset="0"/>
              </a:endParaRPr>
            </a:p>
          </p:txBody>
        </p:sp>
      </p:grpSp>
      <p:pic>
        <p:nvPicPr>
          <p:cNvPr id="6" name="Espace réservé du contenu 5" descr="etatColor"/>
          <p:cNvPicPr>
            <a:picLocks noChangeAspect="1"/>
          </p:cNvPicPr>
          <p:nvPr>
            <p:ph idx="1"/>
          </p:nvPr>
        </p:nvPicPr>
        <p:blipFill>
          <a:blip r:embed="rId1"/>
          <a:stretch>
            <a:fillRect/>
          </a:stretch>
        </p:blipFill>
        <p:spPr>
          <a:xfrm>
            <a:off x="884555" y="1377315"/>
            <a:ext cx="10358755" cy="479488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nvSpPr>
        <p:spPr>
          <a:xfrm>
            <a:off x="1249363" y="2294255"/>
            <a:ext cx="4637088" cy="257810"/>
          </a:xfrm>
          <a:prstGeom prst="rect">
            <a:avLst/>
          </a:prstGeom>
          <a:noFill/>
        </p:spPr>
        <p:txBody>
          <a:bodyPr wrap="square" lIns="0" tIns="0" rIns="0" bIns="0" rtlCol="0" anchor="t" anchorCtr="0">
            <a:spAutoFit/>
          </a:bodyPr>
          <a:lstStyle/>
          <a:p>
            <a:pPr marL="0" marR="0" lvl="0" indent="0" algn="l" defTabSz="1216660" rtl="0" eaLnBrk="1" fontAlgn="auto" latinLnBrk="0" hangingPunct="1">
              <a:lnSpc>
                <a:spcPct val="120000"/>
              </a:lnSpc>
              <a:spcBef>
                <a:spcPct val="20000"/>
              </a:spcBef>
              <a:spcAft>
                <a:spcPts val="0"/>
              </a:spcAft>
              <a:buClrTx/>
              <a:buSzTx/>
              <a:buFontTx/>
              <a:buNone/>
              <a:defRPr/>
            </a:pPr>
            <a:endParaRPr kumimoji="0" lang="zh-CN" altLang="en-US" sz="1400" b="0" i="0" u="none" strike="noStrike" kern="1200" cap="none" spc="0" normalizeH="0" baseline="0" noProof="0" dirty="0" smtClean="0">
              <a:ln>
                <a:noFill/>
              </a:ln>
              <a:solidFill>
                <a:schemeClr val="tx1">
                  <a:lumMod val="85000"/>
                  <a:lumOff val="15000"/>
                </a:schemeClr>
              </a:solidFill>
              <a:effectLst/>
              <a:uLnTx/>
              <a:uFillTx/>
              <a:latin typeface="Arial" panose="020B0604020202020204" pitchFamily="34" charset="0"/>
              <a:ea typeface="Arial" panose="020B0604020202020204" pitchFamily="34" charset="0"/>
              <a:cs typeface="+mn-cs"/>
              <a:sym typeface="Arial" panose="020B0604020202020204" pitchFamily="34" charset="0"/>
            </a:endParaRPr>
          </a:p>
        </p:txBody>
      </p:sp>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rPr>
                <a:t>Transition d'état </a:t>
              </a:r>
              <a:endParaRPr lang="en-US" altLang="zh-CN" sz="2800" b="1" dirty="0">
                <a:latin typeface="Arial" panose="020B0604020202020204" pitchFamily="34" charset="0"/>
                <a:ea typeface="Arial" panose="020B0604020202020204" pitchFamily="34" charset="0"/>
              </a:endParaRPr>
            </a:p>
          </p:txBody>
        </p:sp>
      </p:grpSp>
      <p:pic>
        <p:nvPicPr>
          <p:cNvPr id="3" name="Espace réservé du contenu 2" descr="EtatProcessus0"/>
          <p:cNvPicPr>
            <a:picLocks noChangeAspect="1"/>
          </p:cNvPicPr>
          <p:nvPr>
            <p:ph idx="1"/>
          </p:nvPr>
        </p:nvPicPr>
        <p:blipFill>
          <a:blip r:embed="rId1"/>
          <a:stretch>
            <a:fillRect/>
          </a:stretch>
        </p:blipFill>
        <p:spPr>
          <a:xfrm>
            <a:off x="4135755" y="1884680"/>
            <a:ext cx="4906645" cy="2804160"/>
          </a:xfrm>
          <a:prstGeom prst="rect">
            <a:avLst/>
          </a:prstGeom>
        </p:spPr>
      </p:pic>
      <p:cxnSp>
        <p:nvCxnSpPr>
          <p:cNvPr id="8" name="Connecteur droit avec flèche 7"/>
          <p:cNvCxnSpPr/>
          <p:nvPr/>
        </p:nvCxnSpPr>
        <p:spPr>
          <a:xfrm flipV="1">
            <a:off x="7015480" y="1786255"/>
            <a:ext cx="906145" cy="753745"/>
          </a:xfrm>
          <a:prstGeom prst="straightConnector1">
            <a:avLst/>
          </a:prstGeom>
          <a:ln>
            <a:solidFill>
              <a:srgbClr val="9E1818"/>
            </a:solidFill>
            <a:tailEnd type="arrow" w="med" len="med"/>
          </a:ln>
        </p:spPr>
        <p:style>
          <a:lnRef idx="3">
            <a:schemeClr val="accent1"/>
          </a:lnRef>
          <a:fillRef idx="0">
            <a:srgbClr val="FFFFFF"/>
          </a:fillRef>
          <a:effectRef idx="0">
            <a:srgbClr val="FFFFFF"/>
          </a:effectRef>
          <a:fontRef idx="minor">
            <a:schemeClr val="tx1"/>
          </a:fontRef>
        </p:style>
      </p:cxnSp>
      <p:cxnSp>
        <p:nvCxnSpPr>
          <p:cNvPr id="13" name="Connecteur droit avec flèche 12"/>
          <p:cNvCxnSpPr/>
          <p:nvPr/>
        </p:nvCxnSpPr>
        <p:spPr>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 name="Connecteur droit avec flèche 1"/>
          <p:cNvCxnSpPr/>
          <p:nvPr/>
        </p:nvCxnSpPr>
        <p:spPr>
          <a:xfrm>
            <a:off x="6640830" y="3235325"/>
            <a:ext cx="1084580" cy="1111885"/>
          </a:xfrm>
          <a:prstGeom prst="straightConnector1">
            <a:avLst/>
          </a:prstGeom>
          <a:ln>
            <a:solidFill>
              <a:srgbClr val="9E1818"/>
            </a:solidFill>
            <a:tailEnd type="arrow" w="med" len="med"/>
          </a:ln>
        </p:spPr>
        <p:style>
          <a:lnRef idx="3">
            <a:schemeClr val="accent1"/>
          </a:lnRef>
          <a:fillRef idx="0">
            <a:srgbClr val="FFFFFF"/>
          </a:fillRef>
          <a:effectRef idx="0">
            <a:srgbClr val="FFFFFF"/>
          </a:effectRef>
          <a:fontRef idx="minor">
            <a:schemeClr val="tx1"/>
          </a:fontRef>
        </p:style>
      </p:cxnSp>
      <p:cxnSp>
        <p:nvCxnSpPr>
          <p:cNvPr id="4" name="Connecteur droit avec flèche 3"/>
          <p:cNvCxnSpPr/>
          <p:nvPr/>
        </p:nvCxnSpPr>
        <p:spPr>
          <a:xfrm flipH="1">
            <a:off x="4458970" y="4221480"/>
            <a:ext cx="2412365" cy="1279525"/>
          </a:xfrm>
          <a:prstGeom prst="straightConnector1">
            <a:avLst/>
          </a:prstGeom>
          <a:ln>
            <a:solidFill>
              <a:srgbClr val="9E1818"/>
            </a:solidFill>
            <a:tailEnd type="arrow" w="med" len="med"/>
          </a:ln>
        </p:spPr>
        <p:style>
          <a:lnRef idx="3">
            <a:schemeClr val="accent1"/>
          </a:lnRef>
          <a:fillRef idx="0">
            <a:srgbClr val="FFFFFF"/>
          </a:fillRef>
          <a:effectRef idx="0">
            <a:srgbClr val="FFFFFF"/>
          </a:effectRef>
          <a:fontRef idx="minor">
            <a:schemeClr val="tx1"/>
          </a:fontRef>
        </p:style>
      </p:cxnSp>
      <p:cxnSp>
        <p:nvCxnSpPr>
          <p:cNvPr id="7" name="Connecteur droit avec flèche 6"/>
          <p:cNvCxnSpPr/>
          <p:nvPr/>
        </p:nvCxnSpPr>
        <p:spPr>
          <a:xfrm flipH="1" flipV="1">
            <a:off x="4303395" y="2835910"/>
            <a:ext cx="654685" cy="497840"/>
          </a:xfrm>
          <a:prstGeom prst="straightConnector1">
            <a:avLst/>
          </a:prstGeom>
          <a:ln>
            <a:solidFill>
              <a:srgbClr val="9E1818"/>
            </a:solidFill>
            <a:tailEnd type="arrow" w="med" len="med"/>
          </a:ln>
        </p:spPr>
        <p:style>
          <a:lnRef idx="3">
            <a:schemeClr val="accent1"/>
          </a:lnRef>
          <a:fillRef idx="0">
            <a:srgbClr val="FFFFFF"/>
          </a:fillRef>
          <a:effectRef idx="0">
            <a:srgbClr val="FFFFFF"/>
          </a:effectRef>
          <a:fontRef idx="minor">
            <a:schemeClr val="tx1"/>
          </a:fontRef>
        </p:style>
      </p:cxnSp>
      <p:grpSp>
        <p:nvGrpSpPr>
          <p:cNvPr id="22" name="Grouper 21"/>
          <p:cNvGrpSpPr/>
          <p:nvPr/>
        </p:nvGrpSpPr>
        <p:grpSpPr>
          <a:xfrm>
            <a:off x="606425" y="4743450"/>
            <a:ext cx="3885565" cy="1844675"/>
            <a:chOff x="12103" y="550"/>
            <a:chExt cx="6119" cy="2905"/>
          </a:xfrm>
        </p:grpSpPr>
        <p:sp>
          <p:nvSpPr>
            <p:cNvPr id="5" name="Organigramme : Alternative 4"/>
            <p:cNvSpPr/>
            <p:nvPr/>
          </p:nvSpPr>
          <p:spPr>
            <a:xfrm>
              <a:off x="12275" y="760"/>
              <a:ext cx="5947" cy="2695"/>
            </a:xfrm>
            <a:prstGeom prst="flowChartAlternateProcess">
              <a:avLst/>
            </a:prstGeom>
            <a:noFill/>
            <a:ln>
              <a:solidFill>
                <a:schemeClr val="tx1">
                  <a:lumMod val="85000"/>
                  <a:lumOff val="1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FR" altLang="en-US"/>
            </a:p>
          </p:txBody>
        </p:sp>
        <p:sp>
          <p:nvSpPr>
            <p:cNvPr id="6" name="Oval 4"/>
            <p:cNvSpPr/>
            <p:nvPr/>
          </p:nvSpPr>
          <p:spPr>
            <a:xfrm>
              <a:off x="12103" y="550"/>
              <a:ext cx="822" cy="847"/>
            </a:xfrm>
            <a:prstGeom prst="ellipse">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1375410" rtl="0" eaLnBrk="1" fontAlgn="auto" latinLnBrk="0" hangingPunct="1">
                <a:lnSpc>
                  <a:spcPct val="100000"/>
                </a:lnSpc>
                <a:spcBef>
                  <a:spcPts val="0"/>
                </a:spcBef>
                <a:spcAft>
                  <a:spcPts val="0"/>
                </a:spcAft>
                <a:buClrTx/>
                <a:buSzTx/>
                <a:buFontTx/>
                <a:buNone/>
                <a:defRPr/>
              </a:pPr>
              <a:r>
                <a:rPr kumimoji="0" lang="en-US" sz="4000" b="1" i="0" u="none" strike="noStrike" kern="1200" cap="none" spc="0" normalizeH="0" baseline="0" noProof="0" dirty="0">
                  <a:ln>
                    <a:noFill/>
                  </a:ln>
                  <a:solidFill>
                    <a:prstClr val="white"/>
                  </a:solidFill>
                  <a:effectLst/>
                  <a:uLnTx/>
                  <a:uFillTx/>
                  <a:latin typeface="Arial" panose="020B0604020202020204" pitchFamily="34" charset="0"/>
                  <a:ea typeface="Arial" panose="020B0604020202020204" pitchFamily="34" charset="0"/>
                  <a:cs typeface="+mn-ea"/>
                  <a:sym typeface="Arial" panose="020B0604020202020204" pitchFamily="34" charset="0"/>
                </a:rPr>
                <a:t>1</a:t>
              </a:r>
              <a:endParaRPr kumimoji="0" lang="en-US" sz="4000" b="1" i="0" u="none" strike="noStrike" kern="1200" cap="none" spc="0" normalizeH="0" baseline="0" noProof="0" dirty="0">
                <a:ln>
                  <a:noFill/>
                </a:ln>
                <a:solidFill>
                  <a:prstClr val="white"/>
                </a:solidFill>
                <a:effectLst/>
                <a:uLnTx/>
                <a:uFillTx/>
                <a:latin typeface="Arial" panose="020B0604020202020204" pitchFamily="34" charset="0"/>
                <a:ea typeface="Arial" panose="020B0604020202020204" pitchFamily="34" charset="0"/>
                <a:cs typeface="+mn-ea"/>
                <a:sym typeface="Arial" panose="020B0604020202020204" pitchFamily="34" charset="0"/>
              </a:endParaRPr>
            </a:p>
          </p:txBody>
        </p:sp>
        <p:sp>
          <p:nvSpPr>
            <p:cNvPr id="10" name="Zone de texte 9"/>
            <p:cNvSpPr txBox="1"/>
            <p:nvPr/>
          </p:nvSpPr>
          <p:spPr>
            <a:xfrm>
              <a:off x="13085" y="760"/>
              <a:ext cx="3436" cy="628"/>
            </a:xfrm>
            <a:prstGeom prst="rect">
              <a:avLst/>
            </a:prstGeom>
            <a:noFill/>
          </p:spPr>
          <p:txBody>
            <a:bodyPr wrap="square" rtlCol="0">
              <a:spAutoFit/>
            </a:bodyPr>
            <a:p>
              <a:r>
                <a:rPr lang="en-US" altLang="fr-FR" sz="2000"/>
                <a:t>Blocage</a:t>
              </a:r>
              <a:endParaRPr lang="en-US" altLang="fr-FR" sz="2000"/>
            </a:p>
          </p:txBody>
        </p:sp>
        <p:sp>
          <p:nvSpPr>
            <p:cNvPr id="15" name="Zone de texte 14"/>
            <p:cNvSpPr txBox="1"/>
            <p:nvPr/>
          </p:nvSpPr>
          <p:spPr>
            <a:xfrm>
              <a:off x="12520" y="1373"/>
              <a:ext cx="5204" cy="1888"/>
            </a:xfrm>
            <a:prstGeom prst="rect">
              <a:avLst/>
            </a:prstGeom>
            <a:noFill/>
          </p:spPr>
          <p:txBody>
            <a:bodyPr wrap="square" rtlCol="0">
              <a:spAutoFit/>
            </a:bodyPr>
            <a:p>
              <a:r>
                <a:rPr altLang="fr-FR"/>
                <a:t>Le processus se bloque, faute de données pour l'alimenter ou en attendant une opération d'entrée/sortie.</a:t>
              </a:r>
              <a:endParaRPr altLang="fr-FR"/>
            </a:p>
          </p:txBody>
        </p:sp>
      </p:grpSp>
      <p:grpSp>
        <p:nvGrpSpPr>
          <p:cNvPr id="32" name="Grouper 31"/>
          <p:cNvGrpSpPr/>
          <p:nvPr/>
        </p:nvGrpSpPr>
        <p:grpSpPr>
          <a:xfrm>
            <a:off x="151130" y="1769110"/>
            <a:ext cx="4135755" cy="1982470"/>
            <a:chOff x="11749" y="6781"/>
            <a:chExt cx="6513" cy="3122"/>
          </a:xfrm>
        </p:grpSpPr>
        <p:sp>
          <p:nvSpPr>
            <p:cNvPr id="11" name="Organigramme : Alternative 10"/>
            <p:cNvSpPr/>
            <p:nvPr/>
          </p:nvSpPr>
          <p:spPr>
            <a:xfrm>
              <a:off x="11987" y="6948"/>
              <a:ext cx="6275" cy="2955"/>
            </a:xfrm>
            <a:prstGeom prst="flowChartAlternateProcess">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FR" altLang="en-US"/>
            </a:p>
          </p:txBody>
        </p:sp>
        <p:sp>
          <p:nvSpPr>
            <p:cNvPr id="17" name="Oval 8"/>
            <p:cNvSpPr/>
            <p:nvPr/>
          </p:nvSpPr>
          <p:spPr>
            <a:xfrm>
              <a:off x="11749" y="6781"/>
              <a:ext cx="923" cy="835"/>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1375410" rtl="0" eaLnBrk="1" fontAlgn="auto" latinLnBrk="0" hangingPunct="1">
                <a:lnSpc>
                  <a:spcPct val="100000"/>
                </a:lnSpc>
                <a:spcBef>
                  <a:spcPts val="0"/>
                </a:spcBef>
                <a:spcAft>
                  <a:spcPts val="0"/>
                </a:spcAft>
                <a:buClrTx/>
                <a:buSzTx/>
                <a:buFontTx/>
                <a:buNone/>
                <a:defRPr/>
              </a:pPr>
              <a:r>
                <a:rPr kumimoji="0" lang="en-US" sz="4800" b="1" i="0" u="none" strike="noStrike" kern="1200" cap="none" spc="0" normalizeH="0" baseline="0" noProof="0" dirty="0">
                  <a:ln>
                    <a:noFill/>
                  </a:ln>
                  <a:solidFill>
                    <a:prstClr val="white"/>
                  </a:solidFill>
                  <a:effectLst/>
                  <a:uLnTx/>
                  <a:uFillTx/>
                  <a:latin typeface="Arial" panose="020B0604020202020204" pitchFamily="34" charset="0"/>
                  <a:ea typeface="Arial" panose="020B0604020202020204" pitchFamily="34" charset="0"/>
                  <a:cs typeface="+mn-ea"/>
                  <a:sym typeface="Arial" panose="020B0604020202020204" pitchFamily="34" charset="0"/>
                </a:rPr>
                <a:t>4</a:t>
              </a:r>
              <a:endParaRPr kumimoji="0" lang="en-US" sz="4800" b="1" i="0" u="none" strike="noStrike" kern="1200" cap="none" spc="0" normalizeH="0" baseline="0" noProof="0" dirty="0">
                <a:ln>
                  <a:noFill/>
                </a:ln>
                <a:solidFill>
                  <a:prstClr val="white"/>
                </a:solidFill>
                <a:effectLst/>
                <a:uLnTx/>
                <a:uFillTx/>
                <a:latin typeface="Arial" panose="020B0604020202020204" pitchFamily="34" charset="0"/>
                <a:ea typeface="Arial" panose="020B0604020202020204" pitchFamily="34" charset="0"/>
                <a:cs typeface="+mn-ea"/>
                <a:sym typeface="Arial" panose="020B0604020202020204" pitchFamily="34" charset="0"/>
              </a:endParaRPr>
            </a:p>
          </p:txBody>
        </p:sp>
        <p:sp>
          <p:nvSpPr>
            <p:cNvPr id="18" name="Zone de texte 17"/>
            <p:cNvSpPr txBox="1"/>
            <p:nvPr/>
          </p:nvSpPr>
          <p:spPr>
            <a:xfrm>
              <a:off x="12672" y="6988"/>
              <a:ext cx="3436" cy="628"/>
            </a:xfrm>
            <a:prstGeom prst="rect">
              <a:avLst/>
            </a:prstGeom>
            <a:noFill/>
          </p:spPr>
          <p:txBody>
            <a:bodyPr wrap="square" rtlCol="0">
              <a:spAutoFit/>
            </a:bodyPr>
            <a:p>
              <a:r>
                <a:rPr lang="en-US" altLang="fr-FR" sz="2000"/>
                <a:t>D</a:t>
              </a:r>
              <a:r>
                <a:rPr lang="fr-FR" altLang="en-US" sz="2000"/>
                <a:t>é</a:t>
              </a:r>
              <a:r>
                <a:rPr lang="en-US" altLang="en-US" sz="2000"/>
                <a:t>blocage</a:t>
              </a:r>
              <a:endParaRPr lang="en-US" altLang="en-US" sz="2000"/>
            </a:p>
          </p:txBody>
        </p:sp>
        <p:sp>
          <p:nvSpPr>
            <p:cNvPr id="21" name="Zone de texte 20"/>
            <p:cNvSpPr txBox="1"/>
            <p:nvPr/>
          </p:nvSpPr>
          <p:spPr>
            <a:xfrm>
              <a:off x="12275" y="7654"/>
              <a:ext cx="5802" cy="1888"/>
            </a:xfrm>
            <a:prstGeom prst="rect">
              <a:avLst/>
            </a:prstGeom>
            <a:noFill/>
          </p:spPr>
          <p:txBody>
            <a:bodyPr wrap="square" rtlCol="0">
              <a:spAutoFit/>
            </a:bodyPr>
            <a:p>
              <a:r>
                <a:rPr altLang="fr-FR"/>
                <a:t>le processus bloqué reçoit une réponse à une demande de ressource ou qu'un événement qu'il attend se produit.</a:t>
              </a:r>
              <a:endParaRPr altLang="fr-FR"/>
            </a:p>
          </p:txBody>
        </p:sp>
      </p:grpSp>
      <p:grpSp>
        <p:nvGrpSpPr>
          <p:cNvPr id="27" name="Grouper 26"/>
          <p:cNvGrpSpPr/>
          <p:nvPr/>
        </p:nvGrpSpPr>
        <p:grpSpPr>
          <a:xfrm>
            <a:off x="7921625" y="889000"/>
            <a:ext cx="3693160" cy="1418590"/>
            <a:chOff x="12103" y="550"/>
            <a:chExt cx="5816" cy="2234"/>
          </a:xfrm>
        </p:grpSpPr>
        <p:sp>
          <p:nvSpPr>
            <p:cNvPr id="28" name="Organigramme : Alternative 27"/>
            <p:cNvSpPr/>
            <p:nvPr/>
          </p:nvSpPr>
          <p:spPr>
            <a:xfrm>
              <a:off x="12275" y="760"/>
              <a:ext cx="5644" cy="2024"/>
            </a:xfrm>
            <a:prstGeom prst="flowChartAlternateProcess">
              <a:avLst/>
            </a:prstGeom>
            <a:noFill/>
            <a:ln>
              <a:solidFill>
                <a:schemeClr val="tx1">
                  <a:lumMod val="85000"/>
                  <a:lumOff val="1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FR" altLang="en-US"/>
            </a:p>
          </p:txBody>
        </p:sp>
        <p:sp>
          <p:nvSpPr>
            <p:cNvPr id="29" name="Oval 4"/>
            <p:cNvSpPr/>
            <p:nvPr/>
          </p:nvSpPr>
          <p:spPr>
            <a:xfrm>
              <a:off x="12103" y="550"/>
              <a:ext cx="822" cy="847"/>
            </a:xfrm>
            <a:prstGeom prst="ellipse">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1375410" rtl="0" eaLnBrk="1" fontAlgn="auto" latinLnBrk="0" hangingPunct="1">
                <a:lnSpc>
                  <a:spcPct val="100000"/>
                </a:lnSpc>
                <a:spcBef>
                  <a:spcPts val="0"/>
                </a:spcBef>
                <a:spcAft>
                  <a:spcPts val="0"/>
                </a:spcAft>
                <a:buClrTx/>
                <a:buSzTx/>
                <a:buFontTx/>
                <a:buNone/>
                <a:defRPr/>
              </a:pPr>
              <a:r>
                <a:rPr kumimoji="0" lang="en-US" sz="4000" b="1" i="0" u="none" strike="noStrike" kern="1200" cap="none" spc="0" normalizeH="0" baseline="0" noProof="0" dirty="0">
                  <a:ln>
                    <a:noFill/>
                  </a:ln>
                  <a:solidFill>
                    <a:prstClr val="white"/>
                  </a:solidFill>
                  <a:effectLst/>
                  <a:uLnTx/>
                  <a:uFillTx/>
                  <a:latin typeface="Arial" panose="020B0604020202020204" pitchFamily="34" charset="0"/>
                  <a:ea typeface="Arial" panose="020B0604020202020204" pitchFamily="34" charset="0"/>
                  <a:cs typeface="+mn-ea"/>
                  <a:sym typeface="Arial" panose="020B0604020202020204" pitchFamily="34" charset="0"/>
                </a:rPr>
                <a:t>3</a:t>
              </a:r>
              <a:endParaRPr kumimoji="0" lang="en-US" sz="4000" b="1" i="0" u="none" strike="noStrike" kern="1200" cap="none" spc="0" normalizeH="0" baseline="0" noProof="0" dirty="0">
                <a:ln>
                  <a:noFill/>
                </a:ln>
                <a:solidFill>
                  <a:prstClr val="white"/>
                </a:solidFill>
                <a:effectLst/>
                <a:uLnTx/>
                <a:uFillTx/>
                <a:latin typeface="Arial" panose="020B0604020202020204" pitchFamily="34" charset="0"/>
                <a:ea typeface="Arial" panose="020B0604020202020204" pitchFamily="34" charset="0"/>
                <a:cs typeface="+mn-ea"/>
                <a:sym typeface="Arial" panose="020B0604020202020204" pitchFamily="34" charset="0"/>
              </a:endParaRPr>
            </a:p>
          </p:txBody>
        </p:sp>
        <p:sp>
          <p:nvSpPr>
            <p:cNvPr id="30" name="Zone de texte 29"/>
            <p:cNvSpPr txBox="1"/>
            <p:nvPr/>
          </p:nvSpPr>
          <p:spPr>
            <a:xfrm>
              <a:off x="13085" y="760"/>
              <a:ext cx="3436" cy="628"/>
            </a:xfrm>
            <a:prstGeom prst="rect">
              <a:avLst/>
            </a:prstGeom>
            <a:noFill/>
          </p:spPr>
          <p:txBody>
            <a:bodyPr wrap="square" rtlCol="0">
              <a:spAutoFit/>
            </a:bodyPr>
            <a:p>
              <a:r>
                <a:rPr lang="en-US" altLang="fr-FR" sz="2000"/>
                <a:t>Election</a:t>
              </a:r>
              <a:endParaRPr lang="en-US" altLang="fr-FR" sz="2000"/>
            </a:p>
          </p:txBody>
        </p:sp>
        <p:sp>
          <p:nvSpPr>
            <p:cNvPr id="31" name="Zone de texte 30"/>
            <p:cNvSpPr txBox="1"/>
            <p:nvPr/>
          </p:nvSpPr>
          <p:spPr>
            <a:xfrm>
              <a:off x="12520" y="1456"/>
              <a:ext cx="5204" cy="1016"/>
            </a:xfrm>
            <a:prstGeom prst="rect">
              <a:avLst/>
            </a:prstGeom>
            <a:noFill/>
          </p:spPr>
          <p:txBody>
            <a:bodyPr wrap="square" rtlCol="0">
              <a:spAutoFit/>
            </a:bodyPr>
            <a:p>
              <a:r>
                <a:rPr lang="en-US" altLang="fr-FR"/>
                <a:t>Allocation du processeur au processus selectionn</a:t>
              </a:r>
              <a:r>
                <a:rPr lang="fr-FR" altLang="fr-FR"/>
                <a:t>é</a:t>
              </a:r>
              <a:endParaRPr lang="fr-FR" altLang="fr-FR"/>
            </a:p>
          </p:txBody>
        </p:sp>
      </p:grpSp>
      <p:grpSp>
        <p:nvGrpSpPr>
          <p:cNvPr id="38" name="Grouper 37"/>
          <p:cNvGrpSpPr/>
          <p:nvPr/>
        </p:nvGrpSpPr>
        <p:grpSpPr>
          <a:xfrm>
            <a:off x="7587615" y="4432935"/>
            <a:ext cx="4452620" cy="2169795"/>
            <a:chOff x="11749" y="6781"/>
            <a:chExt cx="7012" cy="3417"/>
          </a:xfrm>
        </p:grpSpPr>
        <p:sp>
          <p:nvSpPr>
            <p:cNvPr id="39" name="Organigramme : Alternative 38"/>
            <p:cNvSpPr/>
            <p:nvPr/>
          </p:nvSpPr>
          <p:spPr>
            <a:xfrm>
              <a:off x="11987" y="6948"/>
              <a:ext cx="6774" cy="3251"/>
            </a:xfrm>
            <a:prstGeom prst="flowChartAlternateProcess">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FR" altLang="en-US"/>
            </a:p>
          </p:txBody>
        </p:sp>
        <p:sp>
          <p:nvSpPr>
            <p:cNvPr id="40" name="Oval 8"/>
            <p:cNvSpPr/>
            <p:nvPr/>
          </p:nvSpPr>
          <p:spPr>
            <a:xfrm>
              <a:off x="11749" y="6781"/>
              <a:ext cx="923" cy="835"/>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1375410" rtl="0" eaLnBrk="1" fontAlgn="auto" latinLnBrk="0" hangingPunct="1">
                <a:lnSpc>
                  <a:spcPct val="100000"/>
                </a:lnSpc>
                <a:spcBef>
                  <a:spcPts val="0"/>
                </a:spcBef>
                <a:spcAft>
                  <a:spcPts val="0"/>
                </a:spcAft>
                <a:buClrTx/>
                <a:buSzTx/>
                <a:buFontTx/>
                <a:buNone/>
                <a:defRPr/>
              </a:pPr>
              <a:r>
                <a:rPr kumimoji="0" lang="en-US" sz="4800" b="1" i="0" u="none" strike="noStrike" kern="1200" cap="none" spc="0" normalizeH="0" baseline="0" noProof="0" dirty="0">
                  <a:ln>
                    <a:noFill/>
                  </a:ln>
                  <a:solidFill>
                    <a:prstClr val="white"/>
                  </a:solidFill>
                  <a:effectLst/>
                  <a:uLnTx/>
                  <a:uFillTx/>
                  <a:latin typeface="Arial" panose="020B0604020202020204" pitchFamily="34" charset="0"/>
                  <a:ea typeface="Arial" panose="020B0604020202020204" pitchFamily="34" charset="0"/>
                  <a:cs typeface="+mn-ea"/>
                  <a:sym typeface="Arial" panose="020B0604020202020204" pitchFamily="34" charset="0"/>
                </a:rPr>
                <a:t>2</a:t>
              </a:r>
              <a:endParaRPr kumimoji="0" lang="en-US" sz="4800" b="1" i="0" u="none" strike="noStrike" kern="1200" cap="none" spc="0" normalizeH="0" baseline="0" noProof="0" dirty="0">
                <a:ln>
                  <a:noFill/>
                </a:ln>
                <a:solidFill>
                  <a:prstClr val="white"/>
                </a:solidFill>
                <a:effectLst/>
                <a:uLnTx/>
                <a:uFillTx/>
                <a:latin typeface="Arial" panose="020B0604020202020204" pitchFamily="34" charset="0"/>
                <a:ea typeface="Arial" panose="020B0604020202020204" pitchFamily="34" charset="0"/>
                <a:cs typeface="+mn-ea"/>
                <a:sym typeface="Arial" panose="020B0604020202020204" pitchFamily="34" charset="0"/>
              </a:endParaRPr>
            </a:p>
          </p:txBody>
        </p:sp>
        <p:sp>
          <p:nvSpPr>
            <p:cNvPr id="41" name="Zone de texte 40"/>
            <p:cNvSpPr txBox="1"/>
            <p:nvPr/>
          </p:nvSpPr>
          <p:spPr>
            <a:xfrm>
              <a:off x="12672" y="6988"/>
              <a:ext cx="3436" cy="628"/>
            </a:xfrm>
            <a:prstGeom prst="rect">
              <a:avLst/>
            </a:prstGeom>
            <a:noFill/>
          </p:spPr>
          <p:txBody>
            <a:bodyPr wrap="square" rtlCol="0">
              <a:spAutoFit/>
            </a:bodyPr>
            <a:p>
              <a:r>
                <a:rPr lang="en-US" altLang="fr-FR" sz="2000"/>
                <a:t>Attente</a:t>
              </a:r>
              <a:endParaRPr lang="en-US" altLang="fr-FR" sz="2000"/>
            </a:p>
          </p:txBody>
        </p:sp>
        <p:sp>
          <p:nvSpPr>
            <p:cNvPr id="42" name="Zone de texte 41"/>
            <p:cNvSpPr txBox="1"/>
            <p:nvPr/>
          </p:nvSpPr>
          <p:spPr>
            <a:xfrm>
              <a:off x="12275" y="7592"/>
              <a:ext cx="6485" cy="2325"/>
            </a:xfrm>
            <a:prstGeom prst="rect">
              <a:avLst/>
            </a:prstGeom>
            <a:noFill/>
          </p:spPr>
          <p:txBody>
            <a:bodyPr wrap="square" rtlCol="0">
              <a:spAutoFit/>
            </a:bodyPr>
            <a:p>
              <a:r>
                <a:rPr altLang="fr-FR"/>
                <a:t>Le processus est interrompu soit parce que la tranche de temps qui lui est impartie est achevée soit parce qu'un processus de plus haute priorité réquisitionne le processeur.</a:t>
              </a:r>
              <a:endParaRPr altLang="fr-F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down)">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strips(down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down)">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strips(down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down)">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strips(down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down)">
                                      <p:cBhvr>
                                        <p:cTn id="4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635"/>
            <a:ext cx="12306300" cy="6857365"/>
          </a:xfrm>
          <a:prstGeom prst="rect">
            <a:avLst/>
          </a:prstGeom>
          <a:solidFill>
            <a:srgbClr val="20222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fr-FR" altLang="en-US"/>
          </a:p>
        </p:txBody>
      </p:sp>
      <p:sp>
        <p:nvSpPr>
          <p:cNvPr id="7" name="椭圆 6"/>
          <p:cNvSpPr/>
          <p:nvPr/>
        </p:nvSpPr>
        <p:spPr>
          <a:xfrm>
            <a:off x="467678" y="1214755"/>
            <a:ext cx="2689225" cy="2689225"/>
          </a:xfrm>
          <a:prstGeom prst="ellipse">
            <a:avLst/>
          </a:prstGeom>
          <a:solidFill>
            <a:srgbClr val="D61920">
              <a:alpha val="8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4339" name="文本框 6"/>
          <p:cNvSpPr txBox="1"/>
          <p:nvPr/>
        </p:nvSpPr>
        <p:spPr>
          <a:xfrm>
            <a:off x="1094105" y="1723390"/>
            <a:ext cx="1436370" cy="1445260"/>
          </a:xfrm>
          <a:prstGeom prst="rect">
            <a:avLst/>
          </a:prstGeom>
          <a:noFill/>
          <a:ln w="9525">
            <a:noFill/>
          </a:ln>
        </p:spPr>
        <p:txBody>
          <a:bodyPr wrap="square" anchor="t">
            <a:spAutoFit/>
          </a:bodyPr>
          <a:p>
            <a:pPr>
              <a:buFont typeface="Arial" panose="020B0604020202020204" pitchFamily="34" charset="0"/>
            </a:pPr>
            <a:r>
              <a:rPr lang="en-US" altLang="zh-CN" sz="8800" b="1" dirty="0">
                <a:solidFill>
                  <a:schemeClr val="bg1"/>
                </a:solidFill>
                <a:ea typeface="Calibri" panose="020F0502020204030204" pitchFamily="34" charset="0"/>
              </a:rPr>
              <a:t>05</a:t>
            </a:r>
            <a:endParaRPr lang="en-US" altLang="zh-CN" sz="8800" b="1" dirty="0">
              <a:solidFill>
                <a:schemeClr val="bg1"/>
              </a:solidFill>
              <a:ea typeface="Calibri" panose="020F0502020204030204" pitchFamily="34" charset="0"/>
            </a:endParaRPr>
          </a:p>
        </p:txBody>
      </p:sp>
      <p:sp>
        <p:nvSpPr>
          <p:cNvPr id="9" name="矩形 7"/>
          <p:cNvSpPr>
            <a:spLocks noChangeArrowheads="1"/>
          </p:cNvSpPr>
          <p:nvPr/>
        </p:nvSpPr>
        <p:spPr bwMode="auto">
          <a:xfrm>
            <a:off x="3308350" y="1840230"/>
            <a:ext cx="8733155" cy="1328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1pPr>
            <a:lvl2pPr marL="742950" indent="-285750" defTabSz="1216025">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2pPr>
            <a:lvl3pPr marL="1143000" indent="-228600" defTabSz="1216025">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3pPr>
            <a:lvl4pPr marL="16002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4pPr>
            <a:lvl5pPr marL="20574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5pPr>
            <a:lvl6pPr marL="25146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6pPr>
            <a:lvl7pPr marL="29718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7pPr>
            <a:lvl8pPr marL="34290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8pPr>
            <a:lvl9pPr marL="38862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9pPr>
          </a:lstStyle>
          <a:p>
            <a:pPr algn="l">
              <a:buFont typeface="Arial" panose="020B0604020202020204" pitchFamily="34" charset="0"/>
              <a:buNone/>
            </a:pPr>
            <a:r>
              <a:rPr lang="en-US" altLang="zh-CN" sz="4800" b="1" dirty="0">
                <a:solidFill>
                  <a:srgbClr val="FFFFFF"/>
                </a:solidFill>
                <a:latin typeface="Arial" panose="020B0604020202020204" pitchFamily="34" charset="0"/>
                <a:ea typeface="黑体" panose="02010609060101010101" pitchFamily="49" charset="-122"/>
                <a:sym typeface="+mn-lt"/>
              </a:rPr>
              <a:t>LA SYNCHRONISATION INTERPROCESSUS</a:t>
            </a:r>
            <a:endParaRPr kumimoji="0" lang="en-US" altLang="da-DK" sz="4800" b="1" i="0" u="none" strike="noStrike" kern="1200" cap="none" spc="0" normalizeH="0" baseline="0" noProof="0" dirty="0">
              <a:ln>
                <a:noFill/>
              </a:ln>
              <a:solidFill>
                <a:srgbClr val="FFFFFF"/>
              </a:solidFill>
              <a:effectLst/>
              <a:uLnTx/>
              <a:uFillTx/>
              <a:latin typeface="Arial" panose="020B0604020202020204" pitchFamily="34" charset="0"/>
              <a:ea typeface="黑体" panose="02010609060101010101" pitchFamily="49" charset="-122"/>
              <a:cs typeface="+mn-cs"/>
              <a:sym typeface="+mn-lt"/>
            </a:endParaRPr>
          </a:p>
        </p:txBody>
      </p:sp>
      <p:sp>
        <p:nvSpPr>
          <p:cNvPr id="3" name="Zone de texte 2"/>
          <p:cNvSpPr txBox="1"/>
          <p:nvPr/>
        </p:nvSpPr>
        <p:spPr>
          <a:xfrm>
            <a:off x="3551555" y="3724275"/>
            <a:ext cx="7893685" cy="953135"/>
          </a:xfrm>
          <a:prstGeom prst="rect">
            <a:avLst/>
          </a:prstGeom>
          <a:noFill/>
        </p:spPr>
        <p:txBody>
          <a:bodyPr wrap="square" rtlCol="0">
            <a:spAutoFit/>
          </a:bodyPr>
          <a:p>
            <a:pPr marL="285750" indent="-285750">
              <a:buFont typeface="Arial" panose="020B0604020202020204" pitchFamily="34" charset="0"/>
              <a:buChar char="•"/>
            </a:pPr>
            <a:r>
              <a:rPr lang="en-US" altLang="fr-FR" sz="2800">
                <a:solidFill>
                  <a:schemeClr val="bg1"/>
                </a:solidFill>
                <a:latin typeface="Arial" panose="020B0604020202020204" pitchFamily="34" charset="0"/>
                <a:cs typeface="Arial" panose="020B0604020202020204" pitchFamily="34" charset="0"/>
              </a:rPr>
              <a:t>La communication entre processus</a:t>
            </a:r>
            <a:endParaRPr lang="en-US" altLang="fr-FR" sz="280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fr-FR" sz="2800">
                <a:solidFill>
                  <a:schemeClr val="bg1"/>
                </a:solidFill>
                <a:latin typeface="Arial" panose="020B0604020202020204" pitchFamily="34" charset="0"/>
                <a:cs typeface="Arial" panose="020B0604020202020204" pitchFamily="34" charset="0"/>
                <a:sym typeface="+mn-ea"/>
              </a:rPr>
              <a:t>La synchronisation entre processus</a:t>
            </a:r>
            <a:endParaRPr lang="en-US" altLang="fr-FR" sz="2800">
              <a:solidFill>
                <a:schemeClr val="bg1"/>
              </a:solidFill>
              <a:latin typeface="Arial" panose="020B0604020202020204" pitchFamily="34" charset="0"/>
              <a:cs typeface="Arial" panose="020B0604020202020204" pitchFamily="34" charset="0"/>
            </a:endParaRPr>
          </a:p>
        </p:txBody>
      </p:sp>
    </p:spTree>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nvSpPr>
        <p:spPr>
          <a:xfrm>
            <a:off x="1249363" y="2294255"/>
            <a:ext cx="4637088" cy="257810"/>
          </a:xfrm>
          <a:prstGeom prst="rect">
            <a:avLst/>
          </a:prstGeom>
          <a:noFill/>
        </p:spPr>
        <p:txBody>
          <a:bodyPr wrap="square" lIns="0" tIns="0" rIns="0" bIns="0" rtlCol="0" anchor="t" anchorCtr="0">
            <a:spAutoFit/>
          </a:bodyPr>
          <a:lstStyle/>
          <a:p>
            <a:pPr marL="0" marR="0" lvl="0" indent="0" algn="l" defTabSz="1216660" rtl="0" eaLnBrk="1" fontAlgn="auto" latinLnBrk="0" hangingPunct="1">
              <a:lnSpc>
                <a:spcPct val="120000"/>
              </a:lnSpc>
              <a:spcBef>
                <a:spcPct val="20000"/>
              </a:spcBef>
              <a:spcAft>
                <a:spcPts val="0"/>
              </a:spcAft>
              <a:buClrTx/>
              <a:buSzTx/>
              <a:buFontTx/>
              <a:buNone/>
              <a:defRPr/>
            </a:pPr>
            <a:endParaRPr kumimoji="0" lang="zh-CN" altLang="en-US" sz="1400" b="0" i="0" u="none" strike="noStrike" kern="1200" cap="none" spc="0" normalizeH="0" baseline="0" noProof="0" dirty="0" smtClean="0">
              <a:ln>
                <a:noFill/>
              </a:ln>
              <a:solidFill>
                <a:schemeClr val="tx1">
                  <a:lumMod val="85000"/>
                  <a:lumOff val="15000"/>
                </a:schemeClr>
              </a:solidFill>
              <a:effectLst/>
              <a:uLnTx/>
              <a:uFillTx/>
              <a:latin typeface="Arial" panose="020B0604020202020204" pitchFamily="34" charset="0"/>
              <a:ea typeface="Arial" panose="020B0604020202020204" pitchFamily="34" charset="0"/>
              <a:cs typeface="+mn-cs"/>
              <a:sym typeface="Arial" panose="020B0604020202020204" pitchFamily="34" charset="0"/>
            </a:endParaRPr>
          </a:p>
        </p:txBody>
      </p:sp>
      <p:grpSp>
        <p:nvGrpSpPr>
          <p:cNvPr id="5135" name="组合 17"/>
          <p:cNvGrpSpPr/>
          <p:nvPr/>
        </p:nvGrpSpPr>
        <p:grpSpPr>
          <a:xfrm>
            <a:off x="0" y="292100"/>
            <a:ext cx="8576310" cy="596894"/>
            <a:chOff x="0" y="177800"/>
            <a:chExt cx="8439232"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7568815" cy="521975"/>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rPr>
                <a:t>La synchronisation entre processus </a:t>
              </a:r>
              <a:endParaRPr lang="en-US" altLang="zh-CN" sz="2800" b="1" dirty="0">
                <a:latin typeface="Arial" panose="020B0604020202020204" pitchFamily="34" charset="0"/>
                <a:ea typeface="Arial" panose="020B0604020202020204" pitchFamily="34" charset="0"/>
              </a:endParaRPr>
            </a:p>
          </p:txBody>
        </p:sp>
      </p:grpSp>
      <p:grpSp>
        <p:nvGrpSpPr>
          <p:cNvPr id="49" name="Grouper 48"/>
          <p:cNvGrpSpPr/>
          <p:nvPr/>
        </p:nvGrpSpPr>
        <p:grpSpPr>
          <a:xfrm>
            <a:off x="680720" y="2008505"/>
            <a:ext cx="3803015" cy="3162935"/>
            <a:chOff x="1352" y="2183"/>
            <a:chExt cx="5989" cy="4981"/>
          </a:xfrm>
        </p:grpSpPr>
        <p:grpSp>
          <p:nvGrpSpPr>
            <p:cNvPr id="30" name="Group 12"/>
            <p:cNvGrpSpPr/>
            <p:nvPr/>
          </p:nvGrpSpPr>
          <p:grpSpPr bwMode="auto">
            <a:xfrm>
              <a:off x="1753" y="2243"/>
              <a:ext cx="4840" cy="4921"/>
              <a:chOff x="1008" y="850"/>
              <a:chExt cx="1936" cy="2558"/>
            </a:xfrm>
          </p:grpSpPr>
          <p:sp>
            <p:nvSpPr>
              <p:cNvPr id="31" name="Text Box 3"/>
              <p:cNvSpPr txBox="1">
                <a:spLocks noChangeArrowheads="1"/>
              </p:cNvSpPr>
              <p:nvPr/>
            </p:nvSpPr>
            <p:spPr bwMode="auto">
              <a:xfrm>
                <a:off x="1008" y="1027"/>
                <a:ext cx="634" cy="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spcBef>
                    <a:spcPct val="0"/>
                  </a:spcBef>
                  <a:buClrTx/>
                  <a:buSzTx/>
                  <a:buFontTx/>
                  <a:buNone/>
                </a:pPr>
                <a:r>
                  <a:rPr kumimoji="0" lang="en-US" altLang="en-US" sz="3600">
                    <a:solidFill>
                      <a:schemeClr val="tx1"/>
                    </a:solidFill>
                    <a:latin typeface="Courier New" panose="02070309020205020404" pitchFamily="49" charset="0"/>
                  </a:rPr>
                  <a:t>...</a:t>
                </a:r>
                <a:endParaRPr kumimoji="0" lang="en-US" altLang="en-US" sz="36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rPr>
                  <a:t>b=a</a:t>
                </a:r>
                <a:endParaRPr kumimoji="0" lang="en-US" altLang="en-US" sz="36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rPr>
                  <a:t>b++</a:t>
                </a:r>
                <a:endParaRPr kumimoji="0" lang="en-US" altLang="en-US" sz="36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rPr>
                  <a:t>a=b</a:t>
                </a:r>
                <a:endParaRPr kumimoji="0" lang="en-US" altLang="en-US" sz="36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sym typeface="+mn-ea"/>
                  </a:rPr>
                  <a:t>...</a:t>
                </a:r>
                <a:endParaRPr kumimoji="0" lang="en-US" altLang="en-US" sz="3600">
                  <a:solidFill>
                    <a:schemeClr val="tx1"/>
                  </a:solidFill>
                  <a:latin typeface="Courier New" panose="02070309020205020404" pitchFamily="49" charset="0"/>
                </a:endParaRPr>
              </a:p>
              <a:p>
                <a:pPr>
                  <a:spcBef>
                    <a:spcPct val="0"/>
                  </a:spcBef>
                  <a:buClrTx/>
                  <a:buSzTx/>
                  <a:buFontTx/>
                  <a:buNone/>
                </a:pPr>
                <a:endParaRPr kumimoji="0" lang="en-US" altLang="en-US" sz="3600">
                  <a:solidFill>
                    <a:schemeClr val="tx1"/>
                  </a:solidFill>
                  <a:latin typeface="Courier New" panose="02070309020205020404" pitchFamily="49" charset="0"/>
                </a:endParaRPr>
              </a:p>
              <a:p>
                <a:pPr>
                  <a:spcBef>
                    <a:spcPct val="0"/>
                  </a:spcBef>
                  <a:buClrTx/>
                  <a:buSzTx/>
                  <a:buFontTx/>
                  <a:buNone/>
                </a:pPr>
                <a:endParaRPr kumimoji="0" lang="en-US" altLang="fr-CA" sz="2400" b="0">
                  <a:solidFill>
                    <a:schemeClr val="tx1"/>
                  </a:solidFill>
                  <a:latin typeface="Times New Roman" panose="02020603050405020304" charset="0"/>
                </a:endParaRPr>
              </a:p>
            </p:txBody>
          </p:sp>
          <p:sp>
            <p:nvSpPr>
              <p:cNvPr id="32" name="Text Box 4"/>
              <p:cNvSpPr txBox="1">
                <a:spLocks noChangeArrowheads="1"/>
              </p:cNvSpPr>
              <p:nvPr/>
            </p:nvSpPr>
            <p:spPr bwMode="auto">
              <a:xfrm>
                <a:off x="2310" y="1059"/>
                <a:ext cx="634" cy="2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spcBef>
                    <a:spcPct val="0"/>
                  </a:spcBef>
                  <a:buClrTx/>
                  <a:buSzTx/>
                  <a:buFontTx/>
                  <a:buNone/>
                </a:pPr>
                <a:r>
                  <a:rPr kumimoji="0" lang="en-US" altLang="en-US" sz="3600">
                    <a:solidFill>
                      <a:schemeClr val="tx1"/>
                    </a:solidFill>
                    <a:latin typeface="Courier New" panose="02070309020205020404" pitchFamily="49" charset="0"/>
                  </a:rPr>
                  <a:t>...</a:t>
                </a:r>
                <a:endParaRPr kumimoji="0" lang="en-US" altLang="en-US" sz="36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rPr>
                  <a:t>c=a</a:t>
                </a:r>
                <a:endParaRPr kumimoji="0" lang="en-US" altLang="en-US" sz="24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rPr>
                  <a:t>c++</a:t>
                </a:r>
                <a:endParaRPr kumimoji="0" lang="en-US" altLang="en-US" sz="36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rPr>
                  <a:t>a=c</a:t>
                </a:r>
                <a:endParaRPr kumimoji="0" lang="en-US" altLang="en-US" sz="36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sym typeface="+mn-ea"/>
                  </a:rPr>
                  <a:t>...</a:t>
                </a:r>
                <a:endParaRPr kumimoji="0" lang="en-US" altLang="en-US" sz="3600">
                  <a:solidFill>
                    <a:schemeClr val="tx1"/>
                  </a:solidFill>
                  <a:latin typeface="Courier New" panose="02070309020205020404" pitchFamily="49" charset="0"/>
                </a:endParaRPr>
              </a:p>
              <a:p>
                <a:pPr>
                  <a:spcBef>
                    <a:spcPct val="0"/>
                  </a:spcBef>
                  <a:buClrTx/>
                  <a:buSzTx/>
                  <a:buFontTx/>
                  <a:buNone/>
                </a:pPr>
                <a:endParaRPr kumimoji="0" lang="en-US" altLang="en-US" sz="3600">
                  <a:solidFill>
                    <a:schemeClr val="tx1"/>
                  </a:solidFill>
                  <a:latin typeface="Courier New" panose="02070309020205020404" pitchFamily="49" charset="0"/>
                </a:endParaRPr>
              </a:p>
              <a:p>
                <a:pPr>
                  <a:spcBef>
                    <a:spcPct val="0"/>
                  </a:spcBef>
                  <a:buClrTx/>
                  <a:buSzTx/>
                  <a:buFontTx/>
                  <a:buNone/>
                </a:pPr>
                <a:endParaRPr kumimoji="0" lang="fr-CA" altLang="en-US" sz="2400" b="0">
                  <a:solidFill>
                    <a:schemeClr val="tx1"/>
                  </a:solidFill>
                  <a:latin typeface="Times New Roman" panose="02020603050405020304" charset="0"/>
                </a:endParaRPr>
              </a:p>
            </p:txBody>
          </p:sp>
          <p:sp>
            <p:nvSpPr>
              <p:cNvPr id="33" name="Text Box 5"/>
              <p:cNvSpPr txBox="1">
                <a:spLocks noChangeArrowheads="1"/>
              </p:cNvSpPr>
              <p:nvPr/>
            </p:nvSpPr>
            <p:spPr bwMode="auto">
              <a:xfrm>
                <a:off x="1152" y="850"/>
                <a:ext cx="319" cy="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spcBef>
                    <a:spcPct val="0"/>
                  </a:spcBef>
                  <a:buClrTx/>
                  <a:buSzTx/>
                  <a:buFontTx/>
                  <a:buNone/>
                </a:pPr>
                <a:r>
                  <a:rPr kumimoji="0" lang="fr-CA" altLang="en-US" sz="2400" b="0">
                    <a:solidFill>
                      <a:srgbClr val="C00000"/>
                    </a:solidFill>
                    <a:latin typeface="Times New Roman" panose="02020603050405020304" charset="0"/>
                  </a:rPr>
                  <a:t>P1</a:t>
                </a:r>
                <a:endParaRPr kumimoji="0" lang="fr-CA" altLang="en-US" sz="2400" b="0">
                  <a:solidFill>
                    <a:srgbClr val="C00000"/>
                  </a:solidFill>
                  <a:latin typeface="Times New Roman" panose="02020603050405020304" charset="0"/>
                </a:endParaRPr>
              </a:p>
            </p:txBody>
          </p:sp>
          <p:sp>
            <p:nvSpPr>
              <p:cNvPr id="34" name="Text Box 6"/>
              <p:cNvSpPr txBox="1">
                <a:spLocks noChangeArrowheads="1"/>
              </p:cNvSpPr>
              <p:nvPr/>
            </p:nvSpPr>
            <p:spPr bwMode="auto">
              <a:xfrm>
                <a:off x="2468" y="850"/>
                <a:ext cx="319" cy="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spcBef>
                    <a:spcPct val="0"/>
                  </a:spcBef>
                  <a:buClrTx/>
                  <a:buSzTx/>
                  <a:buFontTx/>
                  <a:buNone/>
                </a:pPr>
                <a:r>
                  <a:rPr kumimoji="0" lang="fr-CA" altLang="en-US" sz="2400" b="0">
                    <a:solidFill>
                      <a:srgbClr val="C00000"/>
                    </a:solidFill>
                    <a:latin typeface="Times New Roman" panose="02020603050405020304" charset="0"/>
                  </a:rPr>
                  <a:t>P2</a:t>
                </a:r>
                <a:endParaRPr kumimoji="0" lang="fr-CA" altLang="en-US" sz="2400" b="0">
                  <a:solidFill>
                    <a:srgbClr val="C00000"/>
                  </a:solidFill>
                  <a:latin typeface="Times New Roman" panose="02020603050405020304" charset="0"/>
                </a:endParaRPr>
              </a:p>
            </p:txBody>
          </p:sp>
          <p:sp>
            <p:nvSpPr>
              <p:cNvPr id="37" name="Text Box 10"/>
              <p:cNvSpPr txBox="1">
                <a:spLocks noChangeArrowheads="1"/>
              </p:cNvSpPr>
              <p:nvPr/>
            </p:nvSpPr>
            <p:spPr bwMode="auto">
              <a:xfrm>
                <a:off x="1872" y="3120"/>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spcBef>
                    <a:spcPct val="0"/>
                  </a:spcBef>
                  <a:buClrTx/>
                  <a:buSzTx/>
                  <a:buFontTx/>
                  <a:buNone/>
                </a:pPr>
                <a:endParaRPr kumimoji="0" lang="fr-CA" altLang="en-US" sz="2400" b="0">
                  <a:solidFill>
                    <a:schemeClr val="tx1"/>
                  </a:solidFill>
                  <a:latin typeface="Times New Roman" panose="02020603050405020304" charset="0"/>
                </a:endParaRPr>
              </a:p>
            </p:txBody>
          </p:sp>
        </p:grpSp>
        <p:sp>
          <p:nvSpPr>
            <p:cNvPr id="48" name="Rectangle 47"/>
            <p:cNvSpPr/>
            <p:nvPr/>
          </p:nvSpPr>
          <p:spPr>
            <a:xfrm>
              <a:off x="1352" y="2183"/>
              <a:ext cx="5989" cy="4969"/>
            </a:xfrm>
            <a:prstGeom prst="rect">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FR" altLang="en-US"/>
            </a:p>
          </p:txBody>
        </p:sp>
      </p:grpSp>
      <p:sp>
        <p:nvSpPr>
          <p:cNvPr id="52" name="Zone de texte 51"/>
          <p:cNvSpPr txBox="1"/>
          <p:nvPr/>
        </p:nvSpPr>
        <p:spPr>
          <a:xfrm>
            <a:off x="606425" y="1122045"/>
            <a:ext cx="4415790" cy="645160"/>
          </a:xfrm>
          <a:prstGeom prst="rect">
            <a:avLst/>
          </a:prstGeom>
          <a:noFill/>
        </p:spPr>
        <p:txBody>
          <a:bodyPr wrap="square" rtlCol="0">
            <a:spAutoFit/>
          </a:bodyPr>
          <a:p>
            <a:pPr algn="l">
              <a:buClrTx/>
              <a:buSzTx/>
              <a:buFontTx/>
              <a:buNone/>
            </a:pPr>
            <a:r>
              <a:rPr lang="en-US" altLang="en-US" sz="1200">
                <a:latin typeface="Arial" panose="020B0604020202020204" pitchFamily="34" charset="0"/>
                <a:cs typeface="Arial" panose="020B0604020202020204" pitchFamily="34" charset="0"/>
                <a:sym typeface="+mn-ea"/>
              </a:rPr>
              <a:t> </a:t>
            </a:r>
            <a:r>
              <a:rPr lang="en-US" altLang="en-US" sz="2200">
                <a:latin typeface="Arial" panose="020B0604020202020204" pitchFamily="34" charset="0"/>
                <a:cs typeface="Arial" panose="020B0604020202020204" pitchFamily="34" charset="0"/>
                <a:sym typeface="+mn-ea"/>
              </a:rPr>
              <a:t>une variable partag</a:t>
            </a:r>
            <a:r>
              <a:rPr lang="fr-FR" altLang="en-US" sz="2200">
                <a:latin typeface="Arial" panose="020B0604020202020204" pitchFamily="34" charset="0"/>
                <a:cs typeface="Arial" panose="020B0604020202020204" pitchFamily="34" charset="0"/>
                <a:sym typeface="+mn-ea"/>
              </a:rPr>
              <a:t>é</a:t>
            </a:r>
            <a:r>
              <a:rPr lang="en-US" altLang="en-US" sz="2200">
                <a:latin typeface="Arial" panose="020B0604020202020204" pitchFamily="34" charset="0"/>
                <a:cs typeface="Arial" panose="020B0604020202020204" pitchFamily="34" charset="0"/>
                <a:sym typeface="+mn-ea"/>
              </a:rPr>
              <a:t>e</a:t>
            </a:r>
            <a:r>
              <a:rPr lang="en-US" altLang="en-US" sz="1200">
                <a:latin typeface="Arial" panose="020B0604020202020204" pitchFamily="34" charset="0"/>
                <a:cs typeface="Arial" panose="020B0604020202020204" pitchFamily="34" charset="0"/>
                <a:sym typeface="+mn-ea"/>
              </a:rPr>
              <a:t>      </a:t>
            </a:r>
            <a:r>
              <a:rPr lang="en-US" altLang="en-US" sz="3600" b="1">
                <a:latin typeface="Courier New" panose="02070309020205020404" pitchFamily="49" charset="0"/>
                <a:sym typeface="+mn-ea"/>
              </a:rPr>
              <a:t>a=0</a:t>
            </a:r>
            <a:endParaRPr lang="en-US" altLang="en-US">
              <a:latin typeface="Courier New" panose="02070309020205020404" pitchFamily="49" charset="0"/>
              <a:sym typeface="+mn-ea"/>
            </a:endParaRPr>
          </a:p>
        </p:txBody>
      </p:sp>
      <p:grpSp>
        <p:nvGrpSpPr>
          <p:cNvPr id="56" name="Grouper 55"/>
          <p:cNvGrpSpPr/>
          <p:nvPr/>
        </p:nvGrpSpPr>
        <p:grpSpPr>
          <a:xfrm>
            <a:off x="6964680" y="5056505"/>
            <a:ext cx="2952115" cy="1257300"/>
            <a:chOff x="1029" y="8038"/>
            <a:chExt cx="4649" cy="1980"/>
          </a:xfrm>
        </p:grpSpPr>
        <p:sp>
          <p:nvSpPr>
            <p:cNvPr id="53" name="Rectangle à coins arrondi 52"/>
            <p:cNvSpPr/>
            <p:nvPr/>
          </p:nvSpPr>
          <p:spPr>
            <a:xfrm>
              <a:off x="1029" y="8038"/>
              <a:ext cx="4649" cy="1980"/>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FR" altLang="en-US"/>
            </a:p>
          </p:txBody>
        </p:sp>
        <p:sp>
          <p:nvSpPr>
            <p:cNvPr id="54" name="Zone de texte 53"/>
            <p:cNvSpPr txBox="1"/>
            <p:nvPr/>
          </p:nvSpPr>
          <p:spPr>
            <a:xfrm>
              <a:off x="1280" y="8365"/>
              <a:ext cx="1328" cy="1307"/>
            </a:xfrm>
            <a:prstGeom prst="rect">
              <a:avLst/>
            </a:prstGeom>
            <a:noFill/>
          </p:spPr>
          <p:txBody>
            <a:bodyPr wrap="square" rtlCol="0">
              <a:spAutoFit/>
            </a:bodyPr>
            <a:p>
              <a:r>
                <a:rPr lang="en-US" altLang="fr-FR" sz="2400">
                  <a:latin typeface="Arial" panose="020B0604020202020204" pitchFamily="34" charset="0"/>
                  <a:cs typeface="Arial" panose="020B0604020202020204" pitchFamily="34" charset="0"/>
                </a:rPr>
                <a:t>P1</a:t>
              </a:r>
              <a:endParaRPr lang="en-US" altLang="fr-FR" sz="2400">
                <a:latin typeface="Arial" panose="020B0604020202020204" pitchFamily="34" charset="0"/>
                <a:cs typeface="Arial" panose="020B0604020202020204" pitchFamily="34" charset="0"/>
              </a:endParaRPr>
            </a:p>
            <a:p>
              <a:r>
                <a:rPr lang="en-US" altLang="fr-FR" sz="2400">
                  <a:latin typeface="Arial" panose="020B0604020202020204" pitchFamily="34" charset="0"/>
                  <a:cs typeface="Arial" panose="020B0604020202020204" pitchFamily="34" charset="0"/>
                </a:rPr>
                <a:t>a=1</a:t>
              </a:r>
              <a:endParaRPr lang="en-US" altLang="fr-FR" sz="2400">
                <a:latin typeface="Arial" panose="020B0604020202020204" pitchFamily="34" charset="0"/>
                <a:cs typeface="Arial" panose="020B0604020202020204" pitchFamily="34" charset="0"/>
              </a:endParaRPr>
            </a:p>
          </p:txBody>
        </p:sp>
        <p:sp>
          <p:nvSpPr>
            <p:cNvPr id="55" name="Zone de texte 54"/>
            <p:cNvSpPr txBox="1"/>
            <p:nvPr/>
          </p:nvSpPr>
          <p:spPr>
            <a:xfrm>
              <a:off x="3610" y="8365"/>
              <a:ext cx="1328" cy="1307"/>
            </a:xfrm>
            <a:prstGeom prst="rect">
              <a:avLst/>
            </a:prstGeom>
            <a:noFill/>
          </p:spPr>
          <p:txBody>
            <a:bodyPr wrap="square" rtlCol="0">
              <a:spAutoFit/>
            </a:bodyPr>
            <a:p>
              <a:r>
                <a:rPr lang="en-US" altLang="fr-FR" sz="2400">
                  <a:latin typeface="Arial" panose="020B0604020202020204" pitchFamily="34" charset="0"/>
                  <a:cs typeface="Arial" panose="020B0604020202020204" pitchFamily="34" charset="0"/>
                </a:rPr>
                <a:t>P2</a:t>
              </a:r>
              <a:endParaRPr lang="en-US" altLang="fr-FR" sz="2400">
                <a:latin typeface="Arial" panose="020B0604020202020204" pitchFamily="34" charset="0"/>
                <a:cs typeface="Arial" panose="020B0604020202020204" pitchFamily="34" charset="0"/>
              </a:endParaRPr>
            </a:p>
            <a:p>
              <a:r>
                <a:rPr lang="en-US" altLang="fr-FR" sz="2400">
                  <a:latin typeface="Arial" panose="020B0604020202020204" pitchFamily="34" charset="0"/>
                  <a:cs typeface="Arial" panose="020B0604020202020204" pitchFamily="34" charset="0"/>
                </a:rPr>
                <a:t>a=2</a:t>
              </a:r>
              <a:endParaRPr lang="en-US" altLang="fr-FR" sz="2400">
                <a:latin typeface="Arial" panose="020B0604020202020204" pitchFamily="34" charset="0"/>
                <a:cs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strips(downLeft)">
                                      <p:cBhvr>
                                        <p:cTn id="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35" name="组合 17"/>
          <p:cNvGrpSpPr/>
          <p:nvPr/>
        </p:nvGrpSpPr>
        <p:grpSpPr>
          <a:xfrm>
            <a:off x="0" y="292100"/>
            <a:ext cx="8576310" cy="596894"/>
            <a:chOff x="0" y="177800"/>
            <a:chExt cx="8439232"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7568815" cy="521975"/>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rPr>
                <a:t>La synchronisation entre processus </a:t>
              </a:r>
              <a:endParaRPr lang="en-US" altLang="zh-CN" sz="2800" b="1" dirty="0">
                <a:latin typeface="Arial" panose="020B0604020202020204" pitchFamily="34" charset="0"/>
                <a:ea typeface="Arial" panose="020B0604020202020204" pitchFamily="34" charset="0"/>
              </a:endParaRPr>
            </a:p>
          </p:txBody>
        </p:sp>
      </p:grpSp>
      <p:grpSp>
        <p:nvGrpSpPr>
          <p:cNvPr id="57" name="Grouper 56"/>
          <p:cNvGrpSpPr/>
          <p:nvPr/>
        </p:nvGrpSpPr>
        <p:grpSpPr>
          <a:xfrm>
            <a:off x="8259445" y="3303905"/>
            <a:ext cx="2952115" cy="1129665"/>
            <a:chOff x="1029" y="8038"/>
            <a:chExt cx="4649" cy="1980"/>
          </a:xfrm>
        </p:grpSpPr>
        <p:sp>
          <p:nvSpPr>
            <p:cNvPr id="58" name="Rectangle à coins arrondi 57"/>
            <p:cNvSpPr/>
            <p:nvPr/>
          </p:nvSpPr>
          <p:spPr>
            <a:xfrm>
              <a:off x="1029" y="8038"/>
              <a:ext cx="4649" cy="1980"/>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FR" altLang="en-US"/>
            </a:p>
          </p:txBody>
        </p:sp>
        <p:sp>
          <p:nvSpPr>
            <p:cNvPr id="59" name="Zone de texte 58"/>
            <p:cNvSpPr txBox="1"/>
            <p:nvPr/>
          </p:nvSpPr>
          <p:spPr>
            <a:xfrm>
              <a:off x="1280" y="8365"/>
              <a:ext cx="1328" cy="1455"/>
            </a:xfrm>
            <a:prstGeom prst="rect">
              <a:avLst/>
            </a:prstGeom>
            <a:noFill/>
          </p:spPr>
          <p:txBody>
            <a:bodyPr wrap="square" rtlCol="0">
              <a:spAutoFit/>
            </a:bodyPr>
            <a:p>
              <a:r>
                <a:rPr lang="en-US" altLang="fr-FR" sz="2400">
                  <a:latin typeface="Arial" panose="020B0604020202020204" pitchFamily="34" charset="0"/>
                  <a:cs typeface="Arial" panose="020B0604020202020204" pitchFamily="34" charset="0"/>
                </a:rPr>
                <a:t>P1</a:t>
              </a:r>
              <a:endParaRPr lang="en-US" altLang="fr-FR" sz="2400">
                <a:latin typeface="Arial" panose="020B0604020202020204" pitchFamily="34" charset="0"/>
                <a:cs typeface="Arial" panose="020B0604020202020204" pitchFamily="34" charset="0"/>
              </a:endParaRPr>
            </a:p>
            <a:p>
              <a:r>
                <a:rPr lang="en-US" altLang="fr-FR" sz="2400">
                  <a:latin typeface="Arial" panose="020B0604020202020204" pitchFamily="34" charset="0"/>
                  <a:cs typeface="Arial" panose="020B0604020202020204" pitchFamily="34" charset="0"/>
                </a:rPr>
                <a:t>a=1</a:t>
              </a:r>
              <a:endParaRPr lang="en-US" altLang="fr-FR" sz="2400">
                <a:latin typeface="Arial" panose="020B0604020202020204" pitchFamily="34" charset="0"/>
                <a:cs typeface="Arial" panose="020B0604020202020204" pitchFamily="34" charset="0"/>
              </a:endParaRPr>
            </a:p>
          </p:txBody>
        </p:sp>
        <p:sp>
          <p:nvSpPr>
            <p:cNvPr id="60" name="Zone de texte 59"/>
            <p:cNvSpPr txBox="1"/>
            <p:nvPr/>
          </p:nvSpPr>
          <p:spPr>
            <a:xfrm>
              <a:off x="3610" y="8365"/>
              <a:ext cx="1328" cy="1455"/>
            </a:xfrm>
            <a:prstGeom prst="rect">
              <a:avLst/>
            </a:prstGeom>
            <a:noFill/>
          </p:spPr>
          <p:txBody>
            <a:bodyPr wrap="square" rtlCol="0">
              <a:spAutoFit/>
            </a:bodyPr>
            <a:p>
              <a:r>
                <a:rPr lang="en-US" altLang="fr-FR" sz="2400">
                  <a:latin typeface="Arial" panose="020B0604020202020204" pitchFamily="34" charset="0"/>
                  <a:cs typeface="Arial" panose="020B0604020202020204" pitchFamily="34" charset="0"/>
                </a:rPr>
                <a:t>P2</a:t>
              </a:r>
              <a:endParaRPr lang="en-US" altLang="fr-FR" sz="2400">
                <a:latin typeface="Arial" panose="020B0604020202020204" pitchFamily="34" charset="0"/>
                <a:cs typeface="Arial" panose="020B0604020202020204" pitchFamily="34" charset="0"/>
              </a:endParaRPr>
            </a:p>
            <a:p>
              <a:r>
                <a:rPr lang="en-US" altLang="fr-FR" sz="2400">
                  <a:latin typeface="Arial" panose="020B0604020202020204" pitchFamily="34" charset="0"/>
                  <a:cs typeface="Arial" panose="020B0604020202020204" pitchFamily="34" charset="0"/>
                </a:rPr>
                <a:t>a=1</a:t>
              </a:r>
              <a:endParaRPr lang="en-US" altLang="fr-FR" sz="2400">
                <a:latin typeface="Arial" panose="020B0604020202020204" pitchFamily="34" charset="0"/>
                <a:cs typeface="Arial" panose="020B0604020202020204" pitchFamily="34" charset="0"/>
              </a:endParaRPr>
            </a:p>
          </p:txBody>
        </p:sp>
      </p:grpSp>
      <p:grpSp>
        <p:nvGrpSpPr>
          <p:cNvPr id="6" name="Grouper 5"/>
          <p:cNvGrpSpPr/>
          <p:nvPr/>
        </p:nvGrpSpPr>
        <p:grpSpPr>
          <a:xfrm>
            <a:off x="606425" y="1122045"/>
            <a:ext cx="6327140" cy="5074920"/>
            <a:chOff x="955" y="1767"/>
            <a:chExt cx="9964" cy="7992"/>
          </a:xfrm>
        </p:grpSpPr>
        <p:sp>
          <p:nvSpPr>
            <p:cNvPr id="16" name="矩形 15"/>
            <p:cNvSpPr/>
            <p:nvPr/>
          </p:nvSpPr>
          <p:spPr>
            <a:xfrm>
              <a:off x="1968" y="3613"/>
              <a:ext cx="7303" cy="406"/>
            </a:xfrm>
            <a:prstGeom prst="rect">
              <a:avLst/>
            </a:prstGeom>
            <a:noFill/>
          </p:spPr>
          <p:txBody>
            <a:bodyPr wrap="square" lIns="0" tIns="0" rIns="0" bIns="0" rtlCol="0" anchor="t" anchorCtr="0">
              <a:spAutoFit/>
            </a:bodyPr>
            <a:lstStyle/>
            <a:p>
              <a:pPr marL="0" marR="0" lvl="0" indent="0" algn="l" defTabSz="1216660" rtl="0" eaLnBrk="1" fontAlgn="auto" latinLnBrk="0" hangingPunct="1">
                <a:lnSpc>
                  <a:spcPct val="120000"/>
                </a:lnSpc>
                <a:spcBef>
                  <a:spcPct val="20000"/>
                </a:spcBef>
                <a:spcAft>
                  <a:spcPts val="0"/>
                </a:spcAft>
                <a:buClrTx/>
                <a:buSzTx/>
                <a:buFontTx/>
                <a:buNone/>
                <a:defRPr/>
              </a:pPr>
              <a:endParaRPr kumimoji="0" lang="zh-CN" altLang="en-US" sz="1400" b="0" i="0" u="none" strike="noStrike" kern="1200" cap="none" spc="0" normalizeH="0" baseline="0" noProof="0" dirty="0" smtClean="0">
                <a:ln>
                  <a:noFill/>
                </a:ln>
                <a:solidFill>
                  <a:schemeClr val="tx1">
                    <a:lumMod val="85000"/>
                    <a:lumOff val="15000"/>
                  </a:schemeClr>
                </a:solidFill>
                <a:effectLst/>
                <a:uLnTx/>
                <a:uFillTx/>
                <a:latin typeface="Arial" panose="020B0604020202020204" pitchFamily="34" charset="0"/>
                <a:ea typeface="Arial" panose="020B0604020202020204" pitchFamily="34" charset="0"/>
                <a:cs typeface="+mn-cs"/>
                <a:sym typeface="Arial" panose="020B0604020202020204" pitchFamily="34" charset="0"/>
              </a:endParaRPr>
            </a:p>
          </p:txBody>
        </p:sp>
        <p:grpSp>
          <p:nvGrpSpPr>
            <p:cNvPr id="50" name="Grouper 49"/>
            <p:cNvGrpSpPr/>
            <p:nvPr/>
          </p:nvGrpSpPr>
          <p:grpSpPr>
            <a:xfrm>
              <a:off x="955" y="2783"/>
              <a:ext cx="9965" cy="6976"/>
              <a:chOff x="8839" y="1123"/>
              <a:chExt cx="9965" cy="6976"/>
            </a:xfrm>
          </p:grpSpPr>
          <p:grpSp>
            <p:nvGrpSpPr>
              <p:cNvPr id="38" name="Grouper 37"/>
              <p:cNvGrpSpPr/>
              <p:nvPr/>
            </p:nvGrpSpPr>
            <p:grpSpPr>
              <a:xfrm>
                <a:off x="10741" y="1213"/>
                <a:ext cx="7415" cy="6257"/>
                <a:chOff x="3800" y="1185"/>
                <a:chExt cx="7268" cy="8055"/>
              </a:xfrm>
            </p:grpSpPr>
            <p:grpSp>
              <p:nvGrpSpPr>
                <p:cNvPr id="39" name="Group 12"/>
                <p:cNvGrpSpPr/>
                <p:nvPr/>
              </p:nvGrpSpPr>
              <p:grpSpPr bwMode="auto">
                <a:xfrm>
                  <a:off x="3800" y="1185"/>
                  <a:ext cx="7268" cy="8055"/>
                  <a:chOff x="1520" y="658"/>
                  <a:chExt cx="2907" cy="3222"/>
                </a:xfrm>
              </p:grpSpPr>
              <p:sp>
                <p:nvSpPr>
                  <p:cNvPr id="40" name="Text Box 3"/>
                  <p:cNvSpPr txBox="1">
                    <a:spLocks noChangeArrowheads="1"/>
                  </p:cNvSpPr>
                  <p:nvPr/>
                </p:nvSpPr>
                <p:spPr bwMode="auto">
                  <a:xfrm>
                    <a:off x="1520" y="889"/>
                    <a:ext cx="635" cy="2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spcBef>
                        <a:spcPct val="0"/>
                      </a:spcBef>
                      <a:buClrTx/>
                      <a:buSzTx/>
                      <a:buFontTx/>
                      <a:buNone/>
                    </a:pPr>
                    <a:r>
                      <a:rPr kumimoji="0" lang="en-US" altLang="en-US" sz="3600">
                        <a:solidFill>
                          <a:schemeClr val="tx1"/>
                        </a:solidFill>
                        <a:latin typeface="Courier New" panose="02070309020205020404" pitchFamily="49" charset="0"/>
                        <a:sym typeface="+mn-ea"/>
                      </a:rPr>
                      <a:t>...</a:t>
                    </a:r>
                    <a:endParaRPr kumimoji="0" lang="en-US" altLang="en-US" sz="36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rPr>
                      <a:t>b=a</a:t>
                    </a:r>
                    <a:endParaRPr kumimoji="0" lang="en-US" altLang="en-US" sz="3600">
                      <a:solidFill>
                        <a:schemeClr val="tx1"/>
                      </a:solidFill>
                      <a:latin typeface="Courier New" panose="02070309020205020404" pitchFamily="49" charset="0"/>
                    </a:endParaRPr>
                  </a:p>
                  <a:p>
                    <a:pPr>
                      <a:spcBef>
                        <a:spcPct val="0"/>
                      </a:spcBef>
                      <a:buClrTx/>
                      <a:buSzTx/>
                      <a:buFontTx/>
                      <a:buNone/>
                    </a:pPr>
                    <a:endParaRPr kumimoji="0" lang="en-US" altLang="en-US" sz="3600">
                      <a:solidFill>
                        <a:schemeClr val="tx1"/>
                      </a:solidFill>
                      <a:latin typeface="Courier New" panose="02070309020205020404" pitchFamily="49" charset="0"/>
                    </a:endParaRPr>
                  </a:p>
                  <a:p>
                    <a:pPr>
                      <a:spcBef>
                        <a:spcPct val="0"/>
                      </a:spcBef>
                      <a:buClrTx/>
                      <a:buSzTx/>
                      <a:buFontTx/>
                      <a:buNone/>
                    </a:pPr>
                    <a:endParaRPr kumimoji="0" lang="en-US" altLang="en-US" sz="36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rPr>
                      <a:t>b++</a:t>
                    </a:r>
                    <a:endParaRPr kumimoji="0" lang="en-US" altLang="en-US" sz="36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rPr>
                      <a:t>a=b</a:t>
                    </a:r>
                    <a:endParaRPr kumimoji="0" lang="en-US" altLang="en-US" sz="36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sym typeface="+mn-ea"/>
                      </a:rPr>
                      <a:t>...</a:t>
                    </a:r>
                    <a:endParaRPr kumimoji="0" lang="en-US" altLang="en-US" sz="3600">
                      <a:solidFill>
                        <a:schemeClr val="tx1"/>
                      </a:solidFill>
                      <a:latin typeface="Courier New" panose="02070309020205020404" pitchFamily="49" charset="0"/>
                    </a:endParaRPr>
                  </a:p>
                  <a:p>
                    <a:pPr>
                      <a:spcBef>
                        <a:spcPct val="0"/>
                      </a:spcBef>
                      <a:buClrTx/>
                      <a:buSzTx/>
                      <a:buFontTx/>
                      <a:buNone/>
                    </a:pPr>
                    <a:endParaRPr kumimoji="0" lang="fr-CA" altLang="en-US" sz="2400" b="0">
                      <a:solidFill>
                        <a:schemeClr val="tx1"/>
                      </a:solidFill>
                      <a:latin typeface="Times New Roman" panose="02020603050405020304" charset="0"/>
                    </a:endParaRPr>
                  </a:p>
                </p:txBody>
              </p:sp>
              <p:sp>
                <p:nvSpPr>
                  <p:cNvPr id="41" name="Text Box 4"/>
                  <p:cNvSpPr txBox="1">
                    <a:spLocks noChangeArrowheads="1"/>
                  </p:cNvSpPr>
                  <p:nvPr/>
                </p:nvSpPr>
                <p:spPr bwMode="auto">
                  <a:xfrm>
                    <a:off x="3792" y="1261"/>
                    <a:ext cx="635" cy="2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spcBef>
                        <a:spcPct val="0"/>
                      </a:spcBef>
                      <a:buClrTx/>
                      <a:buSzTx/>
                      <a:buFontTx/>
                      <a:buNone/>
                    </a:pPr>
                    <a:r>
                      <a:rPr kumimoji="0" lang="en-US" altLang="en-US" sz="3600">
                        <a:solidFill>
                          <a:schemeClr val="tx1"/>
                        </a:solidFill>
                        <a:latin typeface="Courier New" panose="02070309020205020404" pitchFamily="49" charset="0"/>
                        <a:sym typeface="+mn-ea"/>
                      </a:rPr>
                      <a:t>...</a:t>
                    </a:r>
                    <a:endParaRPr kumimoji="0" lang="en-US" altLang="en-US" sz="36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rPr>
                      <a:t>c=a</a:t>
                    </a:r>
                    <a:endParaRPr kumimoji="0" lang="en-US" altLang="en-US" sz="24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rPr>
                      <a:t>c++</a:t>
                    </a:r>
                    <a:endParaRPr kumimoji="0" lang="en-US" altLang="en-US" sz="36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rPr>
                      <a:t>a=c</a:t>
                    </a:r>
                    <a:endParaRPr kumimoji="0" lang="en-US" altLang="en-US" sz="3600">
                      <a:solidFill>
                        <a:schemeClr val="tx1"/>
                      </a:solidFill>
                      <a:latin typeface="Courier New" panose="02070309020205020404" pitchFamily="49" charset="0"/>
                    </a:endParaRPr>
                  </a:p>
                  <a:p>
                    <a:pPr>
                      <a:spcBef>
                        <a:spcPct val="0"/>
                      </a:spcBef>
                      <a:buClrTx/>
                      <a:buSzTx/>
                      <a:buFontTx/>
                      <a:buNone/>
                    </a:pPr>
                    <a:r>
                      <a:rPr kumimoji="0" lang="en-US" altLang="en-US" sz="3600">
                        <a:solidFill>
                          <a:schemeClr val="tx1"/>
                        </a:solidFill>
                        <a:latin typeface="Courier New" panose="02070309020205020404" pitchFamily="49" charset="0"/>
                        <a:sym typeface="+mn-ea"/>
                      </a:rPr>
                      <a:t>...</a:t>
                    </a:r>
                    <a:endParaRPr kumimoji="0" lang="en-US" altLang="en-US" sz="3600">
                      <a:solidFill>
                        <a:schemeClr val="tx1"/>
                      </a:solidFill>
                      <a:latin typeface="Courier New" panose="02070309020205020404" pitchFamily="49" charset="0"/>
                    </a:endParaRPr>
                  </a:p>
                  <a:p>
                    <a:pPr>
                      <a:spcBef>
                        <a:spcPct val="0"/>
                      </a:spcBef>
                      <a:buClrTx/>
                      <a:buSzTx/>
                      <a:buFontTx/>
                      <a:buNone/>
                    </a:pPr>
                    <a:endParaRPr kumimoji="0" lang="fr-CA" altLang="en-US" sz="2400" b="0">
                      <a:solidFill>
                        <a:schemeClr val="tx1"/>
                      </a:solidFill>
                      <a:latin typeface="Times New Roman" panose="02020603050405020304" charset="0"/>
                    </a:endParaRPr>
                  </a:p>
                </p:txBody>
              </p:sp>
              <p:sp>
                <p:nvSpPr>
                  <p:cNvPr id="42" name="Text Box 5"/>
                  <p:cNvSpPr txBox="1">
                    <a:spLocks noChangeArrowheads="1"/>
                  </p:cNvSpPr>
                  <p:nvPr/>
                </p:nvSpPr>
                <p:spPr bwMode="auto">
                  <a:xfrm>
                    <a:off x="1630" y="658"/>
                    <a:ext cx="319"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lgn="l">
                      <a:buClrTx/>
                      <a:buSzTx/>
                      <a:buFontTx/>
                      <a:buNone/>
                    </a:pPr>
                    <a:r>
                      <a:rPr kumimoji="0" lang="fr-CA" altLang="en-US" sz="2400" b="0">
                        <a:solidFill>
                          <a:srgbClr val="C00000"/>
                        </a:solidFill>
                        <a:latin typeface="Times New Roman" panose="02020603050405020304" charset="0"/>
                      </a:rPr>
                      <a:t>P1</a:t>
                    </a:r>
                    <a:endParaRPr kumimoji="0" lang="fr-CA" altLang="en-US" sz="2400" b="0">
                      <a:solidFill>
                        <a:srgbClr val="C00000"/>
                      </a:solidFill>
                      <a:latin typeface="Times New Roman" panose="02020603050405020304" charset="0"/>
                    </a:endParaRPr>
                  </a:p>
                </p:txBody>
              </p:sp>
              <p:sp>
                <p:nvSpPr>
                  <p:cNvPr id="43" name="Text Box 6"/>
                  <p:cNvSpPr txBox="1">
                    <a:spLocks noChangeArrowheads="1"/>
                  </p:cNvSpPr>
                  <p:nvPr/>
                </p:nvSpPr>
                <p:spPr bwMode="auto">
                  <a:xfrm>
                    <a:off x="3936" y="1017"/>
                    <a:ext cx="319"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lgn="l">
                      <a:spcBef>
                        <a:spcPct val="20000"/>
                      </a:spcBef>
                      <a:buClrTx/>
                      <a:buSzTx/>
                      <a:buFontTx/>
                      <a:buNone/>
                    </a:pPr>
                    <a:r>
                      <a:rPr kumimoji="0" lang="fr-CA" altLang="en-US" sz="2400" b="0">
                        <a:solidFill>
                          <a:srgbClr val="C00000"/>
                        </a:solidFill>
                        <a:latin typeface="Times New Roman" panose="02020603050405020304" charset="0"/>
                      </a:rPr>
                      <a:t>P2</a:t>
                    </a:r>
                    <a:endParaRPr kumimoji="0" lang="fr-CA" altLang="en-US" sz="2400" b="0">
                      <a:solidFill>
                        <a:srgbClr val="C00000"/>
                      </a:solidFill>
                      <a:latin typeface="Times New Roman" panose="02020603050405020304" charset="0"/>
                    </a:endParaRPr>
                  </a:p>
                </p:txBody>
              </p:sp>
              <p:sp>
                <p:nvSpPr>
                  <p:cNvPr id="44" name="Line 7"/>
                  <p:cNvSpPr>
                    <a:spLocks noChangeShapeType="1"/>
                  </p:cNvSpPr>
                  <p:nvPr/>
                </p:nvSpPr>
                <p:spPr bwMode="auto">
                  <a:xfrm>
                    <a:off x="2234" y="1609"/>
                    <a:ext cx="1510" cy="74"/>
                  </a:xfrm>
                  <a:prstGeom prst="line">
                    <a:avLst/>
                  </a:prstGeom>
                  <a:noFill/>
                  <a:ln w="28575" cap="sq">
                    <a:solidFill>
                      <a:srgbClr val="FF33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5" name="Line 8"/>
                  <p:cNvSpPr>
                    <a:spLocks noChangeShapeType="1"/>
                  </p:cNvSpPr>
                  <p:nvPr/>
                </p:nvSpPr>
                <p:spPr bwMode="auto">
                  <a:xfrm flipH="1">
                    <a:off x="2234" y="2774"/>
                    <a:ext cx="1630" cy="238"/>
                  </a:xfrm>
                  <a:prstGeom prst="line">
                    <a:avLst/>
                  </a:prstGeom>
                  <a:noFill/>
                  <a:ln w="28575" cap="sq">
                    <a:solidFill>
                      <a:srgbClr val="FF33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6" name="Text Box 10"/>
                  <p:cNvSpPr txBox="1">
                    <a:spLocks noChangeArrowheads="1"/>
                  </p:cNvSpPr>
                  <p:nvPr/>
                </p:nvSpPr>
                <p:spPr bwMode="auto">
                  <a:xfrm>
                    <a:off x="1872" y="3120"/>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spcBef>
                        <a:spcPct val="0"/>
                      </a:spcBef>
                      <a:buClrTx/>
                      <a:buSzTx/>
                      <a:buFontTx/>
                      <a:buNone/>
                    </a:pPr>
                    <a:endParaRPr kumimoji="0" lang="fr-CA" altLang="en-US" sz="2400" b="0">
                      <a:solidFill>
                        <a:schemeClr val="tx1"/>
                      </a:solidFill>
                      <a:latin typeface="Times New Roman" panose="02020603050405020304" charset="0"/>
                    </a:endParaRPr>
                  </a:p>
                </p:txBody>
              </p:sp>
            </p:grpSp>
            <p:sp>
              <p:nvSpPr>
                <p:cNvPr id="7175" name="Text Box 13"/>
                <p:cNvSpPr txBox="1">
                  <a:spLocks noChangeArrowheads="1"/>
                </p:cNvSpPr>
                <p:nvPr/>
              </p:nvSpPr>
              <p:spPr bwMode="auto">
                <a:xfrm>
                  <a:off x="5923" y="2273"/>
                  <a:ext cx="2265" cy="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spcBef>
                      <a:spcPct val="0"/>
                    </a:spcBef>
                    <a:buClrTx/>
                    <a:buSzTx/>
                    <a:buFontTx/>
                    <a:buNone/>
                  </a:pPr>
                  <a:r>
                    <a:rPr kumimoji="0" lang="fr-CA" altLang="en-US" sz="2400" b="0">
                      <a:solidFill>
                        <a:srgbClr val="FF3300"/>
                      </a:solidFill>
                      <a:latin typeface="Arial Narrow" panose="020B0606020202030204" pitchFamily="34" charset="0"/>
                    </a:rPr>
                    <a:t>interruption</a:t>
                  </a:r>
                  <a:endParaRPr kumimoji="0" lang="fr-CA" altLang="en-US" sz="2400" b="0">
                    <a:solidFill>
                      <a:srgbClr val="FF3300"/>
                    </a:solidFill>
                    <a:latin typeface="Arial Narrow" panose="020B0606020202030204" pitchFamily="34" charset="0"/>
                  </a:endParaRPr>
                </a:p>
              </p:txBody>
            </p:sp>
          </p:grpSp>
          <p:sp>
            <p:nvSpPr>
              <p:cNvPr id="47" name="Rectangle 46"/>
              <p:cNvSpPr/>
              <p:nvPr/>
            </p:nvSpPr>
            <p:spPr>
              <a:xfrm>
                <a:off x="8839" y="1123"/>
                <a:ext cx="9965" cy="6976"/>
              </a:xfrm>
              <a:prstGeom prst="rect">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FR" altLang="en-US"/>
              </a:p>
            </p:txBody>
          </p:sp>
        </p:grpSp>
        <p:sp>
          <p:nvSpPr>
            <p:cNvPr id="52" name="Zone de texte 51"/>
            <p:cNvSpPr txBox="1"/>
            <p:nvPr/>
          </p:nvSpPr>
          <p:spPr>
            <a:xfrm>
              <a:off x="955" y="1767"/>
              <a:ext cx="6954" cy="1016"/>
            </a:xfrm>
            <a:prstGeom prst="rect">
              <a:avLst/>
            </a:prstGeom>
            <a:noFill/>
          </p:spPr>
          <p:txBody>
            <a:bodyPr wrap="square" rtlCol="0">
              <a:spAutoFit/>
            </a:bodyPr>
            <a:p>
              <a:pPr algn="l">
                <a:buClrTx/>
                <a:buSzTx/>
                <a:buFontTx/>
                <a:buNone/>
              </a:pPr>
              <a:r>
                <a:rPr lang="en-US" altLang="en-US" sz="1200">
                  <a:latin typeface="Arial" panose="020B0604020202020204" pitchFamily="34" charset="0"/>
                  <a:cs typeface="Arial" panose="020B0604020202020204" pitchFamily="34" charset="0"/>
                  <a:sym typeface="+mn-ea"/>
                </a:rPr>
                <a:t> </a:t>
              </a:r>
              <a:r>
                <a:rPr lang="en-US" altLang="en-US" sz="2200">
                  <a:latin typeface="Arial" panose="020B0604020202020204" pitchFamily="34" charset="0"/>
                  <a:cs typeface="Arial" panose="020B0604020202020204" pitchFamily="34" charset="0"/>
                  <a:sym typeface="+mn-ea"/>
                </a:rPr>
                <a:t>une variable partag</a:t>
              </a:r>
              <a:r>
                <a:rPr lang="fr-FR" altLang="en-US" sz="2200">
                  <a:latin typeface="Arial" panose="020B0604020202020204" pitchFamily="34" charset="0"/>
                  <a:cs typeface="Arial" panose="020B0604020202020204" pitchFamily="34" charset="0"/>
                  <a:sym typeface="+mn-ea"/>
                </a:rPr>
                <a:t>é</a:t>
              </a:r>
              <a:r>
                <a:rPr lang="en-US" altLang="en-US" sz="2200">
                  <a:latin typeface="Arial" panose="020B0604020202020204" pitchFamily="34" charset="0"/>
                  <a:cs typeface="Arial" panose="020B0604020202020204" pitchFamily="34" charset="0"/>
                  <a:sym typeface="+mn-ea"/>
                </a:rPr>
                <a:t>e</a:t>
              </a:r>
              <a:r>
                <a:rPr lang="en-US" altLang="en-US" sz="1200">
                  <a:latin typeface="Arial" panose="020B0604020202020204" pitchFamily="34" charset="0"/>
                  <a:cs typeface="Arial" panose="020B0604020202020204" pitchFamily="34" charset="0"/>
                  <a:sym typeface="+mn-ea"/>
                </a:rPr>
                <a:t>      </a:t>
              </a:r>
              <a:r>
                <a:rPr lang="en-US" altLang="en-US" sz="3600" b="1">
                  <a:latin typeface="Courier New" panose="02070309020205020404" pitchFamily="49" charset="0"/>
                  <a:sym typeface="+mn-ea"/>
                </a:rPr>
                <a:t>a=0</a:t>
              </a:r>
              <a:endParaRPr lang="en-US" altLang="en-US">
                <a:latin typeface="Courier New" panose="02070309020205020404" pitchFamily="49" charset="0"/>
                <a:sym typeface="+mn-ea"/>
              </a:endParaRPr>
            </a:p>
          </p:txBody>
        </p:sp>
        <p:sp>
          <p:nvSpPr>
            <p:cNvPr id="2" name="Parenthèse ouvrante 1"/>
            <p:cNvSpPr/>
            <p:nvPr/>
          </p:nvSpPr>
          <p:spPr>
            <a:xfrm>
              <a:off x="8558" y="4443"/>
              <a:ext cx="704" cy="3001"/>
            </a:xfrm>
            <a:prstGeom prst="leftBracket">
              <a:avLst/>
            </a:prstGeom>
            <a:ln>
              <a:solidFill>
                <a:srgbClr val="9E1818"/>
              </a:solidFill>
            </a:ln>
          </p:spPr>
          <p:style>
            <a:lnRef idx="2">
              <a:schemeClr val="accent1"/>
            </a:lnRef>
            <a:fillRef idx="0">
              <a:srgbClr val="FFFFFF"/>
            </a:fillRef>
            <a:effectRef idx="0">
              <a:srgbClr val="FFFFFF"/>
            </a:effectRef>
            <a:fontRef idx="minor">
              <a:schemeClr val="tx1"/>
            </a:fontRef>
          </p:style>
          <p:txBody>
            <a:bodyPr rtlCol="0" anchor="ctr"/>
            <a:p>
              <a:pPr algn="ctr"/>
              <a:endParaRPr lang="fr-FR" altLang="en-US"/>
            </a:p>
          </p:txBody>
        </p:sp>
        <p:sp>
          <p:nvSpPr>
            <p:cNvPr id="3" name="Zone de texte 2"/>
            <p:cNvSpPr txBox="1"/>
            <p:nvPr/>
          </p:nvSpPr>
          <p:spPr>
            <a:xfrm>
              <a:off x="1006" y="3791"/>
              <a:ext cx="1204" cy="580"/>
            </a:xfrm>
            <a:prstGeom prst="rect">
              <a:avLst/>
            </a:prstGeom>
            <a:noFill/>
          </p:spPr>
          <p:txBody>
            <a:bodyPr wrap="square" rtlCol="0">
              <a:spAutoFit/>
            </a:bodyPr>
            <a:p>
              <a:r>
                <a:rPr lang="en-US" altLang="fr-FR"/>
                <a:t>10 ms</a:t>
              </a:r>
              <a:endParaRPr lang="en-US" altLang="fr-FR"/>
            </a:p>
          </p:txBody>
        </p:sp>
        <p:sp>
          <p:nvSpPr>
            <p:cNvPr id="4" name="Parenthèse ouvrante 3"/>
            <p:cNvSpPr/>
            <p:nvPr/>
          </p:nvSpPr>
          <p:spPr>
            <a:xfrm>
              <a:off x="2460" y="3689"/>
              <a:ext cx="704" cy="1508"/>
            </a:xfrm>
            <a:prstGeom prst="leftBracket">
              <a:avLst/>
            </a:prstGeom>
            <a:ln>
              <a:solidFill>
                <a:srgbClr val="9E1818"/>
              </a:solidFill>
            </a:ln>
          </p:spPr>
          <p:style>
            <a:lnRef idx="2">
              <a:schemeClr val="accent1"/>
            </a:lnRef>
            <a:fillRef idx="0">
              <a:srgbClr val="FFFFFF"/>
            </a:fillRef>
            <a:effectRef idx="0">
              <a:srgbClr val="FFFFFF"/>
            </a:effectRef>
            <a:fontRef idx="minor">
              <a:schemeClr val="tx1"/>
            </a:fontRef>
          </p:style>
          <p:txBody>
            <a:bodyPr rtlCol="0" anchor="ctr"/>
            <a:p>
              <a:pPr algn="ctr"/>
              <a:endParaRPr lang="fr-FR" altLang="en-US"/>
            </a:p>
          </p:txBody>
        </p:sp>
        <p:sp>
          <p:nvSpPr>
            <p:cNvPr id="5" name="Zone de texte 4"/>
            <p:cNvSpPr txBox="1"/>
            <p:nvPr/>
          </p:nvSpPr>
          <p:spPr>
            <a:xfrm>
              <a:off x="7087" y="5473"/>
              <a:ext cx="1204" cy="580"/>
            </a:xfrm>
            <a:prstGeom prst="rect">
              <a:avLst/>
            </a:prstGeom>
            <a:noFill/>
          </p:spPr>
          <p:txBody>
            <a:bodyPr wrap="square" rtlCol="0">
              <a:spAutoFit/>
            </a:bodyPr>
            <a:p>
              <a:r>
                <a:rPr lang="en-US" altLang="fr-FR"/>
                <a:t>10 ms</a:t>
              </a:r>
              <a:endParaRPr lang="en-US" altLang="fr-F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strips(downLeft)">
                                      <p:cBhvr>
                                        <p:cTn id="12"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nvSpPr>
        <p:spPr>
          <a:xfrm>
            <a:off x="1249363" y="2294255"/>
            <a:ext cx="4637088" cy="257810"/>
          </a:xfrm>
          <a:prstGeom prst="rect">
            <a:avLst/>
          </a:prstGeom>
          <a:noFill/>
        </p:spPr>
        <p:txBody>
          <a:bodyPr wrap="square" lIns="0" tIns="0" rIns="0" bIns="0" rtlCol="0" anchor="t" anchorCtr="0">
            <a:spAutoFit/>
          </a:bodyPr>
          <a:lstStyle/>
          <a:p>
            <a:pPr marL="0" marR="0" lvl="0" indent="0" algn="l" defTabSz="1216660" rtl="0" eaLnBrk="1" fontAlgn="auto" latinLnBrk="0" hangingPunct="1">
              <a:lnSpc>
                <a:spcPct val="120000"/>
              </a:lnSpc>
              <a:spcBef>
                <a:spcPct val="20000"/>
              </a:spcBef>
              <a:spcAft>
                <a:spcPts val="0"/>
              </a:spcAft>
              <a:buClrTx/>
              <a:buSzTx/>
              <a:buFontTx/>
              <a:buNone/>
              <a:defRPr/>
            </a:pPr>
            <a:endParaRPr kumimoji="0" lang="zh-CN" altLang="en-US" sz="1400" b="0" i="0" u="none" strike="noStrike" kern="1200" cap="none" spc="0" normalizeH="0" baseline="0" noProof="0" dirty="0" smtClean="0">
              <a:ln>
                <a:noFill/>
              </a:ln>
              <a:solidFill>
                <a:schemeClr val="tx1">
                  <a:lumMod val="85000"/>
                  <a:lumOff val="15000"/>
                </a:schemeClr>
              </a:solidFill>
              <a:effectLst/>
              <a:uLnTx/>
              <a:uFillTx/>
              <a:latin typeface="Arial" panose="020B0604020202020204" pitchFamily="34" charset="0"/>
              <a:ea typeface="Arial" panose="020B0604020202020204" pitchFamily="34" charset="0"/>
              <a:cs typeface="+mn-cs"/>
              <a:sym typeface="Arial" panose="020B0604020202020204" pitchFamily="34" charset="0"/>
            </a:endParaRPr>
          </a:p>
        </p:txBody>
      </p:sp>
      <p:grpSp>
        <p:nvGrpSpPr>
          <p:cNvPr id="5135" name="组合 17"/>
          <p:cNvGrpSpPr/>
          <p:nvPr/>
        </p:nvGrpSpPr>
        <p:grpSpPr>
          <a:xfrm>
            <a:off x="0" y="292100"/>
            <a:ext cx="8576310" cy="596894"/>
            <a:chOff x="0" y="177800"/>
            <a:chExt cx="8439232"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7568815" cy="521975"/>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rPr>
                <a:t>Situation de concurrence </a:t>
              </a:r>
              <a:endParaRPr lang="en-US" altLang="zh-CN" sz="2800" b="1" dirty="0">
                <a:latin typeface="Arial" panose="020B0604020202020204" pitchFamily="34" charset="0"/>
                <a:ea typeface="Arial" panose="020B0604020202020204" pitchFamily="34" charset="0"/>
              </a:endParaRPr>
            </a:p>
          </p:txBody>
        </p:sp>
      </p:grpSp>
      <p:sp>
        <p:nvSpPr>
          <p:cNvPr id="2" name="Zone de texte 1"/>
          <p:cNvSpPr txBox="1"/>
          <p:nvPr/>
        </p:nvSpPr>
        <p:spPr>
          <a:xfrm>
            <a:off x="956310" y="1641475"/>
            <a:ext cx="10676255" cy="1476375"/>
          </a:xfrm>
          <a:prstGeom prst="rect">
            <a:avLst/>
          </a:prstGeom>
          <a:noFill/>
        </p:spPr>
        <p:txBody>
          <a:bodyPr wrap="square" rtlCol="0">
            <a:spAutoFit/>
          </a:bodyPr>
          <a:p>
            <a:r>
              <a:rPr lang="en-US" altLang="fr-FR" sz="1800" b="1">
                <a:solidFill>
                  <a:srgbClr val="C00000"/>
                </a:solidFill>
                <a:latin typeface="Arial" panose="020B0604020202020204" pitchFamily="34" charset="0"/>
                <a:cs typeface="Arial" panose="020B0604020202020204" pitchFamily="34" charset="0"/>
              </a:rPr>
              <a:t>Situation de concurrence (compétition)</a:t>
            </a:r>
            <a:r>
              <a:rPr lang="en-US" altLang="fr-FR" sz="1800">
                <a:latin typeface="Arial" panose="020B0604020202020204" pitchFamily="34" charset="0"/>
                <a:cs typeface="Arial" panose="020B0604020202020204" pitchFamily="34" charset="0"/>
              </a:rPr>
              <a:t> </a:t>
            </a:r>
            <a:endParaRPr lang="en-US" altLang="fr-FR" sz="1800">
              <a:latin typeface="Arial" panose="020B0604020202020204" pitchFamily="34" charset="0"/>
              <a:cs typeface="Arial" panose="020B0604020202020204" pitchFamily="34" charset="0"/>
            </a:endParaRPr>
          </a:p>
          <a:p>
            <a:endParaRPr lang="en-US" altLang="fr-FR">
              <a:latin typeface="Arial" panose="020B0604020202020204" pitchFamily="34" charset="0"/>
              <a:cs typeface="Arial" panose="020B0604020202020204" pitchFamily="34" charset="0"/>
            </a:endParaRPr>
          </a:p>
          <a:p>
            <a:pPr lvl="1"/>
            <a:r>
              <a:rPr lang="en-US" altLang="fr-FR">
                <a:latin typeface="Arial" panose="020B0604020202020204" pitchFamily="34" charset="0"/>
                <a:cs typeface="Arial" panose="020B0604020202020204" pitchFamily="34" charset="0"/>
              </a:rPr>
              <a:t>Les processus concurrents doivent parfois partager des données (fichiers ou mémoire commune) et des ressources. Par conséquent, le résultat diffère selon l'ordre dans lequel les opérations sont effectuées. </a:t>
            </a:r>
            <a:endParaRPr lang="en-US" altLang="fr-FR">
              <a:latin typeface="Arial" panose="020B0604020202020204" pitchFamily="34" charset="0"/>
              <a:cs typeface="Arial" panose="020B0604020202020204" pitchFamily="34" charset="0"/>
            </a:endParaRPr>
          </a:p>
        </p:txBody>
      </p:sp>
      <p:sp>
        <p:nvSpPr>
          <p:cNvPr id="3" name="Zone de texte 2"/>
          <p:cNvSpPr txBox="1"/>
          <p:nvPr/>
        </p:nvSpPr>
        <p:spPr>
          <a:xfrm>
            <a:off x="908685" y="3630930"/>
            <a:ext cx="10771505" cy="1198880"/>
          </a:xfrm>
          <a:prstGeom prst="rect">
            <a:avLst/>
          </a:prstGeom>
          <a:noFill/>
        </p:spPr>
        <p:txBody>
          <a:bodyPr wrap="square" rtlCol="0">
            <a:spAutoFit/>
          </a:bodyPr>
          <a:p>
            <a:r>
              <a:rPr lang="fr-FR" altLang="en-US" b="1">
                <a:solidFill>
                  <a:srgbClr val="C00000"/>
                </a:solidFill>
                <a:latin typeface="Arial" panose="020B0604020202020204" pitchFamily="34" charset="0"/>
                <a:cs typeface="Arial" panose="020B0604020202020204" pitchFamily="34" charset="0"/>
              </a:rPr>
              <a:t>Une ressource est dite critique</a:t>
            </a:r>
            <a:r>
              <a:rPr lang="fr-FR" altLang="en-US">
                <a:latin typeface="Arial" panose="020B0604020202020204" pitchFamily="34" charset="0"/>
                <a:cs typeface="Arial" panose="020B0604020202020204" pitchFamily="34" charset="0"/>
              </a:rPr>
              <a:t> lorsque des accès concurrents à cette ressource peuvent mener à un état incohérent.</a:t>
            </a:r>
            <a:endParaRPr lang="fr-FR" altLang="en-US">
              <a:latin typeface="Arial" panose="020B0604020202020204" pitchFamily="34" charset="0"/>
              <a:cs typeface="Arial" panose="020B0604020202020204" pitchFamily="34" charset="0"/>
            </a:endParaRPr>
          </a:p>
          <a:p>
            <a:endParaRPr lang="fr-FR" altLang="en-US">
              <a:latin typeface="Arial" panose="020B0604020202020204" pitchFamily="34" charset="0"/>
              <a:cs typeface="Arial" panose="020B0604020202020204" pitchFamily="34" charset="0"/>
            </a:endParaRPr>
          </a:p>
          <a:p>
            <a:r>
              <a:rPr lang="fr-FR" altLang="en-US">
                <a:latin typeface="Arial" panose="020B0604020202020204" pitchFamily="34" charset="0"/>
                <a:cs typeface="Arial" panose="020B0604020202020204" pitchFamily="34" charset="0"/>
              </a:rPr>
              <a:t>La section du programme qui manipule cette ressource est appelée </a:t>
            </a:r>
            <a:r>
              <a:rPr lang="fr-FR" altLang="en-US" b="1">
                <a:solidFill>
                  <a:srgbClr val="C00000"/>
                </a:solidFill>
                <a:latin typeface="Arial" panose="020B0604020202020204" pitchFamily="34" charset="0"/>
                <a:cs typeface="Arial" panose="020B0604020202020204" pitchFamily="34" charset="0"/>
              </a:rPr>
              <a:t>section critique.</a:t>
            </a:r>
            <a:endParaRPr lang="fr-FR" altLang="en-US" b="1">
              <a:solidFill>
                <a:srgbClr val="C00000"/>
              </a:solidFill>
              <a:latin typeface="Arial" panose="020B0604020202020204" pitchFamily="34" charset="0"/>
              <a:cs typeface="Arial" panose="020B0604020202020204" pitchFamily="34" charset="0"/>
            </a:endParaRPr>
          </a:p>
        </p:txBody>
      </p:sp>
      <p:sp>
        <p:nvSpPr>
          <p:cNvPr id="5" name="矩形 4"/>
          <p:cNvSpPr/>
          <p:nvPr/>
        </p:nvSpPr>
        <p:spPr>
          <a:xfrm>
            <a:off x="385445" y="1323975"/>
            <a:ext cx="295275" cy="3820795"/>
          </a:xfrm>
          <a:prstGeom prst="rect">
            <a:avLst/>
          </a:prstGeom>
          <a:solidFill>
            <a:srgbClr val="9E18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charset="-122"/>
              <a:ea typeface="OPPOSans R" panose="00020600040101010101"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145" name="组合 4"/>
          <p:cNvGrpSpPr/>
          <p:nvPr/>
        </p:nvGrpSpPr>
        <p:grpSpPr>
          <a:xfrm>
            <a:off x="0" y="292100"/>
            <a:ext cx="5496559" cy="596900"/>
            <a:chOff x="0" y="177800"/>
            <a:chExt cx="5495589" cy="596900"/>
          </a:xfrm>
        </p:grpSpPr>
        <p:sp>
          <p:nvSpPr>
            <p:cNvPr id="6" name="矩形 5"/>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7" name="矩形 6"/>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6148" name="文本框 7"/>
            <p:cNvSpPr txBox="1"/>
            <p:nvPr/>
          </p:nvSpPr>
          <p:spPr>
            <a:xfrm>
              <a:off x="870431" y="214630"/>
              <a:ext cx="4625158" cy="521970"/>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sym typeface="+mn-ea"/>
                </a:rPr>
                <a:t>Situation de concurrence</a:t>
              </a:r>
              <a:endParaRPr lang="en-US" altLang="zh-CN" sz="2800" b="1" dirty="0">
                <a:latin typeface="Arial" panose="020B0604020202020204" pitchFamily="34" charset="0"/>
                <a:ea typeface="Arial" panose="020B0604020202020204" pitchFamily="34" charset="0"/>
              </a:endParaRPr>
            </a:p>
          </p:txBody>
        </p:sp>
      </p:grpSp>
      <p:grpSp>
        <p:nvGrpSpPr>
          <p:cNvPr id="2" name="Grouper 1"/>
          <p:cNvGrpSpPr/>
          <p:nvPr/>
        </p:nvGrpSpPr>
        <p:grpSpPr>
          <a:xfrm>
            <a:off x="5605453" y="2479040"/>
            <a:ext cx="6305228" cy="2517775"/>
            <a:chOff x="6719" y="3927"/>
            <a:chExt cx="7391" cy="3965"/>
          </a:xfrm>
        </p:grpSpPr>
        <p:sp>
          <p:nvSpPr>
            <p:cNvPr id="6150" name="文本框 9"/>
            <p:cNvSpPr txBox="1"/>
            <p:nvPr/>
          </p:nvSpPr>
          <p:spPr>
            <a:xfrm>
              <a:off x="7295" y="4242"/>
              <a:ext cx="6815" cy="2761"/>
            </a:xfrm>
            <a:prstGeom prst="rect">
              <a:avLst/>
            </a:prstGeom>
            <a:noFill/>
            <a:ln w="9525">
              <a:noFill/>
            </a:ln>
          </p:spPr>
          <p:txBody>
            <a:bodyPr wrap="square" anchor="t" anchorCtr="0">
              <a:spAutoFit/>
            </a:bodyPr>
            <a:p>
              <a:r>
                <a:rPr lang="en-US" altLang="zh-CN" sz="3600" dirty="0">
                  <a:solidFill>
                    <a:srgbClr val="F61833"/>
                  </a:solidFill>
                  <a:latin typeface="Arial" panose="020B0604020202020204" pitchFamily="34" charset="0"/>
                  <a:ea typeface="SimSun" panose="02010600030101010101" pitchFamily="2" charset="-122"/>
                  <a:cs typeface="Arial" panose="020B0604020202020204" pitchFamily="34" charset="0"/>
                </a:rPr>
                <a:t>Quelle </a:t>
              </a:r>
              <a:r>
                <a:rPr lang="en-US" altLang="zh-CN" sz="3600" dirty="0">
                  <a:latin typeface="Arial" panose="020B0604020202020204" pitchFamily="34" charset="0"/>
                  <a:ea typeface="SimSun" panose="02010600030101010101" pitchFamily="2" charset="-122"/>
                  <a:cs typeface="Arial" panose="020B0604020202020204" pitchFamily="34" charset="0"/>
                </a:rPr>
                <a:t>est la solution pour eviter les situations de concurrence</a:t>
              </a:r>
              <a:r>
                <a:rPr lang="zh-CN" altLang="en-US" sz="3600" dirty="0">
                  <a:solidFill>
                    <a:srgbClr val="F61833"/>
                  </a:solidFill>
                  <a:latin typeface="Arial" panose="020B0604020202020204" pitchFamily="34" charset="0"/>
                  <a:ea typeface="SimSun" panose="02010600030101010101" pitchFamily="2" charset="-122"/>
                  <a:cs typeface="Arial" panose="020B0604020202020204" pitchFamily="34" charset="0"/>
                </a:rPr>
                <a:t>?</a:t>
              </a:r>
              <a:endParaRPr lang="zh-CN" altLang="en-US" sz="3600" dirty="0">
                <a:solidFill>
                  <a:srgbClr val="F61833"/>
                </a:solidFill>
                <a:latin typeface="Arial" panose="020B0604020202020204" pitchFamily="34" charset="0"/>
                <a:ea typeface="SimSun" panose="02010600030101010101" pitchFamily="2" charset="-122"/>
                <a:cs typeface="Arial" panose="020B0604020202020204" pitchFamily="34" charset="0"/>
              </a:endParaRPr>
            </a:p>
          </p:txBody>
        </p:sp>
        <p:cxnSp>
          <p:nvCxnSpPr>
            <p:cNvPr id="12" name="直接连接符 11"/>
            <p:cNvCxnSpPr/>
            <p:nvPr/>
          </p:nvCxnSpPr>
          <p:spPr>
            <a:xfrm>
              <a:off x="6719" y="3927"/>
              <a:ext cx="0" cy="3965"/>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8" name="Espace réservé du contenu 7" descr="processor"/>
          <p:cNvPicPr>
            <a:picLocks noChangeAspect="1"/>
          </p:cNvPicPr>
          <p:nvPr>
            <p:ph idx="1"/>
          </p:nvPr>
        </p:nvPicPr>
        <p:blipFill>
          <a:blip r:embed="rId1"/>
          <a:stretch>
            <a:fillRect/>
          </a:stretch>
        </p:blipFill>
        <p:spPr>
          <a:xfrm>
            <a:off x="360045" y="2008505"/>
            <a:ext cx="4575810" cy="345884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nvSpPr>
        <p:spPr>
          <a:xfrm>
            <a:off x="1249363" y="2294255"/>
            <a:ext cx="4637088" cy="257810"/>
          </a:xfrm>
          <a:prstGeom prst="rect">
            <a:avLst/>
          </a:prstGeom>
          <a:noFill/>
        </p:spPr>
        <p:txBody>
          <a:bodyPr wrap="square" lIns="0" tIns="0" rIns="0" bIns="0" rtlCol="0" anchor="t" anchorCtr="0">
            <a:spAutoFit/>
          </a:bodyPr>
          <a:lstStyle/>
          <a:p>
            <a:pPr marL="0" marR="0" lvl="0" indent="0" algn="l" defTabSz="1216660" rtl="0" eaLnBrk="1" fontAlgn="auto" latinLnBrk="0" hangingPunct="1">
              <a:lnSpc>
                <a:spcPct val="120000"/>
              </a:lnSpc>
              <a:spcBef>
                <a:spcPct val="20000"/>
              </a:spcBef>
              <a:spcAft>
                <a:spcPts val="0"/>
              </a:spcAft>
              <a:buClrTx/>
              <a:buSzTx/>
              <a:buFontTx/>
              <a:buNone/>
              <a:defRPr/>
            </a:pPr>
            <a:endParaRPr kumimoji="0" lang="zh-CN" altLang="en-US" sz="1400" b="0" i="0" u="none" strike="noStrike" kern="1200" cap="none" spc="0" normalizeH="0" baseline="0" noProof="0" dirty="0" smtClean="0">
              <a:ln>
                <a:noFill/>
              </a:ln>
              <a:solidFill>
                <a:schemeClr val="tx1">
                  <a:lumMod val="85000"/>
                  <a:lumOff val="15000"/>
                </a:schemeClr>
              </a:solidFill>
              <a:effectLst/>
              <a:uLnTx/>
              <a:uFillTx/>
              <a:latin typeface="Arial" panose="020B0604020202020204" pitchFamily="34" charset="0"/>
              <a:ea typeface="Arial" panose="020B0604020202020204" pitchFamily="34" charset="0"/>
              <a:cs typeface="+mn-cs"/>
              <a:sym typeface="Arial" panose="020B0604020202020204" pitchFamily="34" charset="0"/>
            </a:endParaRPr>
          </a:p>
        </p:txBody>
      </p:sp>
      <p:grpSp>
        <p:nvGrpSpPr>
          <p:cNvPr id="5135" name="组合 17"/>
          <p:cNvGrpSpPr/>
          <p:nvPr/>
        </p:nvGrpSpPr>
        <p:grpSpPr>
          <a:xfrm>
            <a:off x="0" y="292100"/>
            <a:ext cx="8576310" cy="596894"/>
            <a:chOff x="0" y="177800"/>
            <a:chExt cx="8439232"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7568815" cy="521975"/>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rPr>
                <a:t>Situation de concurrence </a:t>
              </a:r>
              <a:endParaRPr lang="en-US" altLang="zh-CN" sz="2800" b="1" dirty="0">
                <a:latin typeface="Arial" panose="020B0604020202020204" pitchFamily="34" charset="0"/>
                <a:ea typeface="Arial" panose="020B0604020202020204" pitchFamily="34" charset="0"/>
              </a:endParaRPr>
            </a:p>
          </p:txBody>
        </p:sp>
      </p:grpSp>
      <p:sp>
        <p:nvSpPr>
          <p:cNvPr id="2" name="Zone de texte 1"/>
          <p:cNvSpPr txBox="1"/>
          <p:nvPr/>
        </p:nvSpPr>
        <p:spPr>
          <a:xfrm>
            <a:off x="956310" y="1323975"/>
            <a:ext cx="4618355" cy="3820160"/>
          </a:xfrm>
          <a:prstGeom prst="rect">
            <a:avLst/>
          </a:prstGeom>
          <a:noFill/>
        </p:spPr>
        <p:txBody>
          <a:bodyPr wrap="square" rtlCol="0">
            <a:noAutofit/>
          </a:bodyPr>
          <a:p>
            <a:r>
              <a:rPr lang="en-US" altLang="fr-FR" sz="1800" b="1">
                <a:solidFill>
                  <a:srgbClr val="C00000"/>
                </a:solidFill>
                <a:latin typeface="Arial" panose="020B0604020202020204" pitchFamily="34" charset="0"/>
                <a:cs typeface="Arial" panose="020B0604020202020204" pitchFamily="34" charset="0"/>
              </a:rPr>
              <a:t>L’exclusion mutuelle</a:t>
            </a:r>
            <a:endParaRPr lang="en-US" altLang="fr-FR" sz="1800" b="1">
              <a:solidFill>
                <a:srgbClr val="C00000"/>
              </a:solidFill>
              <a:latin typeface="Arial" panose="020B0604020202020204" pitchFamily="34" charset="0"/>
              <a:cs typeface="Arial" panose="020B0604020202020204" pitchFamily="34" charset="0"/>
            </a:endParaRPr>
          </a:p>
          <a:p>
            <a:endParaRPr lang="en-US" altLang="fr-FR" sz="1800" b="1">
              <a:solidFill>
                <a:srgbClr val="C00000"/>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fr-FR" sz="1800">
                <a:latin typeface="Arial" panose="020B0604020202020204" pitchFamily="34" charset="0"/>
                <a:cs typeface="Arial" panose="020B0604020202020204" pitchFamily="34" charset="0"/>
              </a:rPr>
              <a:t>Si un processus Pi exécute sa section critique, aucun autre processus ne peut exécuter sa propre section critique. </a:t>
            </a:r>
            <a:endParaRPr lang="en-US" altLang="fr-FR" sz="18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altLang="fr-FR" sz="18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fr-FR" sz="1800">
                <a:latin typeface="Arial" panose="020B0604020202020204" pitchFamily="34" charset="0"/>
                <a:cs typeface="Arial" panose="020B0604020202020204" pitchFamily="34" charset="0"/>
              </a:rPr>
              <a:t>Chaque processus doit donc demander la permission avant d'entrer dans une section critique (SC).</a:t>
            </a:r>
            <a:endParaRPr lang="en-US" altLang="fr-FR" sz="1800">
              <a:latin typeface="Arial" panose="020B0604020202020204" pitchFamily="34" charset="0"/>
              <a:cs typeface="Arial" panose="020B0604020202020204" pitchFamily="34" charset="0"/>
            </a:endParaRPr>
          </a:p>
          <a:p>
            <a:pPr marL="285750" indent="-285750">
              <a:buSzPct val="400000"/>
              <a:buFont typeface="Arial" panose="020B0604020202020204" pitchFamily="34" charset="0"/>
              <a:buChar char="•"/>
            </a:pPr>
            <a:endParaRPr lang="en-US" altLang="fr-FR">
              <a:latin typeface="Arial" panose="020B0604020202020204" pitchFamily="34" charset="0"/>
              <a:cs typeface="Arial" panose="020B0604020202020204" pitchFamily="34" charset="0"/>
            </a:endParaRPr>
          </a:p>
        </p:txBody>
      </p:sp>
      <p:sp>
        <p:nvSpPr>
          <p:cNvPr id="5" name="矩形 4"/>
          <p:cNvSpPr/>
          <p:nvPr/>
        </p:nvSpPr>
        <p:spPr>
          <a:xfrm>
            <a:off x="385445" y="1323975"/>
            <a:ext cx="295275" cy="3820795"/>
          </a:xfrm>
          <a:prstGeom prst="rect">
            <a:avLst/>
          </a:prstGeom>
          <a:solidFill>
            <a:srgbClr val="9E18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charset="-122"/>
              <a:ea typeface="OPPOSans R" panose="00020600040101010101" charset="-122"/>
              <a:cs typeface="+mn-cs"/>
            </a:endParaRPr>
          </a:p>
        </p:txBody>
      </p:sp>
      <p:grpSp>
        <p:nvGrpSpPr>
          <p:cNvPr id="9" name="Grouper 8"/>
          <p:cNvGrpSpPr/>
          <p:nvPr/>
        </p:nvGrpSpPr>
        <p:grpSpPr>
          <a:xfrm>
            <a:off x="6494145" y="2663825"/>
            <a:ext cx="5426075" cy="3796665"/>
            <a:chOff x="10227" y="4195"/>
            <a:chExt cx="8545" cy="5979"/>
          </a:xfrm>
        </p:grpSpPr>
        <p:sp>
          <p:nvSpPr>
            <p:cNvPr id="4" name="Rectangle 4"/>
            <p:cNvSpPr>
              <a:spLocks noChangeArrowheads="1"/>
            </p:cNvSpPr>
            <p:nvPr/>
          </p:nvSpPr>
          <p:spPr bwMode="auto">
            <a:xfrm>
              <a:off x="10764" y="5400"/>
              <a:ext cx="8009" cy="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spcBef>
                  <a:spcPct val="0"/>
                </a:spcBef>
                <a:buClrTx/>
                <a:buSzTx/>
                <a:buFontTx/>
                <a:buNone/>
              </a:pPr>
              <a:r>
                <a:rPr kumimoji="0" lang="en-US" altLang="en-US" sz="2000">
                  <a:solidFill>
                    <a:schemeClr val="tx1"/>
                  </a:solidFill>
                  <a:latin typeface="Courier New" panose="02070309020205020404" pitchFamily="49" charset="0"/>
                </a:rPr>
                <a:t>Processus Pi:</a:t>
              </a:r>
              <a:endParaRPr kumimoji="0" lang="en-US" altLang="en-US" sz="2000">
                <a:solidFill>
                  <a:schemeClr val="tx1"/>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flag[i] = vrai;</a:t>
              </a:r>
              <a:endParaRPr kumimoji="0" lang="en-US" altLang="en-US" sz="2000">
                <a:solidFill>
                  <a:schemeClr val="hlink"/>
                </a:solidFill>
                <a:latin typeface="Courier New" panose="02070309020205020404" pitchFamily="49" charset="0"/>
              </a:endParaRPr>
            </a:p>
            <a:p>
              <a:pPr>
                <a:spcBef>
                  <a:spcPct val="0"/>
                </a:spcBef>
                <a:buClrTx/>
                <a:buSzTx/>
                <a:buFontTx/>
                <a:buNone/>
              </a:pPr>
              <a:r>
                <a:rPr kumimoji="0" lang="en-US" altLang="en-US" sz="1400">
                  <a:solidFill>
                    <a:schemeClr val="hlink"/>
                  </a:solidFill>
                  <a:latin typeface="Courier New" panose="02070309020205020404" pitchFamily="49" charset="0"/>
                </a:rPr>
                <a:t>      </a:t>
              </a:r>
              <a:r>
                <a:rPr kumimoji="0" lang="en-US" altLang="en-US" sz="1000">
                  <a:solidFill>
                    <a:schemeClr val="hlink"/>
                  </a:solidFill>
                  <a:latin typeface="Courier New" panose="02070309020205020404" pitchFamily="49" charset="0"/>
                </a:rPr>
                <a:t>//</a:t>
              </a:r>
              <a:r>
                <a:rPr kumimoji="0" lang="en-US" altLang="en-US" sz="1600">
                  <a:solidFill>
                    <a:schemeClr val="hlink"/>
                  </a:solidFill>
                  <a:latin typeface="Courier New" panose="02070309020205020404" pitchFamily="49" charset="0"/>
                </a:rPr>
                <a:t> </a:t>
              </a:r>
              <a:r>
                <a:rPr kumimoji="0" lang="en-US" altLang="en-US" sz="1400">
                  <a:solidFill>
                    <a:schemeClr val="hlink"/>
                  </a:solidFill>
                  <a:latin typeface="Courier New" panose="02070309020205020404" pitchFamily="49" charset="0"/>
                </a:rPr>
                <a:t>je veux entrer</a:t>
              </a:r>
              <a:endParaRPr kumimoji="0" lang="en-US" altLang="en-US" sz="2000">
                <a:solidFill>
                  <a:schemeClr val="hlink"/>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turn = j; </a:t>
              </a:r>
              <a:endParaRPr kumimoji="0" lang="en-US" altLang="en-US" sz="2000">
                <a:solidFill>
                  <a:schemeClr val="hlink"/>
                </a:solidFill>
                <a:latin typeface="Courier New" panose="02070309020205020404" pitchFamily="49" charset="0"/>
              </a:endParaRPr>
            </a:p>
            <a:p>
              <a:pPr>
                <a:spcBef>
                  <a:spcPct val="0"/>
                </a:spcBef>
                <a:buClrTx/>
                <a:buSzTx/>
                <a:buFontTx/>
                <a:buNone/>
              </a:pPr>
              <a:r>
                <a:rPr kumimoji="0" lang="en-US" altLang="en-US" sz="1400">
                  <a:solidFill>
                    <a:schemeClr val="hlink"/>
                  </a:solidFill>
                  <a:latin typeface="Courier New" panose="02070309020205020404" pitchFamily="49" charset="0"/>
                </a:rPr>
                <a:t>      // je donne une chance à l’autre </a:t>
              </a:r>
              <a:endParaRPr kumimoji="0" lang="en-US" altLang="en-US" sz="2000">
                <a:solidFill>
                  <a:schemeClr val="hlink"/>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a:t>
              </a:r>
              <a:r>
                <a:rPr kumimoji="0" lang="en-US" altLang="en-US" sz="2000">
                  <a:solidFill>
                    <a:srgbClr val="C00000"/>
                  </a:solidFill>
                  <a:latin typeface="Courier New" panose="02070309020205020404" pitchFamily="49" charset="0"/>
                </a:rPr>
                <a:t>while </a:t>
              </a:r>
              <a:endParaRPr kumimoji="0" lang="en-US" altLang="en-US" sz="2000">
                <a:solidFill>
                  <a:srgbClr val="C00000"/>
                </a:solidFill>
                <a:latin typeface="Courier New" panose="02070309020205020404" pitchFamily="49" charset="0"/>
              </a:endParaRPr>
            </a:p>
            <a:p>
              <a:pPr>
                <a:spcBef>
                  <a:spcPct val="0"/>
                </a:spcBef>
                <a:buClrTx/>
                <a:buSzTx/>
                <a:buFontTx/>
                <a:buNone/>
              </a:pPr>
              <a:r>
                <a:rPr kumimoji="0" lang="en-US" altLang="en-US" sz="2000">
                  <a:solidFill>
                    <a:srgbClr val="C00000"/>
                  </a:solidFill>
                  <a:latin typeface="Courier New" panose="02070309020205020404" pitchFamily="49" charset="0"/>
                </a:rPr>
                <a:t>   (flag[j]==vrai &amp;&amp; turn==j){};</a:t>
              </a:r>
              <a:endParaRPr kumimoji="0" lang="en-US" altLang="en-US" sz="2000">
                <a:solidFill>
                  <a:schemeClr val="tx1"/>
                </a:solidFill>
                <a:latin typeface="Courier New" panose="02070309020205020404" pitchFamily="49" charset="0"/>
              </a:endParaRPr>
            </a:p>
            <a:p>
              <a:pPr>
                <a:spcBef>
                  <a:spcPct val="0"/>
                </a:spcBef>
                <a:buClrTx/>
                <a:buSzTx/>
                <a:buFontTx/>
                <a:buNone/>
              </a:pPr>
              <a:r>
                <a:rPr kumimoji="0" lang="en-US" altLang="en-US" sz="2000">
                  <a:solidFill>
                    <a:schemeClr val="tx1"/>
                  </a:solidFill>
                  <a:latin typeface="Courier New" panose="02070309020205020404" pitchFamily="49" charset="0"/>
                </a:rPr>
                <a:t>     SC</a:t>
              </a:r>
              <a:endParaRPr kumimoji="0" lang="en-US" altLang="en-US" sz="2000">
                <a:solidFill>
                  <a:schemeClr val="tx1"/>
                </a:solidFill>
                <a:latin typeface="Courier New" panose="02070309020205020404" pitchFamily="49" charset="0"/>
              </a:endParaRPr>
            </a:p>
            <a:p>
              <a:pPr>
                <a:spcBef>
                  <a:spcPct val="0"/>
                </a:spcBef>
                <a:buClrTx/>
                <a:buSzTx/>
                <a:buFontTx/>
                <a:buNone/>
              </a:pPr>
              <a:r>
                <a:rPr kumimoji="0" lang="en-US" altLang="en-US" sz="2000">
                  <a:solidFill>
                    <a:schemeClr val="tx1"/>
                  </a:solidFill>
                  <a:latin typeface="Courier New" panose="02070309020205020404" pitchFamily="49" charset="0"/>
                </a:rPr>
                <a:t>  </a:t>
              </a:r>
              <a:r>
                <a:rPr kumimoji="0" lang="en-US" altLang="en-US" sz="2000">
                  <a:solidFill>
                    <a:schemeClr val="hlink"/>
                  </a:solidFill>
                  <a:latin typeface="Courier New" panose="02070309020205020404" pitchFamily="49" charset="0"/>
                </a:rPr>
                <a:t>flag[i] = faux;</a:t>
              </a:r>
              <a:endParaRPr kumimoji="0" lang="en-US" altLang="en-US" sz="2000">
                <a:solidFill>
                  <a:schemeClr val="tx1"/>
                </a:solidFill>
                <a:latin typeface="Courier New" panose="02070309020205020404" pitchFamily="49" charset="0"/>
              </a:endParaRPr>
            </a:p>
            <a:p>
              <a:pPr>
                <a:spcBef>
                  <a:spcPct val="0"/>
                </a:spcBef>
                <a:buClrTx/>
                <a:buSzTx/>
                <a:buFontTx/>
                <a:buNone/>
              </a:pPr>
              <a:r>
                <a:rPr kumimoji="0" lang="en-US" altLang="en-US" sz="2000">
                  <a:solidFill>
                    <a:schemeClr val="tx1"/>
                  </a:solidFill>
                  <a:latin typeface="Courier New" panose="02070309020205020404" pitchFamily="49" charset="0"/>
                </a:rPr>
                <a:t>     SR</a:t>
              </a:r>
              <a:endParaRPr kumimoji="0" lang="en-US" altLang="en-US" sz="2000">
                <a:solidFill>
                  <a:schemeClr val="tx1"/>
                </a:solidFill>
                <a:latin typeface="Courier New" panose="02070309020205020404" pitchFamily="49" charset="0"/>
              </a:endParaRPr>
            </a:p>
          </p:txBody>
        </p:sp>
        <p:sp>
          <p:nvSpPr>
            <p:cNvPr id="7" name="Zone de texte 6"/>
            <p:cNvSpPr txBox="1"/>
            <p:nvPr/>
          </p:nvSpPr>
          <p:spPr>
            <a:xfrm>
              <a:off x="10227" y="4195"/>
              <a:ext cx="5227" cy="628"/>
            </a:xfrm>
            <a:prstGeom prst="rect">
              <a:avLst/>
            </a:prstGeom>
            <a:noFill/>
          </p:spPr>
          <p:txBody>
            <a:bodyPr wrap="square" rtlCol="0">
              <a:spAutoFit/>
            </a:bodyPr>
            <a:p>
              <a:r>
                <a:rPr lang="en-US" altLang="fr-FR" sz="2000" b="1">
                  <a:solidFill>
                    <a:srgbClr val="C00000"/>
                  </a:solidFill>
                  <a:latin typeface="Arial" panose="020B0604020202020204" pitchFamily="34" charset="0"/>
                  <a:cs typeface="Arial" panose="020B0604020202020204" pitchFamily="34" charset="0"/>
                </a:rPr>
                <a:t>Algorithme de Peterson</a:t>
              </a:r>
              <a:endParaRPr lang="en-US" altLang="fr-FR" sz="2000" b="1">
                <a:solidFill>
                  <a:srgbClr val="C00000"/>
                </a:solidFill>
                <a:latin typeface="Arial" panose="020B0604020202020204" pitchFamily="34" charset="0"/>
                <a:cs typeface="Arial" panose="020B0604020202020204" pitchFamily="34" charset="0"/>
              </a:endParaRPr>
            </a:p>
          </p:txBody>
        </p:sp>
        <p:sp>
          <p:nvSpPr>
            <p:cNvPr id="8" name="Rectangle 7"/>
            <p:cNvSpPr/>
            <p:nvPr/>
          </p:nvSpPr>
          <p:spPr>
            <a:xfrm>
              <a:off x="10227" y="5048"/>
              <a:ext cx="8519" cy="5126"/>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FR"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sym typeface="+mn-ea"/>
                </a:rPr>
                <a:t>Algorithme de Peterson</a:t>
              </a:r>
              <a:r>
                <a:rPr lang="en-US" altLang="zh-CN" sz="2800" b="1" dirty="0">
                  <a:latin typeface="Arial" panose="020B0604020202020204" pitchFamily="34" charset="0"/>
                  <a:ea typeface="Arial" panose="020B0604020202020204" pitchFamily="34" charset="0"/>
                </a:rPr>
                <a:t> </a:t>
              </a:r>
              <a:endParaRPr lang="en-US" altLang="zh-CN" sz="2800" b="1" dirty="0">
                <a:latin typeface="Arial" panose="020B0604020202020204" pitchFamily="34" charset="0"/>
                <a:ea typeface="Arial" panose="020B0604020202020204" pitchFamily="34" charset="0"/>
              </a:endParaRPr>
            </a:p>
          </p:txBody>
        </p:sp>
      </p:grpSp>
      <p:grpSp>
        <p:nvGrpSpPr>
          <p:cNvPr id="11" name="Grouper 10"/>
          <p:cNvGrpSpPr/>
          <p:nvPr/>
        </p:nvGrpSpPr>
        <p:grpSpPr>
          <a:xfrm>
            <a:off x="884555" y="1412240"/>
            <a:ext cx="10744200" cy="4991683"/>
            <a:chOff x="-1186" y="1320"/>
            <a:chExt cx="16795" cy="7535"/>
          </a:xfrm>
        </p:grpSpPr>
        <p:sp>
          <p:nvSpPr>
            <p:cNvPr id="12" name="Text Box 2050"/>
            <p:cNvSpPr txBox="1">
              <a:spLocks noChangeArrowheads="1"/>
            </p:cNvSpPr>
            <p:nvPr/>
          </p:nvSpPr>
          <p:spPr bwMode="auto">
            <a:xfrm>
              <a:off x="-1186" y="1320"/>
              <a:ext cx="7440" cy="7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spcBef>
                  <a:spcPct val="0"/>
                </a:spcBef>
                <a:buClrTx/>
                <a:buSzTx/>
                <a:buFontTx/>
                <a:buNone/>
              </a:pPr>
              <a:r>
                <a:rPr kumimoji="0" lang="en-US" altLang="en-US" sz="2000">
                  <a:solidFill>
                    <a:schemeClr val="tx1"/>
                  </a:solidFill>
                  <a:latin typeface="Courier New" panose="02070309020205020404" pitchFamily="49" charset="0"/>
                </a:rPr>
                <a:t>Processus P0:</a:t>
              </a:r>
              <a:endParaRPr kumimoji="0" lang="en-US" altLang="en-US" sz="2000">
                <a:solidFill>
                  <a:schemeClr val="tx1"/>
                </a:solidFill>
                <a:latin typeface="Courier New" panose="02070309020205020404" pitchFamily="49" charset="0"/>
              </a:endParaRPr>
            </a:p>
            <a:p>
              <a:pPr>
                <a:spcBef>
                  <a:spcPct val="0"/>
                </a:spcBef>
                <a:buClrTx/>
                <a:buSzTx/>
                <a:buFontTx/>
                <a:buNone/>
              </a:pPr>
              <a:endParaRPr kumimoji="0" lang="en-US" altLang="en-US" sz="2000">
                <a:solidFill>
                  <a:schemeClr val="tx1"/>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flag[0] = vrai;</a:t>
              </a:r>
              <a:endParaRPr kumimoji="0" lang="en-US" altLang="en-US" sz="2000">
                <a:solidFill>
                  <a:schemeClr val="hlink"/>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a:t>
              </a:r>
              <a:r>
                <a:rPr kumimoji="0" lang="en-US" altLang="en-US" sz="1600">
                  <a:solidFill>
                    <a:schemeClr val="hlink"/>
                  </a:solidFill>
                  <a:latin typeface="Courier New" panose="02070309020205020404" pitchFamily="49" charset="0"/>
                </a:rPr>
                <a:t>// P0 veut entrer </a:t>
              </a:r>
              <a:endParaRPr kumimoji="0" lang="en-US" altLang="en-US" sz="1600">
                <a:solidFill>
                  <a:schemeClr val="hlink"/>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turn = 1; </a:t>
              </a:r>
              <a:endParaRPr kumimoji="0" lang="en-US" altLang="en-US" sz="2000">
                <a:solidFill>
                  <a:schemeClr val="hlink"/>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a:t>
              </a:r>
              <a:r>
                <a:rPr kumimoji="0" lang="en-US" altLang="en-US" sz="1600">
                  <a:solidFill>
                    <a:schemeClr val="hlink"/>
                  </a:solidFill>
                  <a:latin typeface="Courier New" panose="02070309020205020404" pitchFamily="49" charset="0"/>
                </a:rPr>
                <a:t>// P0 donne une chance à T1</a:t>
              </a:r>
              <a:endParaRPr kumimoji="0" lang="en-US" altLang="en-US" sz="1800">
                <a:solidFill>
                  <a:schemeClr val="hlink"/>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a:t>
              </a:r>
              <a:r>
                <a:rPr kumimoji="0" lang="en-US" altLang="en-US" sz="2000">
                  <a:solidFill>
                    <a:srgbClr val="C00000"/>
                  </a:solidFill>
                  <a:latin typeface="Courier New" panose="02070309020205020404" pitchFamily="49" charset="0"/>
                </a:rPr>
                <a:t>while</a:t>
              </a:r>
              <a:endParaRPr kumimoji="0" lang="en-US" altLang="en-US" sz="2000">
                <a:solidFill>
                  <a:srgbClr val="C00000"/>
                </a:solidFill>
                <a:latin typeface="Courier New" panose="02070309020205020404" pitchFamily="49" charset="0"/>
              </a:endParaRPr>
            </a:p>
            <a:p>
              <a:pPr>
                <a:spcBef>
                  <a:spcPct val="0"/>
                </a:spcBef>
                <a:buClrTx/>
                <a:buSzTx/>
                <a:buFontTx/>
                <a:buNone/>
              </a:pPr>
              <a:r>
                <a:rPr kumimoji="0" lang="en-US" altLang="en-US" sz="2000">
                  <a:solidFill>
                    <a:srgbClr val="C00000"/>
                  </a:solidFill>
                  <a:latin typeface="Courier New" panose="02070309020205020404" pitchFamily="49" charset="0"/>
                </a:rPr>
                <a:t>   (flag[1]==vrai&amp;&amp;turn=1){};</a:t>
              </a:r>
              <a:endParaRPr kumimoji="0" lang="en-US" altLang="en-US" sz="2000">
                <a:solidFill>
                  <a:schemeClr val="tx1"/>
                </a:solidFill>
                <a:latin typeface="Courier New" panose="02070309020205020404" pitchFamily="49" charset="0"/>
              </a:endParaRPr>
            </a:p>
            <a:p>
              <a:pPr>
                <a:spcBef>
                  <a:spcPct val="0"/>
                </a:spcBef>
                <a:buClrTx/>
                <a:buSzTx/>
                <a:buFontTx/>
                <a:buNone/>
              </a:pPr>
              <a:r>
                <a:rPr kumimoji="0" lang="en-US" altLang="en-US" sz="2000">
                  <a:solidFill>
                    <a:schemeClr val="tx1"/>
                  </a:solidFill>
                  <a:latin typeface="Courier New" panose="02070309020205020404" pitchFamily="49" charset="0"/>
                </a:rPr>
                <a:t>     SC</a:t>
              </a:r>
              <a:endParaRPr kumimoji="0" lang="en-US" altLang="en-US" sz="2000">
                <a:solidFill>
                  <a:schemeClr val="tx1"/>
                </a:solidFill>
                <a:latin typeface="Courier New" panose="02070309020205020404" pitchFamily="49" charset="0"/>
              </a:endParaRPr>
            </a:p>
            <a:p>
              <a:pPr>
                <a:spcBef>
                  <a:spcPct val="0"/>
                </a:spcBef>
                <a:buClrTx/>
                <a:buSzTx/>
                <a:buFontTx/>
                <a:buNone/>
              </a:pPr>
              <a:r>
                <a:rPr kumimoji="0" lang="en-US" altLang="en-US" sz="2000">
                  <a:solidFill>
                    <a:schemeClr val="tx1"/>
                  </a:solidFill>
                  <a:latin typeface="Courier New" panose="02070309020205020404" pitchFamily="49" charset="0"/>
                </a:rPr>
                <a:t>  </a:t>
              </a:r>
              <a:r>
                <a:rPr kumimoji="0" lang="en-US" altLang="en-US" sz="2000">
                  <a:solidFill>
                    <a:schemeClr val="hlink"/>
                  </a:solidFill>
                  <a:latin typeface="Courier New" panose="02070309020205020404" pitchFamily="49" charset="0"/>
                </a:rPr>
                <a:t>flag[0] = faux;</a:t>
              </a:r>
              <a:endParaRPr kumimoji="0" lang="en-US" altLang="en-US" sz="2000">
                <a:solidFill>
                  <a:schemeClr val="hlink"/>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a:t>
              </a:r>
              <a:r>
                <a:rPr kumimoji="0" lang="en-US" altLang="en-US" sz="1600">
                  <a:solidFill>
                    <a:schemeClr val="hlink"/>
                  </a:solidFill>
                  <a:latin typeface="Courier New" panose="02070309020205020404" pitchFamily="49" charset="0"/>
                </a:rPr>
                <a:t>// P0 ne veut plus entrer</a:t>
              </a:r>
              <a:endParaRPr kumimoji="0" lang="en-US" altLang="en-US" sz="2000">
                <a:solidFill>
                  <a:schemeClr val="tx1"/>
                </a:solidFill>
                <a:latin typeface="Courier New" panose="02070309020205020404" pitchFamily="49" charset="0"/>
              </a:endParaRPr>
            </a:p>
            <a:p>
              <a:pPr>
                <a:spcBef>
                  <a:spcPct val="0"/>
                </a:spcBef>
                <a:buClrTx/>
                <a:buSzTx/>
                <a:buFontTx/>
                <a:buNone/>
              </a:pPr>
              <a:r>
                <a:rPr kumimoji="0" lang="en-US" altLang="en-US" sz="2000">
                  <a:solidFill>
                    <a:schemeClr val="tx1"/>
                  </a:solidFill>
                  <a:latin typeface="Courier New" panose="02070309020205020404" pitchFamily="49" charset="0"/>
                </a:rPr>
                <a:t>     SR</a:t>
              </a:r>
              <a:endParaRPr kumimoji="0" lang="en-US" altLang="en-US" sz="2000">
                <a:solidFill>
                  <a:schemeClr val="tx1"/>
                </a:solidFill>
                <a:latin typeface="Courier New" panose="02070309020205020404" pitchFamily="49" charset="0"/>
              </a:endParaRPr>
            </a:p>
            <a:p>
              <a:pPr>
                <a:spcBef>
                  <a:spcPct val="0"/>
                </a:spcBef>
                <a:buClrTx/>
                <a:buSzTx/>
                <a:buFontTx/>
                <a:buNone/>
              </a:pPr>
              <a:endParaRPr kumimoji="0" lang="en-US" altLang="en-US" sz="2000">
                <a:solidFill>
                  <a:schemeClr val="tx1"/>
                </a:solidFill>
                <a:latin typeface="Courier New" panose="02070309020205020404" pitchFamily="49" charset="0"/>
              </a:endParaRPr>
            </a:p>
            <a:p>
              <a:pPr>
                <a:spcBef>
                  <a:spcPct val="50000"/>
                </a:spcBef>
                <a:buClrTx/>
                <a:buSzTx/>
                <a:buFontTx/>
                <a:buNone/>
              </a:pPr>
              <a:endParaRPr kumimoji="0" lang="en-US" altLang="en-US" sz="2400" b="0">
                <a:solidFill>
                  <a:schemeClr val="tx1"/>
                </a:solidFill>
                <a:latin typeface="Times New Roman" panose="02020603050405020304" charset="0"/>
              </a:endParaRPr>
            </a:p>
          </p:txBody>
        </p:sp>
        <p:sp>
          <p:nvSpPr>
            <p:cNvPr id="13" name="Text Box 2051"/>
            <p:cNvSpPr txBox="1">
              <a:spLocks noChangeArrowheads="1"/>
            </p:cNvSpPr>
            <p:nvPr/>
          </p:nvSpPr>
          <p:spPr bwMode="auto">
            <a:xfrm>
              <a:off x="7929" y="1320"/>
              <a:ext cx="7680" cy="7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spcBef>
                  <a:spcPct val="0"/>
                </a:spcBef>
                <a:buClrTx/>
                <a:buSzTx/>
                <a:buFontTx/>
                <a:buNone/>
              </a:pPr>
              <a:r>
                <a:rPr kumimoji="0" lang="en-US" altLang="en-US" sz="2000">
                  <a:solidFill>
                    <a:schemeClr val="tx1"/>
                  </a:solidFill>
                  <a:latin typeface="Courier New" panose="02070309020205020404" pitchFamily="49" charset="0"/>
                </a:rPr>
                <a:t>Processus P1:</a:t>
              </a:r>
              <a:endParaRPr kumimoji="0" lang="en-US" altLang="en-US" sz="2000">
                <a:solidFill>
                  <a:schemeClr val="tx1"/>
                </a:solidFill>
                <a:latin typeface="Courier New" panose="02070309020205020404" pitchFamily="49" charset="0"/>
              </a:endParaRPr>
            </a:p>
            <a:p>
              <a:pPr>
                <a:spcBef>
                  <a:spcPct val="0"/>
                </a:spcBef>
                <a:buClrTx/>
                <a:buSzTx/>
                <a:buFontTx/>
                <a:buNone/>
              </a:pPr>
              <a:endParaRPr kumimoji="0" lang="en-US" altLang="en-US" sz="2000">
                <a:solidFill>
                  <a:schemeClr val="tx1"/>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flag[1] = vrai;</a:t>
              </a:r>
              <a:endParaRPr kumimoji="0" lang="en-US" altLang="en-US" sz="2000">
                <a:solidFill>
                  <a:schemeClr val="hlink"/>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a:t>
              </a:r>
              <a:r>
                <a:rPr kumimoji="0" lang="en-US" altLang="en-US" sz="1600">
                  <a:solidFill>
                    <a:schemeClr val="hlink"/>
                  </a:solidFill>
                  <a:latin typeface="Courier New" panose="02070309020205020404" pitchFamily="49" charset="0"/>
                </a:rPr>
                <a:t>// P1 veut entrer </a:t>
              </a:r>
              <a:endParaRPr kumimoji="0" lang="en-US" altLang="en-US" sz="1600">
                <a:solidFill>
                  <a:schemeClr val="hlink"/>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turn = 0; </a:t>
              </a:r>
              <a:endParaRPr kumimoji="0" lang="en-US" altLang="en-US" sz="2000">
                <a:solidFill>
                  <a:schemeClr val="hlink"/>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a:t>
              </a:r>
              <a:r>
                <a:rPr kumimoji="0" lang="en-US" altLang="en-US" sz="1600">
                  <a:solidFill>
                    <a:schemeClr val="hlink"/>
                  </a:solidFill>
                  <a:latin typeface="Courier New" panose="02070309020205020404" pitchFamily="49" charset="0"/>
                </a:rPr>
                <a:t>// P1 donne une chance à 0</a:t>
              </a:r>
              <a:endParaRPr kumimoji="0" lang="en-US" altLang="en-US" sz="1800">
                <a:solidFill>
                  <a:schemeClr val="hlink"/>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a:t>
              </a:r>
              <a:r>
                <a:rPr kumimoji="0" lang="en-US" altLang="en-US" sz="2000">
                  <a:solidFill>
                    <a:srgbClr val="C00000"/>
                  </a:solidFill>
                  <a:latin typeface="Courier New" panose="02070309020205020404" pitchFamily="49" charset="0"/>
                </a:rPr>
                <a:t>while</a:t>
              </a:r>
              <a:endParaRPr kumimoji="0" lang="en-US" altLang="en-US" sz="2000">
                <a:solidFill>
                  <a:srgbClr val="C00000"/>
                </a:solidFill>
                <a:latin typeface="Courier New" panose="02070309020205020404" pitchFamily="49" charset="0"/>
              </a:endParaRPr>
            </a:p>
            <a:p>
              <a:pPr>
                <a:spcBef>
                  <a:spcPct val="0"/>
                </a:spcBef>
                <a:buClrTx/>
                <a:buSzTx/>
                <a:buFontTx/>
                <a:buNone/>
              </a:pPr>
              <a:r>
                <a:rPr kumimoji="0" lang="en-US" altLang="en-US" sz="2000">
                  <a:solidFill>
                    <a:srgbClr val="C00000"/>
                  </a:solidFill>
                  <a:latin typeface="Courier New" panose="02070309020205020404" pitchFamily="49" charset="0"/>
                </a:rPr>
                <a:t>   (flag[0]==vrai&amp;&amp;turn=0){};</a:t>
              </a:r>
              <a:endParaRPr kumimoji="0" lang="en-US" altLang="en-US" sz="2000">
                <a:solidFill>
                  <a:schemeClr val="tx1"/>
                </a:solidFill>
                <a:latin typeface="Courier New" panose="02070309020205020404" pitchFamily="49" charset="0"/>
              </a:endParaRPr>
            </a:p>
            <a:p>
              <a:pPr>
                <a:spcBef>
                  <a:spcPct val="0"/>
                </a:spcBef>
                <a:buClrTx/>
                <a:buSzTx/>
                <a:buFontTx/>
                <a:buNone/>
              </a:pPr>
              <a:r>
                <a:rPr kumimoji="0" lang="en-US" altLang="en-US" sz="2000">
                  <a:solidFill>
                    <a:schemeClr val="tx1"/>
                  </a:solidFill>
                  <a:latin typeface="Courier New" panose="02070309020205020404" pitchFamily="49" charset="0"/>
                </a:rPr>
                <a:t>     SC</a:t>
              </a:r>
              <a:endParaRPr kumimoji="0" lang="en-US" altLang="en-US" sz="2000">
                <a:solidFill>
                  <a:schemeClr val="tx1"/>
                </a:solidFill>
                <a:latin typeface="Courier New" panose="02070309020205020404" pitchFamily="49" charset="0"/>
              </a:endParaRPr>
            </a:p>
            <a:p>
              <a:pPr>
                <a:spcBef>
                  <a:spcPct val="0"/>
                </a:spcBef>
                <a:buClrTx/>
                <a:buSzTx/>
                <a:buFontTx/>
                <a:buNone/>
              </a:pPr>
              <a:r>
                <a:rPr kumimoji="0" lang="en-US" altLang="en-US" sz="2000">
                  <a:solidFill>
                    <a:schemeClr val="tx1"/>
                  </a:solidFill>
                  <a:latin typeface="Courier New" panose="02070309020205020404" pitchFamily="49" charset="0"/>
                </a:rPr>
                <a:t>  </a:t>
              </a:r>
              <a:r>
                <a:rPr kumimoji="0" lang="en-US" altLang="en-US" sz="2000">
                  <a:solidFill>
                    <a:schemeClr val="hlink"/>
                  </a:solidFill>
                  <a:latin typeface="Courier New" panose="02070309020205020404" pitchFamily="49" charset="0"/>
                </a:rPr>
                <a:t>flag[1] = faux;</a:t>
              </a:r>
              <a:endParaRPr kumimoji="0" lang="en-US" altLang="en-US" sz="2000">
                <a:solidFill>
                  <a:schemeClr val="hlink"/>
                </a:solidFill>
                <a:latin typeface="Courier New" panose="02070309020205020404" pitchFamily="49" charset="0"/>
              </a:endParaRPr>
            </a:p>
            <a:p>
              <a:pPr>
                <a:spcBef>
                  <a:spcPct val="0"/>
                </a:spcBef>
                <a:buClrTx/>
                <a:buSzTx/>
                <a:buFontTx/>
                <a:buNone/>
              </a:pPr>
              <a:r>
                <a:rPr kumimoji="0" lang="en-US" altLang="en-US" sz="2000">
                  <a:solidFill>
                    <a:schemeClr val="hlink"/>
                  </a:solidFill>
                  <a:latin typeface="Courier New" panose="02070309020205020404" pitchFamily="49" charset="0"/>
                </a:rPr>
                <a:t>   </a:t>
              </a:r>
              <a:r>
                <a:rPr kumimoji="0" lang="en-US" altLang="en-US" sz="1600">
                  <a:solidFill>
                    <a:schemeClr val="hlink"/>
                  </a:solidFill>
                  <a:latin typeface="Courier New" panose="02070309020205020404" pitchFamily="49" charset="0"/>
                </a:rPr>
                <a:t>// P1 ne veut plus entrer</a:t>
              </a:r>
              <a:endParaRPr kumimoji="0" lang="en-US" altLang="en-US" sz="2000">
                <a:solidFill>
                  <a:schemeClr val="tx1"/>
                </a:solidFill>
                <a:latin typeface="Courier New" panose="02070309020205020404" pitchFamily="49" charset="0"/>
              </a:endParaRPr>
            </a:p>
            <a:p>
              <a:pPr>
                <a:spcBef>
                  <a:spcPct val="0"/>
                </a:spcBef>
                <a:buClrTx/>
                <a:buSzTx/>
                <a:buFontTx/>
                <a:buNone/>
              </a:pPr>
              <a:r>
                <a:rPr kumimoji="0" lang="en-US" altLang="en-US" sz="2000">
                  <a:solidFill>
                    <a:schemeClr val="tx1"/>
                  </a:solidFill>
                  <a:latin typeface="Courier New" panose="02070309020205020404" pitchFamily="49" charset="0"/>
                </a:rPr>
                <a:t>     SR</a:t>
              </a:r>
              <a:endParaRPr kumimoji="0" lang="en-US" altLang="en-US" sz="2000">
                <a:solidFill>
                  <a:schemeClr val="tx1"/>
                </a:solidFill>
                <a:latin typeface="Courier New" panose="02070309020205020404" pitchFamily="49" charset="0"/>
              </a:endParaRPr>
            </a:p>
            <a:p>
              <a:pPr>
                <a:spcBef>
                  <a:spcPct val="0"/>
                </a:spcBef>
                <a:buClrTx/>
                <a:buSzTx/>
                <a:buFontTx/>
                <a:buNone/>
              </a:pPr>
              <a:endParaRPr kumimoji="0" lang="en-US" altLang="en-US" sz="2000">
                <a:solidFill>
                  <a:schemeClr val="tx1"/>
                </a:solidFill>
                <a:latin typeface="Courier New" panose="02070309020205020404" pitchFamily="49" charset="0"/>
              </a:endParaRPr>
            </a:p>
            <a:p>
              <a:pPr>
                <a:spcBef>
                  <a:spcPct val="50000"/>
                </a:spcBef>
                <a:buClrTx/>
                <a:buSzTx/>
                <a:buFontTx/>
                <a:buNone/>
              </a:pPr>
              <a:endParaRPr kumimoji="0" lang="en-US" altLang="en-US" sz="2400" b="0">
                <a:solidFill>
                  <a:schemeClr val="tx1"/>
                </a:solidFill>
                <a:latin typeface="Times New Roman" panose="02020603050405020304" charset="0"/>
              </a:endParaRPr>
            </a:p>
          </p:txBody>
        </p:sp>
        <p:sp>
          <p:nvSpPr>
            <p:cNvPr id="14" name="Text Box 2052"/>
            <p:cNvSpPr txBox="1">
              <a:spLocks noChangeArrowheads="1"/>
            </p:cNvSpPr>
            <p:nvPr/>
          </p:nvSpPr>
          <p:spPr bwMode="auto">
            <a:xfrm>
              <a:off x="1440" y="8160"/>
              <a:ext cx="11400" cy="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50000"/>
                <a:buFont typeface="Monotype Sorts" pitchFamily="2" charset="2"/>
                <a:buChar char="n"/>
                <a:defRPr kumimoji="1" sz="2800" b="1">
                  <a:solidFill>
                    <a:srgbClr val="006666"/>
                  </a:solidFill>
                  <a:latin typeface="Arial" panose="020B0604020202020204" pitchFamily="34" charset="0"/>
                </a:defRPr>
              </a:lvl1pPr>
              <a:lvl2pPr marL="742950" indent="-285750">
                <a:spcBef>
                  <a:spcPct val="20000"/>
                </a:spcBef>
                <a:buClr>
                  <a:schemeClr val="tx2"/>
                </a:buClr>
                <a:buSzPct val="75000"/>
                <a:buFont typeface="Monotype Sorts" pitchFamily="2" charset="2"/>
                <a:buChar char="u"/>
                <a:defRPr kumimoji="1" sz="2600">
                  <a:solidFill>
                    <a:srgbClr val="006666"/>
                  </a:solidFill>
                  <a:latin typeface="Arial" panose="020B0604020202020204" pitchFamily="34" charset="0"/>
                </a:defRPr>
              </a:lvl2pPr>
              <a:lvl3pPr marL="1143000" indent="-228600">
                <a:spcBef>
                  <a:spcPct val="20000"/>
                </a:spcBef>
                <a:buClr>
                  <a:schemeClr val="hlink"/>
                </a:buClr>
                <a:buSzPct val="65000"/>
                <a:buFont typeface="Monotype Sorts" pitchFamily="2" charset="2"/>
                <a:buChar char="F"/>
                <a:defRPr kumimoji="1" sz="2400">
                  <a:solidFill>
                    <a:srgbClr val="006666"/>
                  </a:solidFill>
                  <a:latin typeface="Arial" panose="020B0604020202020204" pitchFamily="34" charset="0"/>
                </a:defRPr>
              </a:lvl3pPr>
              <a:lvl4pPr marL="1600200" indent="-228600">
                <a:spcBef>
                  <a:spcPct val="20000"/>
                </a:spcBef>
                <a:buClr>
                  <a:schemeClr val="tx2"/>
                </a:buClr>
                <a:buSzPct val="100000"/>
                <a:buChar char="•"/>
                <a:defRPr kumimoji="1" sz="2000">
                  <a:solidFill>
                    <a:srgbClr val="006666"/>
                  </a:solidFill>
                  <a:latin typeface="Arial" panose="020B0604020202020204" pitchFamily="34" charset="0"/>
                </a:defRPr>
              </a:lvl4pPr>
              <a:lvl5pPr marL="2057400" indent="-228600">
                <a:spcBef>
                  <a:spcPct val="20000"/>
                </a:spcBef>
                <a:buClr>
                  <a:schemeClr val="hlink"/>
                </a:buClr>
                <a:buSzPct val="100000"/>
                <a:buChar char="–"/>
                <a:defRPr kumimoji="1" sz="2000">
                  <a:solidFill>
                    <a:srgbClr val="006666"/>
                  </a:solidFill>
                  <a:latin typeface="Arial" panose="020B0604020202020204" pitchFamily="34" charset="0"/>
                </a:defRPr>
              </a:lvl5pPr>
              <a:lvl6pPr marL="25146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6pPr>
              <a:lvl7pPr marL="29718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7pPr>
              <a:lvl8pPr marL="34290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8pPr>
              <a:lvl9pPr marL="3886200" indent="-228600" eaLnBrk="0" fontAlgn="base" hangingPunct="0">
                <a:spcBef>
                  <a:spcPct val="20000"/>
                </a:spcBef>
                <a:spcAft>
                  <a:spcPct val="0"/>
                </a:spcAft>
                <a:buClr>
                  <a:schemeClr val="hlink"/>
                </a:buClr>
                <a:buSzPct val="100000"/>
                <a:buChar char="–"/>
                <a:defRPr kumimoji="1" sz="2000">
                  <a:solidFill>
                    <a:srgbClr val="006666"/>
                  </a:solidFill>
                  <a:latin typeface="Arial" panose="020B0604020202020204" pitchFamily="34" charset="0"/>
                </a:defRPr>
              </a:lvl9pPr>
            </a:lstStyle>
            <a:p>
              <a:pPr algn="ctr">
                <a:spcBef>
                  <a:spcPct val="50000"/>
                </a:spcBef>
                <a:buClrTx/>
                <a:buSzTx/>
                <a:buFontTx/>
                <a:buNone/>
              </a:pPr>
              <a:r>
                <a:rPr kumimoji="0" lang="en-US" altLang="en-US" sz="2400">
                  <a:solidFill>
                    <a:srgbClr val="800000"/>
                  </a:solidFill>
                  <a:latin typeface="Times New Roman" panose="02020603050405020304" charset="0"/>
                </a:rPr>
                <a:t>Algorithme de Peterson vue globale</a:t>
              </a:r>
              <a:endParaRPr kumimoji="0" lang="en-US" altLang="en-US" sz="2400">
                <a:solidFill>
                  <a:srgbClr val="800000"/>
                </a:solidFill>
                <a:latin typeface="Times New Roman" panose="02020603050405020304" charset="0"/>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635"/>
            <a:ext cx="12306300" cy="6857365"/>
          </a:xfrm>
          <a:prstGeom prst="rect">
            <a:avLst/>
          </a:prstGeom>
          <a:solidFill>
            <a:srgbClr val="20222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fr-FR" altLang="en-US"/>
          </a:p>
        </p:txBody>
      </p:sp>
      <p:sp>
        <p:nvSpPr>
          <p:cNvPr id="7" name="椭圆 6"/>
          <p:cNvSpPr/>
          <p:nvPr/>
        </p:nvSpPr>
        <p:spPr>
          <a:xfrm>
            <a:off x="788988" y="1752600"/>
            <a:ext cx="2689225" cy="2689225"/>
          </a:xfrm>
          <a:prstGeom prst="ellipse">
            <a:avLst/>
          </a:prstGeom>
          <a:solidFill>
            <a:srgbClr val="D61920">
              <a:alpha val="8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4339" name="文本框 6"/>
          <p:cNvSpPr txBox="1"/>
          <p:nvPr/>
        </p:nvSpPr>
        <p:spPr>
          <a:xfrm>
            <a:off x="1319530" y="2374265"/>
            <a:ext cx="1436370" cy="1445260"/>
          </a:xfrm>
          <a:prstGeom prst="rect">
            <a:avLst/>
          </a:prstGeom>
          <a:noFill/>
          <a:ln w="9525">
            <a:noFill/>
          </a:ln>
        </p:spPr>
        <p:txBody>
          <a:bodyPr wrap="square" anchor="t">
            <a:spAutoFit/>
          </a:bodyPr>
          <a:p>
            <a:pPr>
              <a:buFont typeface="Arial" panose="020B0604020202020204" pitchFamily="34" charset="0"/>
            </a:pPr>
            <a:r>
              <a:rPr lang="en-US" altLang="zh-CN" sz="8800" b="1" dirty="0">
                <a:solidFill>
                  <a:schemeClr val="bg1"/>
                </a:solidFill>
                <a:ea typeface="Calibri" panose="020F0502020204030204" pitchFamily="34" charset="0"/>
              </a:rPr>
              <a:t>06</a:t>
            </a:r>
            <a:endParaRPr lang="en-US" altLang="zh-CN" sz="8800" b="1" dirty="0">
              <a:solidFill>
                <a:schemeClr val="bg1"/>
              </a:solidFill>
              <a:ea typeface="Calibri" panose="020F0502020204030204" pitchFamily="34" charset="0"/>
            </a:endParaRPr>
          </a:p>
        </p:txBody>
      </p:sp>
      <p:sp>
        <p:nvSpPr>
          <p:cNvPr id="9" name="矩形 7"/>
          <p:cNvSpPr>
            <a:spLocks noChangeArrowheads="1"/>
          </p:cNvSpPr>
          <p:nvPr/>
        </p:nvSpPr>
        <p:spPr bwMode="auto">
          <a:xfrm>
            <a:off x="3677920" y="2764790"/>
            <a:ext cx="7272020" cy="66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1pPr>
            <a:lvl2pPr marL="742950" indent="-285750" defTabSz="1216025">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2pPr>
            <a:lvl3pPr marL="1143000" indent="-228600" defTabSz="1216025">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3pPr>
            <a:lvl4pPr marL="16002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4pPr>
            <a:lvl5pPr marL="2057400" indent="-228600" defTabSz="1216025">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5pPr>
            <a:lvl6pPr marL="25146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6pPr>
            <a:lvl7pPr marL="29718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7pPr>
            <a:lvl8pPr marL="34290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8pPr>
            <a:lvl9pPr marL="3886200" indent="-228600" defTabSz="1216025"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defRPr>
            </a:lvl9pPr>
          </a:lstStyle>
          <a:p>
            <a:pPr algn="l">
              <a:buFont typeface="Arial" panose="020B0604020202020204" pitchFamily="34" charset="0"/>
              <a:buNone/>
            </a:pPr>
            <a:r>
              <a:rPr kumimoji="0" lang="en-US" altLang="da-DK" sz="4800" b="1" i="0" u="none" strike="noStrike" kern="1200" cap="none" spc="0" normalizeH="0" baseline="0" noProof="0" dirty="0">
                <a:ln>
                  <a:noFill/>
                </a:ln>
                <a:solidFill>
                  <a:srgbClr val="FFFFFF"/>
                </a:solidFill>
                <a:effectLst/>
                <a:uLnTx/>
                <a:uFillTx/>
                <a:latin typeface="Arial" panose="020B0604020202020204" pitchFamily="34" charset="0"/>
                <a:ea typeface="黑体" panose="02010609060101010101" pitchFamily="49" charset="-122"/>
                <a:cs typeface="+mn-cs"/>
                <a:sym typeface="+mn-lt"/>
              </a:rPr>
              <a:t>Conclusion</a:t>
            </a:r>
            <a:endParaRPr kumimoji="0" lang="en-US" altLang="da-DK" sz="4800" b="1" i="0" u="none" strike="noStrike" kern="1200" cap="none" spc="0" normalizeH="0" baseline="0" noProof="0" dirty="0">
              <a:ln>
                <a:noFill/>
              </a:ln>
              <a:solidFill>
                <a:srgbClr val="FFFFFF"/>
              </a:solidFill>
              <a:effectLst/>
              <a:uLnTx/>
              <a:uFillTx/>
              <a:latin typeface="Arial" panose="020B0604020202020204" pitchFamily="34" charset="0"/>
              <a:ea typeface="黑体" panose="02010609060101010101" pitchFamily="49" charset="-122"/>
              <a:cs typeface="+mn-cs"/>
              <a:sym typeface="+mn-lt"/>
            </a:endParaRPr>
          </a:p>
        </p:txBody>
      </p:sp>
    </p:spTree>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35" name="组合 17"/>
          <p:cNvGrpSpPr/>
          <p:nvPr/>
        </p:nvGrpSpPr>
        <p:grpSpPr>
          <a:xfrm>
            <a:off x="0" y="292100"/>
            <a:ext cx="5805170" cy="596894"/>
            <a:chOff x="0" y="177800"/>
            <a:chExt cx="5712384" cy="596900"/>
          </a:xfrm>
        </p:grpSpPr>
        <p:sp>
          <p:nvSpPr>
            <p:cNvPr id="19" name="矩形 18"/>
            <p:cNvSpPr/>
            <p:nvPr/>
          </p:nvSpPr>
          <p:spPr>
            <a:xfrm flipH="1">
              <a:off x="0" y="177800"/>
              <a:ext cx="596900" cy="5969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0" name="矩形 19"/>
            <p:cNvSpPr/>
            <p:nvPr/>
          </p:nvSpPr>
          <p:spPr>
            <a:xfrm flipH="1">
              <a:off x="669819" y="177800"/>
              <a:ext cx="127688" cy="596900"/>
            </a:xfrm>
            <a:prstGeom prst="rect">
              <a:avLst/>
            </a:prstGeom>
            <a:solidFill>
              <a:srgbClr val="F61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5138" name="文本框 20"/>
            <p:cNvSpPr txBox="1"/>
            <p:nvPr/>
          </p:nvSpPr>
          <p:spPr>
            <a:xfrm>
              <a:off x="870417" y="214630"/>
              <a:ext cx="4841967" cy="521975"/>
            </a:xfrm>
            <a:prstGeom prst="rect">
              <a:avLst/>
            </a:prstGeom>
            <a:noFill/>
            <a:ln w="9525">
              <a:noFill/>
            </a:ln>
          </p:spPr>
          <p:txBody>
            <a:bodyPr wrap="square" anchor="t" anchorCtr="0">
              <a:spAutoFit/>
            </a:bodyPr>
            <a:p>
              <a:r>
                <a:rPr lang="en-US" altLang="zh-CN" sz="2800" b="1" dirty="0">
                  <a:latin typeface="Arial" panose="020B0604020202020204" pitchFamily="34" charset="0"/>
                  <a:ea typeface="Arial" panose="020B0604020202020204" pitchFamily="34" charset="0"/>
                  <a:sym typeface="+mn-ea"/>
                </a:rPr>
                <a:t>Conclusion</a:t>
              </a:r>
              <a:r>
                <a:rPr lang="en-US" altLang="zh-CN" sz="2800" b="1" dirty="0">
                  <a:latin typeface="Arial" panose="020B0604020202020204" pitchFamily="34" charset="0"/>
                  <a:ea typeface="Arial" panose="020B0604020202020204" pitchFamily="34" charset="0"/>
                </a:rPr>
                <a:t> </a:t>
              </a:r>
              <a:endParaRPr lang="en-US" altLang="zh-CN" sz="2800" b="1" dirty="0">
                <a:latin typeface="Arial" panose="020B0604020202020204" pitchFamily="34" charset="0"/>
                <a:ea typeface="Arial" panose="020B0604020202020204" pitchFamily="34" charset="0"/>
              </a:endParaRPr>
            </a:p>
          </p:txBody>
        </p:sp>
      </p:grpSp>
      <p:pic>
        <p:nvPicPr>
          <p:cNvPr id="2" name="Espace réservé du contenu 1" descr="cycleVie"/>
          <p:cNvPicPr>
            <a:picLocks noChangeAspect="1"/>
          </p:cNvPicPr>
          <p:nvPr>
            <p:ph idx="1"/>
          </p:nvPr>
        </p:nvPicPr>
        <p:blipFill>
          <a:blip r:embed="rId1"/>
          <a:stretch>
            <a:fillRect/>
          </a:stretch>
        </p:blipFill>
        <p:spPr>
          <a:xfrm>
            <a:off x="1209040" y="1253490"/>
            <a:ext cx="9424670" cy="435165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02221"/>
        </a:solidFill>
        <a:effectLst/>
      </p:bgPr>
    </p:bg>
    <p:spTree>
      <p:nvGrpSpPr>
        <p:cNvPr id="1" name=""/>
        <p:cNvGrpSpPr/>
        <p:nvPr/>
      </p:nvGrpSpPr>
      <p:grpSpPr/>
      <p:pic>
        <p:nvPicPr>
          <p:cNvPr id="18434" name="图片 1" descr="D:\ENIAD_BErkane\CycleIngenieure_AI\S2\Systeme_de_Exploitation\Presentation\processor.jpegprocessor"/>
          <p:cNvPicPr>
            <a:picLocks noChangeAspect="1"/>
          </p:cNvPicPr>
          <p:nvPr/>
        </p:nvPicPr>
        <p:blipFill>
          <a:blip r:embed="rId1"/>
          <a:srcRect l="88" r="88"/>
          <a:stretch>
            <a:fillRect/>
          </a:stretch>
        </p:blipFill>
        <p:spPr>
          <a:xfrm>
            <a:off x="0" y="0"/>
            <a:ext cx="12171363" cy="6858000"/>
          </a:xfrm>
          <a:prstGeom prst="rect">
            <a:avLst/>
          </a:prstGeom>
          <a:noFill/>
          <a:ln w="9525">
            <a:noFill/>
          </a:ln>
        </p:spPr>
      </p:pic>
      <p:sp>
        <p:nvSpPr>
          <p:cNvPr id="3" name="矩形 2"/>
          <p:cNvSpPr/>
          <p:nvPr/>
        </p:nvSpPr>
        <p:spPr>
          <a:xfrm>
            <a:off x="-20320" y="0"/>
            <a:ext cx="12192000" cy="6858000"/>
          </a:xfrm>
          <a:prstGeom prst="rect">
            <a:avLst/>
          </a:prstGeom>
          <a:solidFill>
            <a:srgbClr val="202221">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sp>
        <p:nvSpPr>
          <p:cNvPr id="21" name="直角三角形 20"/>
          <p:cNvSpPr/>
          <p:nvPr/>
        </p:nvSpPr>
        <p:spPr>
          <a:xfrm>
            <a:off x="0" y="2133600"/>
            <a:ext cx="6284913" cy="4724400"/>
          </a:xfrm>
          <a:prstGeom prst="rtTriangle">
            <a:avLst/>
          </a:prstGeom>
          <a:solidFill>
            <a:srgbClr val="202221">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Arial" panose="020B0604020202020204" pitchFamily="34" charset="0"/>
              <a:cs typeface="+mn-cs"/>
            </a:endParaRPr>
          </a:p>
        </p:txBody>
      </p:sp>
      <p:grpSp>
        <p:nvGrpSpPr>
          <p:cNvPr id="18437" name="组合 21"/>
          <p:cNvGrpSpPr/>
          <p:nvPr/>
        </p:nvGrpSpPr>
        <p:grpSpPr>
          <a:xfrm>
            <a:off x="5470843" y="2853055"/>
            <a:ext cx="6122670" cy="3018790"/>
            <a:chOff x="7543580" y="3708614"/>
            <a:chExt cx="6123283" cy="3018802"/>
          </a:xfrm>
        </p:grpSpPr>
        <p:sp>
          <p:nvSpPr>
            <p:cNvPr id="23" name="Freeform 7"/>
            <p:cNvSpPr>
              <a:spLocks noEditPoints="1"/>
            </p:cNvSpPr>
            <p:nvPr/>
          </p:nvSpPr>
          <p:spPr bwMode="auto">
            <a:xfrm>
              <a:off x="9810718" y="3708614"/>
              <a:ext cx="1204944" cy="693384"/>
            </a:xfrm>
            <a:custGeom>
              <a:avLst/>
              <a:gdLst>
                <a:gd name="T0" fmla="*/ 790 w 1064"/>
                <a:gd name="T1" fmla="*/ 343 h 612"/>
                <a:gd name="T2" fmla="*/ 773 w 1064"/>
                <a:gd name="T3" fmla="*/ 340 h 612"/>
                <a:gd name="T4" fmla="*/ 511 w 1064"/>
                <a:gd name="T5" fmla="*/ 427 h 612"/>
                <a:gd name="T6" fmla="*/ 259 w 1064"/>
                <a:gd name="T7" fmla="*/ 344 h 612"/>
                <a:gd name="T8" fmla="*/ 242 w 1064"/>
                <a:gd name="T9" fmla="*/ 346 h 612"/>
                <a:gd name="T10" fmla="*/ 234 w 1064"/>
                <a:gd name="T11" fmla="*/ 362 h 612"/>
                <a:gd name="T12" fmla="*/ 234 w 1064"/>
                <a:gd name="T13" fmla="*/ 571 h 612"/>
                <a:gd name="T14" fmla="*/ 250 w 1064"/>
                <a:gd name="T15" fmla="*/ 590 h 612"/>
                <a:gd name="T16" fmla="*/ 516 w 1064"/>
                <a:gd name="T17" fmla="*/ 612 h 612"/>
                <a:gd name="T18" fmla="*/ 783 w 1064"/>
                <a:gd name="T19" fmla="*/ 590 h 612"/>
                <a:gd name="T20" fmla="*/ 798 w 1064"/>
                <a:gd name="T21" fmla="*/ 571 h 612"/>
                <a:gd name="T22" fmla="*/ 798 w 1064"/>
                <a:gd name="T23" fmla="*/ 358 h 612"/>
                <a:gd name="T24" fmla="*/ 790 w 1064"/>
                <a:gd name="T25" fmla="*/ 343 h 612"/>
                <a:gd name="T26" fmla="*/ 1061 w 1064"/>
                <a:gd name="T27" fmla="*/ 469 h 612"/>
                <a:gd name="T28" fmla="*/ 1046 w 1064"/>
                <a:gd name="T29" fmla="*/ 412 h 612"/>
                <a:gd name="T30" fmla="*/ 1044 w 1064"/>
                <a:gd name="T31" fmla="*/ 408 h 612"/>
                <a:gd name="T32" fmla="*/ 1049 w 1064"/>
                <a:gd name="T33" fmla="*/ 385 h 612"/>
                <a:gd name="T34" fmla="*/ 1014 w 1064"/>
                <a:gd name="T35" fmla="*/ 335 h 612"/>
                <a:gd name="T36" fmla="*/ 1014 w 1064"/>
                <a:gd name="T37" fmla="*/ 209 h 612"/>
                <a:gd name="T38" fmla="*/ 1017 w 1064"/>
                <a:gd name="T39" fmla="*/ 195 h 612"/>
                <a:gd name="T40" fmla="*/ 991 w 1064"/>
                <a:gd name="T41" fmla="*/ 159 h 612"/>
                <a:gd name="T42" fmla="*/ 517 w 1064"/>
                <a:gd name="T43" fmla="*/ 2 h 612"/>
                <a:gd name="T44" fmla="*/ 505 w 1064"/>
                <a:gd name="T45" fmla="*/ 0 h 612"/>
                <a:gd name="T46" fmla="*/ 493 w 1064"/>
                <a:gd name="T47" fmla="*/ 2 h 612"/>
                <a:gd name="T48" fmla="*/ 26 w 1064"/>
                <a:gd name="T49" fmla="*/ 157 h 612"/>
                <a:gd name="T50" fmla="*/ 0 w 1064"/>
                <a:gd name="T51" fmla="*/ 193 h 612"/>
                <a:gd name="T52" fmla="*/ 26 w 1064"/>
                <a:gd name="T53" fmla="*/ 229 h 612"/>
                <a:gd name="T54" fmla="*/ 500 w 1064"/>
                <a:gd name="T55" fmla="*/ 386 h 612"/>
                <a:gd name="T56" fmla="*/ 512 w 1064"/>
                <a:gd name="T57" fmla="*/ 388 h 612"/>
                <a:gd name="T58" fmla="*/ 524 w 1064"/>
                <a:gd name="T59" fmla="*/ 386 h 612"/>
                <a:gd name="T60" fmla="*/ 976 w 1064"/>
                <a:gd name="T61" fmla="*/ 236 h 612"/>
                <a:gd name="T62" fmla="*/ 976 w 1064"/>
                <a:gd name="T63" fmla="*/ 335 h 612"/>
                <a:gd name="T64" fmla="*/ 941 w 1064"/>
                <a:gd name="T65" fmla="*/ 385 h 612"/>
                <a:gd name="T66" fmla="*/ 947 w 1064"/>
                <a:gd name="T67" fmla="*/ 409 h 612"/>
                <a:gd name="T68" fmla="*/ 945 w 1064"/>
                <a:gd name="T69" fmla="*/ 412 h 612"/>
                <a:gd name="T70" fmla="*/ 929 w 1064"/>
                <a:gd name="T71" fmla="*/ 469 h 612"/>
                <a:gd name="T72" fmla="*/ 942 w 1064"/>
                <a:gd name="T73" fmla="*/ 492 h 612"/>
                <a:gd name="T74" fmla="*/ 948 w 1064"/>
                <a:gd name="T75" fmla="*/ 493 h 612"/>
                <a:gd name="T76" fmla="*/ 966 w 1064"/>
                <a:gd name="T77" fmla="*/ 479 h 612"/>
                <a:gd name="T78" fmla="*/ 976 w 1064"/>
                <a:gd name="T79" fmla="*/ 441 h 612"/>
                <a:gd name="T80" fmla="*/ 976 w 1064"/>
                <a:gd name="T81" fmla="*/ 474 h 612"/>
                <a:gd name="T82" fmla="*/ 995 w 1064"/>
                <a:gd name="T83" fmla="*/ 493 h 612"/>
                <a:gd name="T84" fmla="*/ 1014 w 1064"/>
                <a:gd name="T85" fmla="*/ 474 h 612"/>
                <a:gd name="T86" fmla="*/ 1014 w 1064"/>
                <a:gd name="T87" fmla="*/ 441 h 612"/>
                <a:gd name="T88" fmla="*/ 1025 w 1064"/>
                <a:gd name="T89" fmla="*/ 479 h 612"/>
                <a:gd name="T90" fmla="*/ 1043 w 1064"/>
                <a:gd name="T91" fmla="*/ 493 h 612"/>
                <a:gd name="T92" fmla="*/ 1048 w 1064"/>
                <a:gd name="T93" fmla="*/ 492 h 612"/>
                <a:gd name="T94" fmla="*/ 1061 w 1064"/>
                <a:gd name="T95" fmla="*/ 469 h 6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64" h="612">
                  <a:moveTo>
                    <a:pt x="790" y="343"/>
                  </a:moveTo>
                  <a:cubicBezTo>
                    <a:pt x="785" y="339"/>
                    <a:pt x="779" y="338"/>
                    <a:pt x="773" y="340"/>
                  </a:cubicBezTo>
                  <a:lnTo>
                    <a:pt x="511" y="427"/>
                  </a:lnTo>
                  <a:lnTo>
                    <a:pt x="259" y="344"/>
                  </a:lnTo>
                  <a:cubicBezTo>
                    <a:pt x="254" y="342"/>
                    <a:pt x="247" y="343"/>
                    <a:pt x="242" y="346"/>
                  </a:cubicBezTo>
                  <a:cubicBezTo>
                    <a:pt x="237" y="350"/>
                    <a:pt x="234" y="356"/>
                    <a:pt x="234" y="362"/>
                  </a:cubicBezTo>
                  <a:lnTo>
                    <a:pt x="234" y="571"/>
                  </a:lnTo>
                  <a:cubicBezTo>
                    <a:pt x="234" y="580"/>
                    <a:pt x="241" y="588"/>
                    <a:pt x="250" y="590"/>
                  </a:cubicBezTo>
                  <a:cubicBezTo>
                    <a:pt x="324" y="604"/>
                    <a:pt x="418" y="612"/>
                    <a:pt x="516" y="612"/>
                  </a:cubicBezTo>
                  <a:cubicBezTo>
                    <a:pt x="614" y="612"/>
                    <a:pt x="709" y="604"/>
                    <a:pt x="783" y="590"/>
                  </a:cubicBezTo>
                  <a:cubicBezTo>
                    <a:pt x="792" y="588"/>
                    <a:pt x="798" y="580"/>
                    <a:pt x="798" y="571"/>
                  </a:cubicBezTo>
                  <a:lnTo>
                    <a:pt x="798" y="358"/>
                  </a:lnTo>
                  <a:cubicBezTo>
                    <a:pt x="798" y="352"/>
                    <a:pt x="795" y="346"/>
                    <a:pt x="790" y="343"/>
                  </a:cubicBezTo>
                  <a:close/>
                  <a:moveTo>
                    <a:pt x="1061" y="469"/>
                  </a:moveTo>
                  <a:lnTo>
                    <a:pt x="1046" y="412"/>
                  </a:lnTo>
                  <a:cubicBezTo>
                    <a:pt x="1045" y="410"/>
                    <a:pt x="1044" y="409"/>
                    <a:pt x="1044" y="408"/>
                  </a:cubicBezTo>
                  <a:cubicBezTo>
                    <a:pt x="1047" y="401"/>
                    <a:pt x="1049" y="394"/>
                    <a:pt x="1049" y="385"/>
                  </a:cubicBezTo>
                  <a:cubicBezTo>
                    <a:pt x="1049" y="362"/>
                    <a:pt x="1035" y="343"/>
                    <a:pt x="1014" y="335"/>
                  </a:cubicBezTo>
                  <a:lnTo>
                    <a:pt x="1014" y="209"/>
                  </a:lnTo>
                  <a:cubicBezTo>
                    <a:pt x="1016" y="204"/>
                    <a:pt x="1017" y="200"/>
                    <a:pt x="1017" y="195"/>
                  </a:cubicBezTo>
                  <a:cubicBezTo>
                    <a:pt x="1017" y="179"/>
                    <a:pt x="1006" y="164"/>
                    <a:pt x="991" y="159"/>
                  </a:cubicBezTo>
                  <a:lnTo>
                    <a:pt x="517" y="2"/>
                  </a:lnTo>
                  <a:cubicBezTo>
                    <a:pt x="513" y="1"/>
                    <a:pt x="509" y="0"/>
                    <a:pt x="505" y="0"/>
                  </a:cubicBezTo>
                  <a:cubicBezTo>
                    <a:pt x="501" y="0"/>
                    <a:pt x="497" y="1"/>
                    <a:pt x="493" y="2"/>
                  </a:cubicBezTo>
                  <a:lnTo>
                    <a:pt x="26" y="157"/>
                  </a:lnTo>
                  <a:cubicBezTo>
                    <a:pt x="10" y="162"/>
                    <a:pt x="0" y="176"/>
                    <a:pt x="0" y="193"/>
                  </a:cubicBezTo>
                  <a:cubicBezTo>
                    <a:pt x="0" y="209"/>
                    <a:pt x="10" y="224"/>
                    <a:pt x="26" y="229"/>
                  </a:cubicBezTo>
                  <a:lnTo>
                    <a:pt x="500" y="386"/>
                  </a:lnTo>
                  <a:cubicBezTo>
                    <a:pt x="504" y="388"/>
                    <a:pt x="508" y="388"/>
                    <a:pt x="512" y="388"/>
                  </a:cubicBezTo>
                  <a:cubicBezTo>
                    <a:pt x="516" y="388"/>
                    <a:pt x="520" y="388"/>
                    <a:pt x="524" y="386"/>
                  </a:cubicBezTo>
                  <a:lnTo>
                    <a:pt x="976" y="236"/>
                  </a:lnTo>
                  <a:lnTo>
                    <a:pt x="976" y="335"/>
                  </a:lnTo>
                  <a:cubicBezTo>
                    <a:pt x="956" y="343"/>
                    <a:pt x="941" y="362"/>
                    <a:pt x="941" y="385"/>
                  </a:cubicBezTo>
                  <a:cubicBezTo>
                    <a:pt x="941" y="394"/>
                    <a:pt x="943" y="401"/>
                    <a:pt x="947" y="409"/>
                  </a:cubicBezTo>
                  <a:cubicBezTo>
                    <a:pt x="946" y="410"/>
                    <a:pt x="945" y="410"/>
                    <a:pt x="945" y="412"/>
                  </a:cubicBezTo>
                  <a:lnTo>
                    <a:pt x="929" y="469"/>
                  </a:lnTo>
                  <a:cubicBezTo>
                    <a:pt x="926" y="479"/>
                    <a:pt x="932" y="489"/>
                    <a:pt x="942" y="492"/>
                  </a:cubicBezTo>
                  <a:cubicBezTo>
                    <a:pt x="944" y="492"/>
                    <a:pt x="946" y="493"/>
                    <a:pt x="948" y="493"/>
                  </a:cubicBezTo>
                  <a:cubicBezTo>
                    <a:pt x="956" y="493"/>
                    <a:pt x="964" y="487"/>
                    <a:pt x="966" y="479"/>
                  </a:cubicBezTo>
                  <a:lnTo>
                    <a:pt x="976" y="441"/>
                  </a:lnTo>
                  <a:lnTo>
                    <a:pt x="976" y="474"/>
                  </a:lnTo>
                  <a:cubicBezTo>
                    <a:pt x="976" y="484"/>
                    <a:pt x="985" y="493"/>
                    <a:pt x="995" y="493"/>
                  </a:cubicBezTo>
                  <a:cubicBezTo>
                    <a:pt x="1006" y="493"/>
                    <a:pt x="1014" y="484"/>
                    <a:pt x="1014" y="474"/>
                  </a:cubicBezTo>
                  <a:lnTo>
                    <a:pt x="1014" y="441"/>
                  </a:lnTo>
                  <a:lnTo>
                    <a:pt x="1025" y="479"/>
                  </a:lnTo>
                  <a:cubicBezTo>
                    <a:pt x="1027" y="487"/>
                    <a:pt x="1035" y="493"/>
                    <a:pt x="1043" y="493"/>
                  </a:cubicBezTo>
                  <a:cubicBezTo>
                    <a:pt x="1045" y="493"/>
                    <a:pt x="1046" y="492"/>
                    <a:pt x="1048" y="492"/>
                  </a:cubicBezTo>
                  <a:cubicBezTo>
                    <a:pt x="1058" y="489"/>
                    <a:pt x="1064" y="479"/>
                    <a:pt x="1061" y="469"/>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a:ln>
                  <a:noFill/>
                </a:ln>
                <a:solidFill>
                  <a:prstClr val="black"/>
                </a:solidFill>
                <a:effectLst/>
                <a:uLnTx/>
                <a:uFillTx/>
                <a:latin typeface="Arial" panose="020B0604020202020204" pitchFamily="34" charset="0"/>
                <a:ea typeface="Arial" panose="020B0604020202020204" pitchFamily="34" charset="0"/>
                <a:cs typeface="+mn-cs"/>
              </a:endParaRPr>
            </a:p>
          </p:txBody>
        </p:sp>
        <p:sp>
          <p:nvSpPr>
            <p:cNvPr id="18439" name="文本框 24"/>
            <p:cNvSpPr txBox="1"/>
            <p:nvPr/>
          </p:nvSpPr>
          <p:spPr>
            <a:xfrm>
              <a:off x="7543580" y="4974174"/>
              <a:ext cx="6123283" cy="1753242"/>
            </a:xfrm>
            <a:prstGeom prst="rect">
              <a:avLst/>
            </a:prstGeom>
            <a:noFill/>
            <a:ln w="9525">
              <a:noFill/>
            </a:ln>
          </p:spPr>
          <p:txBody>
            <a:bodyPr wrap="square" anchor="t" anchorCtr="0">
              <a:spAutoFit/>
            </a:bodyPr>
            <a:p>
              <a:pPr algn="ctr"/>
              <a:r>
                <a:rPr lang="en-US" altLang="zh-CN" sz="5400" b="1" dirty="0">
                  <a:solidFill>
                    <a:schemeClr val="bg1"/>
                  </a:solidFill>
                  <a:latin typeface="Arial" panose="020B0604020202020204" pitchFamily="34" charset="0"/>
                  <a:ea typeface="Arial" panose="020B0604020202020204" pitchFamily="34" charset="0"/>
                </a:rPr>
                <a:t>Merci pour votre attention </a:t>
              </a:r>
              <a:endParaRPr lang="en-US" altLang="zh-CN" sz="5400" b="1" dirty="0">
                <a:solidFill>
                  <a:schemeClr val="bg1"/>
                </a:solidFill>
                <a:latin typeface="Arial" panose="020B0604020202020204" pitchFamily="34" charset="0"/>
                <a:ea typeface="Arial" panose="020B0604020202020204" pitchFamily="34" charset="0"/>
              </a:endParaRPr>
            </a:p>
          </p:txBody>
        </p:sp>
        <p:cxnSp>
          <p:nvCxnSpPr>
            <p:cNvPr id="26" name="直接连接符 25"/>
            <p:cNvCxnSpPr/>
            <p:nvPr/>
          </p:nvCxnSpPr>
          <p:spPr>
            <a:xfrm>
              <a:off x="8493125" y="4794613"/>
              <a:ext cx="339883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6407</Words>
  <Application>WPS Presentation</Application>
  <PresentationFormat>宽屏</PresentationFormat>
  <Paragraphs>368</Paragraphs>
  <Slides>32</Slides>
  <Notes>0</Notes>
  <HiddenSlides>0</HiddenSlides>
  <MMClips>0</MMClips>
  <ScaleCrop>false</ScaleCrop>
  <HeadingPairs>
    <vt:vector size="6" baseType="variant">
      <vt:variant>
        <vt:lpstr>已用的字体</vt:lpstr>
      </vt:variant>
      <vt:variant>
        <vt:i4>19</vt:i4>
      </vt:variant>
      <vt:variant>
        <vt:lpstr>主题</vt:lpstr>
      </vt:variant>
      <vt:variant>
        <vt:i4>3</vt:i4>
      </vt:variant>
      <vt:variant>
        <vt:lpstr>幻灯片标题</vt:lpstr>
      </vt:variant>
      <vt:variant>
        <vt:i4>32</vt:i4>
      </vt:variant>
    </vt:vector>
  </HeadingPairs>
  <TitlesOfParts>
    <vt:vector size="54" baseType="lpstr">
      <vt:lpstr>Arial</vt:lpstr>
      <vt:lpstr>SimSun</vt:lpstr>
      <vt:lpstr>Wingdings</vt:lpstr>
      <vt:lpstr>Calibri</vt:lpstr>
      <vt:lpstr>Calibri Light</vt:lpstr>
      <vt:lpstr>Microsoft YaHei</vt:lpstr>
      <vt:lpstr>黑体</vt:lpstr>
      <vt:lpstr>OPPOSans R</vt:lpstr>
      <vt:lpstr>Yu Gothic UI Semilight</vt:lpstr>
      <vt:lpstr>Cascadia Code Light</vt:lpstr>
      <vt:lpstr>OPPOSans B</vt:lpstr>
      <vt:lpstr>Wingdings</vt:lpstr>
      <vt:lpstr>Arial Unicode MS</vt:lpstr>
      <vt:lpstr>Segoe Print</vt:lpstr>
      <vt:lpstr>OPPOSans M</vt:lpstr>
      <vt:lpstr>Monotype Sorts</vt:lpstr>
      <vt:lpstr>Courier New</vt:lpstr>
      <vt:lpstr>Times New Roman</vt:lpstr>
      <vt:lpstr>Arial Narrow</vt:lpstr>
      <vt:lpstr>Office 主题</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ZhuLong</dc:creator>
  <cp:lastModifiedBy>WPS_1662460140</cp:lastModifiedBy>
  <cp:revision>36</cp:revision>
  <dcterms:created xsi:type="dcterms:W3CDTF">2016-01-14T13:04:00Z</dcterms:created>
  <dcterms:modified xsi:type="dcterms:W3CDTF">2024-04-23T06:01:13Z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1036-12.2.0.13489</vt:lpwstr>
  </property>
  <property fmtid="{D5CDD505-2E9C-101B-9397-08002B2CF9AE}" pid="3" name="ICV">
    <vt:lpwstr>50BA4F4852484AEF87DDCD79FCAA5885_12</vt:lpwstr>
  </property>
</Properties>
</file>