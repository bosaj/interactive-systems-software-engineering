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62" r:id="rId9"/>
    <p:sldId id="263" r:id="rId10"/>
    <p:sldId id="265" r:id="rId11"/>
    <p:sldId id="264" r:id="rId12"/>
    <p:sldId id="267" r:id="rId13"/>
    <p:sldId id="266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28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01BC14-54B3-4E01-9024-FE41B4EB3719}" type="datetimeFigureOut">
              <a:rPr lang="fr-FR" smtClean="0"/>
              <a:pPr/>
              <a:t>14/05/2024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C1D1D4-1BEC-4EC1-B87F-F70AF121D4CA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1826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153F61-8F89-46D3-8B2D-3BFB5E6E65BF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0CB9A-85FD-41F2-A1D8-D367F176AF40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ECD4A-7686-40E7-AB0E-FA392A6EDF9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D2E232-C814-4D01-8307-879B04C642D5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75981-CAB6-4D54-814F-03EB264BD0A6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4B630-77BF-4CD2-8E7D-2FC04366423D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78C7D-8E9F-4BC3-B936-674CEE49DC06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325294-36EB-459F-B211-B496FD8F4937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96CEA-DB18-435C-870F-EF2DA92FCBC7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31CC9-1E3D-4FE7-BD94-C041DB0B6BB0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CCD7F11-63B0-4FDA-892E-1E1ED856B700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Mme Noura Ouerdi</a:t>
            </a:r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1150858B-EF34-48D1-93EF-FCE9DF9DED2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Analyse_lexicale" TargetMode="External"/><Relationship Id="rId7" Type="http://schemas.openxmlformats.org/officeDocument/2006/relationships/hyperlink" Target="http://fr.wikipedia.org/wiki/GNU" TargetMode="External"/><Relationship Id="rId2" Type="http://schemas.openxmlformats.org/officeDocument/2006/relationships/hyperlink" Target="http://fr.wikipedia.org/wiki/Logiciel_libr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fr.wikipedia.org/wiki/GNU_Bison" TargetMode="External"/><Relationship Id="rId5" Type="http://schemas.openxmlformats.org/officeDocument/2006/relationships/hyperlink" Target="http://fr.wikipedia.org/wiki/Analyse_syntaxique" TargetMode="External"/><Relationship Id="rId4" Type="http://schemas.openxmlformats.org/officeDocument/2006/relationships/hyperlink" Target="http://fr.wikipedia.org/wiki/Lex_et_Yacc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://fr.wikipedia.org/wiki/%C3%89dition_de_lien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Compilation 4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C4A0F-95CC-4ACF-B046-046845F853E4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Théorie des langages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 problème préliminaire qui se pose à propos des langages est:</a:t>
            </a:r>
          </a:p>
          <a:p>
            <a:pPr>
              <a:buFontTx/>
              <a:buChar char="-"/>
            </a:pPr>
            <a:r>
              <a:rPr lang="fr-FR" dirty="0" smtClean="0"/>
              <a:t>Comment décrire un langage</a:t>
            </a:r>
          </a:p>
          <a:p>
            <a:pPr>
              <a:buFontTx/>
              <a:buChar char="-"/>
            </a:pPr>
            <a:r>
              <a:rPr lang="fr-FR" dirty="0" smtClean="0"/>
              <a:t>Ensuite, Etant donné une phrase (un mot), est ce qu’elle appartient au langage?</a:t>
            </a:r>
          </a:p>
          <a:p>
            <a:pPr>
              <a:buFont typeface="Arial" pitchFamily="34" charset="0"/>
              <a:buChar char="•"/>
            </a:pPr>
            <a:r>
              <a:rPr lang="fr-FR" dirty="0" smtClean="0"/>
              <a:t>Nous allons introduire </a:t>
            </a:r>
            <a:r>
              <a:rPr lang="fr-FR" dirty="0" err="1" smtClean="0"/>
              <a:t>qlq</a:t>
            </a:r>
            <a:r>
              <a:rPr lang="fr-FR" dirty="0" smtClean="0"/>
              <a:t> notions de base de la théorie des langages. En particulier les expressions régulières.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langages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Un alphabet: un ensemble fini non vide A de symboles (lettre de un ou plusieurs caractères)</a:t>
            </a:r>
          </a:p>
          <a:p>
            <a:r>
              <a:rPr lang="fr-FR" dirty="0" smtClean="0"/>
              <a:t>Un mot: toute séquence finie d’éléments de A</a:t>
            </a:r>
          </a:p>
          <a:p>
            <a:r>
              <a:rPr lang="fr-FR" dirty="0" smtClean="0"/>
              <a:t>  le </a:t>
            </a:r>
            <a:r>
              <a:rPr lang="el-GR" dirty="0" smtClean="0"/>
              <a:t>ε</a:t>
            </a:r>
            <a:r>
              <a:rPr lang="fr-FR" dirty="0" smtClean="0"/>
              <a:t> : le mot vide</a:t>
            </a:r>
          </a:p>
          <a:p>
            <a:r>
              <a:rPr lang="fr-FR" dirty="0" smtClean="0"/>
              <a:t>Exemple:</a:t>
            </a:r>
          </a:p>
          <a:p>
            <a:pPr>
              <a:buFontTx/>
              <a:buChar char="-"/>
            </a:pPr>
            <a:r>
              <a:rPr lang="fr-FR" dirty="0" smtClean="0"/>
              <a:t>Soit l’alphabet A={a, b, c}. </a:t>
            </a:r>
            <a:r>
              <a:rPr lang="fr-FR" dirty="0" err="1" smtClean="0"/>
              <a:t>Aaba</a:t>
            </a:r>
            <a:r>
              <a:rPr lang="fr-FR" dirty="0" smtClean="0"/>
              <a:t>, </a:t>
            </a:r>
            <a:r>
              <a:rPr lang="fr-FR" dirty="0" err="1" smtClean="0"/>
              <a:t>bbbacbb</a:t>
            </a:r>
            <a:r>
              <a:rPr lang="fr-FR" dirty="0" smtClean="0"/>
              <a:t>, c et </a:t>
            </a:r>
            <a:r>
              <a:rPr lang="el-GR" dirty="0" smtClean="0"/>
              <a:t>ε</a:t>
            </a:r>
            <a:r>
              <a:rPr lang="fr-FR" dirty="0" smtClean="0"/>
              <a:t> sont des mots de A*, de longueurs respectives 4, 7, 1 et 0.</a:t>
            </a:r>
          </a:p>
          <a:p>
            <a:pPr>
              <a:buFontTx/>
              <a:buChar char="-"/>
            </a:pPr>
            <a:r>
              <a:rPr lang="fr-FR" dirty="0" smtClean="0"/>
              <a:t>Soit l’alphabet A={</a:t>
            </a:r>
            <a:r>
              <a:rPr lang="fr-FR" dirty="0" err="1" smtClean="0"/>
              <a:t>aa</a:t>
            </a:r>
            <a:r>
              <a:rPr lang="fr-FR" dirty="0" smtClean="0"/>
              <a:t>, b, c}. </a:t>
            </a:r>
          </a:p>
          <a:p>
            <a:pPr>
              <a:buNone/>
            </a:pPr>
            <a:r>
              <a:rPr lang="fr-FR" dirty="0" smtClean="0">
                <a:sym typeface="Wingdings" pitchFamily="2" charset="2"/>
              </a:rPr>
              <a:t> question: </a:t>
            </a:r>
            <a:r>
              <a:rPr lang="fr-FR" dirty="0" err="1" smtClean="0">
                <a:sym typeface="Wingdings" pitchFamily="2" charset="2"/>
              </a:rPr>
              <a:t>aba</a:t>
            </a:r>
            <a:r>
              <a:rPr lang="fr-FR" dirty="0" smtClean="0">
                <a:sym typeface="Wingdings" pitchFamily="2" charset="2"/>
              </a:rPr>
              <a:t>, </a:t>
            </a:r>
            <a:r>
              <a:rPr lang="fr-FR" dirty="0" err="1" smtClean="0">
                <a:sym typeface="Wingdings" pitchFamily="2" charset="2"/>
              </a:rPr>
              <a:t>baab</a:t>
            </a:r>
            <a:r>
              <a:rPr lang="fr-FR" dirty="0" smtClean="0">
                <a:sym typeface="Wingdings" pitchFamily="2" charset="2"/>
              </a:rPr>
              <a:t>, </a:t>
            </a:r>
            <a:r>
              <a:rPr lang="fr-FR" dirty="0" err="1" smtClean="0">
                <a:sym typeface="Wingdings" pitchFamily="2" charset="2"/>
              </a:rPr>
              <a:t>caa</a:t>
            </a:r>
            <a:r>
              <a:rPr lang="fr-FR" dirty="0" smtClean="0">
                <a:sym typeface="Wingdings" pitchFamily="2" charset="2"/>
              </a:rPr>
              <a:t>, </a:t>
            </a:r>
            <a:r>
              <a:rPr lang="fr-FR" dirty="0" err="1" smtClean="0">
                <a:sym typeface="Wingdings" pitchFamily="2" charset="2"/>
              </a:rPr>
              <a:t>bc</a:t>
            </a:r>
            <a:r>
              <a:rPr lang="fr-FR" dirty="0" smtClean="0">
                <a:sym typeface="Wingdings" pitchFamily="2" charset="2"/>
              </a:rPr>
              <a:t> sont ils des mots de A*? Si oui, de quelles longueurs?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langages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4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 </a:t>
            </a:r>
            <a:r>
              <a:rPr lang="fr-FR" dirty="0" err="1" smtClean="0"/>
              <a:t>aba</a:t>
            </a:r>
            <a:r>
              <a:rPr lang="fr-FR" dirty="0" smtClean="0"/>
              <a:t> n’est pas un mot de A*. </a:t>
            </a:r>
            <a:r>
              <a:rPr lang="fr-FR" dirty="0" err="1" smtClean="0"/>
              <a:t>Baab</a:t>
            </a:r>
            <a:r>
              <a:rPr lang="fr-FR" dirty="0" smtClean="0"/>
              <a:t>, </a:t>
            </a:r>
            <a:r>
              <a:rPr lang="fr-FR" dirty="0" err="1" smtClean="0"/>
              <a:t>caa</a:t>
            </a:r>
            <a:r>
              <a:rPr lang="fr-FR" dirty="0" smtClean="0"/>
              <a:t>, </a:t>
            </a:r>
            <a:r>
              <a:rPr lang="fr-FR" dirty="0" err="1" smtClean="0"/>
              <a:t>bc</a:t>
            </a:r>
            <a:r>
              <a:rPr lang="fr-FR" dirty="0" smtClean="0"/>
              <a:t>, </a:t>
            </a:r>
            <a:r>
              <a:rPr lang="fr-FR" dirty="0" err="1" smtClean="0"/>
              <a:t>aaaa</a:t>
            </a:r>
            <a:r>
              <a:rPr lang="fr-FR" dirty="0" smtClean="0"/>
              <a:t> sont des mots de A* de longueurs respectives 3, 2, 2 et 2. </a:t>
            </a:r>
          </a:p>
          <a:p>
            <a:r>
              <a:rPr lang="fr-FR" dirty="0" smtClean="0"/>
              <a:t>On appelle </a:t>
            </a:r>
            <a:r>
              <a:rPr lang="fr-FR" dirty="0" smtClean="0">
                <a:solidFill>
                  <a:srgbClr val="FF0000"/>
                </a:solidFill>
              </a:rPr>
              <a:t>langage</a:t>
            </a:r>
            <a:r>
              <a:rPr lang="fr-FR" dirty="0" smtClean="0"/>
              <a:t> sur un alphabet A tout sous-ensemble de A*.</a:t>
            </a:r>
          </a:p>
          <a:p>
            <a:r>
              <a:rPr lang="fr-FR" dirty="0" smtClean="0"/>
              <a:t>Exemple: soit l’alphabet A={</a:t>
            </a:r>
            <a:r>
              <a:rPr lang="fr-FR" dirty="0" err="1" smtClean="0"/>
              <a:t>a,b,c</a:t>
            </a:r>
            <a:r>
              <a:rPr lang="fr-FR" dirty="0" smtClean="0"/>
              <a:t>}</a:t>
            </a:r>
          </a:p>
          <a:p>
            <a:pPr>
              <a:buFont typeface="Wingdings"/>
              <a:buChar char="à"/>
            </a:pPr>
            <a:r>
              <a:rPr lang="fr-FR" dirty="0" smtClean="0">
                <a:sym typeface="Wingdings" pitchFamily="2" charset="2"/>
              </a:rPr>
              <a:t>Soit L1 l’ensemble des mots de A* ayant autant de a que de b. L1 est le langage infini {</a:t>
            </a:r>
            <a:r>
              <a:rPr lang="el-GR" dirty="0" smtClean="0"/>
              <a:t>ε</a:t>
            </a:r>
            <a:r>
              <a:rPr lang="fr-FR" dirty="0" smtClean="0"/>
              <a:t>, c, </a:t>
            </a:r>
            <a:r>
              <a:rPr lang="fr-FR" dirty="0" err="1" smtClean="0"/>
              <a:t>ccc</a:t>
            </a:r>
            <a:r>
              <a:rPr lang="fr-FR" dirty="0" smtClean="0"/>
              <a:t>,…., ab, </a:t>
            </a:r>
            <a:r>
              <a:rPr lang="fr-FR" dirty="0" err="1" smtClean="0"/>
              <a:t>ba</a:t>
            </a:r>
            <a:r>
              <a:rPr lang="fr-FR" dirty="0" smtClean="0"/>
              <a:t>, …, </a:t>
            </a:r>
            <a:r>
              <a:rPr lang="fr-FR" dirty="0" err="1" smtClean="0"/>
              <a:t>abccc</a:t>
            </a:r>
            <a:r>
              <a:rPr lang="fr-FR" dirty="0" smtClean="0"/>
              <a:t>, </a:t>
            </a:r>
            <a:r>
              <a:rPr lang="fr-FR" dirty="0" err="1" smtClean="0"/>
              <a:t>acbcc</a:t>
            </a:r>
            <a:r>
              <a:rPr lang="fr-FR" dirty="0" smtClean="0"/>
              <a:t>, </a:t>
            </a:r>
            <a:r>
              <a:rPr lang="fr-FR" dirty="0" err="1" smtClean="0"/>
              <a:t>accbc</a:t>
            </a:r>
            <a:r>
              <a:rPr lang="fr-FR" dirty="0" smtClean="0"/>
              <a:t>, …, </a:t>
            </a:r>
            <a:r>
              <a:rPr lang="fr-FR" dirty="0" err="1" smtClean="0"/>
              <a:t>aabb</a:t>
            </a:r>
            <a:r>
              <a:rPr lang="fr-FR" dirty="0" smtClean="0"/>
              <a:t>, </a:t>
            </a:r>
            <a:r>
              <a:rPr lang="fr-FR" dirty="0" err="1" smtClean="0"/>
              <a:t>abab</a:t>
            </a:r>
            <a:r>
              <a:rPr lang="fr-FR" dirty="0" smtClean="0"/>
              <a:t>, </a:t>
            </a:r>
            <a:r>
              <a:rPr lang="fr-FR" dirty="0" err="1" smtClean="0"/>
              <a:t>abba</a:t>
            </a:r>
            <a:r>
              <a:rPr lang="fr-FR" dirty="0" smtClean="0"/>
              <a:t>, </a:t>
            </a:r>
            <a:r>
              <a:rPr lang="fr-FR" dirty="0" err="1" smtClean="0"/>
              <a:t>baab</a:t>
            </a:r>
            <a:r>
              <a:rPr lang="fr-FR" dirty="0" smtClean="0"/>
              <a:t>,….}</a:t>
            </a:r>
          </a:p>
          <a:p>
            <a:pPr>
              <a:buFont typeface="Wingdings"/>
              <a:buChar char="à"/>
            </a:pPr>
            <a:r>
              <a:rPr lang="fr-FR" dirty="0" smtClean="0"/>
              <a:t>Soit L2 l’ensemble de tous les mots de A* ayant exactement 4a.  Ce langage est t’il fini?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langages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5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Le langage L2 est infini {</a:t>
            </a:r>
            <a:r>
              <a:rPr lang="fr-FR" dirty="0" err="1" smtClean="0"/>
              <a:t>aaaa</a:t>
            </a:r>
            <a:r>
              <a:rPr lang="fr-FR" dirty="0" smtClean="0"/>
              <a:t>, </a:t>
            </a:r>
            <a:r>
              <a:rPr lang="fr-FR" dirty="0" err="1" smtClean="0"/>
              <a:t>aaaac,aaaca</a:t>
            </a:r>
            <a:r>
              <a:rPr lang="fr-FR" dirty="0" smtClean="0"/>
              <a:t>,…, </a:t>
            </a:r>
            <a:r>
              <a:rPr lang="fr-FR" dirty="0" err="1" smtClean="0"/>
              <a:t>aabaa</a:t>
            </a:r>
            <a:r>
              <a:rPr lang="fr-FR" dirty="0" smtClean="0"/>
              <a:t>, </a:t>
            </a:r>
            <a:r>
              <a:rPr lang="fr-FR" dirty="0" err="1" smtClean="0"/>
              <a:t>caaaba</a:t>
            </a:r>
            <a:r>
              <a:rPr lang="fr-FR" dirty="0" smtClean="0"/>
              <a:t>,…</a:t>
            </a:r>
            <a:r>
              <a:rPr lang="fr-FR" dirty="0" err="1" smtClean="0"/>
              <a:t>abcabbbaacc</a:t>
            </a:r>
            <a:r>
              <a:rPr lang="fr-FR" dirty="0" smtClean="0"/>
              <a:t>,…}</a:t>
            </a:r>
          </a:p>
          <a:p>
            <a:r>
              <a:rPr lang="fr-FR" dirty="0" smtClean="0"/>
              <a:t>Problème: Etant donné un langage, comment décrire tous les mots acceptables? Comment décrire un langage?</a:t>
            </a:r>
          </a:p>
          <a:p>
            <a:r>
              <a:rPr lang="fr-FR" dirty="0" smtClean="0"/>
              <a:t>Il existe plusieurs types de langages, certains étant plus facile à décrire que d’autres. On s’intéresse ici aux </a:t>
            </a:r>
            <a:r>
              <a:rPr lang="fr-FR" dirty="0" smtClean="0">
                <a:solidFill>
                  <a:srgbClr val="FF0000"/>
                </a:solidFill>
              </a:rPr>
              <a:t>langages réguliers</a:t>
            </a:r>
            <a:endParaRPr lang="fr-FR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langages réguliers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6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Un </a:t>
            </a:r>
            <a:r>
              <a:rPr lang="fr-FR" dirty="0" smtClean="0">
                <a:solidFill>
                  <a:srgbClr val="FF0000"/>
                </a:solidFill>
              </a:rPr>
              <a:t>langage régulier </a:t>
            </a:r>
            <a:r>
              <a:rPr lang="fr-FR" dirty="0" smtClean="0"/>
              <a:t>L sur un alphabet A est défini récursivement de la manière suivante:</a:t>
            </a:r>
          </a:p>
          <a:p>
            <a:pPr>
              <a:buFontTx/>
              <a:buChar char="-"/>
            </a:pPr>
            <a:r>
              <a:rPr lang="fr-FR" dirty="0" smtClean="0"/>
              <a:t>{</a:t>
            </a:r>
            <a:r>
              <a:rPr lang="el-GR" dirty="0" smtClean="0"/>
              <a:t>ε</a:t>
            </a:r>
            <a:r>
              <a:rPr lang="fr-FR" dirty="0" smtClean="0"/>
              <a:t>} est un langage régulier sur A</a:t>
            </a:r>
          </a:p>
          <a:p>
            <a:pPr>
              <a:buFontTx/>
              <a:buChar char="-"/>
            </a:pPr>
            <a:r>
              <a:rPr lang="fr-FR" dirty="0" smtClean="0"/>
              <a:t>Si a est une lettre de A, {a} est un langage régulier sur A</a:t>
            </a:r>
          </a:p>
          <a:p>
            <a:pPr>
              <a:buFontTx/>
              <a:buChar char="-"/>
            </a:pPr>
            <a:r>
              <a:rPr lang="fr-FR" dirty="0" smtClean="0"/>
              <a:t>Si R est un langage régulier de A, alors R</a:t>
            </a:r>
            <a:r>
              <a:rPr lang="fr-FR" sz="2400" baseline="30000" dirty="0" smtClean="0"/>
              <a:t>n</a:t>
            </a:r>
            <a:r>
              <a:rPr lang="fr-FR" dirty="0" smtClean="0"/>
              <a:t> et R</a:t>
            </a:r>
            <a:r>
              <a:rPr lang="fr-FR" baseline="30000" dirty="0" smtClean="0"/>
              <a:t>* </a:t>
            </a:r>
            <a:r>
              <a:rPr lang="fr-FR" dirty="0" smtClean="0"/>
              <a:t> sont des langages réguliers sur A.</a:t>
            </a:r>
            <a:endParaRPr lang="fr-FR" baseline="30000" dirty="0" smtClean="0"/>
          </a:p>
          <a:p>
            <a:pPr>
              <a:buFontTx/>
              <a:buChar char="-"/>
            </a:pPr>
            <a:r>
              <a:rPr lang="fr-FR" dirty="0" smtClean="0"/>
              <a:t>Si R1 et R2 sont des langages réguliers sur A, alors R1 union R2 et R1R2 sont des langages réguliers.</a:t>
            </a:r>
          </a:p>
          <a:p>
            <a:pPr>
              <a:buFont typeface="Arial" pitchFamily="34" charset="0"/>
              <a:buChar char="•"/>
            </a:pPr>
            <a:r>
              <a:rPr lang="fr-FR" dirty="0" smtClean="0"/>
              <a:t>Les langages réguliers se décrivent très facilement par </a:t>
            </a:r>
            <a:r>
              <a:rPr lang="fr-FR" dirty="0" smtClean="0">
                <a:solidFill>
                  <a:srgbClr val="FF0000"/>
                </a:solidFill>
              </a:rPr>
              <a:t>une expression régulière</a:t>
            </a:r>
            <a:r>
              <a:rPr lang="fr-FR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7</a:t>
            </a:fld>
            <a:endParaRPr lang="fr-FR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47775" y="3419475"/>
            <a:ext cx="7105650" cy="62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1071538" y="2000240"/>
            <a:ext cx="56436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Avec: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Expressions régulières: exemple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143636" y="6143644"/>
            <a:ext cx="2476500" cy="476250"/>
          </a:xfrm>
        </p:spPr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8</a:t>
            </a:fld>
            <a:endParaRPr lang="fr-FR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143116"/>
            <a:ext cx="9144000" cy="2428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ER ambiguë et non ambiguë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9</a:t>
            </a:fld>
            <a:endParaRPr lang="fr-FR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13" y="2271713"/>
            <a:ext cx="8867775" cy="231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L’outil (f)</a:t>
            </a:r>
            <a:r>
              <a:rPr lang="fr-FR" dirty="0" err="1" smtClean="0"/>
              <a:t>lex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10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err="1" smtClean="0"/>
              <a:t>Lex</a:t>
            </a:r>
            <a:r>
              <a:rPr lang="fr-FR" dirty="0" smtClean="0"/>
              <a:t> est un utilitaire d’</a:t>
            </a:r>
            <a:r>
              <a:rPr lang="fr-FR" dirty="0" err="1" smtClean="0"/>
              <a:t>unix</a:t>
            </a:r>
            <a:r>
              <a:rPr lang="fr-FR" dirty="0" smtClean="0"/>
              <a:t>. Son grand frère </a:t>
            </a:r>
            <a:r>
              <a:rPr lang="fr-FR" dirty="0" err="1" smtClean="0"/>
              <a:t>flex</a:t>
            </a:r>
            <a:r>
              <a:rPr lang="fr-FR" dirty="0" smtClean="0"/>
              <a:t> est un produit </a:t>
            </a:r>
            <a:r>
              <a:rPr lang="fr-FR" dirty="0" err="1" smtClean="0"/>
              <a:t>gnu</a:t>
            </a:r>
            <a:r>
              <a:rPr lang="fr-FR" dirty="0" smtClean="0"/>
              <a:t>.</a:t>
            </a:r>
          </a:p>
          <a:p>
            <a:r>
              <a:rPr lang="fr-FR" b="1" dirty="0" err="1" smtClean="0"/>
              <a:t>Flex</a:t>
            </a:r>
            <a:r>
              <a:rPr lang="fr-FR" dirty="0" smtClean="0"/>
              <a:t> est une version </a:t>
            </a:r>
            <a:r>
              <a:rPr lang="fr-FR" dirty="0" smtClean="0">
                <a:hlinkClick r:id="rId2" tooltip="Logiciel libre"/>
              </a:rPr>
              <a:t>libre</a:t>
            </a:r>
            <a:r>
              <a:rPr lang="fr-FR" dirty="0" smtClean="0"/>
              <a:t> de l'</a:t>
            </a:r>
            <a:r>
              <a:rPr lang="fr-FR" dirty="0" smtClean="0">
                <a:hlinkClick r:id="rId3" tooltip="Analyse lexicale"/>
              </a:rPr>
              <a:t>analyseur lexical</a:t>
            </a:r>
            <a:r>
              <a:rPr lang="fr-FR" dirty="0" smtClean="0"/>
              <a:t> </a:t>
            </a:r>
            <a:r>
              <a:rPr lang="fr-FR" dirty="0" err="1" smtClean="0">
                <a:hlinkClick r:id="rId4" tooltip="Lex et Yacc"/>
              </a:rPr>
              <a:t>Lex</a:t>
            </a:r>
            <a:r>
              <a:rPr lang="fr-FR" dirty="0" smtClean="0"/>
              <a:t>. Il est généralement associé à l'</a:t>
            </a:r>
            <a:r>
              <a:rPr lang="fr-FR" dirty="0" smtClean="0">
                <a:hlinkClick r:id="rId5" tooltip="Analyse syntaxique"/>
              </a:rPr>
              <a:t>analyseur syntaxique</a:t>
            </a:r>
            <a:r>
              <a:rPr lang="fr-FR" dirty="0" smtClean="0"/>
              <a:t> </a:t>
            </a:r>
            <a:r>
              <a:rPr lang="fr-FR" dirty="0" smtClean="0">
                <a:hlinkClick r:id="rId6" tooltip="GNU Bison"/>
              </a:rPr>
              <a:t>GNU Bison</a:t>
            </a:r>
            <a:r>
              <a:rPr lang="fr-FR" dirty="0" smtClean="0"/>
              <a:t>, la version </a:t>
            </a:r>
            <a:r>
              <a:rPr lang="fr-FR" dirty="0" smtClean="0">
                <a:hlinkClick r:id="rId7" tooltip="GNU"/>
              </a:rPr>
              <a:t>GNU</a:t>
            </a:r>
            <a:r>
              <a:rPr lang="fr-FR" dirty="0" smtClean="0"/>
              <a:t> </a:t>
            </a:r>
            <a:r>
              <a:rPr lang="fr-FR" dirty="0" err="1" smtClean="0"/>
              <a:t>de</a:t>
            </a:r>
            <a:r>
              <a:rPr lang="fr-FR" dirty="0" err="1" smtClean="0">
                <a:hlinkClick r:id="rId4" tooltip="Lex et Yacc"/>
              </a:rPr>
              <a:t>Yacc</a:t>
            </a:r>
            <a:r>
              <a:rPr lang="fr-FR" dirty="0" smtClean="0"/>
              <a:t>.</a:t>
            </a:r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L’outil (f)</a:t>
            </a:r>
            <a:r>
              <a:rPr lang="fr-FR" dirty="0" err="1" smtClean="0"/>
              <a:t>lex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11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(f)</a:t>
            </a:r>
            <a:r>
              <a:rPr lang="fr-FR" dirty="0" err="1" smtClean="0"/>
              <a:t>lex</a:t>
            </a:r>
            <a:r>
              <a:rPr lang="fr-FR" dirty="0" smtClean="0"/>
              <a:t> accepte en entrée des spécifications d’unités lexicales sous forme de définitions régulières et produit un </a:t>
            </a:r>
            <a:r>
              <a:rPr lang="fr-FR" dirty="0" smtClean="0">
                <a:solidFill>
                  <a:srgbClr val="FF0000"/>
                </a:solidFill>
              </a:rPr>
              <a:t>programme</a:t>
            </a:r>
            <a:r>
              <a:rPr lang="fr-FR" dirty="0" smtClean="0"/>
              <a:t> écrit dans un langage de haut niveau (ici le langage C) qui, une fois compilé, reconnait ces unités lexicales </a:t>
            </a:r>
          </a:p>
          <a:p>
            <a:r>
              <a:rPr lang="fr-FR" dirty="0" smtClean="0"/>
              <a:t>Ce programme est donc un analyseur lexical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L’outil (f)</a:t>
            </a:r>
            <a:r>
              <a:rPr lang="fr-FR" dirty="0" err="1" smtClean="0"/>
              <a:t>lex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12</a:t>
            </a:fld>
            <a:endParaRPr lang="fr-FR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2000240"/>
            <a:ext cx="8929718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ZoneTexte 8"/>
          <p:cNvSpPr txBox="1"/>
          <p:nvPr/>
        </p:nvSpPr>
        <p:spPr>
          <a:xfrm>
            <a:off x="214282" y="3357562"/>
            <a:ext cx="87154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Tx/>
              <a:buChar char="-"/>
            </a:pPr>
            <a:r>
              <a:rPr lang="fr-FR" dirty="0" smtClean="0"/>
              <a:t>Le fichier de spécifications f(</a:t>
            </a:r>
            <a:r>
              <a:rPr lang="fr-FR" dirty="0" err="1" smtClean="0"/>
              <a:t>lex</a:t>
            </a:r>
            <a:r>
              <a:rPr lang="fr-FR" dirty="0" smtClean="0"/>
              <a:t>) contient des expressions régulières suivies d’actions (</a:t>
            </a:r>
            <a:r>
              <a:rPr lang="fr-FR" b="1" dirty="0" smtClean="0"/>
              <a:t>les règles de traductions</a:t>
            </a:r>
            <a:r>
              <a:rPr lang="fr-FR" dirty="0" smtClean="0"/>
              <a:t>). </a:t>
            </a:r>
          </a:p>
          <a:p>
            <a:pPr>
              <a:buFontTx/>
              <a:buChar char="-"/>
            </a:pPr>
            <a:r>
              <a:rPr lang="fr-FR" dirty="0"/>
              <a:t> </a:t>
            </a:r>
            <a:r>
              <a:rPr lang="fr-FR" dirty="0" smtClean="0"/>
              <a:t>l’exécutable obtenu lit le texte d’entrée caractère par caractère jusqu’à ce qu’il trouve le plus long préfixe du texte d’entrée qui corresponde à l’une des expressions régulières</a:t>
            </a:r>
          </a:p>
          <a:p>
            <a:pPr>
              <a:buFontTx/>
              <a:buChar char="-"/>
            </a:pPr>
            <a:r>
              <a:rPr lang="fr-FR" dirty="0"/>
              <a:t> </a:t>
            </a:r>
            <a:r>
              <a:rPr lang="fr-FR" dirty="0" smtClean="0"/>
              <a:t>Dans le cas où plusieurs règles sont possibles, c’est la première règle rencontrée qui l’emporte.</a:t>
            </a:r>
          </a:p>
          <a:p>
            <a:pPr>
              <a:buFontTx/>
              <a:buChar char="-"/>
            </a:pPr>
            <a:r>
              <a:rPr lang="fr-FR" dirty="0"/>
              <a:t> </a:t>
            </a:r>
            <a:r>
              <a:rPr lang="fr-FR" dirty="0" smtClean="0"/>
              <a:t>Il exécute alors l’action correspondante</a:t>
            </a:r>
          </a:p>
          <a:p>
            <a:pPr>
              <a:buFontTx/>
              <a:buChar char="-"/>
            </a:pPr>
            <a:r>
              <a:rPr lang="fr-FR" dirty="0"/>
              <a:t> </a:t>
            </a:r>
            <a:r>
              <a:rPr lang="fr-FR" dirty="0" smtClean="0"/>
              <a:t>Dans le cas où aucune règle ne peut être sélectionnée, l’action par défaut consiste à copier le caractère lu en entrée vers la sortie (écran).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L’outil </a:t>
            </a:r>
            <a:r>
              <a:rPr lang="fr-FR" dirty="0" err="1" smtClean="0"/>
              <a:t>flex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13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 dirty="0" err="1" smtClean="0"/>
              <a:t>Flex</a:t>
            </a:r>
            <a:r>
              <a:rPr lang="fr-FR" dirty="0" smtClean="0"/>
              <a:t> est un outil pour générer des analyseurs, programmes qui reconnaissent des motifs lexicaux dans du texte. </a:t>
            </a:r>
          </a:p>
          <a:p>
            <a:r>
              <a:rPr lang="fr-FR" dirty="0" smtClean="0"/>
              <a:t>Il lit les fichiers d'entrée donnés, ou bien son entrée standard si aucun fichier n'est donné, pour obtenir la description de l'analyseur à générer. </a:t>
            </a:r>
          </a:p>
          <a:p>
            <a:r>
              <a:rPr lang="fr-FR" dirty="0" smtClean="0"/>
              <a:t>En sortie, </a:t>
            </a:r>
            <a:r>
              <a:rPr lang="fr-FR" dirty="0" err="1" smtClean="0"/>
              <a:t>flex</a:t>
            </a:r>
            <a:r>
              <a:rPr lang="fr-FR" dirty="0" smtClean="0"/>
              <a:t> génère un fichier source en</a:t>
            </a:r>
            <a:r>
              <a:rPr lang="fr-FR" smtClean="0"/>
              <a:t> langage </a:t>
            </a:r>
            <a:r>
              <a:rPr lang="fr-FR" dirty="0" smtClean="0"/>
              <a:t>C appelé `</a:t>
            </a:r>
            <a:r>
              <a:rPr lang="fr-FR" dirty="0" err="1" smtClean="0">
                <a:solidFill>
                  <a:srgbClr val="FF0000"/>
                </a:solidFill>
              </a:rPr>
              <a:t>lex.yy.c</a:t>
            </a:r>
            <a:r>
              <a:rPr lang="fr-FR" dirty="0" err="1" smtClean="0"/>
              <a:t>'</a:t>
            </a:r>
            <a:r>
              <a:rPr lang="fr-FR" dirty="0" smtClean="0"/>
              <a:t>, qui définit une routine `</a:t>
            </a:r>
            <a:r>
              <a:rPr lang="fr-FR" dirty="0" err="1" smtClean="0"/>
              <a:t>yylex</a:t>
            </a:r>
            <a:r>
              <a:rPr lang="fr-FR" dirty="0" smtClean="0"/>
              <a:t>()'. Ce fichier est compilé et </a:t>
            </a:r>
            <a:r>
              <a:rPr lang="fr-FR" dirty="0" smtClean="0">
                <a:hlinkClick r:id="rId2" tooltip="Édition de liens"/>
              </a:rPr>
              <a:t>lié</a:t>
            </a:r>
            <a:r>
              <a:rPr lang="fr-FR" dirty="0" smtClean="0"/>
              <a:t> avec l'option </a:t>
            </a:r>
            <a:r>
              <a:rPr lang="fr-FR" dirty="0" smtClean="0">
                <a:solidFill>
                  <a:srgbClr val="FF0000"/>
                </a:solidFill>
              </a:rPr>
              <a:t>`-</a:t>
            </a:r>
            <a:r>
              <a:rPr lang="fr-FR" dirty="0" err="1" smtClean="0">
                <a:solidFill>
                  <a:srgbClr val="FF0000"/>
                </a:solidFill>
              </a:rPr>
              <a:t>lfl</a:t>
            </a:r>
            <a:r>
              <a:rPr lang="fr-FR" dirty="0" smtClean="0">
                <a:solidFill>
                  <a:srgbClr val="FF0000"/>
                </a:solidFill>
              </a:rPr>
              <a:t>' </a:t>
            </a:r>
            <a:r>
              <a:rPr lang="fr-FR" dirty="0" smtClean="0"/>
              <a:t>(correspondant à la bibliothèque </a:t>
            </a:r>
            <a:r>
              <a:rPr lang="fr-FR" dirty="0" err="1" smtClean="0"/>
              <a:t>flex</a:t>
            </a:r>
            <a:r>
              <a:rPr lang="fr-FR" dirty="0" smtClean="0"/>
              <a:t>) afin de produire un programme exécutable. </a:t>
            </a:r>
          </a:p>
          <a:p>
            <a:r>
              <a:rPr lang="fr-FR" dirty="0" smtClean="0"/>
              <a:t>Quand l'exécutable est lancé, il analyse son entrée afin d'y trouver des occurrences correspondant aux précédentes expressions régulières. À chaque expression trouvée, il exécute le code C correspondant.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Structure du fichier de spécifications (f)</a:t>
            </a:r>
            <a:r>
              <a:rPr lang="fr-FR" dirty="0" err="1" smtClean="0"/>
              <a:t>lex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14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%{</a:t>
            </a:r>
          </a:p>
          <a:p>
            <a:pPr>
              <a:buNone/>
            </a:pPr>
            <a:r>
              <a:rPr lang="fr-FR" dirty="0" smtClean="0"/>
              <a:t>Déclaration (en C) de variables, constantes,…</a:t>
            </a:r>
          </a:p>
          <a:p>
            <a:pPr>
              <a:buNone/>
            </a:pPr>
            <a:r>
              <a:rPr lang="fr-FR" dirty="0" smtClean="0"/>
              <a:t>%}</a:t>
            </a:r>
          </a:p>
          <a:p>
            <a:pPr>
              <a:buNone/>
            </a:pPr>
            <a:r>
              <a:rPr lang="fr-FR" dirty="0" smtClean="0"/>
              <a:t>Déclaration de définitions régulières</a:t>
            </a:r>
          </a:p>
          <a:p>
            <a:pPr>
              <a:buNone/>
            </a:pPr>
            <a:r>
              <a:rPr lang="fr-FR" dirty="0" smtClean="0"/>
              <a:t>%%</a:t>
            </a:r>
          </a:p>
          <a:p>
            <a:pPr>
              <a:buNone/>
            </a:pPr>
            <a:r>
              <a:rPr lang="fr-FR" dirty="0" smtClean="0"/>
              <a:t>Règles de traductions</a:t>
            </a:r>
          </a:p>
          <a:p>
            <a:pPr>
              <a:buNone/>
            </a:pPr>
            <a:r>
              <a:rPr lang="fr-FR" dirty="0" smtClean="0"/>
              <a:t>%%</a:t>
            </a:r>
          </a:p>
          <a:p>
            <a:pPr>
              <a:buNone/>
            </a:pPr>
            <a:r>
              <a:rPr lang="fr-FR" dirty="0" smtClean="0"/>
              <a:t>Bloc principal et </a:t>
            </a:r>
            <a:r>
              <a:rPr lang="fr-FR" smtClean="0"/>
              <a:t>fonctions auxiliaires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Structure du fichier de spécifications (f)</a:t>
            </a:r>
            <a:r>
              <a:rPr lang="fr-FR" dirty="0" err="1" smtClean="0"/>
              <a:t>lex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15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fr-FR" dirty="0" smtClean="0"/>
              <a:t>Une </a:t>
            </a:r>
            <a:r>
              <a:rPr lang="fr-FR" dirty="0" smtClean="0">
                <a:solidFill>
                  <a:srgbClr val="FF0000"/>
                </a:solidFill>
              </a:rPr>
              <a:t>définition régulière </a:t>
            </a:r>
            <a:r>
              <a:rPr lang="fr-FR" dirty="0" smtClean="0"/>
              <a:t>permet d’associer un nom à une expression régulière (f)</a:t>
            </a:r>
            <a:r>
              <a:rPr lang="fr-FR" dirty="0" err="1" smtClean="0"/>
              <a:t>lex</a:t>
            </a:r>
            <a:r>
              <a:rPr lang="fr-FR" dirty="0" smtClean="0"/>
              <a:t> et de se référer par la suite (dans la section des règles) à ce nom plutôt qu’à l’expression régulière</a:t>
            </a:r>
          </a:p>
          <a:p>
            <a:r>
              <a:rPr lang="fr-FR" dirty="0" smtClean="0"/>
              <a:t>Les règles de traduction sont des suites d’instructions de la forme:</a:t>
            </a:r>
          </a:p>
          <a:p>
            <a:pPr>
              <a:buFont typeface="Wingdings"/>
              <a:buChar char="à"/>
            </a:pPr>
            <a:r>
              <a:rPr lang="fr-FR" dirty="0" smtClean="0">
                <a:sym typeface="Wingdings" pitchFamily="2" charset="2"/>
              </a:rPr>
              <a:t>expr1        action1</a:t>
            </a:r>
          </a:p>
          <a:p>
            <a:pPr>
              <a:buFont typeface="Wingdings"/>
              <a:buChar char="à"/>
            </a:pPr>
            <a:r>
              <a:rPr lang="fr-FR" dirty="0" smtClean="0">
                <a:sym typeface="Wingdings" pitchFamily="2" charset="2"/>
              </a:rPr>
              <a:t>Expr2        action2</a:t>
            </a:r>
          </a:p>
          <a:p>
            <a:pPr>
              <a:buFont typeface="Arial" pitchFamily="34" charset="0"/>
              <a:buChar char="•"/>
            </a:pPr>
            <a:r>
              <a:rPr lang="fr-FR" dirty="0" smtClean="0">
                <a:sym typeface="Wingdings" pitchFamily="2" charset="2"/>
              </a:rPr>
              <a:t>Les </a:t>
            </a:r>
            <a:r>
              <a:rPr lang="fr-FR" dirty="0" err="1" smtClean="0">
                <a:sym typeface="Wingdings" pitchFamily="2" charset="2"/>
              </a:rPr>
              <a:t>expri</a:t>
            </a:r>
            <a:r>
              <a:rPr lang="fr-FR" dirty="0" smtClean="0">
                <a:sym typeface="Wingdings" pitchFamily="2" charset="2"/>
              </a:rPr>
              <a:t> sont des expressions régulières (f)</a:t>
            </a:r>
            <a:r>
              <a:rPr lang="fr-FR" dirty="0" err="1" smtClean="0">
                <a:sym typeface="Wingdings" pitchFamily="2" charset="2"/>
              </a:rPr>
              <a:t>lex</a:t>
            </a:r>
            <a:r>
              <a:rPr lang="fr-FR" dirty="0" smtClean="0">
                <a:sym typeface="Wingdings" pitchFamily="2" charset="2"/>
              </a:rPr>
              <a:t>  et doivent commencer en colonne 0. Les </a:t>
            </a:r>
            <a:r>
              <a:rPr lang="fr-FR" dirty="0" err="1" smtClean="0">
                <a:sym typeface="Wingdings" pitchFamily="2" charset="2"/>
              </a:rPr>
              <a:t>actioni</a:t>
            </a:r>
            <a:r>
              <a:rPr lang="fr-FR" dirty="0" smtClean="0">
                <a:sym typeface="Wingdings" pitchFamily="2" charset="2"/>
              </a:rPr>
              <a:t> sont des blocs d’instructions en C (une ou suite d’instructions entre {}) qui doivent commencer sur la même ligne que l’expression correspondante</a:t>
            </a:r>
          </a:p>
          <a:p>
            <a:pPr>
              <a:buFont typeface="Wingdings"/>
              <a:buChar char="à"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Structure du fichier de spécifications (f)</a:t>
            </a:r>
            <a:r>
              <a:rPr lang="fr-FR" dirty="0" err="1" smtClean="0"/>
              <a:t>lex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16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La section du bloc principal et des fonctions auxiliaires est facultative (ainsi donc que la ligne %% qui la précède).</a:t>
            </a:r>
          </a:p>
          <a:p>
            <a:r>
              <a:rPr lang="fr-FR" dirty="0" smtClean="0"/>
              <a:t>Elle contient les routines C définies par l’utilisateur et éventuellement une fonction main() si celle par défaut ne convient pas.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Variables et fonctions prédéfinies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17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Char </a:t>
            </a:r>
            <a:r>
              <a:rPr lang="fr-FR" dirty="0" err="1" smtClean="0"/>
              <a:t>yytext</a:t>
            </a:r>
            <a:r>
              <a:rPr lang="fr-FR" dirty="0" smtClean="0"/>
              <a:t>[]: tableau de caractères qui contient la chaine d’entrée qui a été accepté</a:t>
            </a:r>
          </a:p>
          <a:p>
            <a:r>
              <a:rPr lang="fr-FR" dirty="0" smtClean="0"/>
              <a:t>Int </a:t>
            </a:r>
            <a:r>
              <a:rPr lang="fr-FR" dirty="0" err="1" smtClean="0"/>
              <a:t>yyleng</a:t>
            </a:r>
            <a:r>
              <a:rPr lang="fr-FR" dirty="0" smtClean="0"/>
              <a:t>: longueur de cette chaine</a:t>
            </a:r>
          </a:p>
          <a:p>
            <a:r>
              <a:rPr lang="fr-FR" dirty="0" smtClean="0"/>
              <a:t>Int </a:t>
            </a:r>
            <a:r>
              <a:rPr lang="fr-FR" dirty="0" err="1" smtClean="0"/>
              <a:t>yylex</a:t>
            </a:r>
            <a:r>
              <a:rPr lang="fr-FR" dirty="0" smtClean="0"/>
              <a:t>(): fonction qui lance l’analyseur (et appelle </a:t>
            </a:r>
            <a:r>
              <a:rPr lang="fr-FR" dirty="0" err="1" smtClean="0"/>
              <a:t>yywrap</a:t>
            </a:r>
            <a:r>
              <a:rPr lang="fr-FR" dirty="0" smtClean="0"/>
              <a:t>())</a:t>
            </a:r>
          </a:p>
          <a:p>
            <a:r>
              <a:rPr lang="fr-FR" dirty="0" smtClean="0"/>
              <a:t>Int </a:t>
            </a:r>
            <a:r>
              <a:rPr lang="fr-FR" dirty="0" err="1" smtClean="0"/>
              <a:t>yywrap</a:t>
            </a:r>
            <a:r>
              <a:rPr lang="fr-FR" dirty="0" smtClean="0"/>
              <a:t>(): fonction toujours appelée en fin de flot d’entrée. Elle ne fait rien par défaut, mais l’utilisateur peut la redéfinir dans la section des fonctions auxiliaires. </a:t>
            </a:r>
            <a:r>
              <a:rPr lang="fr-FR" dirty="0" err="1" smtClean="0"/>
              <a:t>Yywrap</a:t>
            </a:r>
            <a:r>
              <a:rPr lang="fr-FR" dirty="0" smtClean="0"/>
              <a:t>() retourne 0 si l’analyse doit se poursuivre (sur un autre fichier d’entrée) et 1 sinon</a:t>
            </a:r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Variables et fonctions prédéfinies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18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Int main(): la fonction main() par défaut contient juste un appel à </a:t>
            </a:r>
            <a:r>
              <a:rPr lang="fr-FR" dirty="0" err="1" smtClean="0"/>
              <a:t>yylex</a:t>
            </a:r>
            <a:r>
              <a:rPr lang="fr-FR" dirty="0" smtClean="0"/>
              <a:t>(). L’utilisateur peut la redéfinir dans la section des fonctions auxiliaires</a:t>
            </a:r>
          </a:p>
          <a:p>
            <a:r>
              <a:rPr lang="fr-FR" dirty="0" smtClean="0"/>
              <a:t>Int </a:t>
            </a:r>
            <a:r>
              <a:rPr lang="fr-FR" dirty="0" err="1" smtClean="0"/>
              <a:t>yylineno</a:t>
            </a:r>
            <a:r>
              <a:rPr lang="fr-FR" dirty="0" smtClean="0"/>
              <a:t>: numéro de la ligne courante (avec </a:t>
            </a:r>
            <a:r>
              <a:rPr lang="fr-FR" dirty="0" err="1" smtClean="0"/>
              <a:t>lex</a:t>
            </a:r>
            <a:r>
              <a:rPr lang="fr-FR" dirty="0" smtClean="0"/>
              <a:t> uniquement)</a:t>
            </a:r>
          </a:p>
          <a:p>
            <a:r>
              <a:rPr lang="fr-FR" dirty="0" err="1" smtClean="0"/>
              <a:t>Yyterminate</a:t>
            </a:r>
            <a:r>
              <a:rPr lang="fr-FR" dirty="0" smtClean="0"/>
              <a:t>(): fonction qui stoppe l’analyseur (avec </a:t>
            </a:r>
            <a:r>
              <a:rPr lang="fr-FR" dirty="0" err="1" smtClean="0"/>
              <a:t>flex</a:t>
            </a:r>
            <a:r>
              <a:rPr lang="fr-FR" dirty="0" smtClean="0"/>
              <a:t> uniquement)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 de fichiers .l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19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Ce premier exemple reconnait les nombres binaires </a:t>
            </a:r>
          </a:p>
          <a:p>
            <a:r>
              <a:rPr lang="fr-FR" dirty="0" smtClean="0"/>
              <a:t>%%</a:t>
            </a:r>
          </a:p>
          <a:p>
            <a:r>
              <a:rPr lang="fr-FR" dirty="0" smtClean="0"/>
              <a:t>(0|1)+               </a:t>
            </a:r>
            <a:r>
              <a:rPr lang="fr-FR" dirty="0" err="1" smtClean="0"/>
              <a:t>printf</a:t>
            </a:r>
            <a:r>
              <a:rPr lang="fr-FR" dirty="0" smtClean="0"/>
              <a:t>(« un nombre binaire »);</a:t>
            </a:r>
          </a:p>
          <a:p>
            <a:r>
              <a:rPr lang="fr-FR" dirty="0" smtClean="0"/>
              <a:t>Alors tout ce qui n’est pas reconnu comme nombre binaire est affiché à l’écran</a:t>
            </a:r>
          </a:p>
          <a:p>
            <a:r>
              <a:rPr lang="fr-FR" dirty="0" smtClean="0"/>
              <a:t>Ecrire une autre version qui n’affiche que les nombres binaires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 de fichiers .l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20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%%</a:t>
            </a:r>
          </a:p>
          <a:p>
            <a:r>
              <a:rPr lang="fr-FR" dirty="0" smtClean="0"/>
              <a:t>(0|1)+     </a:t>
            </a:r>
            <a:r>
              <a:rPr lang="fr-FR" dirty="0" err="1" smtClean="0"/>
              <a:t>printf</a:t>
            </a:r>
            <a:r>
              <a:rPr lang="fr-FR" dirty="0" smtClean="0"/>
              <a:t>(« le nombre binaire est %s », </a:t>
            </a:r>
            <a:r>
              <a:rPr lang="fr-FR" dirty="0" err="1" smtClean="0"/>
              <a:t>yytext</a:t>
            </a:r>
            <a:r>
              <a:rPr lang="fr-FR" dirty="0" smtClean="0"/>
              <a:t>);</a:t>
            </a:r>
          </a:p>
          <a:p>
            <a:r>
              <a:rPr lang="fr-FR" dirty="0" smtClean="0"/>
              <a:t>   .            //RIEN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21</a:t>
            </a:fld>
            <a:endParaRPr lang="fr-FR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5720" y="2428868"/>
            <a:ext cx="8401080" cy="19997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ZoneTexte 7"/>
          <p:cNvSpPr txBox="1"/>
          <p:nvPr/>
        </p:nvSpPr>
        <p:spPr>
          <a:xfrm>
            <a:off x="357158" y="1571612"/>
            <a:ext cx="628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Que fait ce programme?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Exemples</a:t>
            </a:r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B31F7-5E9C-4E94-BCB1-3BC91FEFED82}" type="datetime1">
              <a:rPr lang="fr-FR" smtClean="0"/>
              <a:pPr/>
              <a:t>14/05/2024</a:t>
            </a:fld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50858B-EF34-48D1-93EF-FCE9DF9DED23}" type="slidenum">
              <a:rPr lang="fr-FR" smtClean="0"/>
              <a:pPr/>
              <a:t>22</a:t>
            </a:fld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dirty="0" smtClean="0"/>
              <a:t>Réponse:</a:t>
            </a:r>
          </a:p>
          <a:p>
            <a:r>
              <a:rPr lang="fr-FR" dirty="0" smtClean="0"/>
              <a:t>L’exemple précédent supprime les lignes qui commencent par p ainsi que tous </a:t>
            </a:r>
            <a:r>
              <a:rPr lang="fr-FR" smtClean="0"/>
              <a:t>les entiers</a:t>
            </a:r>
            <a:r>
              <a:rPr lang="fr-FR" dirty="0" smtClean="0"/>
              <a:t>, remplace les o par * et retourne le reste inchangé.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1397</TotalTime>
  <Words>1158</Words>
  <Application>Microsoft Office PowerPoint</Application>
  <PresentationFormat>Affichage à l'écran (4:3)</PresentationFormat>
  <Paragraphs>137</Paragraphs>
  <Slides>22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0" baseType="lpstr">
      <vt:lpstr>Arial</vt:lpstr>
      <vt:lpstr>Calibri</vt:lpstr>
      <vt:lpstr>Cambria</vt:lpstr>
      <vt:lpstr>Franklin Gothic Book</vt:lpstr>
      <vt:lpstr>Perpetua</vt:lpstr>
      <vt:lpstr>Wingdings</vt:lpstr>
      <vt:lpstr>Wingdings 2</vt:lpstr>
      <vt:lpstr>Capitaux</vt:lpstr>
      <vt:lpstr>Compilation 4</vt:lpstr>
      <vt:lpstr>Théorie des langages</vt:lpstr>
      <vt:lpstr>Les langages</vt:lpstr>
      <vt:lpstr>Les langages</vt:lpstr>
      <vt:lpstr>Les langages</vt:lpstr>
      <vt:lpstr>Les langages réguliers</vt:lpstr>
      <vt:lpstr>Présentation PowerPoint</vt:lpstr>
      <vt:lpstr>Expressions régulières: exemple</vt:lpstr>
      <vt:lpstr>ER ambiguë et non ambiguë</vt:lpstr>
      <vt:lpstr>L’outil (f)lex</vt:lpstr>
      <vt:lpstr>L’outil (f)lex</vt:lpstr>
      <vt:lpstr>L’outil (f)lex</vt:lpstr>
      <vt:lpstr>L’outil flex</vt:lpstr>
      <vt:lpstr>Structure du fichier de spécifications (f)lex</vt:lpstr>
      <vt:lpstr>Structure du fichier de spécifications (f)lex</vt:lpstr>
      <vt:lpstr>Structure du fichier de spécifications (f)lex</vt:lpstr>
      <vt:lpstr>Variables et fonctions prédéfinies</vt:lpstr>
      <vt:lpstr>Variables et fonctions prédéfinies</vt:lpstr>
      <vt:lpstr>Exemples de fichiers .l</vt:lpstr>
      <vt:lpstr>Exemples de fichiers .l</vt:lpstr>
      <vt:lpstr>Exemples</vt:lpstr>
      <vt:lpstr>Exemples</vt:lpstr>
    </vt:vector>
  </TitlesOfParts>
  <Company>XP2008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Compilation 4</dc:title>
  <dc:creator>ADM</dc:creator>
  <cp:lastModifiedBy>Utilisateur Windows</cp:lastModifiedBy>
  <cp:revision>45</cp:revision>
  <dcterms:created xsi:type="dcterms:W3CDTF">2013-03-04T10:13:23Z</dcterms:created>
  <dcterms:modified xsi:type="dcterms:W3CDTF">2024-05-15T06:45:29Z</dcterms:modified>
</cp:coreProperties>
</file>