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75" r:id="rId3"/>
    <p:sldId id="27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7" r:id="rId19"/>
    <p:sldId id="278" r:id="rId20"/>
    <p:sldId id="271" r:id="rId21"/>
    <p:sldId id="279" r:id="rId22"/>
    <p:sldId id="280" r:id="rId23"/>
    <p:sldId id="272" r:id="rId24"/>
    <p:sldId id="273" r:id="rId25"/>
    <p:sldId id="274" r:id="rId26"/>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692" autoAdjust="0"/>
  </p:normalViewPr>
  <p:slideViewPr>
    <p:cSldViewPr>
      <p:cViewPr varScale="1">
        <p:scale>
          <a:sx n="54" d="100"/>
          <a:sy n="54" d="100"/>
        </p:scale>
        <p:origin x="1620"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CE06FA8-8CF3-4A1F-A194-72B80FC4C8DF}" type="datetimeFigureOut">
              <a:rPr lang="fr-FR" smtClean="0"/>
              <a:pPr/>
              <a:t>26/04/2024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D08F859-B6FB-4F97-BE26-89935AF72C89}" type="slidenum">
              <a:rPr lang="fr-FR" smtClean="0"/>
              <a:pPr/>
              <a:t>‹N°›</a:t>
            </a:fld>
            <a:endParaRPr lang="fr-FR"/>
          </a:p>
        </p:txBody>
      </p:sp>
    </p:spTree>
    <p:extLst>
      <p:ext uri="{BB962C8B-B14F-4D97-AF65-F5344CB8AC3E}">
        <p14:creationId xmlns:p14="http://schemas.microsoft.com/office/powerpoint/2010/main" val="10281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fr.wikipedia.org/wiki/Page_web" TargetMode="External"/><Relationship Id="rId13" Type="http://schemas.openxmlformats.org/officeDocument/2006/relationships/hyperlink" Target="http://fr.wikipedia.org/wiki/Lisp" TargetMode="External"/><Relationship Id="rId3" Type="http://schemas.openxmlformats.org/officeDocument/2006/relationships/hyperlink" Target="http://fr.wikipedia.org/wiki/Structured_Query_Language" TargetMode="External"/><Relationship Id="rId7" Type="http://schemas.openxmlformats.org/officeDocument/2006/relationships/hyperlink" Target="http://fr.wikipedia.org/wiki/JavaScript" TargetMode="External"/><Relationship Id="rId12" Type="http://schemas.openxmlformats.org/officeDocument/2006/relationships/hyperlink" Target="http://fr.wikipedia.org/wiki/Scheme" TargetMode="External"/><Relationship Id="rId17" Type="http://schemas.openxmlformats.org/officeDocument/2006/relationships/hyperlink" Target="http://fr.wikipedia.org/wiki/Tool_Command_Language" TargetMode="External"/><Relationship Id="rId2" Type="http://schemas.openxmlformats.org/officeDocument/2006/relationships/slide" Target="../slides/slide2.xml"/><Relationship Id="rId16" Type="http://schemas.openxmlformats.org/officeDocument/2006/relationships/hyperlink" Target="http://fr.wikipedia.org/wiki/Python_(langage)" TargetMode="External"/><Relationship Id="rId1" Type="http://schemas.openxmlformats.org/officeDocument/2006/relationships/notesMaster" Target="../notesMasters/notesMaster1.xml"/><Relationship Id="rId6" Type="http://schemas.openxmlformats.org/officeDocument/2006/relationships/hyperlink" Target="http://fr.wikipedia.org/wiki/Hypertext_markup_language" TargetMode="External"/><Relationship Id="rId11" Type="http://schemas.openxmlformats.org/officeDocument/2006/relationships/hyperlink" Target="http://fr.wikipedia.org/wiki/Active_Server_Pages" TargetMode="External"/><Relationship Id="rId5" Type="http://schemas.openxmlformats.org/officeDocument/2006/relationships/hyperlink" Target="http://fr.wikipedia.org/wiki/Hypertext_Transfer_Protocol" TargetMode="External"/><Relationship Id="rId15" Type="http://schemas.openxmlformats.org/officeDocument/2006/relationships/hyperlink" Target="http://fr.wikipedia.org/wiki/Interface_homme-machine" TargetMode="External"/><Relationship Id="rId10" Type="http://schemas.openxmlformats.org/officeDocument/2006/relationships/hyperlink" Target="http://fr.wikipedia.org/wiki/PHP:_Hypertext_Preprocessor" TargetMode="External"/><Relationship Id="rId4" Type="http://schemas.openxmlformats.org/officeDocument/2006/relationships/hyperlink" Target="http://fr.wikipedia.org/wiki/Navigateur_web" TargetMode="External"/><Relationship Id="rId9" Type="http://schemas.openxmlformats.org/officeDocument/2006/relationships/hyperlink" Target="http://fr.wikipedia.org/wiki/Perl_(langage)" TargetMode="External"/><Relationship Id="rId14" Type="http://schemas.openxmlformats.org/officeDocument/2006/relationships/hyperlink" Target="http://fr.wikipedia.org/wiki/Extensible_markup_language"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sz="1200" b="0" i="0" kern="1200" dirty="0" smtClean="0">
                <a:solidFill>
                  <a:schemeClr val="tx1"/>
                </a:solidFill>
                <a:latin typeface="+mn-lt"/>
                <a:ea typeface="+mn-ea"/>
                <a:cs typeface="+mn-cs"/>
              </a:rPr>
              <a:t>le langage </a:t>
            </a:r>
            <a:r>
              <a:rPr lang="fr-FR" sz="1200" b="0" i="0" u="none" strike="noStrike" kern="1200" dirty="0" smtClean="0">
                <a:solidFill>
                  <a:schemeClr val="tx1"/>
                </a:solidFill>
                <a:latin typeface="+mn-lt"/>
                <a:ea typeface="+mn-ea"/>
                <a:cs typeface="+mn-cs"/>
                <a:hlinkClick r:id="rId3" tooltip="Structured Query Language"/>
              </a:rPr>
              <a:t>SQL</a:t>
            </a:r>
            <a:r>
              <a:rPr lang="fr-FR" sz="1200" b="0" i="0" kern="1200" dirty="0" smtClean="0">
                <a:solidFill>
                  <a:schemeClr val="tx1"/>
                </a:solidFill>
                <a:latin typeface="+mn-lt"/>
                <a:ea typeface="+mn-ea"/>
                <a:cs typeface="+mn-cs"/>
              </a:rPr>
              <a:t> (</a:t>
            </a:r>
            <a:r>
              <a:rPr lang="fr-FR" sz="1200" b="0" i="1" kern="1200" dirty="0" err="1" smtClean="0">
                <a:solidFill>
                  <a:schemeClr val="tx1"/>
                </a:solidFill>
                <a:latin typeface="+mn-lt"/>
                <a:ea typeface="+mn-ea"/>
                <a:cs typeface="+mn-cs"/>
              </a:rPr>
              <a:t>Structured</a:t>
            </a:r>
            <a:r>
              <a:rPr lang="fr-FR" sz="1200" b="0" i="1" kern="1200" dirty="0" smtClean="0">
                <a:solidFill>
                  <a:schemeClr val="tx1"/>
                </a:solidFill>
                <a:latin typeface="+mn-lt"/>
                <a:ea typeface="+mn-ea"/>
                <a:cs typeface="+mn-cs"/>
              </a:rPr>
              <a:t> </a:t>
            </a:r>
            <a:r>
              <a:rPr lang="fr-FR" sz="1200" b="0" i="1" kern="1200" dirty="0" err="1" smtClean="0">
                <a:solidFill>
                  <a:schemeClr val="tx1"/>
                </a:solidFill>
                <a:latin typeface="+mn-lt"/>
                <a:ea typeface="+mn-ea"/>
                <a:cs typeface="+mn-cs"/>
              </a:rPr>
              <a:t>Query</a:t>
            </a:r>
            <a:r>
              <a:rPr lang="fr-FR" sz="1200" b="0" i="1" kern="1200" dirty="0" smtClean="0">
                <a:solidFill>
                  <a:schemeClr val="tx1"/>
                </a:solidFill>
                <a:latin typeface="+mn-lt"/>
                <a:ea typeface="+mn-ea"/>
                <a:cs typeface="+mn-cs"/>
              </a:rPr>
              <a:t> </a:t>
            </a:r>
            <a:r>
              <a:rPr lang="fr-FR" sz="1200" b="0" i="1" kern="1200" dirty="0" err="1" smtClean="0">
                <a:solidFill>
                  <a:schemeClr val="tx1"/>
                </a:solidFill>
                <a:latin typeface="+mn-lt"/>
                <a:ea typeface="+mn-ea"/>
                <a:cs typeface="+mn-cs"/>
              </a:rPr>
              <a:t>Language</a:t>
            </a:r>
            <a:r>
              <a:rPr lang="fr-FR" sz="1200" b="0" i="0" kern="1200" dirty="0" smtClean="0">
                <a:solidFill>
                  <a:schemeClr val="tx1"/>
                </a:solidFill>
                <a:latin typeface="+mn-lt"/>
                <a:ea typeface="+mn-ea"/>
                <a:cs typeface="+mn-cs"/>
              </a:rPr>
              <a:t>) est un langage interprété standardisé qui permet de mettre à jour ou extraire des informations contenues dans des bases de données ;</a:t>
            </a:r>
          </a:p>
          <a:p>
            <a:r>
              <a:rPr lang="fr-FR" sz="1200" b="0" i="0" kern="1200" dirty="0" smtClean="0">
                <a:solidFill>
                  <a:schemeClr val="tx1"/>
                </a:solidFill>
                <a:latin typeface="+mn-lt"/>
                <a:ea typeface="+mn-ea"/>
                <a:cs typeface="+mn-cs"/>
              </a:rPr>
              <a:t>les </a:t>
            </a:r>
            <a:r>
              <a:rPr lang="fr-FR" sz="1200" b="0" i="0" u="none" strike="noStrike" kern="1200" dirty="0" smtClean="0">
                <a:solidFill>
                  <a:schemeClr val="tx1"/>
                </a:solidFill>
                <a:latin typeface="+mn-lt"/>
                <a:ea typeface="+mn-ea"/>
                <a:cs typeface="+mn-cs"/>
                <a:hlinkClick r:id="rId4" tooltip="Navigateur web"/>
              </a:rPr>
              <a:t>navigateurs web</a:t>
            </a:r>
            <a:r>
              <a:rPr lang="fr-FR" sz="1200" b="0" i="0" kern="1200" dirty="0" smtClean="0">
                <a:solidFill>
                  <a:schemeClr val="tx1"/>
                </a:solidFill>
                <a:latin typeface="+mn-lt"/>
                <a:ea typeface="+mn-ea"/>
                <a:cs typeface="+mn-cs"/>
              </a:rPr>
              <a:t> reçoivent des instructions symboliques et les exécutent directement. Les navigateurs courants savent tous interpréter du code </a:t>
            </a:r>
            <a:r>
              <a:rPr lang="fr-FR" sz="1200" b="0" i="0" u="none" strike="noStrike" kern="1200" dirty="0" smtClean="0">
                <a:solidFill>
                  <a:schemeClr val="tx1"/>
                </a:solidFill>
                <a:latin typeface="+mn-lt"/>
                <a:ea typeface="+mn-ea"/>
                <a:cs typeface="+mn-cs"/>
                <a:hlinkClick r:id="rId5" tooltip="Hypertext Transfer Protocol"/>
              </a:rPr>
              <a:t>HTTP</a:t>
            </a:r>
            <a:r>
              <a:rPr lang="fr-FR" sz="1200" b="0" i="0" kern="1200" dirty="0" smtClean="0">
                <a:solidFill>
                  <a:schemeClr val="tx1"/>
                </a:solidFill>
                <a:latin typeface="+mn-lt"/>
                <a:ea typeface="+mn-ea"/>
                <a:cs typeface="+mn-cs"/>
              </a:rPr>
              <a:t> (HyperText Transfer Protocol) pour les instructions de transfert d'une machine à l'autre, du code </a:t>
            </a:r>
            <a:r>
              <a:rPr lang="fr-FR" sz="1200" b="0" i="0" u="none" strike="noStrike" kern="1200" dirty="0" smtClean="0">
                <a:solidFill>
                  <a:schemeClr val="tx1"/>
                </a:solidFill>
                <a:latin typeface="+mn-lt"/>
                <a:ea typeface="+mn-ea"/>
                <a:cs typeface="+mn-cs"/>
                <a:hlinkClick r:id="rId6" tooltip="Hypertext markup language"/>
              </a:rPr>
              <a:t>HTML</a:t>
            </a:r>
            <a:r>
              <a:rPr lang="fr-FR" sz="1200" b="0" i="0" kern="1200" dirty="0" smtClean="0">
                <a:solidFill>
                  <a:schemeClr val="tx1"/>
                </a:solidFill>
                <a:latin typeface="+mn-lt"/>
                <a:ea typeface="+mn-ea"/>
                <a:cs typeface="+mn-cs"/>
              </a:rPr>
              <a:t> (HyperText </a:t>
            </a:r>
            <a:r>
              <a:rPr lang="fr-FR" sz="1200" b="0" i="0" kern="1200" dirty="0" err="1" smtClean="0">
                <a:solidFill>
                  <a:schemeClr val="tx1"/>
                </a:solidFill>
                <a:latin typeface="+mn-lt"/>
                <a:ea typeface="+mn-ea"/>
                <a:cs typeface="+mn-cs"/>
              </a:rPr>
              <a:t>Markup</a:t>
            </a:r>
            <a:r>
              <a:rPr lang="fr-FR" sz="1200" b="0" i="0" kern="1200" dirty="0" smtClean="0">
                <a:solidFill>
                  <a:schemeClr val="tx1"/>
                </a:solidFill>
                <a:latin typeface="+mn-lt"/>
                <a:ea typeface="+mn-ea"/>
                <a:cs typeface="+mn-cs"/>
              </a:rPr>
              <a:t> Langage) pour les descriptions des pages web, et </a:t>
            </a:r>
            <a:r>
              <a:rPr lang="fr-FR" sz="1200" b="0" i="0" kern="1200" dirty="0" err="1" smtClean="0">
                <a:solidFill>
                  <a:schemeClr val="tx1"/>
                </a:solidFill>
                <a:latin typeface="+mn-lt"/>
                <a:ea typeface="+mn-ea"/>
                <a:cs typeface="+mn-cs"/>
              </a:rPr>
              <a:t>du</a:t>
            </a:r>
            <a:r>
              <a:rPr lang="fr-FR" sz="1200" b="0" i="0" u="none" strike="noStrike" kern="1200" dirty="0" err="1" smtClean="0">
                <a:solidFill>
                  <a:schemeClr val="tx1"/>
                </a:solidFill>
                <a:latin typeface="+mn-lt"/>
                <a:ea typeface="+mn-ea"/>
                <a:cs typeface="+mn-cs"/>
                <a:hlinkClick r:id="rId7" tooltip="JavaScript"/>
              </a:rPr>
              <a:t>JavaScript</a:t>
            </a:r>
            <a:r>
              <a:rPr lang="fr-FR" sz="1200" b="0" i="0" kern="1200" dirty="0" smtClean="0">
                <a:solidFill>
                  <a:schemeClr val="tx1"/>
                </a:solidFill>
                <a:latin typeface="+mn-lt"/>
                <a:ea typeface="+mn-ea"/>
                <a:cs typeface="+mn-cs"/>
              </a:rPr>
              <a:t> pour une programmation plus élaborée, offrant la possibilité de manipuler des variables plus ou moins complexes, des structures de contrôle et de manipuler les différents objets entrants dans la composition d'une </a:t>
            </a:r>
            <a:r>
              <a:rPr lang="fr-FR" sz="1200" b="0" i="0" u="none" strike="noStrike" kern="1200" dirty="0" smtClean="0">
                <a:solidFill>
                  <a:schemeClr val="tx1"/>
                </a:solidFill>
                <a:latin typeface="+mn-lt"/>
                <a:ea typeface="+mn-ea"/>
                <a:cs typeface="+mn-cs"/>
                <a:hlinkClick r:id="rId8" tooltip="Page web"/>
              </a:rPr>
              <a:t>page web</a:t>
            </a:r>
            <a:r>
              <a:rPr lang="fr-FR" sz="1200" b="0" i="0" kern="1200" dirty="0" smtClean="0">
                <a:solidFill>
                  <a:schemeClr val="tx1"/>
                </a:solidFill>
                <a:latin typeface="+mn-lt"/>
                <a:ea typeface="+mn-ea"/>
                <a:cs typeface="+mn-cs"/>
              </a:rPr>
              <a:t>. Ces pages peuvent être statiques (elles sont écrites une fois pour toutes) ou générées dynamiquement par le serveur qui produit le code HTML au moment de la requête. Il peut ainsi adapter la page en fonction du contexte d'exécution. Les langages les plus couramment utilisés pour la génération dynamique de </a:t>
            </a:r>
            <a:r>
              <a:rPr lang="fr-FR" sz="1200" b="0" i="0" u="none" strike="noStrike" kern="1200" dirty="0" smtClean="0">
                <a:solidFill>
                  <a:schemeClr val="tx1"/>
                </a:solidFill>
                <a:latin typeface="+mn-lt"/>
                <a:ea typeface="+mn-ea"/>
                <a:cs typeface="+mn-cs"/>
                <a:hlinkClick r:id="rId8" tooltip="Page web"/>
              </a:rPr>
              <a:t>page web</a:t>
            </a:r>
            <a:r>
              <a:rPr lang="fr-FR" sz="1200" b="0" i="0" kern="1200" dirty="0" smtClean="0">
                <a:solidFill>
                  <a:schemeClr val="tx1"/>
                </a:solidFill>
                <a:latin typeface="+mn-lt"/>
                <a:ea typeface="+mn-ea"/>
                <a:cs typeface="+mn-cs"/>
              </a:rPr>
              <a:t> sont </a:t>
            </a:r>
            <a:r>
              <a:rPr lang="fr-FR" sz="1200" b="0" i="0" u="none" strike="noStrike" kern="1200" dirty="0" smtClean="0">
                <a:solidFill>
                  <a:schemeClr val="tx1"/>
                </a:solidFill>
                <a:latin typeface="+mn-lt"/>
                <a:ea typeface="+mn-ea"/>
                <a:cs typeface="+mn-cs"/>
                <a:hlinkClick r:id="rId9" tooltip="Perl (langage)"/>
              </a:rPr>
              <a:t>Perl</a:t>
            </a:r>
            <a:r>
              <a:rPr lang="fr-FR" sz="1200" b="0" i="0" kern="1200" dirty="0" smtClean="0">
                <a:solidFill>
                  <a:schemeClr val="tx1"/>
                </a:solidFill>
                <a:latin typeface="+mn-lt"/>
                <a:ea typeface="+mn-ea"/>
                <a:cs typeface="+mn-cs"/>
              </a:rPr>
              <a:t>, </a:t>
            </a:r>
            <a:r>
              <a:rPr lang="fr-FR" sz="1200" b="0" i="0" u="none" strike="noStrike" kern="1200" dirty="0" err="1" smtClean="0">
                <a:solidFill>
                  <a:schemeClr val="tx1"/>
                </a:solidFill>
                <a:latin typeface="+mn-lt"/>
                <a:ea typeface="+mn-ea"/>
                <a:cs typeface="+mn-cs"/>
                <a:hlinkClick r:id="rId10" tooltip="PHP: Hypertext Preprocessor"/>
              </a:rPr>
              <a:t>PHP</a:t>
            </a:r>
            <a:r>
              <a:rPr lang="fr-FR" sz="1200" b="0" i="0" kern="1200" dirty="0" err="1" smtClean="0">
                <a:solidFill>
                  <a:schemeClr val="tx1"/>
                </a:solidFill>
                <a:latin typeface="+mn-lt"/>
                <a:ea typeface="+mn-ea"/>
                <a:cs typeface="+mn-cs"/>
              </a:rPr>
              <a:t>et</a:t>
            </a:r>
            <a:r>
              <a:rPr lang="fr-FR" sz="1200" b="0" i="0" kern="1200" dirty="0" smtClean="0">
                <a:solidFill>
                  <a:schemeClr val="tx1"/>
                </a:solidFill>
                <a:latin typeface="+mn-lt"/>
                <a:ea typeface="+mn-ea"/>
                <a:cs typeface="+mn-cs"/>
              </a:rPr>
              <a:t> </a:t>
            </a:r>
            <a:r>
              <a:rPr lang="fr-FR" sz="1200" b="0" i="0" u="none" strike="noStrike" kern="1200" dirty="0" smtClean="0">
                <a:solidFill>
                  <a:schemeClr val="tx1"/>
                </a:solidFill>
                <a:latin typeface="+mn-lt"/>
                <a:ea typeface="+mn-ea"/>
                <a:cs typeface="+mn-cs"/>
                <a:hlinkClick r:id="rId11" tooltip="Active Server Pages"/>
              </a:rPr>
              <a:t>ASP</a:t>
            </a:r>
            <a:r>
              <a:rPr lang="fr-FR" sz="1200" b="0" i="0" kern="1200" dirty="0" smtClean="0">
                <a:solidFill>
                  <a:schemeClr val="tx1"/>
                </a:solidFill>
                <a:latin typeface="+mn-lt"/>
                <a:ea typeface="+mn-ea"/>
                <a:cs typeface="+mn-cs"/>
              </a:rPr>
              <a:t> ;</a:t>
            </a:r>
          </a:p>
          <a:p>
            <a:r>
              <a:rPr lang="fr-FR" sz="1200" b="0" i="0" kern="1200" dirty="0" smtClean="0">
                <a:solidFill>
                  <a:schemeClr val="tx1"/>
                </a:solidFill>
                <a:latin typeface="+mn-lt"/>
                <a:ea typeface="+mn-ea"/>
                <a:cs typeface="+mn-cs"/>
              </a:rPr>
              <a:t>de nombreux programmes incluent un langage afin d'automatiser certaines actions ou de créer de nouvelles fonctionnalités. Un des langages les plus utilisés pour cela est </a:t>
            </a:r>
            <a:r>
              <a:rPr lang="fr-FR" sz="1200" b="0" i="0" u="none" strike="noStrike" kern="1200" dirty="0" err="1" smtClean="0">
                <a:solidFill>
                  <a:schemeClr val="tx1"/>
                </a:solidFill>
                <a:latin typeface="+mn-lt"/>
                <a:ea typeface="+mn-ea"/>
                <a:cs typeface="+mn-cs"/>
                <a:hlinkClick r:id="rId12" tooltip="Scheme"/>
              </a:rPr>
              <a:t>Scheme</a:t>
            </a:r>
            <a:r>
              <a:rPr lang="fr-FR" sz="1200" b="0" i="0" kern="1200" dirty="0" smtClean="0">
                <a:solidFill>
                  <a:schemeClr val="tx1"/>
                </a:solidFill>
                <a:latin typeface="+mn-lt"/>
                <a:ea typeface="+mn-ea"/>
                <a:cs typeface="+mn-cs"/>
              </a:rPr>
              <a:t>, une variante de </a:t>
            </a:r>
            <a:r>
              <a:rPr lang="fr-FR" sz="1200" b="0" i="0" u="none" strike="noStrike" kern="1200" dirty="0" smtClean="0">
                <a:solidFill>
                  <a:schemeClr val="tx1"/>
                </a:solidFill>
                <a:latin typeface="+mn-lt"/>
                <a:ea typeface="+mn-ea"/>
                <a:cs typeface="+mn-cs"/>
                <a:hlinkClick r:id="rId13" tooltip="Lisp"/>
              </a:rPr>
              <a:t>Lisp</a:t>
            </a:r>
            <a:r>
              <a:rPr lang="fr-FR" sz="1200" b="0" i="0" kern="1200" dirty="0" smtClean="0">
                <a:solidFill>
                  <a:schemeClr val="tx1"/>
                </a:solidFill>
                <a:latin typeface="+mn-lt"/>
                <a:ea typeface="+mn-ea"/>
                <a:cs typeface="+mn-cs"/>
              </a:rPr>
              <a:t>. Le langage de description </a:t>
            </a:r>
            <a:r>
              <a:rPr lang="fr-FR" sz="1200" b="0" i="0" u="none" strike="noStrike" kern="1200" dirty="0" smtClean="0">
                <a:solidFill>
                  <a:schemeClr val="tx1"/>
                </a:solidFill>
                <a:latin typeface="+mn-lt"/>
                <a:ea typeface="+mn-ea"/>
                <a:cs typeface="+mn-cs"/>
                <a:hlinkClick r:id="rId14" tooltip="Extensible markup language"/>
              </a:rPr>
              <a:t>XML</a:t>
            </a:r>
            <a:r>
              <a:rPr lang="fr-FR" sz="1200" b="0" i="0" kern="1200" dirty="0" smtClean="0">
                <a:solidFill>
                  <a:schemeClr val="tx1"/>
                </a:solidFill>
                <a:latin typeface="+mn-lt"/>
                <a:ea typeface="+mn-ea"/>
                <a:cs typeface="+mn-cs"/>
              </a:rPr>
              <a:t> est aussi fortement utilisé pour le formatage des données, que ce soit au niveau de l'</a:t>
            </a:r>
            <a:r>
              <a:rPr lang="fr-FR" sz="1200" b="0" i="0" u="none" strike="noStrike" kern="1200" dirty="0" smtClean="0">
                <a:solidFill>
                  <a:schemeClr val="tx1"/>
                </a:solidFill>
                <a:latin typeface="+mn-lt"/>
                <a:ea typeface="+mn-ea"/>
                <a:cs typeface="+mn-cs"/>
                <a:hlinkClick r:id="rId15" tooltip="Interface homme-machine"/>
              </a:rPr>
              <a:t>interface homme-machine</a:t>
            </a:r>
            <a:r>
              <a:rPr lang="fr-FR" sz="1200" b="0" i="0" kern="1200" dirty="0" smtClean="0">
                <a:solidFill>
                  <a:schemeClr val="tx1"/>
                </a:solidFill>
                <a:latin typeface="+mn-lt"/>
                <a:ea typeface="+mn-ea"/>
                <a:cs typeface="+mn-cs"/>
              </a:rPr>
              <a:t>, au niveau du transfert de données ou de leur écriture sous forme de fichiers. Dans ce domaine, on trouve également </a:t>
            </a:r>
            <a:r>
              <a:rPr lang="fr-FR" sz="1200" b="0" i="0" u="none" strike="noStrike" kern="1200" dirty="0" smtClean="0">
                <a:solidFill>
                  <a:schemeClr val="tx1"/>
                </a:solidFill>
                <a:latin typeface="+mn-lt"/>
                <a:ea typeface="+mn-ea"/>
                <a:cs typeface="+mn-cs"/>
                <a:hlinkClick r:id="rId9" tooltip="Perl (langage)"/>
              </a:rPr>
              <a:t>Perl</a:t>
            </a:r>
            <a:r>
              <a:rPr lang="fr-FR" sz="1200" b="0" i="0" kern="1200" dirty="0" smtClean="0">
                <a:solidFill>
                  <a:schemeClr val="tx1"/>
                </a:solidFill>
                <a:latin typeface="+mn-lt"/>
                <a:ea typeface="+mn-ea"/>
                <a:cs typeface="+mn-cs"/>
              </a:rPr>
              <a:t>, </a:t>
            </a:r>
            <a:r>
              <a:rPr lang="fr-FR" sz="1200" b="0" i="0" u="none" strike="noStrike" kern="1200" dirty="0" smtClean="0">
                <a:solidFill>
                  <a:schemeClr val="tx1"/>
                </a:solidFill>
                <a:latin typeface="+mn-lt"/>
                <a:ea typeface="+mn-ea"/>
                <a:cs typeface="+mn-cs"/>
                <a:hlinkClick r:id="rId16" tooltip="Python (langage)"/>
              </a:rPr>
              <a:t>Python</a:t>
            </a:r>
            <a:r>
              <a:rPr lang="fr-FR" sz="1200" b="0" i="0" kern="1200" dirty="0" smtClean="0">
                <a:solidFill>
                  <a:schemeClr val="tx1"/>
                </a:solidFill>
                <a:latin typeface="+mn-lt"/>
                <a:ea typeface="+mn-ea"/>
                <a:cs typeface="+mn-cs"/>
              </a:rPr>
              <a:t> ou </a:t>
            </a:r>
            <a:r>
              <a:rPr lang="fr-FR" sz="1200" b="0" i="0" u="none" strike="noStrike" kern="1200" dirty="0" err="1" smtClean="0">
                <a:solidFill>
                  <a:schemeClr val="tx1"/>
                </a:solidFill>
                <a:latin typeface="+mn-lt"/>
                <a:ea typeface="+mn-ea"/>
                <a:cs typeface="+mn-cs"/>
                <a:hlinkClick r:id="rId17" tooltip="Tool Command Language"/>
              </a:rPr>
              <a:t>Tcl</a:t>
            </a:r>
            <a:r>
              <a:rPr lang="fr-FR" sz="1200" b="0" i="0" kern="1200" dirty="0" smtClean="0">
                <a:solidFill>
                  <a:schemeClr val="tx1"/>
                </a:solidFill>
                <a:latin typeface="+mn-lt"/>
                <a:ea typeface="+mn-ea"/>
                <a:cs typeface="+mn-cs"/>
              </a:rPr>
              <a:t> ;</a:t>
            </a:r>
          </a:p>
          <a:p>
            <a:endParaRPr lang="fr-FR" dirty="0"/>
          </a:p>
        </p:txBody>
      </p:sp>
      <p:sp>
        <p:nvSpPr>
          <p:cNvPr id="4" name="Espace réservé du numéro de diapositive 3"/>
          <p:cNvSpPr>
            <a:spLocks noGrp="1"/>
          </p:cNvSpPr>
          <p:nvPr>
            <p:ph type="sldNum" sz="quarter" idx="10"/>
          </p:nvPr>
        </p:nvSpPr>
        <p:spPr/>
        <p:txBody>
          <a:bodyPr/>
          <a:lstStyle/>
          <a:p>
            <a:fld id="{7D08F859-B6FB-4F97-BE26-89935AF72C89}" type="slidenum">
              <a:rPr lang="fr-FR" smtClean="0"/>
              <a:pPr/>
              <a:t>2</a:t>
            </a:fld>
            <a:endParaRPr lang="fr-FR"/>
          </a:p>
        </p:txBody>
      </p:sp>
    </p:spTree>
    <p:extLst>
      <p:ext uri="{BB962C8B-B14F-4D97-AF65-F5344CB8AC3E}">
        <p14:creationId xmlns:p14="http://schemas.microsoft.com/office/powerpoint/2010/main" val="336069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Les macro: </a:t>
            </a:r>
            <a:r>
              <a:rPr lang="fr-FR" sz="1200" b="0" i="0" kern="1200" dirty="0" smtClean="0">
                <a:solidFill>
                  <a:schemeClr val="tx1"/>
                </a:solidFill>
                <a:latin typeface="+mn-lt"/>
                <a:ea typeface="+mn-ea"/>
                <a:cs typeface="+mn-cs"/>
              </a:rPr>
              <a:t>L'usage le plus fréquent du préprocesseur C est la directive </a:t>
            </a:r>
            <a:r>
              <a:rPr lang="fr-FR" dirty="0" smtClean="0"/>
              <a:t>#</a:t>
            </a:r>
            <a:r>
              <a:rPr lang="fr-FR" dirty="0" err="1" smtClean="0"/>
              <a:t>include</a:t>
            </a:r>
            <a:r>
              <a:rPr lang="fr-FR" dirty="0" smtClean="0"/>
              <a:t> "&lt;&gt;"</a:t>
            </a:r>
            <a:r>
              <a:rPr lang="fr-FR" sz="1200" b="0" i="0" kern="1200" dirty="0" smtClean="0">
                <a:solidFill>
                  <a:schemeClr val="tx1"/>
                </a:solidFill>
                <a:latin typeface="+mn-lt"/>
                <a:ea typeface="+mn-ea"/>
                <a:cs typeface="+mn-cs"/>
              </a:rPr>
              <a:t> dont le rôle est de recopier le contenu d'un fichier dans le fichier courant.</a:t>
            </a:r>
            <a:endParaRPr lang="fr-FR" dirty="0"/>
          </a:p>
        </p:txBody>
      </p:sp>
      <p:sp>
        <p:nvSpPr>
          <p:cNvPr id="4" name="Espace réservé du numéro de diapositive 3"/>
          <p:cNvSpPr>
            <a:spLocks noGrp="1"/>
          </p:cNvSpPr>
          <p:nvPr>
            <p:ph type="sldNum" sz="quarter" idx="10"/>
          </p:nvPr>
        </p:nvSpPr>
        <p:spPr/>
        <p:txBody>
          <a:bodyPr/>
          <a:lstStyle/>
          <a:p>
            <a:fld id="{7D08F859-B6FB-4F97-BE26-89935AF72C89}" type="slidenum">
              <a:rPr lang="fr-FR" smtClean="0"/>
              <a:pPr/>
              <a:t>9</a:t>
            </a:fld>
            <a:endParaRPr lang="fr-FR"/>
          </a:p>
        </p:txBody>
      </p:sp>
    </p:spTree>
    <p:extLst>
      <p:ext uri="{BB962C8B-B14F-4D97-AF65-F5344CB8AC3E}">
        <p14:creationId xmlns:p14="http://schemas.microsoft.com/office/powerpoint/2010/main" val="3895841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ectangle à coins arrondis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ous-titr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D9166A58-FAC1-42D7-B890-A9868B41D383}" type="datetime1">
              <a:rPr lang="fr-FR" smtClean="0"/>
              <a:pPr/>
              <a:t>26/04/2024</a:t>
            </a:fld>
            <a:endParaRPr lang="fr-FR"/>
          </a:p>
        </p:txBody>
      </p:sp>
      <p:sp>
        <p:nvSpPr>
          <p:cNvPr id="17" name="Espace réservé du pied de page 16"/>
          <p:cNvSpPr>
            <a:spLocks noGrp="1"/>
          </p:cNvSpPr>
          <p:nvPr>
            <p:ph type="ftr" sz="quarter" idx="11"/>
          </p:nvPr>
        </p:nvSpPr>
        <p:spPr/>
        <p:txBody>
          <a:bodyPr/>
          <a:lstStyle/>
          <a:p>
            <a:r>
              <a:rPr lang="fr-FR" smtClean="0"/>
              <a:t>Mme noura Ouerdi</a:t>
            </a:r>
            <a:endParaRPr lang="fr-FR"/>
          </a:p>
        </p:txBody>
      </p:sp>
      <p:sp>
        <p:nvSpPr>
          <p:cNvPr id="29" name="Espace réservé du numéro de diapositive 28"/>
          <p:cNvSpPr>
            <a:spLocks noGrp="1"/>
          </p:cNvSpPr>
          <p:nvPr>
            <p:ph type="sldNum" sz="quarter" idx="12"/>
          </p:nvPr>
        </p:nvSpPr>
        <p:spPr/>
        <p:txBody>
          <a:bodyPr lIns="0" tIns="0" rIns="0" bIns="0">
            <a:noAutofit/>
          </a:bodyPr>
          <a:lstStyle>
            <a:lvl1pPr>
              <a:defRPr sz="1400">
                <a:solidFill>
                  <a:srgbClr val="FFFFFF"/>
                </a:solidFill>
              </a:defRPr>
            </a:lvl1pPr>
          </a:lstStyle>
          <a:p>
            <a:fld id="{AF4AC9CB-BACC-434F-BBB7-96004CCDFA5E}" type="slidenum">
              <a:rPr lang="fr-FR" smtClean="0"/>
              <a:pPr/>
              <a:t>‹N°›</a:t>
            </a:fld>
            <a:endParaRPr lang="fr-FR"/>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r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80C0F1A7-0C16-4573-A318-3E1F9E770984}" type="datetime1">
              <a:rPr lang="fr-FR" smtClean="0"/>
              <a:pPr/>
              <a:t>26/04/2024</a:t>
            </a:fld>
            <a:endParaRPr lang="fr-FR"/>
          </a:p>
        </p:txBody>
      </p:sp>
      <p:sp>
        <p:nvSpPr>
          <p:cNvPr id="5" name="Espace réservé du pied de page 4"/>
          <p:cNvSpPr>
            <a:spLocks noGrp="1"/>
          </p:cNvSpPr>
          <p:nvPr>
            <p:ph type="ftr" sz="quarter" idx="11"/>
          </p:nvPr>
        </p:nvSpPr>
        <p:spPr/>
        <p:txBody>
          <a:bodyPr/>
          <a:lstStyle/>
          <a:p>
            <a:r>
              <a:rPr lang="fr-FR" smtClean="0"/>
              <a:t>Mme noura Ouerdi</a:t>
            </a:r>
            <a:endParaRPr lang="fr-FR"/>
          </a:p>
        </p:txBody>
      </p:sp>
      <p:sp>
        <p:nvSpPr>
          <p:cNvPr id="6" name="Espace réservé du numéro de diapositive 5"/>
          <p:cNvSpPr>
            <a:spLocks noGrp="1"/>
          </p:cNvSpPr>
          <p:nvPr>
            <p:ph type="sldNum" sz="quarter" idx="12"/>
          </p:nvPr>
        </p:nvSpPr>
        <p:spPr/>
        <p:txBody>
          <a:bodyPr/>
          <a:lstStyle/>
          <a:p>
            <a:fld id="{AF4AC9CB-BACC-434F-BBB7-96004CCDFA5E}" type="slidenum">
              <a:rPr lang="fr-FR" smtClean="0"/>
              <a:pPr/>
              <a:t>‹N°›</a:t>
            </a:fld>
            <a:endParaRPr lang="fr-FR"/>
          </a:p>
        </p:txBody>
      </p:sp>
      <p:sp>
        <p:nvSpPr>
          <p:cNvPr id="8" name="Espace réservé du contenu 7"/>
          <p:cNvSpPr>
            <a:spLocks noGrp="1"/>
          </p:cNvSpPr>
          <p:nvPr>
            <p:ph sz="quarter" idx="1"/>
          </p:nvPr>
        </p:nvSpPr>
        <p:spPr>
          <a:xfrm>
            <a:off x="914400" y="1447800"/>
            <a:ext cx="777240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ectangle à coins arrondis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058E60B0-06AD-4A23-885C-29764798E7A1}" type="datetime1">
              <a:rPr lang="fr-FR" smtClean="0"/>
              <a:pPr/>
              <a:t>26/04/2024</a:t>
            </a:fld>
            <a:endParaRPr lang="fr-FR"/>
          </a:p>
        </p:txBody>
      </p:sp>
      <p:sp>
        <p:nvSpPr>
          <p:cNvPr id="5" name="Espace réservé du pied de page 4"/>
          <p:cNvSpPr>
            <a:spLocks noGrp="1"/>
          </p:cNvSpPr>
          <p:nvPr>
            <p:ph type="ftr" sz="quarter" idx="11"/>
          </p:nvPr>
        </p:nvSpPr>
        <p:spPr>
          <a:xfrm>
            <a:off x="800100" y="6172200"/>
            <a:ext cx="4000500" cy="457200"/>
          </a:xfrm>
        </p:spPr>
        <p:txBody>
          <a:bodyPr/>
          <a:lstStyle/>
          <a:p>
            <a:r>
              <a:rPr lang="fr-FR" smtClean="0"/>
              <a:t>Mme noura Ouerdi</a:t>
            </a:r>
            <a:endParaRPr lang="fr-F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146304" y="6208776"/>
            <a:ext cx="457200" cy="457200"/>
          </a:xfrm>
        </p:spPr>
        <p:txBody>
          <a:bodyPr/>
          <a:lstStyle/>
          <a:p>
            <a:fld id="{AF4AC9CB-BACC-434F-BBB7-96004CCDFA5E}"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DB3B1CF9-E2D4-4299-BA02-73D644620ACE}" type="datetime1">
              <a:rPr lang="fr-FR" smtClean="0"/>
              <a:pPr/>
              <a:t>26/04/2024</a:t>
            </a:fld>
            <a:endParaRPr lang="fr-FR"/>
          </a:p>
        </p:txBody>
      </p:sp>
      <p:sp>
        <p:nvSpPr>
          <p:cNvPr id="6" name="Espace réservé du pied de page 5"/>
          <p:cNvSpPr>
            <a:spLocks noGrp="1"/>
          </p:cNvSpPr>
          <p:nvPr>
            <p:ph type="ftr" sz="quarter" idx="11"/>
          </p:nvPr>
        </p:nvSpPr>
        <p:spPr/>
        <p:txBody>
          <a:bodyPr/>
          <a:lstStyle/>
          <a:p>
            <a:r>
              <a:rPr lang="fr-FR" smtClean="0"/>
              <a:t>Mme noura Ouerdi</a:t>
            </a:r>
            <a:endParaRPr lang="fr-FR"/>
          </a:p>
        </p:txBody>
      </p:sp>
      <p:sp>
        <p:nvSpPr>
          <p:cNvPr id="7" name="Espace réservé du numéro de diapositive 6"/>
          <p:cNvSpPr>
            <a:spLocks noGrp="1"/>
          </p:cNvSpPr>
          <p:nvPr>
            <p:ph type="sldNum" sz="quarter" idx="12"/>
          </p:nvPr>
        </p:nvSpPr>
        <p:spPr/>
        <p:txBody>
          <a:bodyPr/>
          <a:lstStyle/>
          <a:p>
            <a:fld id="{AF4AC9CB-BACC-434F-BBB7-96004CCDFA5E}" type="slidenum">
              <a:rPr lang="fr-FR" smtClean="0"/>
              <a:pPr/>
              <a:t>‹N°›</a:t>
            </a:fld>
            <a:endParaRPr lang="fr-FR"/>
          </a:p>
        </p:txBody>
      </p:sp>
      <p:sp>
        <p:nvSpPr>
          <p:cNvPr id="9" name="Espace réservé du contenu 8"/>
          <p:cNvSpPr>
            <a:spLocks noGrp="1"/>
          </p:cNvSpPr>
          <p:nvPr>
            <p:ph sz="quarter" idx="1"/>
          </p:nvPr>
        </p:nvSpPr>
        <p:spPr>
          <a:xfrm>
            <a:off x="91440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93395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914400" y="273050"/>
            <a:ext cx="7772400" cy="1143000"/>
          </a:xfrm>
        </p:spPr>
        <p:txBody>
          <a:bodyPr anchor="b" anchorCtr="0"/>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84198D1C-C7C9-4528-BC2D-193AC4DDBBC8}" type="datetime1">
              <a:rPr lang="fr-FR" smtClean="0"/>
              <a:pPr/>
              <a:t>26/04/2024</a:t>
            </a:fld>
            <a:endParaRPr lang="fr-FR"/>
          </a:p>
        </p:txBody>
      </p:sp>
      <p:sp>
        <p:nvSpPr>
          <p:cNvPr id="8" name="Espace réservé du pied de page 7"/>
          <p:cNvSpPr>
            <a:spLocks noGrp="1"/>
          </p:cNvSpPr>
          <p:nvPr>
            <p:ph type="ftr" sz="quarter" idx="11"/>
          </p:nvPr>
        </p:nvSpPr>
        <p:spPr/>
        <p:txBody>
          <a:bodyPr/>
          <a:lstStyle/>
          <a:p>
            <a:r>
              <a:rPr lang="fr-FR" smtClean="0"/>
              <a:t>Mme noura Ouerdi</a:t>
            </a:r>
            <a:endParaRPr lang="fr-FR"/>
          </a:p>
        </p:txBody>
      </p:sp>
      <p:sp>
        <p:nvSpPr>
          <p:cNvPr id="9" name="Espace réservé du numéro de diapositive 8"/>
          <p:cNvSpPr>
            <a:spLocks noGrp="1"/>
          </p:cNvSpPr>
          <p:nvPr>
            <p:ph type="sldNum" sz="quarter" idx="12"/>
          </p:nvPr>
        </p:nvSpPr>
        <p:spPr/>
        <p:txBody>
          <a:bodyPr/>
          <a:lstStyle/>
          <a:p>
            <a:fld id="{AF4AC9CB-BACC-434F-BBB7-96004CCDFA5E}" type="slidenum">
              <a:rPr lang="fr-FR" smtClean="0"/>
              <a:pPr/>
              <a:t>‹N°›</a:t>
            </a:fld>
            <a:endParaRPr lang="fr-FR"/>
          </a:p>
        </p:txBody>
      </p:sp>
      <p:sp>
        <p:nvSpPr>
          <p:cNvPr id="11" name="Espace réservé du contenu 10"/>
          <p:cNvSpPr>
            <a:spLocks noGrp="1"/>
          </p:cNvSpPr>
          <p:nvPr>
            <p:ph sz="half" idx="2"/>
          </p:nvPr>
        </p:nvSpPr>
        <p:spPr>
          <a:xfrm>
            <a:off x="9144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half" idx="4"/>
          </p:nvPr>
        </p:nvSpPr>
        <p:spPr>
          <a:xfrm>
            <a:off x="49530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D2804B0A-474D-4023-BBAC-AAFA9320AFFB}" type="datetime1">
              <a:rPr lang="fr-FR" smtClean="0"/>
              <a:pPr/>
              <a:t>26/04/2024</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FEFA790-83E7-413E-8337-599AEB02DBED}" type="datetime1">
              <a:rPr lang="fr-FR" smtClean="0"/>
              <a:pPr/>
              <a:t>26/04/2024</a:t>
            </a:fld>
            <a:endParaRPr lang="fr-FR"/>
          </a:p>
        </p:txBody>
      </p:sp>
      <p:sp>
        <p:nvSpPr>
          <p:cNvPr id="3" name="Espace réservé du pied de page 2"/>
          <p:cNvSpPr>
            <a:spLocks noGrp="1"/>
          </p:cNvSpPr>
          <p:nvPr>
            <p:ph type="ftr" sz="quarter" idx="11"/>
          </p:nvPr>
        </p:nvSpPr>
        <p:spPr/>
        <p:txBody>
          <a:bodyPr/>
          <a:lstStyle/>
          <a:p>
            <a:r>
              <a:rPr lang="fr-FR" smtClean="0"/>
              <a:t>Mme noura Ouerdi</a:t>
            </a:r>
            <a:endParaRPr lang="fr-FR"/>
          </a:p>
        </p:txBody>
      </p:sp>
      <p:sp>
        <p:nvSpPr>
          <p:cNvPr id="4" name="Espace réservé du numéro de diapositive 3"/>
          <p:cNvSpPr>
            <a:spLocks noGrp="1"/>
          </p:cNvSpPr>
          <p:nvPr>
            <p:ph type="sldNum" sz="quarter" idx="12"/>
          </p:nvPr>
        </p:nvSpPr>
        <p:spPr/>
        <p:txBody>
          <a:bodyPr/>
          <a:lstStyle/>
          <a:p>
            <a:fld id="{AF4AC9CB-BACC-434F-BBB7-96004CCDFA5E}"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ectangle à coins arrondis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914400" y="273050"/>
            <a:ext cx="7772400" cy="1143000"/>
          </a:xfrm>
        </p:spPr>
        <p:txBody>
          <a:bodyPr anchor="b" anchorCtr="0"/>
          <a:lstStyle>
            <a:lvl1pPr algn="l">
              <a:buNone/>
              <a:defRPr sz="4000" b="0"/>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57A86410-3E50-478E-B4CF-F8DB1271EE93}" type="datetime1">
              <a:rPr lang="fr-FR" smtClean="0"/>
              <a:pPr/>
              <a:t>26/04/2024</a:t>
            </a:fld>
            <a:endParaRPr lang="fr-FR"/>
          </a:p>
        </p:txBody>
      </p:sp>
      <p:sp>
        <p:nvSpPr>
          <p:cNvPr id="6" name="Espace réservé du pied de page 5"/>
          <p:cNvSpPr>
            <a:spLocks noGrp="1"/>
          </p:cNvSpPr>
          <p:nvPr>
            <p:ph type="ftr" sz="quarter" idx="11"/>
          </p:nvPr>
        </p:nvSpPr>
        <p:spPr/>
        <p:txBody>
          <a:bodyPr/>
          <a:lstStyle/>
          <a:p>
            <a:r>
              <a:rPr lang="fr-FR" smtClean="0"/>
              <a:t>Mme noura Ouerdi</a:t>
            </a:r>
            <a:endParaRPr lang="fr-FR"/>
          </a:p>
        </p:txBody>
      </p:sp>
      <p:sp>
        <p:nvSpPr>
          <p:cNvPr id="7" name="Espace réservé du numéro de diapositive 6"/>
          <p:cNvSpPr>
            <a:spLocks noGrp="1"/>
          </p:cNvSpPr>
          <p:nvPr>
            <p:ph type="sldNum" sz="quarter" idx="12"/>
          </p:nvPr>
        </p:nvSpPr>
        <p:spPr/>
        <p:txBody>
          <a:bodyPr/>
          <a:lstStyle/>
          <a:p>
            <a:fld id="{AF4AC9CB-BACC-434F-BBB7-96004CCDFA5E}" type="slidenum">
              <a:rPr lang="fr-FR" smtClean="0"/>
              <a:pPr/>
              <a:t>‹N°›</a:t>
            </a:fld>
            <a:endParaRPr lang="fr-FR"/>
          </a:p>
        </p:txBody>
      </p:sp>
      <p:sp>
        <p:nvSpPr>
          <p:cNvPr id="11" name="Espace réservé du contenu 10"/>
          <p:cNvSpPr>
            <a:spLocks noGrp="1"/>
          </p:cNvSpPr>
          <p:nvPr>
            <p:ph sz="quarter" idx="1"/>
          </p:nvPr>
        </p:nvSpPr>
        <p:spPr>
          <a:xfrm>
            <a:off x="2971800" y="1600200"/>
            <a:ext cx="5715000" cy="44958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fr-FR" smtClean="0"/>
              <a:t>Cliquez pour modifier le style du titre</a:t>
            </a:r>
            <a:endParaRPr kumimoji="0" lang="en-US"/>
          </a:p>
        </p:txBody>
      </p:sp>
      <p:sp>
        <p:nvSpPr>
          <p:cNvPr id="4" name="Espace réservé du texte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42BE8758-05EA-4D6F-B44E-3E1BED16878D}" type="datetime1">
              <a:rPr lang="fr-FR" smtClean="0"/>
              <a:pPr/>
              <a:t>26/04/2024</a:t>
            </a:fld>
            <a:endParaRPr lang="fr-FR"/>
          </a:p>
        </p:txBody>
      </p:sp>
      <p:sp>
        <p:nvSpPr>
          <p:cNvPr id="6" name="Espace réservé du pied de page 5"/>
          <p:cNvSpPr>
            <a:spLocks noGrp="1"/>
          </p:cNvSpPr>
          <p:nvPr>
            <p:ph type="ftr" sz="quarter" idx="11"/>
          </p:nvPr>
        </p:nvSpPr>
        <p:spPr>
          <a:xfrm>
            <a:off x="914400" y="6172200"/>
            <a:ext cx="3886200" cy="457200"/>
          </a:xfrm>
        </p:spPr>
        <p:txBody>
          <a:bodyPr/>
          <a:lstStyle/>
          <a:p>
            <a:r>
              <a:rPr lang="fr-FR" smtClean="0"/>
              <a:t>Mme noura Ouerdi</a:t>
            </a:r>
            <a:endParaRPr lang="fr-FR"/>
          </a:p>
        </p:txBody>
      </p:sp>
      <p:sp>
        <p:nvSpPr>
          <p:cNvPr id="7" name="Espace réservé du numéro de diapositive 6"/>
          <p:cNvSpPr>
            <a:spLocks noGrp="1"/>
          </p:cNvSpPr>
          <p:nvPr>
            <p:ph type="sldNum" sz="quarter" idx="12"/>
          </p:nvPr>
        </p:nvSpPr>
        <p:spPr>
          <a:xfrm>
            <a:off x="146304" y="6208776"/>
            <a:ext cx="457200" cy="457200"/>
          </a:xfrm>
        </p:spPr>
        <p:txBody>
          <a:bodyPr/>
          <a:lstStyle/>
          <a:p>
            <a:fld id="{AF4AC9CB-BACC-434F-BBB7-96004CCDFA5E}" type="slidenum">
              <a:rPr lang="fr-FR" smtClean="0"/>
              <a:pPr/>
              <a:t>‹N°›</a:t>
            </a:fld>
            <a:endParaRPr lang="fr-FR"/>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Espace réservé pour une image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fr-FR" smtClean="0"/>
              <a:t>Cliquez sur l'icône pour ajouter une image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EE5B64D9-1E95-4151-942F-4AC847C8CF71}" type="datetime1">
              <a:rPr lang="fr-FR" smtClean="0"/>
              <a:pPr/>
              <a:t>26/04/2024</a:t>
            </a:fld>
            <a:endParaRPr lang="fr-FR"/>
          </a:p>
        </p:txBody>
      </p:sp>
      <p:sp>
        <p:nvSpPr>
          <p:cNvPr id="5" name="Espace réservé du pied de page 4"/>
          <p:cNvSpPr>
            <a:spLocks noGrp="1"/>
          </p:cNvSpPr>
          <p:nvPr>
            <p:ph type="ftr" sz="quarter" idx="11"/>
          </p:nvPr>
        </p:nvSpPr>
        <p:spPr/>
        <p:txBody>
          <a:bodyPr/>
          <a:lstStyle/>
          <a:p>
            <a:r>
              <a:rPr lang="fr-FR" smtClean="0"/>
              <a:t>Mme noura Ouerdi</a:t>
            </a:r>
            <a:endParaRPr lang="fr-FR"/>
          </a:p>
        </p:txBody>
      </p:sp>
      <p:sp>
        <p:nvSpPr>
          <p:cNvPr id="6" name="Espace réservé du numéro de diapositive 5"/>
          <p:cNvSpPr>
            <a:spLocks noGrp="1"/>
          </p:cNvSpPr>
          <p:nvPr>
            <p:ph type="sldNum" sz="quarter" idx="12"/>
          </p:nvPr>
        </p:nvSpPr>
        <p:spPr/>
        <p:txBody>
          <a:bodyPr/>
          <a:lstStyle/>
          <a:p>
            <a:fld id="{AF4AC9CB-BACC-434F-BBB7-96004CCDFA5E}"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1"/>
            <a:ext cx="201168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914400" y="274640"/>
            <a:ext cx="55626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70C558FA-9E91-4D01-8A20-AD3312AB9F95}" type="datetime1">
              <a:rPr lang="fr-FR" smtClean="0"/>
              <a:pPr/>
              <a:t>26/04/2024</a:t>
            </a:fld>
            <a:endParaRPr lang="fr-FR"/>
          </a:p>
        </p:txBody>
      </p:sp>
      <p:sp>
        <p:nvSpPr>
          <p:cNvPr id="5" name="Espace réservé du pied de page 4"/>
          <p:cNvSpPr>
            <a:spLocks noGrp="1"/>
          </p:cNvSpPr>
          <p:nvPr>
            <p:ph type="ftr" sz="quarter" idx="11"/>
          </p:nvPr>
        </p:nvSpPr>
        <p:spPr/>
        <p:txBody>
          <a:bodyPr/>
          <a:lstStyle/>
          <a:p>
            <a:r>
              <a:rPr lang="fr-FR" smtClean="0"/>
              <a:t>Mme noura Ouerdi</a:t>
            </a:r>
            <a:endParaRPr lang="fr-FR"/>
          </a:p>
        </p:txBody>
      </p:sp>
      <p:sp>
        <p:nvSpPr>
          <p:cNvPr id="6" name="Espace réservé du numéro de diapositive 5"/>
          <p:cNvSpPr>
            <a:spLocks noGrp="1"/>
          </p:cNvSpPr>
          <p:nvPr>
            <p:ph type="sldNum" sz="quarter" idx="12"/>
          </p:nvPr>
        </p:nvSpPr>
        <p:spPr/>
        <p:txBody>
          <a:bodyPr/>
          <a:lstStyle/>
          <a:p>
            <a:fld id="{AF4AC9CB-BACC-434F-BBB7-96004CCDFA5E}"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ectangle à coins arrondis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Espace réservé du titre 21"/>
          <p:cNvSpPr>
            <a:spLocks noGrp="1"/>
          </p:cNvSpPr>
          <p:nvPr>
            <p:ph type="title"/>
          </p:nvPr>
        </p:nvSpPr>
        <p:spPr>
          <a:xfrm>
            <a:off x="914400" y="274638"/>
            <a:ext cx="7772400" cy="1143000"/>
          </a:xfrm>
          <a:prstGeom prst="rect">
            <a:avLst/>
          </a:prstGeom>
        </p:spPr>
        <p:txBody>
          <a:bodyPr bIns="91440" anchor="b" anchorCtr="0">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FD30A41E-BC97-4960-B490-8D8A27E97EDE}" type="datetime1">
              <a:rPr lang="fr-FR" smtClean="0"/>
              <a:pPr/>
              <a:t>26/04/2024</a:t>
            </a:fld>
            <a:endParaRPr lang="fr-FR"/>
          </a:p>
        </p:txBody>
      </p:sp>
      <p:sp>
        <p:nvSpPr>
          <p:cNvPr id="3" name="Espace réservé du pied de page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fr-FR" smtClean="0"/>
              <a:t>Mme noura Ouerdi</a:t>
            </a:r>
            <a:endParaRPr lang="fr-FR"/>
          </a:p>
        </p:txBody>
      </p:sp>
      <p:sp>
        <p:nvSpPr>
          <p:cNvPr id="23" name="Espace réservé du numéro de diapositive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AF4AC9CB-BACC-434F-BBB7-96004CCDFA5E}"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fr.wikipedia.org/wiki/Langage_informatiqu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fr.wikipedia.org/wiki/Compilateur" TargetMode="External"/><Relationship Id="rId2" Type="http://schemas.openxmlformats.org/officeDocument/2006/relationships/hyperlink" Target="http://fr.wikipedia.org/wiki/Langage_de_script" TargetMode="External"/><Relationship Id="rId1" Type="http://schemas.openxmlformats.org/officeDocument/2006/relationships/slideLayout" Target="../slideLayouts/slideLayout2.xml"/><Relationship Id="rId6" Type="http://schemas.openxmlformats.org/officeDocument/2006/relationships/hyperlink" Target="http://fr.wikipedia.org/wiki/Expression_(informatique)" TargetMode="External"/><Relationship Id="rId5" Type="http://schemas.openxmlformats.org/officeDocument/2006/relationships/hyperlink" Target="http://fr.wikipedia.org/wiki/Cycle" TargetMode="External"/><Relationship Id="rId4" Type="http://schemas.openxmlformats.org/officeDocument/2006/relationships/hyperlink" Target="http://fr.wikipedia.org/wiki/Code_sourc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fr.wikipedia.org/wiki/Interpr%C3%A8te_(informatique)" TargetMode="External"/><Relationship Id="rId2" Type="http://schemas.openxmlformats.org/officeDocument/2006/relationships/hyperlink" Target="http://fr.wikipedia.org/wiki/Compilation_(informatiqu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fr.wikipedia.org/wiki/Macro-d%C3%A9finitio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lstStyle/>
          <a:p>
            <a:endParaRPr lang="fr-FR"/>
          </a:p>
        </p:txBody>
      </p:sp>
      <p:sp>
        <p:nvSpPr>
          <p:cNvPr id="2" name="Titre 1"/>
          <p:cNvSpPr>
            <a:spLocks noGrp="1"/>
          </p:cNvSpPr>
          <p:nvPr>
            <p:ph type="ctrTitle"/>
          </p:nvPr>
        </p:nvSpPr>
        <p:spPr/>
        <p:txBody>
          <a:bodyPr/>
          <a:lstStyle/>
          <a:p>
            <a:r>
              <a:rPr lang="fr-FR" dirty="0" smtClean="0"/>
              <a:t>Suite du cours de compilation</a:t>
            </a:r>
            <a:endParaRPr lang="fr-FR" dirty="0"/>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1</a:t>
            </a:fld>
            <a:endParaRPr lang="fr-F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Interpréteurs</a:t>
            </a:r>
            <a:endParaRPr lang="fr-FR" dirty="0"/>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2</a:t>
            </a:fld>
            <a:endParaRPr lang="fr-FR"/>
          </a:p>
        </p:txBody>
      </p:sp>
      <p:sp>
        <p:nvSpPr>
          <p:cNvPr id="6" name="Espace réservé du contenu 5"/>
          <p:cNvSpPr>
            <a:spLocks noGrp="1"/>
          </p:cNvSpPr>
          <p:nvPr>
            <p:ph sz="quarter" idx="1"/>
          </p:nvPr>
        </p:nvSpPr>
        <p:spPr/>
        <p:txBody>
          <a:bodyPr/>
          <a:lstStyle/>
          <a:p>
            <a:r>
              <a:rPr lang="fr-FR" dirty="0" smtClean="0"/>
              <a:t>Un </a:t>
            </a:r>
            <a:r>
              <a:rPr lang="fr-FR" b="1" dirty="0" smtClean="0"/>
              <a:t>interprète</a:t>
            </a:r>
            <a:r>
              <a:rPr lang="fr-FR" dirty="0" smtClean="0"/>
              <a:t>, ou </a:t>
            </a:r>
            <a:r>
              <a:rPr lang="fr-FR" b="1" dirty="0" smtClean="0"/>
              <a:t>interpréteur</a:t>
            </a:r>
            <a:r>
              <a:rPr lang="fr-FR" dirty="0" smtClean="0"/>
              <a:t>, est un outil ayant pour tâche d'analyser, de traduire et d'exécuter les programmes écrits dans un </a:t>
            </a:r>
            <a:r>
              <a:rPr lang="fr-FR" dirty="0" smtClean="0">
                <a:hlinkClick r:id="rId3" tooltip="Langage informatique"/>
              </a:rPr>
              <a:t>langage informatique</a:t>
            </a:r>
            <a:r>
              <a:rPr lang="fr-FR" dirty="0" smtClean="0"/>
              <a:t>. On qualifie les langages dont les programmes sont généralement exécutés par un interpréteur de </a:t>
            </a:r>
            <a:r>
              <a:rPr lang="fr-FR" i="1" dirty="0" smtClean="0">
                <a:solidFill>
                  <a:srgbClr val="FF0000"/>
                </a:solidFill>
              </a:rPr>
              <a:t>langages interprétés</a:t>
            </a:r>
            <a:r>
              <a:rPr lang="fr-FR" dirty="0" smtClean="0">
                <a:solidFill>
                  <a:srgbClr val="FF0000"/>
                </a:solidFill>
              </a:rPr>
              <a:t>.</a:t>
            </a:r>
          </a:p>
          <a:p>
            <a:r>
              <a:rPr lang="fr-FR" dirty="0" smtClean="0"/>
              <a:t>Un interpréteur se distingue d’un compilateur par le fait que, pour exécuter un programme, les opérations d’analyse et de traductions sont réalisées </a:t>
            </a:r>
            <a:r>
              <a:rPr lang="fr-FR" i="1" dirty="0" smtClean="0">
                <a:solidFill>
                  <a:srgbClr val="FF0000"/>
                </a:solidFill>
              </a:rPr>
              <a:t>à chaque exécution</a:t>
            </a:r>
            <a:r>
              <a:rPr lang="fr-FR" dirty="0" smtClean="0"/>
              <a:t> instruction par instruction du programme (par un interpréteur) plutôt qu’une fois pour toutes (par un compilateur).</a:t>
            </a:r>
          </a:p>
          <a:p>
            <a:endParaRPr lang="fr-F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Interpréteurs</a:t>
            </a:r>
            <a:endParaRPr lang="fr-FR" dirty="0"/>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3</a:t>
            </a:fld>
            <a:endParaRPr lang="fr-FR"/>
          </a:p>
        </p:txBody>
      </p:sp>
      <p:sp>
        <p:nvSpPr>
          <p:cNvPr id="6" name="Espace réservé du contenu 5"/>
          <p:cNvSpPr>
            <a:spLocks noGrp="1"/>
          </p:cNvSpPr>
          <p:nvPr>
            <p:ph sz="quarter" idx="1"/>
          </p:nvPr>
        </p:nvSpPr>
        <p:spPr>
          <a:xfrm>
            <a:off x="500034" y="1447800"/>
            <a:ext cx="8229600" cy="4572000"/>
          </a:xfrm>
        </p:spPr>
        <p:txBody>
          <a:bodyPr>
            <a:normAutofit lnSpcReduction="10000"/>
          </a:bodyPr>
          <a:lstStyle/>
          <a:p>
            <a:r>
              <a:rPr lang="fr-FR" dirty="0" smtClean="0"/>
              <a:t>On différencie un programme dit </a:t>
            </a:r>
            <a:r>
              <a:rPr lang="fr-FR" dirty="0" smtClean="0">
                <a:hlinkClick r:id="rId2" tooltip="Langage de script"/>
              </a:rPr>
              <a:t>script</a:t>
            </a:r>
            <a:r>
              <a:rPr lang="fr-FR" dirty="0" smtClean="0"/>
              <a:t>, d'un programme dit </a:t>
            </a:r>
            <a:r>
              <a:rPr lang="fr-FR" dirty="0" smtClean="0">
                <a:hlinkClick r:id="rId3" tooltip="Compilateur"/>
              </a:rPr>
              <a:t>compilé</a:t>
            </a:r>
            <a:r>
              <a:rPr lang="fr-FR" dirty="0" smtClean="0"/>
              <a:t>, par:</a:t>
            </a:r>
          </a:p>
          <a:p>
            <a:pPr>
              <a:buNone/>
            </a:pPr>
            <a:r>
              <a:rPr lang="fr-FR" dirty="0" smtClean="0"/>
              <a:t>- Un programme script est exécuté à partir du </a:t>
            </a:r>
            <a:r>
              <a:rPr lang="fr-FR" dirty="0" smtClean="0">
                <a:hlinkClick r:id="rId4" tooltip="Code source"/>
              </a:rPr>
              <a:t>fichier source</a:t>
            </a:r>
            <a:r>
              <a:rPr lang="fr-FR" dirty="0" smtClean="0"/>
              <a:t> via un interpréteur de script ;</a:t>
            </a:r>
          </a:p>
          <a:p>
            <a:pPr>
              <a:buNone/>
            </a:pPr>
            <a:r>
              <a:rPr lang="fr-FR" dirty="0" smtClean="0"/>
              <a:t>- Un programme compilé est exécuté à partir d'un bloc en langage machine issu de la traduction du fichier source.</a:t>
            </a:r>
          </a:p>
          <a:p>
            <a:r>
              <a:rPr lang="fr-FR" dirty="0" smtClean="0"/>
              <a:t>Le </a:t>
            </a:r>
            <a:r>
              <a:rPr lang="fr-FR" dirty="0" smtClean="0">
                <a:hlinkClick r:id="rId5" tooltip="Cycle"/>
              </a:rPr>
              <a:t>cycle</a:t>
            </a:r>
            <a:r>
              <a:rPr lang="fr-FR" dirty="0" smtClean="0"/>
              <a:t> d'un interprète est le suivant :</a:t>
            </a:r>
          </a:p>
          <a:p>
            <a:pPr>
              <a:buNone/>
            </a:pPr>
            <a:r>
              <a:rPr lang="fr-FR" dirty="0" smtClean="0"/>
              <a:t>- lire et analyser une instruction (ou </a:t>
            </a:r>
            <a:r>
              <a:rPr lang="fr-FR" dirty="0" smtClean="0">
                <a:hlinkClick r:id="rId6" tooltip="Expression (informatique)"/>
              </a:rPr>
              <a:t>expression</a:t>
            </a:r>
            <a:r>
              <a:rPr lang="fr-FR" dirty="0" smtClean="0"/>
              <a:t>) ;</a:t>
            </a:r>
          </a:p>
          <a:p>
            <a:pPr>
              <a:buNone/>
            </a:pPr>
            <a:r>
              <a:rPr lang="fr-FR" dirty="0" smtClean="0"/>
              <a:t>- si l'instruction est syntaxiquement correcte, l'exécuter (ou évaluer l'expression) ;</a:t>
            </a:r>
          </a:p>
          <a:p>
            <a:pPr>
              <a:buNone/>
            </a:pPr>
            <a:r>
              <a:rPr lang="fr-FR" dirty="0" smtClean="0"/>
              <a:t>- passer à l'instruction suivante.</a:t>
            </a:r>
          </a:p>
          <a:p>
            <a:endParaRPr lang="fr-F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Interpréteurs</a:t>
            </a:r>
            <a:endParaRPr lang="fr-FR" dirty="0"/>
          </a:p>
        </p:txBody>
      </p:sp>
      <p:sp>
        <p:nvSpPr>
          <p:cNvPr id="3" name="Espace réservé du contenu 2"/>
          <p:cNvSpPr>
            <a:spLocks noGrp="1"/>
          </p:cNvSpPr>
          <p:nvPr>
            <p:ph sz="quarter" idx="1"/>
          </p:nvPr>
        </p:nvSpPr>
        <p:spPr/>
        <p:txBody>
          <a:bodyPr/>
          <a:lstStyle/>
          <a:p>
            <a:r>
              <a:rPr lang="fr-FR" dirty="0" smtClean="0"/>
              <a:t>Certains traducteurs ne possèdent pas de phase de génération de code en langage machine.</a:t>
            </a:r>
          </a:p>
          <a:p>
            <a:r>
              <a:rPr lang="fr-FR" dirty="0" smtClean="0"/>
              <a:t>Ils s’arrêtent à la production de code intermédiaire(on peut penser par exemple à java qui produit un fichier binaire dans un format propriétaire avec l’extension .class).</a:t>
            </a:r>
          </a:p>
          <a:p>
            <a:r>
              <a:rPr lang="fr-FR" dirty="0" smtClean="0"/>
              <a:t>L’exécution du programme source consiste en une interprétation du code intermédiaire par un programme appelé </a:t>
            </a:r>
            <a:r>
              <a:rPr lang="fr-FR" dirty="0" smtClean="0">
                <a:solidFill>
                  <a:srgbClr val="FF0000"/>
                </a:solidFill>
              </a:rPr>
              <a:t>interprète</a:t>
            </a:r>
            <a:r>
              <a:rPr lang="fr-FR" dirty="0" smtClean="0"/>
              <a:t> ou </a:t>
            </a:r>
            <a:r>
              <a:rPr lang="fr-FR" dirty="0" smtClean="0">
                <a:solidFill>
                  <a:srgbClr val="FF0000"/>
                </a:solidFill>
              </a:rPr>
              <a:t>interpréteur</a:t>
            </a:r>
            <a:r>
              <a:rPr lang="fr-FR" dirty="0" smtClean="0"/>
              <a:t>.</a:t>
            </a:r>
          </a:p>
          <a:p>
            <a:r>
              <a:rPr lang="fr-FR" dirty="0" smtClean="0"/>
              <a:t>Dans le cas où le code interprété est de type binaire, on parle alors de </a:t>
            </a:r>
            <a:r>
              <a:rPr lang="fr-FR" dirty="0" err="1" smtClean="0">
                <a:solidFill>
                  <a:srgbClr val="FF0000"/>
                </a:solidFill>
              </a:rPr>
              <a:t>runtime</a:t>
            </a:r>
            <a:r>
              <a:rPr lang="fr-FR" dirty="0" smtClean="0"/>
              <a:t> ou </a:t>
            </a:r>
            <a:r>
              <a:rPr lang="fr-FR" dirty="0" smtClean="0">
                <a:solidFill>
                  <a:srgbClr val="FF0000"/>
                </a:solidFill>
              </a:rPr>
              <a:t>environnement d’exécution</a:t>
            </a:r>
            <a:r>
              <a:rPr lang="fr-FR" dirty="0" smtClean="0"/>
              <a:t>.</a:t>
            </a:r>
            <a:endParaRPr lang="fr-FR" dirty="0"/>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4</a:t>
            </a:fld>
            <a:endParaRPr lang="fr-F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Interpréteurs</a:t>
            </a:r>
            <a:endParaRPr lang="fr-FR" dirty="0"/>
          </a:p>
        </p:txBody>
      </p:sp>
      <p:sp>
        <p:nvSpPr>
          <p:cNvPr id="3" name="Espace réservé du contenu 2"/>
          <p:cNvSpPr>
            <a:spLocks noGrp="1"/>
          </p:cNvSpPr>
          <p:nvPr>
            <p:ph sz="quarter" idx="1"/>
          </p:nvPr>
        </p:nvSpPr>
        <p:spPr/>
        <p:txBody>
          <a:bodyPr/>
          <a:lstStyle/>
          <a:p>
            <a:r>
              <a:rPr lang="fr-FR" dirty="0" smtClean="0"/>
              <a:t>Pour l’exemple de Java: un programme en java est d’abord traduit en code intermédiaire (.class) par un traducteur et puis interprété par une machine java virtuelle (JVM).Le code (.class) intermédiaire est indépendant de la machine, il peut être interprété sur n’importe quelle machine disposant d’une JVM. </a:t>
            </a:r>
            <a:endParaRPr lang="fr-FR" dirty="0"/>
          </a:p>
        </p:txBody>
      </p:sp>
      <p:sp>
        <p:nvSpPr>
          <p:cNvPr id="4" name="Espace réservé de la date 3"/>
          <p:cNvSpPr>
            <a:spLocks noGrp="1"/>
          </p:cNvSpPr>
          <p:nvPr>
            <p:ph type="dt" sz="half" idx="10"/>
          </p:nvPr>
        </p:nvSpPr>
        <p:spPr/>
        <p:txBody>
          <a:bodyPr/>
          <a:lstStyle/>
          <a:p>
            <a:fld id="{92955C58-0E8D-464A-94A2-74E7738AB69B}"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5</a:t>
            </a:fld>
            <a:endParaRPr lang="fr-F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Différents types de traducteurs</a:t>
            </a:r>
            <a:endParaRPr lang="fr-FR" dirty="0"/>
          </a:p>
        </p:txBody>
      </p:sp>
      <p:sp>
        <p:nvSpPr>
          <p:cNvPr id="3" name="Espace réservé du contenu 2"/>
          <p:cNvSpPr>
            <a:spLocks noGrp="1"/>
          </p:cNvSpPr>
          <p:nvPr>
            <p:ph sz="quarter" idx="1"/>
          </p:nvPr>
        </p:nvSpPr>
        <p:spPr/>
        <p:txBody>
          <a:bodyPr/>
          <a:lstStyle/>
          <a:p>
            <a:r>
              <a:rPr lang="fr-FR" dirty="0" smtClean="0">
                <a:solidFill>
                  <a:srgbClr val="FF0000"/>
                </a:solidFill>
              </a:rPr>
              <a:t>Assembleurs</a:t>
            </a:r>
            <a:r>
              <a:rPr lang="fr-FR" dirty="0" smtClean="0"/>
              <a:t>: le langage source des assembleurs utilise une représentation symbolique des instructions machine. Un assembleur traduit une instruction symbolique en une instruction machine.</a:t>
            </a:r>
          </a:p>
          <a:p>
            <a:r>
              <a:rPr lang="fr-FR" dirty="0" smtClean="0">
                <a:solidFill>
                  <a:srgbClr val="FF0000"/>
                </a:solidFill>
              </a:rPr>
              <a:t>Compilateurs</a:t>
            </a:r>
            <a:r>
              <a:rPr lang="fr-FR" dirty="0" smtClean="0"/>
              <a:t>: le langage source des compilateurs est de haut niveau. Une instruction du langage source est souvent traduite en un nombre important d’instructions du langage objet de </a:t>
            </a:r>
            <a:r>
              <a:rPr lang="fr-FR" i="1" dirty="0" smtClean="0"/>
              <a:t>bas niveau</a:t>
            </a:r>
            <a:r>
              <a:rPr lang="fr-FR" dirty="0" smtClean="0"/>
              <a:t>. Lorsque le langage produit n'est pas destiné à la machine sur laquelle tourne le compilateur, on parle de </a:t>
            </a:r>
            <a:r>
              <a:rPr lang="fr-FR" i="1" dirty="0" smtClean="0">
                <a:solidFill>
                  <a:srgbClr val="FF0000"/>
                </a:solidFill>
              </a:rPr>
              <a:t>cross-compilateur</a:t>
            </a:r>
            <a:r>
              <a:rPr lang="fr-FR" dirty="0" smtClean="0"/>
              <a:t>.</a:t>
            </a:r>
            <a:endParaRPr lang="fr-FR" dirty="0"/>
          </a:p>
        </p:txBody>
      </p:sp>
      <p:sp>
        <p:nvSpPr>
          <p:cNvPr id="4" name="Espace réservé de la date 3"/>
          <p:cNvSpPr>
            <a:spLocks noGrp="1"/>
          </p:cNvSpPr>
          <p:nvPr>
            <p:ph type="dt" sz="half" idx="10"/>
          </p:nvPr>
        </p:nvSpPr>
        <p:spPr/>
        <p:txBody>
          <a:bodyPr/>
          <a:lstStyle/>
          <a:p>
            <a:fld id="{0E718F5C-4CE9-4EAC-BE37-CF2FEC0B7832}"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6</a:t>
            </a:fld>
            <a:endParaRPr lang="fr-F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Différents types de traducteurs</a:t>
            </a:r>
            <a:endParaRPr lang="fr-FR" dirty="0"/>
          </a:p>
        </p:txBody>
      </p:sp>
      <p:sp>
        <p:nvSpPr>
          <p:cNvPr id="3" name="Espace réservé du contenu 2"/>
          <p:cNvSpPr>
            <a:spLocks noGrp="1"/>
          </p:cNvSpPr>
          <p:nvPr>
            <p:ph sz="quarter" idx="1"/>
          </p:nvPr>
        </p:nvSpPr>
        <p:spPr/>
        <p:txBody>
          <a:bodyPr/>
          <a:lstStyle/>
          <a:p>
            <a:r>
              <a:rPr lang="fr-FR" dirty="0" smtClean="0"/>
              <a:t>Préprocesseur: est un programme qui procède à des transformations sur un code source, avant l'étape de traduction proprement dite (</a:t>
            </a:r>
            <a:r>
              <a:rPr lang="fr-FR" dirty="0" smtClean="0">
                <a:hlinkClick r:id="rId2" tooltip="Compilation (informatique)"/>
              </a:rPr>
              <a:t>compilation</a:t>
            </a:r>
            <a:r>
              <a:rPr lang="fr-FR" dirty="0" smtClean="0"/>
              <a:t> ou </a:t>
            </a:r>
            <a:r>
              <a:rPr lang="fr-FR" dirty="0" smtClean="0">
                <a:hlinkClick r:id="rId3" tooltip="Interprète (informatique)"/>
              </a:rPr>
              <a:t>interprétation</a:t>
            </a:r>
            <a:r>
              <a:rPr lang="fr-FR" dirty="0" smtClean="0"/>
              <a:t>). Le nom de préprocesseur s’explique par le fait que le rôle est d’effectuer un </a:t>
            </a:r>
            <a:r>
              <a:rPr lang="fr-FR" dirty="0" err="1" smtClean="0"/>
              <a:t>pré-traitement</a:t>
            </a:r>
            <a:r>
              <a:rPr lang="fr-FR" dirty="0" smtClean="0"/>
              <a:t> dont le résultat est destiné à un autre traducteur.</a:t>
            </a:r>
          </a:p>
          <a:p>
            <a:pPr>
              <a:buNone/>
            </a:pPr>
            <a:r>
              <a:rPr lang="fr-FR" dirty="0" smtClean="0"/>
              <a:t>- Le langage source et langage objet sont de haut niveau</a:t>
            </a:r>
          </a:p>
          <a:p>
            <a:pPr>
              <a:buNone/>
            </a:pPr>
            <a:r>
              <a:rPr lang="fr-FR" dirty="0" smtClean="0"/>
              <a:t>- Il y a 2 types de préprocesseurs:</a:t>
            </a:r>
            <a:endParaRPr lang="fr-FR" dirty="0"/>
          </a:p>
        </p:txBody>
      </p:sp>
      <p:sp>
        <p:nvSpPr>
          <p:cNvPr id="4" name="Espace réservé de la date 3"/>
          <p:cNvSpPr>
            <a:spLocks noGrp="1"/>
          </p:cNvSpPr>
          <p:nvPr>
            <p:ph type="dt" sz="half" idx="10"/>
          </p:nvPr>
        </p:nvSpPr>
        <p:spPr/>
        <p:txBody>
          <a:bodyPr/>
          <a:lstStyle/>
          <a:p>
            <a:fld id="{23B09357-421F-4E61-8111-D94210EDADF6}"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7</a:t>
            </a:fld>
            <a:endParaRPr lang="fr-F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Différents types de traducteurs</a:t>
            </a:r>
            <a:endParaRPr lang="fr-FR" dirty="0"/>
          </a:p>
        </p:txBody>
      </p:sp>
      <p:sp>
        <p:nvSpPr>
          <p:cNvPr id="3" name="Espace réservé du contenu 2"/>
          <p:cNvSpPr>
            <a:spLocks noGrp="1"/>
          </p:cNvSpPr>
          <p:nvPr>
            <p:ph sz="quarter" idx="1"/>
          </p:nvPr>
        </p:nvSpPr>
        <p:spPr/>
        <p:txBody>
          <a:bodyPr/>
          <a:lstStyle/>
          <a:p>
            <a:pPr>
              <a:buNone/>
            </a:pPr>
            <a:r>
              <a:rPr lang="fr-FR" dirty="0" smtClean="0"/>
              <a:t>1. Il y a ceux qui fournissent à l’utilisateur un sur-ensemble d’un langage donné en ajoutant certaines fonctionnalités absentes du langage. C’est le cas par exemple des préprocesseurs TBL, EQN et PIC utilisés avec le formateur TROFF sous Unix. Ils sont destinés à traduire des macro-instructions de </a:t>
            </a:r>
            <a:r>
              <a:rPr lang="fr-FR" dirty="0" err="1" smtClean="0"/>
              <a:t>pré-traitement</a:t>
            </a:r>
            <a:r>
              <a:rPr lang="fr-FR" dirty="0" smtClean="0"/>
              <a:t> et leurs arguments en code source </a:t>
            </a:r>
            <a:r>
              <a:rPr lang="fr-FR" dirty="0" err="1" smtClean="0"/>
              <a:t>troff</a:t>
            </a:r>
            <a:r>
              <a:rPr lang="fr-FR" dirty="0" smtClean="0"/>
              <a:t> standard. Le programme </a:t>
            </a:r>
            <a:r>
              <a:rPr lang="fr-FR" dirty="0" err="1" smtClean="0"/>
              <a:t>tbl</a:t>
            </a:r>
            <a:r>
              <a:rPr lang="fr-FR" dirty="0" smtClean="0"/>
              <a:t> est un préprocesseur de tableaux, </a:t>
            </a:r>
            <a:r>
              <a:rPr lang="fr-FR" dirty="0" err="1" smtClean="0"/>
              <a:t>eqn</a:t>
            </a:r>
            <a:r>
              <a:rPr lang="fr-FR" dirty="0" smtClean="0"/>
              <a:t> gère les équations et les mathématiques en général, et enfin pic est un préprocesseur d'images</a:t>
            </a:r>
          </a:p>
          <a:p>
            <a:endParaRPr lang="fr-FR" dirty="0"/>
          </a:p>
        </p:txBody>
      </p:sp>
      <p:sp>
        <p:nvSpPr>
          <p:cNvPr id="4" name="Espace réservé de la date 3"/>
          <p:cNvSpPr>
            <a:spLocks noGrp="1"/>
          </p:cNvSpPr>
          <p:nvPr>
            <p:ph type="dt" sz="half" idx="10"/>
          </p:nvPr>
        </p:nvSpPr>
        <p:spPr/>
        <p:txBody>
          <a:bodyPr/>
          <a:lstStyle/>
          <a:p>
            <a:fld id="{64A3A5A1-5248-444E-8545-5845BFE4A7CC}"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8</a:t>
            </a:fld>
            <a:endParaRPr lang="fr-F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Différents types de traducteurs</a:t>
            </a:r>
            <a:endParaRPr lang="fr-FR" dirty="0"/>
          </a:p>
        </p:txBody>
      </p:sp>
      <p:sp>
        <p:nvSpPr>
          <p:cNvPr id="3" name="Espace réservé du contenu 2"/>
          <p:cNvSpPr>
            <a:spLocks noGrp="1"/>
          </p:cNvSpPr>
          <p:nvPr>
            <p:ph sz="quarter" idx="1"/>
          </p:nvPr>
        </p:nvSpPr>
        <p:spPr/>
        <p:txBody>
          <a:bodyPr>
            <a:normAutofit lnSpcReduction="10000"/>
          </a:bodyPr>
          <a:lstStyle/>
          <a:p>
            <a:pPr>
              <a:buNone/>
            </a:pPr>
            <a:r>
              <a:rPr lang="fr-FR" dirty="0" smtClean="0"/>
              <a:t>2. Il y a ceux qui agissent en tant qu’outils de macro-expansion, comme avec le cas de TEX, C, </a:t>
            </a:r>
            <a:r>
              <a:rPr lang="fr-FR" dirty="0" err="1" smtClean="0"/>
              <a:t>postscript</a:t>
            </a:r>
            <a:r>
              <a:rPr lang="fr-FR" dirty="0" smtClean="0"/>
              <a:t>.</a:t>
            </a:r>
          </a:p>
          <a:p>
            <a:pPr>
              <a:buNone/>
            </a:pPr>
            <a:r>
              <a:rPr lang="fr-FR" dirty="0" smtClean="0"/>
              <a:t>   - Le mécanisme des </a:t>
            </a:r>
            <a:r>
              <a:rPr lang="fr-FR" dirty="0" smtClean="0">
                <a:hlinkClick r:id="rId3" tooltip="Macro-définition"/>
              </a:rPr>
              <a:t>macros</a:t>
            </a:r>
            <a:r>
              <a:rPr lang="fr-FR" dirty="0" smtClean="0"/>
              <a:t> est fréquemment utilisé en C pour définir de petits extraits de code qui seront réutilisés à divers endroits du programme.</a:t>
            </a:r>
          </a:p>
          <a:p>
            <a:r>
              <a:rPr lang="fr-FR" dirty="0" smtClean="0"/>
              <a:t>Décompilateurs et </a:t>
            </a:r>
            <a:r>
              <a:rPr lang="fr-FR" dirty="0" err="1" smtClean="0"/>
              <a:t>désasembleur</a:t>
            </a:r>
            <a:r>
              <a:rPr lang="fr-FR" dirty="0" smtClean="0"/>
              <a:t>: le langage source des </a:t>
            </a:r>
            <a:r>
              <a:rPr lang="fr-FR" dirty="0" err="1" smtClean="0"/>
              <a:t>désasembleurs</a:t>
            </a:r>
            <a:r>
              <a:rPr lang="fr-FR" dirty="0" smtClean="0"/>
              <a:t> est de plus bas niveau que le langage objet. En général, ces outils servent à regénérer un </a:t>
            </a:r>
            <a:r>
              <a:rPr lang="fr-FR" dirty="0" err="1" smtClean="0"/>
              <a:t>prog</a:t>
            </a:r>
            <a:r>
              <a:rPr lang="fr-FR" dirty="0" smtClean="0"/>
              <a:t> source à partir d’un </a:t>
            </a:r>
            <a:r>
              <a:rPr lang="fr-FR" dirty="0" err="1" smtClean="0"/>
              <a:t>prog</a:t>
            </a:r>
            <a:r>
              <a:rPr lang="fr-FR" dirty="0" smtClean="0"/>
              <a:t> objet. Ils sont utilisés par exemple pour l’étude des virus dans la recherche de leur signature et leurs mécanismes d’activation</a:t>
            </a:r>
            <a:endParaRPr lang="fr-FR" dirty="0"/>
          </a:p>
        </p:txBody>
      </p:sp>
      <p:sp>
        <p:nvSpPr>
          <p:cNvPr id="4" name="Espace réservé de la date 3"/>
          <p:cNvSpPr>
            <a:spLocks noGrp="1"/>
          </p:cNvSpPr>
          <p:nvPr>
            <p:ph type="dt" sz="half" idx="10"/>
          </p:nvPr>
        </p:nvSpPr>
        <p:spPr/>
        <p:txBody>
          <a:bodyPr/>
          <a:lstStyle/>
          <a:p>
            <a:fld id="{DA00A414-939E-46D5-99A2-031E522204A0}"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9</a:t>
            </a:fld>
            <a:endParaRPr lang="fr-F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Compilateurs &amp; interpréteurs</a:t>
            </a:r>
            <a:endParaRPr lang="fr-FR" dirty="0"/>
          </a:p>
        </p:txBody>
      </p:sp>
      <p:sp>
        <p:nvSpPr>
          <p:cNvPr id="3" name="Espace réservé du contenu 2"/>
          <p:cNvSpPr>
            <a:spLocks noGrp="1"/>
          </p:cNvSpPr>
          <p:nvPr>
            <p:ph sz="quarter" idx="1"/>
          </p:nvPr>
        </p:nvSpPr>
        <p:spPr>
          <a:xfrm>
            <a:off x="895352" y="1357314"/>
            <a:ext cx="7772400" cy="4000512"/>
          </a:xfrm>
        </p:spPr>
        <p:txBody>
          <a:bodyPr/>
          <a:lstStyle/>
          <a:p>
            <a:pPr>
              <a:buNone/>
            </a:pPr>
            <a:endParaRPr lang="fr-FR" dirty="0"/>
          </a:p>
        </p:txBody>
      </p:sp>
      <p:sp>
        <p:nvSpPr>
          <p:cNvPr id="5" name="Rectangle à coins arrondis 4"/>
          <p:cNvSpPr/>
          <p:nvPr/>
        </p:nvSpPr>
        <p:spPr>
          <a:xfrm>
            <a:off x="500034" y="2500306"/>
            <a:ext cx="1843094" cy="100013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smtClean="0"/>
              <a:t>Langage Source S</a:t>
            </a:r>
            <a:endParaRPr lang="fr-FR" dirty="0"/>
          </a:p>
        </p:txBody>
      </p:sp>
      <p:sp>
        <p:nvSpPr>
          <p:cNvPr id="6" name="Rectangle à coins arrondis 5"/>
          <p:cNvSpPr/>
          <p:nvPr/>
        </p:nvSpPr>
        <p:spPr>
          <a:xfrm>
            <a:off x="6500826" y="2428868"/>
            <a:ext cx="1700218" cy="92869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smtClean="0"/>
              <a:t>Langage Cible O ou objet</a:t>
            </a:r>
            <a:endParaRPr lang="fr-FR" dirty="0"/>
          </a:p>
        </p:txBody>
      </p:sp>
      <p:sp>
        <p:nvSpPr>
          <p:cNvPr id="7" name="Rectangle à coins arrondis 6"/>
          <p:cNvSpPr/>
          <p:nvPr/>
        </p:nvSpPr>
        <p:spPr>
          <a:xfrm>
            <a:off x="3286116" y="4000504"/>
            <a:ext cx="1985970" cy="128588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smtClean="0"/>
              <a:t>Langage hôte ou d’implémentation</a:t>
            </a:r>
            <a:endParaRPr lang="fr-FR" dirty="0"/>
          </a:p>
        </p:txBody>
      </p:sp>
      <p:sp>
        <p:nvSpPr>
          <p:cNvPr id="8" name="Ellipse 7"/>
          <p:cNvSpPr/>
          <p:nvPr/>
        </p:nvSpPr>
        <p:spPr>
          <a:xfrm>
            <a:off x="3500430" y="2428868"/>
            <a:ext cx="1571636"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smtClean="0"/>
              <a:t>Traducteur</a:t>
            </a:r>
            <a:endParaRPr lang="fr-FR" dirty="0"/>
          </a:p>
        </p:txBody>
      </p:sp>
      <p:sp>
        <p:nvSpPr>
          <p:cNvPr id="9" name="ZoneTexte 8"/>
          <p:cNvSpPr txBox="1"/>
          <p:nvPr/>
        </p:nvSpPr>
        <p:spPr>
          <a:xfrm>
            <a:off x="1643042" y="5500702"/>
            <a:ext cx="6715172" cy="369332"/>
          </a:xfrm>
          <a:prstGeom prst="rect">
            <a:avLst/>
          </a:prstGeom>
          <a:noFill/>
        </p:spPr>
        <p:txBody>
          <a:bodyPr wrap="square" rtlCol="0">
            <a:spAutoFit/>
          </a:bodyPr>
          <a:lstStyle/>
          <a:p>
            <a:pPr algn="ctr"/>
            <a:r>
              <a:rPr lang="fr-FR" dirty="0" smtClean="0"/>
              <a:t>T-diagramme pour un traducteur</a:t>
            </a:r>
            <a:endParaRPr lang="fr-FR" dirty="0"/>
          </a:p>
        </p:txBody>
      </p:sp>
      <p:sp>
        <p:nvSpPr>
          <p:cNvPr id="10" name="Espace réservé de la date 9"/>
          <p:cNvSpPr>
            <a:spLocks noGrp="1"/>
          </p:cNvSpPr>
          <p:nvPr>
            <p:ph type="dt" sz="half" idx="10"/>
          </p:nvPr>
        </p:nvSpPr>
        <p:spPr/>
        <p:txBody>
          <a:bodyPr/>
          <a:lstStyle/>
          <a:p>
            <a:fld id="{FBC49E88-BDC5-4573-BE8E-6350FF5622FD}" type="datetime1">
              <a:rPr lang="fr-FR" smtClean="0"/>
              <a:pPr/>
              <a:t>26/04/2024</a:t>
            </a:fld>
            <a:endParaRPr lang="fr-FR"/>
          </a:p>
        </p:txBody>
      </p:sp>
      <p:sp>
        <p:nvSpPr>
          <p:cNvPr id="11" name="Espace réservé du numéro de diapositive 10"/>
          <p:cNvSpPr>
            <a:spLocks noGrp="1"/>
          </p:cNvSpPr>
          <p:nvPr>
            <p:ph type="sldNum" sz="quarter" idx="12"/>
          </p:nvPr>
        </p:nvSpPr>
        <p:spPr/>
        <p:txBody>
          <a:bodyPr/>
          <a:lstStyle/>
          <a:p>
            <a:fld id="{AF4AC9CB-BACC-434F-BBB7-96004CCDFA5E}" type="slidenum">
              <a:rPr lang="fr-FR" smtClean="0"/>
              <a:pPr/>
              <a:t>10</a:t>
            </a:fld>
            <a:endParaRPr lang="fr-F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Compilateurs &amp; interpréteurs</a:t>
            </a:r>
            <a:endParaRPr lang="fr-FR" dirty="0"/>
          </a:p>
        </p:txBody>
      </p:sp>
      <p:sp>
        <p:nvSpPr>
          <p:cNvPr id="3" name="Espace réservé du contenu 2"/>
          <p:cNvSpPr>
            <a:spLocks noGrp="1"/>
          </p:cNvSpPr>
          <p:nvPr>
            <p:ph sz="quarter" idx="1"/>
          </p:nvPr>
        </p:nvSpPr>
        <p:spPr/>
        <p:txBody>
          <a:bodyPr/>
          <a:lstStyle/>
          <a:p>
            <a:r>
              <a:rPr lang="fr-FR" dirty="0" smtClean="0"/>
              <a:t>On caractérise un traducteur par 3 langages:</a:t>
            </a:r>
          </a:p>
          <a:p>
            <a:pPr marL="514350" indent="-514350">
              <a:buAutoNum type="arabicPeriod"/>
            </a:pPr>
            <a:r>
              <a:rPr lang="fr-FR" dirty="0" smtClean="0"/>
              <a:t>Le langage source S qu’il traduit</a:t>
            </a:r>
          </a:p>
          <a:p>
            <a:pPr marL="514350" indent="-514350">
              <a:buAutoNum type="arabicPeriod"/>
            </a:pPr>
            <a:r>
              <a:rPr lang="fr-FR" dirty="0" smtClean="0"/>
              <a:t>Le langage cible ou objet vers lequel produit le code </a:t>
            </a:r>
          </a:p>
          <a:p>
            <a:pPr marL="514350" indent="-514350">
              <a:buAutoNum type="arabicPeriod"/>
            </a:pPr>
            <a:r>
              <a:rPr lang="fr-FR" dirty="0" smtClean="0"/>
              <a:t>Le langage hôte dans lequel il se présente</a:t>
            </a:r>
          </a:p>
          <a:p>
            <a:pPr marL="514350" indent="-514350">
              <a:buNone/>
            </a:pPr>
            <a:r>
              <a:rPr lang="fr-FR" dirty="0" smtClean="0"/>
              <a:t>On représente ces 3 langages dans un diagramme en T appelé T-diagramme en raison de sa forme.</a:t>
            </a:r>
            <a:endParaRPr lang="fr-FR" dirty="0"/>
          </a:p>
        </p:txBody>
      </p:sp>
      <p:sp>
        <p:nvSpPr>
          <p:cNvPr id="4" name="Espace réservé de la date 3"/>
          <p:cNvSpPr>
            <a:spLocks noGrp="1"/>
          </p:cNvSpPr>
          <p:nvPr>
            <p:ph type="dt" sz="half" idx="10"/>
          </p:nvPr>
        </p:nvSpPr>
        <p:spPr/>
        <p:txBody>
          <a:bodyPr/>
          <a:lstStyle/>
          <a:p>
            <a:fld id="{6DB44B40-B2E7-464C-8660-F7FE1BBC2A64}"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11</a:t>
            </a:fld>
            <a:endParaRPr lang="fr-F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Compilateurs &amp; interpréteurs</a:t>
            </a:r>
            <a:endParaRPr lang="fr-FR" dirty="0"/>
          </a:p>
        </p:txBody>
      </p:sp>
      <p:sp>
        <p:nvSpPr>
          <p:cNvPr id="3" name="Espace réservé du contenu 2"/>
          <p:cNvSpPr>
            <a:spLocks noGrp="1"/>
          </p:cNvSpPr>
          <p:nvPr>
            <p:ph sz="quarter" idx="1"/>
          </p:nvPr>
        </p:nvSpPr>
        <p:spPr/>
        <p:txBody>
          <a:bodyPr/>
          <a:lstStyle/>
          <a:p>
            <a:r>
              <a:rPr lang="fr-FR" dirty="0" smtClean="0"/>
              <a:t>Un T-diagramme est noté aussi par:</a:t>
            </a:r>
          </a:p>
          <a:p>
            <a:pPr>
              <a:buNone/>
            </a:pPr>
            <a:endParaRPr lang="fr-FR" dirty="0" smtClean="0"/>
          </a:p>
          <a:p>
            <a:pPr>
              <a:buNone/>
            </a:pPr>
            <a:endParaRPr lang="fr-FR" dirty="0" smtClean="0"/>
          </a:p>
          <a:p>
            <a:pPr>
              <a:buNone/>
            </a:pPr>
            <a:r>
              <a:rPr lang="fr-FR" dirty="0" smtClean="0"/>
              <a:t>               S         traducteur       O</a:t>
            </a:r>
          </a:p>
          <a:p>
            <a:pPr>
              <a:buNone/>
            </a:pPr>
            <a:r>
              <a:rPr lang="fr-FR" dirty="0" smtClean="0"/>
              <a:t>                               I</a:t>
            </a:r>
            <a:endParaRPr lang="fr-FR" dirty="0"/>
          </a:p>
        </p:txBody>
      </p:sp>
      <p:cxnSp>
        <p:nvCxnSpPr>
          <p:cNvPr id="5" name="Connecteur droit 4"/>
          <p:cNvCxnSpPr/>
          <p:nvPr/>
        </p:nvCxnSpPr>
        <p:spPr>
          <a:xfrm>
            <a:off x="1857356" y="2571744"/>
            <a:ext cx="335758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necteur droit 6"/>
          <p:cNvCxnSpPr/>
          <p:nvPr/>
        </p:nvCxnSpPr>
        <p:spPr>
          <a:xfrm>
            <a:off x="1857356" y="3429000"/>
            <a:ext cx="100013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necteur droit 8"/>
          <p:cNvCxnSpPr/>
          <p:nvPr/>
        </p:nvCxnSpPr>
        <p:spPr>
          <a:xfrm>
            <a:off x="3857620" y="3429000"/>
            <a:ext cx="135732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a:xfrm rot="5400000">
            <a:off x="4786314" y="3000372"/>
            <a:ext cx="85725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rot="5400000">
            <a:off x="1428728" y="3000372"/>
            <a:ext cx="85725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a:xfrm rot="5400000">
            <a:off x="2428860" y="3857628"/>
            <a:ext cx="85725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a:xfrm rot="5400000">
            <a:off x="3429786" y="3856834"/>
            <a:ext cx="85725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a:xfrm>
            <a:off x="2857488" y="4286256"/>
            <a:ext cx="1000132" cy="1588"/>
          </a:xfrm>
          <a:prstGeom prst="line">
            <a:avLst/>
          </a:prstGeom>
        </p:spPr>
        <p:style>
          <a:lnRef idx="1">
            <a:schemeClr val="accent1"/>
          </a:lnRef>
          <a:fillRef idx="0">
            <a:schemeClr val="accent1"/>
          </a:fillRef>
          <a:effectRef idx="0">
            <a:schemeClr val="accent1"/>
          </a:effectRef>
          <a:fontRef idx="minor">
            <a:schemeClr val="tx1"/>
          </a:fontRef>
        </p:style>
      </p:cxnSp>
      <p:sp>
        <p:nvSpPr>
          <p:cNvPr id="24" name="ZoneTexte 23"/>
          <p:cNvSpPr txBox="1"/>
          <p:nvPr/>
        </p:nvSpPr>
        <p:spPr>
          <a:xfrm>
            <a:off x="1428728" y="4572008"/>
            <a:ext cx="5929354" cy="369332"/>
          </a:xfrm>
          <a:prstGeom prst="rect">
            <a:avLst/>
          </a:prstGeom>
          <a:noFill/>
        </p:spPr>
        <p:txBody>
          <a:bodyPr wrap="square" rtlCol="0">
            <a:spAutoFit/>
          </a:bodyPr>
          <a:lstStyle/>
          <a:p>
            <a:r>
              <a:rPr lang="fr-FR" dirty="0" smtClean="0"/>
              <a:t>T-diagramme pour un traducteur</a:t>
            </a:r>
            <a:endParaRPr lang="fr-FR" dirty="0"/>
          </a:p>
        </p:txBody>
      </p:sp>
      <p:sp>
        <p:nvSpPr>
          <p:cNvPr id="26" name="Espace réservé de la date 25"/>
          <p:cNvSpPr>
            <a:spLocks noGrp="1"/>
          </p:cNvSpPr>
          <p:nvPr>
            <p:ph type="dt" sz="half" idx="10"/>
          </p:nvPr>
        </p:nvSpPr>
        <p:spPr/>
        <p:txBody>
          <a:bodyPr/>
          <a:lstStyle/>
          <a:p>
            <a:fld id="{3F70DFCC-FCF1-496E-8D50-44E6E5FC9F51}" type="datetime1">
              <a:rPr lang="fr-FR" smtClean="0"/>
              <a:pPr/>
              <a:t>26/04/2024</a:t>
            </a:fld>
            <a:endParaRPr lang="fr-FR"/>
          </a:p>
        </p:txBody>
      </p:sp>
      <p:sp>
        <p:nvSpPr>
          <p:cNvPr id="27" name="Espace réservé du numéro de diapositive 26"/>
          <p:cNvSpPr>
            <a:spLocks noGrp="1"/>
          </p:cNvSpPr>
          <p:nvPr>
            <p:ph type="sldNum" sz="quarter" idx="12"/>
          </p:nvPr>
        </p:nvSpPr>
        <p:spPr/>
        <p:txBody>
          <a:bodyPr/>
          <a:lstStyle/>
          <a:p>
            <a:fld id="{AF4AC9CB-BACC-434F-BBB7-96004CCDFA5E}" type="slidenum">
              <a:rPr lang="fr-FR" smtClean="0"/>
              <a:pPr/>
              <a:t>12</a:t>
            </a:fld>
            <a:endParaRPr lang="fr-F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Compilateurs &amp; interpréteurs</a:t>
            </a:r>
            <a:endParaRPr lang="fr-FR" dirty="0"/>
          </a:p>
        </p:txBody>
      </p:sp>
      <p:sp>
        <p:nvSpPr>
          <p:cNvPr id="3" name="Espace réservé du contenu 2"/>
          <p:cNvSpPr>
            <a:spLocks noGrp="1"/>
          </p:cNvSpPr>
          <p:nvPr>
            <p:ph sz="quarter" idx="1"/>
          </p:nvPr>
        </p:nvSpPr>
        <p:spPr/>
        <p:txBody>
          <a:bodyPr/>
          <a:lstStyle/>
          <a:p>
            <a:r>
              <a:rPr lang="fr-FR" dirty="0" smtClean="0"/>
              <a:t>Exemple: La compilation C de </a:t>
            </a:r>
            <a:r>
              <a:rPr lang="fr-FR" dirty="0" err="1" smtClean="0"/>
              <a:t>test.c</a:t>
            </a:r>
            <a:r>
              <a:rPr lang="fr-FR" dirty="0" smtClean="0"/>
              <a:t> sur une machine SUN3 avec un processeur 68000 sera notée par le T-diagramme:</a:t>
            </a:r>
          </a:p>
          <a:p>
            <a:pPr>
              <a:buNone/>
            </a:pPr>
            <a:endParaRPr lang="fr-FR" dirty="0" smtClean="0"/>
          </a:p>
          <a:p>
            <a:pPr>
              <a:buNone/>
            </a:pPr>
            <a:r>
              <a:rPr lang="fr-FR" dirty="0" smtClean="0"/>
              <a:t> </a:t>
            </a:r>
            <a:r>
              <a:rPr lang="fr-FR" dirty="0" err="1" smtClean="0"/>
              <a:t>Test.c</a:t>
            </a:r>
            <a:r>
              <a:rPr lang="fr-FR" dirty="0" smtClean="0"/>
              <a:t>    C             CC   code 68000    a.out</a:t>
            </a:r>
          </a:p>
          <a:p>
            <a:pPr>
              <a:buNone/>
            </a:pPr>
            <a:r>
              <a:rPr lang="fr-FR" dirty="0" smtClean="0"/>
              <a:t>                          code</a:t>
            </a:r>
          </a:p>
          <a:p>
            <a:pPr>
              <a:buNone/>
            </a:pPr>
            <a:r>
              <a:rPr lang="fr-FR" dirty="0" smtClean="0"/>
              <a:t>                          68000</a:t>
            </a:r>
            <a:endParaRPr lang="fr-FR" dirty="0"/>
          </a:p>
        </p:txBody>
      </p:sp>
      <p:cxnSp>
        <p:nvCxnSpPr>
          <p:cNvPr id="5" name="Connecteur droit 4"/>
          <p:cNvCxnSpPr/>
          <p:nvPr/>
        </p:nvCxnSpPr>
        <p:spPr>
          <a:xfrm>
            <a:off x="1857356" y="2571744"/>
            <a:ext cx="335758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necteur droit 6"/>
          <p:cNvCxnSpPr/>
          <p:nvPr/>
        </p:nvCxnSpPr>
        <p:spPr>
          <a:xfrm>
            <a:off x="1857356" y="3429000"/>
            <a:ext cx="100013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necteur droit 8"/>
          <p:cNvCxnSpPr/>
          <p:nvPr/>
        </p:nvCxnSpPr>
        <p:spPr>
          <a:xfrm>
            <a:off x="3857620" y="3429000"/>
            <a:ext cx="135732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a:xfrm rot="5400000">
            <a:off x="4786314" y="3000372"/>
            <a:ext cx="85725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rot="5400000">
            <a:off x="1428728" y="3000372"/>
            <a:ext cx="85725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a:xfrm rot="5400000">
            <a:off x="2428860" y="3857628"/>
            <a:ext cx="85725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a:xfrm rot="5400000">
            <a:off x="3429786" y="3856834"/>
            <a:ext cx="85725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a:xfrm>
            <a:off x="2857488" y="4286256"/>
            <a:ext cx="1000132" cy="1588"/>
          </a:xfrm>
          <a:prstGeom prst="line">
            <a:avLst/>
          </a:prstGeom>
        </p:spPr>
        <p:style>
          <a:lnRef idx="1">
            <a:schemeClr val="accent1"/>
          </a:lnRef>
          <a:fillRef idx="0">
            <a:schemeClr val="accent1"/>
          </a:fillRef>
          <a:effectRef idx="0">
            <a:schemeClr val="accent1"/>
          </a:effectRef>
          <a:fontRef idx="minor">
            <a:schemeClr val="tx1"/>
          </a:fontRef>
        </p:style>
      </p:cxnSp>
      <p:sp>
        <p:nvSpPr>
          <p:cNvPr id="24" name="ZoneTexte 23"/>
          <p:cNvSpPr txBox="1"/>
          <p:nvPr/>
        </p:nvSpPr>
        <p:spPr>
          <a:xfrm>
            <a:off x="1428728" y="4572008"/>
            <a:ext cx="5929354" cy="369332"/>
          </a:xfrm>
          <a:prstGeom prst="rect">
            <a:avLst/>
          </a:prstGeom>
          <a:noFill/>
        </p:spPr>
        <p:txBody>
          <a:bodyPr wrap="square" rtlCol="0">
            <a:spAutoFit/>
          </a:bodyPr>
          <a:lstStyle/>
          <a:p>
            <a:r>
              <a:rPr lang="fr-FR" dirty="0" smtClean="0"/>
              <a:t>T-diagramme pour un traducteur</a:t>
            </a:r>
            <a:endParaRPr lang="fr-FR" dirty="0"/>
          </a:p>
        </p:txBody>
      </p:sp>
      <p:sp>
        <p:nvSpPr>
          <p:cNvPr id="18" name="Espace réservé de la date 17"/>
          <p:cNvSpPr>
            <a:spLocks noGrp="1"/>
          </p:cNvSpPr>
          <p:nvPr>
            <p:ph type="dt" sz="half" idx="10"/>
          </p:nvPr>
        </p:nvSpPr>
        <p:spPr/>
        <p:txBody>
          <a:bodyPr/>
          <a:lstStyle/>
          <a:p>
            <a:fld id="{24A09BDD-F1EA-404F-B800-AD5640E7BBB6}" type="datetime1">
              <a:rPr lang="fr-FR" smtClean="0"/>
              <a:pPr/>
              <a:t>26/04/2024</a:t>
            </a:fld>
            <a:endParaRPr lang="fr-FR"/>
          </a:p>
        </p:txBody>
      </p:sp>
      <p:sp>
        <p:nvSpPr>
          <p:cNvPr id="19" name="Espace réservé du numéro de diapositive 18"/>
          <p:cNvSpPr>
            <a:spLocks noGrp="1"/>
          </p:cNvSpPr>
          <p:nvPr>
            <p:ph type="sldNum" sz="quarter" idx="12"/>
          </p:nvPr>
        </p:nvSpPr>
        <p:spPr/>
        <p:txBody>
          <a:bodyPr/>
          <a:lstStyle/>
          <a:p>
            <a:fld id="{AF4AC9CB-BACC-434F-BBB7-96004CCDFA5E}" type="slidenum">
              <a:rPr lang="fr-FR" smtClean="0"/>
              <a:pPr/>
              <a:t>13</a:t>
            </a:fld>
            <a:endParaRPr lang="fr-F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Auto-amorçage ou </a:t>
            </a:r>
            <a:r>
              <a:rPr lang="fr-FR" dirty="0" err="1" smtClean="0"/>
              <a:t>Bootstrapping</a:t>
            </a:r>
            <a:endParaRPr lang="fr-FR" dirty="0"/>
          </a:p>
        </p:txBody>
      </p:sp>
      <p:sp>
        <p:nvSpPr>
          <p:cNvPr id="3" name="Espace réservé du contenu 2"/>
          <p:cNvSpPr>
            <a:spLocks noGrp="1"/>
          </p:cNvSpPr>
          <p:nvPr>
            <p:ph sz="quarter" idx="1"/>
          </p:nvPr>
        </p:nvSpPr>
        <p:spPr/>
        <p:txBody>
          <a:bodyPr/>
          <a:lstStyle/>
          <a:p>
            <a:r>
              <a:rPr lang="fr-FR" dirty="0" smtClean="0"/>
              <a:t>Les compilateurs C sous linux sont écrit en C. ceci soulève 2 questions:</a:t>
            </a:r>
          </a:p>
          <a:p>
            <a:r>
              <a:rPr lang="fr-FR" dirty="0" smtClean="0"/>
              <a:t>Comment fut compilé le 1</a:t>
            </a:r>
            <a:r>
              <a:rPr lang="fr-FR" baseline="30000" dirty="0" smtClean="0"/>
              <a:t>er</a:t>
            </a:r>
            <a:r>
              <a:rPr lang="fr-FR" dirty="0" smtClean="0"/>
              <a:t> compilateur?</a:t>
            </a:r>
          </a:p>
          <a:p>
            <a:r>
              <a:rPr lang="fr-FR" dirty="0" smtClean="0"/>
              <a:t>Comment coder un compilateur d’un langage donné dans son propre langage?</a:t>
            </a:r>
          </a:p>
          <a:p>
            <a:pPr>
              <a:buNone/>
            </a:pPr>
            <a:endParaRPr lang="fr-FR" dirty="0" smtClean="0"/>
          </a:p>
          <a:p>
            <a:pPr>
              <a:buNone/>
            </a:pPr>
            <a:endParaRPr lang="fr-FR" dirty="0"/>
          </a:p>
        </p:txBody>
      </p:sp>
      <p:sp>
        <p:nvSpPr>
          <p:cNvPr id="4" name="Espace réservé de la date 3"/>
          <p:cNvSpPr>
            <a:spLocks noGrp="1"/>
          </p:cNvSpPr>
          <p:nvPr>
            <p:ph type="dt" sz="half" idx="10"/>
          </p:nvPr>
        </p:nvSpPr>
        <p:spPr/>
        <p:txBody>
          <a:bodyPr/>
          <a:lstStyle/>
          <a:p>
            <a:fld id="{E20A6415-B66D-4843-B29B-726F19CD902C}"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14</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heckerboard(across)">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heckerboard(across)">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Auto-amorçage ou </a:t>
            </a:r>
            <a:r>
              <a:rPr lang="fr-FR" dirty="0" err="1" smtClean="0"/>
              <a:t>Bootstrapping</a:t>
            </a:r>
            <a:endParaRPr lang="fr-FR" dirty="0"/>
          </a:p>
        </p:txBody>
      </p:sp>
      <p:sp>
        <p:nvSpPr>
          <p:cNvPr id="3" name="Espace réservé du contenu 2"/>
          <p:cNvSpPr>
            <a:spLocks noGrp="1"/>
          </p:cNvSpPr>
          <p:nvPr>
            <p:ph sz="quarter" idx="1"/>
          </p:nvPr>
        </p:nvSpPr>
        <p:spPr/>
        <p:txBody>
          <a:bodyPr>
            <a:normAutofit lnSpcReduction="10000"/>
          </a:bodyPr>
          <a:lstStyle/>
          <a:p>
            <a:r>
              <a:rPr lang="fr-FR" dirty="0" smtClean="0"/>
              <a:t>Le fait de coder un compilateur dans son propre langage est connu sous le nom « </a:t>
            </a:r>
            <a:r>
              <a:rPr lang="fr-FR" dirty="0" err="1" smtClean="0">
                <a:solidFill>
                  <a:srgbClr val="FF0000"/>
                </a:solidFill>
              </a:rPr>
              <a:t>bootstrapping</a:t>
            </a:r>
            <a:r>
              <a:rPr lang="fr-FR" dirty="0" smtClean="0"/>
              <a:t> »  ou «</a:t>
            </a:r>
            <a:r>
              <a:rPr lang="fr-FR" dirty="0" smtClean="0">
                <a:solidFill>
                  <a:srgbClr val="FF0000"/>
                </a:solidFill>
              </a:rPr>
              <a:t> auto-amorçage </a:t>
            </a:r>
            <a:r>
              <a:rPr lang="fr-FR" dirty="0" smtClean="0"/>
              <a:t>». Les techniques et idées sont connues depuis le milieu des années 50.</a:t>
            </a:r>
          </a:p>
          <a:p>
            <a:r>
              <a:rPr lang="fr-FR" dirty="0" smtClean="0"/>
              <a:t>Les avantages de l’auto-amorçage:</a:t>
            </a:r>
          </a:p>
          <a:p>
            <a:pPr>
              <a:buFontTx/>
              <a:buChar char="-"/>
            </a:pPr>
            <a:r>
              <a:rPr lang="fr-FR" dirty="0" smtClean="0"/>
              <a:t>Démonstration de force pour un nouveau langage qui constitue son utilisation pour générer son propre compilateur</a:t>
            </a:r>
          </a:p>
          <a:p>
            <a:pPr>
              <a:buFontTx/>
              <a:buChar char="-"/>
            </a:pPr>
            <a:r>
              <a:rPr lang="fr-FR" dirty="0" smtClean="0"/>
              <a:t>La portabilité entre différents environnements: le même programme se compile correctement et fait la même chose sur différents types de machines</a:t>
            </a:r>
            <a:endParaRPr lang="fr-FR" dirty="0"/>
          </a:p>
        </p:txBody>
      </p:sp>
      <p:sp>
        <p:nvSpPr>
          <p:cNvPr id="4" name="Espace réservé de la date 3"/>
          <p:cNvSpPr>
            <a:spLocks noGrp="1"/>
          </p:cNvSpPr>
          <p:nvPr>
            <p:ph type="dt" sz="half" idx="10"/>
          </p:nvPr>
        </p:nvSpPr>
        <p:spPr/>
        <p:txBody>
          <a:bodyPr/>
          <a:lstStyle/>
          <a:p>
            <a:fld id="{54009FB0-56EC-438A-A8DC-2AB98142013E}"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15</a:t>
            </a:fld>
            <a:endParaRPr lang="fr-F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Auto-amorçage ou </a:t>
            </a:r>
            <a:r>
              <a:rPr lang="fr-FR" dirty="0" err="1" smtClean="0"/>
              <a:t>Bootstrapping</a:t>
            </a:r>
            <a:endParaRPr lang="fr-FR" dirty="0"/>
          </a:p>
        </p:txBody>
      </p:sp>
      <p:sp>
        <p:nvSpPr>
          <p:cNvPr id="3" name="Espace réservé du contenu 2"/>
          <p:cNvSpPr>
            <a:spLocks noGrp="1"/>
          </p:cNvSpPr>
          <p:nvPr>
            <p:ph sz="quarter" idx="1"/>
          </p:nvPr>
        </p:nvSpPr>
        <p:spPr/>
        <p:txBody>
          <a:bodyPr>
            <a:normAutofit fontScale="92500"/>
          </a:bodyPr>
          <a:lstStyle/>
          <a:p>
            <a:r>
              <a:rPr lang="fr-FR" dirty="0" smtClean="0"/>
              <a:t>Exemple de Pascal: Prenons l’exemple du 1</a:t>
            </a:r>
            <a:r>
              <a:rPr lang="fr-FR" baseline="30000" dirty="0" smtClean="0"/>
              <a:t>er</a:t>
            </a:r>
            <a:r>
              <a:rPr lang="fr-FR" dirty="0" smtClean="0"/>
              <a:t> compilateur Pascal (1962) sur une machine CDC (Control data) par WIRTH, créateur du langage. il a commencé par écrire un compilateur d’un sous ensemble de Pascal que nous appellerons ici Pascal 1 en code CDC produisant du code CDC. </a:t>
            </a:r>
          </a:p>
          <a:p>
            <a:r>
              <a:rPr lang="fr-FR" dirty="0" smtClean="0"/>
              <a:t>Question: Ecrire le T-diagramme associé.</a:t>
            </a:r>
          </a:p>
          <a:p>
            <a:pPr>
              <a:buNone/>
            </a:pPr>
            <a:endParaRPr lang="fr-FR" dirty="0" smtClean="0"/>
          </a:p>
          <a:p>
            <a:pPr>
              <a:buNone/>
            </a:pPr>
            <a:r>
              <a:rPr lang="fr-FR" dirty="0" smtClean="0"/>
              <a:t>   Pascal1         compilateur  PAS1      code CDC</a:t>
            </a:r>
          </a:p>
          <a:p>
            <a:pPr>
              <a:buNone/>
            </a:pPr>
            <a:r>
              <a:rPr lang="fr-FR" dirty="0" smtClean="0"/>
              <a:t>                              </a:t>
            </a:r>
          </a:p>
          <a:p>
            <a:pPr>
              <a:buNone/>
            </a:pPr>
            <a:r>
              <a:rPr lang="fr-FR" dirty="0" smtClean="0"/>
              <a:t>                              code</a:t>
            </a:r>
          </a:p>
          <a:p>
            <a:pPr>
              <a:buNone/>
            </a:pPr>
            <a:r>
              <a:rPr lang="fr-FR" dirty="0" smtClean="0"/>
              <a:t>                              CDC</a:t>
            </a:r>
          </a:p>
          <a:p>
            <a:endParaRPr lang="fr-FR" dirty="0"/>
          </a:p>
        </p:txBody>
      </p:sp>
      <p:sp>
        <p:nvSpPr>
          <p:cNvPr id="4" name="Espace réservé de la date 3"/>
          <p:cNvSpPr>
            <a:spLocks noGrp="1"/>
          </p:cNvSpPr>
          <p:nvPr>
            <p:ph type="dt" sz="half" idx="10"/>
          </p:nvPr>
        </p:nvSpPr>
        <p:spPr/>
        <p:txBody>
          <a:bodyPr/>
          <a:lstStyle/>
          <a:p>
            <a:fld id="{13F82BBD-4092-4257-9883-17C85B25EEFC}"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16</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checkerboard(across)">
                                      <p:cBhvr>
                                        <p:cTn id="7" dur="500"/>
                                        <p:tgtEl>
                                          <p:spTgt spid="3">
                                            <p:txEl>
                                              <p:pRg st="3" end="3"/>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checkerboard(across)">
                                      <p:cBhvr>
                                        <p:cTn id="10" dur="500"/>
                                        <p:tgtEl>
                                          <p:spTgt spid="3">
                                            <p:txEl>
                                              <p:pRg st="4" end="4"/>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checkerboard(across)">
                                      <p:cBhvr>
                                        <p:cTn id="13" dur="500"/>
                                        <p:tgtEl>
                                          <p:spTgt spid="3">
                                            <p:txEl>
                                              <p:pRg st="5" end="5"/>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checkerboard(across)">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Auto-amorçage ou </a:t>
            </a:r>
            <a:r>
              <a:rPr lang="fr-FR" dirty="0" err="1" smtClean="0"/>
              <a:t>Bootstrapping</a:t>
            </a:r>
            <a:endParaRPr lang="fr-FR" dirty="0"/>
          </a:p>
        </p:txBody>
      </p:sp>
      <p:sp>
        <p:nvSpPr>
          <p:cNvPr id="3" name="Espace réservé du contenu 2"/>
          <p:cNvSpPr>
            <a:spLocks noGrp="1"/>
          </p:cNvSpPr>
          <p:nvPr>
            <p:ph sz="quarter" idx="1"/>
          </p:nvPr>
        </p:nvSpPr>
        <p:spPr/>
        <p:txBody>
          <a:bodyPr/>
          <a:lstStyle/>
          <a:p>
            <a:r>
              <a:rPr lang="fr-FR" dirty="0" smtClean="0"/>
              <a:t>Il développa, ensuite, plus facilement un compilateur en langage Pascal1, qui en plus de ce qu’il faisait son 1</a:t>
            </a:r>
            <a:r>
              <a:rPr lang="fr-FR" baseline="30000" dirty="0" smtClean="0"/>
              <a:t>er</a:t>
            </a:r>
            <a:r>
              <a:rPr lang="fr-FR" dirty="0" smtClean="0"/>
              <a:t> compilateur PAS1, incluait des fonctionnalités absentes du Pascal1.</a:t>
            </a:r>
          </a:p>
          <a:p>
            <a:r>
              <a:rPr lang="fr-FR" dirty="0" smtClean="0"/>
              <a:t>La compilation de ce nouveau  programme par son 1</a:t>
            </a:r>
            <a:r>
              <a:rPr lang="fr-FR" baseline="30000" dirty="0" smtClean="0"/>
              <a:t>er</a:t>
            </a:r>
            <a:r>
              <a:rPr lang="fr-FR" dirty="0" smtClean="0"/>
              <a:t> compilateur PAS1 donna un nouveau compilateur plus performant en respectant l’équation:</a:t>
            </a:r>
          </a:p>
          <a:p>
            <a:endParaRPr lang="fr-FR" dirty="0" smtClean="0"/>
          </a:p>
          <a:p>
            <a:pPr>
              <a:buNone/>
            </a:pPr>
            <a:r>
              <a:rPr lang="fr-FR" dirty="0" smtClean="0"/>
              <a:t> LSM + SNP = LPM (à </a:t>
            </a:r>
            <a:r>
              <a:rPr lang="fr-FR" dirty="0" err="1" smtClean="0"/>
              <a:t>detailler</a:t>
            </a:r>
            <a:r>
              <a:rPr lang="fr-FR" dirty="0" smtClean="0"/>
              <a:t>)</a:t>
            </a:r>
          </a:p>
          <a:p>
            <a:endParaRPr lang="fr-FR" dirty="0" smtClean="0"/>
          </a:p>
          <a:p>
            <a:endParaRPr lang="fr-FR" dirty="0"/>
          </a:p>
        </p:txBody>
      </p:sp>
      <p:sp>
        <p:nvSpPr>
          <p:cNvPr id="4" name="Espace réservé de la date 3"/>
          <p:cNvSpPr>
            <a:spLocks noGrp="1"/>
          </p:cNvSpPr>
          <p:nvPr>
            <p:ph type="dt" sz="half" idx="10"/>
          </p:nvPr>
        </p:nvSpPr>
        <p:spPr/>
        <p:txBody>
          <a:bodyPr/>
          <a:lstStyle/>
          <a:p>
            <a:fld id="{9DAB14EF-3CA8-41BA-AEBF-AD2D32EC6C73}"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17</a:t>
            </a:fld>
            <a:endParaRPr lang="fr-F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Détail de l’exemple</a:t>
            </a:r>
            <a:endParaRPr lang="fr-FR" dirty="0"/>
          </a:p>
        </p:txBody>
      </p:sp>
      <p:sp>
        <p:nvSpPr>
          <p:cNvPr id="3" name="Espace réservé de la date 2"/>
          <p:cNvSpPr>
            <a:spLocks noGrp="1"/>
          </p:cNvSpPr>
          <p:nvPr>
            <p:ph type="dt" sz="half" idx="10"/>
          </p:nvPr>
        </p:nvSpPr>
        <p:spPr/>
        <p:txBody>
          <a:bodyPr/>
          <a:lstStyle/>
          <a:p>
            <a:fld id="{80C0F1A7-0C16-4573-A318-3E1F9E770984}"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18</a:t>
            </a:fld>
            <a:endParaRPr lang="fr-FR"/>
          </a:p>
        </p:txBody>
      </p:sp>
      <p:sp>
        <p:nvSpPr>
          <p:cNvPr id="6" name="Espace réservé du contenu 5"/>
          <p:cNvSpPr>
            <a:spLocks noGrp="1"/>
          </p:cNvSpPr>
          <p:nvPr>
            <p:ph sz="quarter" idx="1"/>
          </p:nvPr>
        </p:nvSpPr>
        <p:spPr>
          <a:xfrm>
            <a:off x="914400" y="1447800"/>
            <a:ext cx="7772400" cy="2124076"/>
          </a:xfrm>
        </p:spPr>
        <p:txBody>
          <a:bodyPr/>
          <a:lstStyle/>
          <a:p>
            <a:r>
              <a:rPr lang="fr-FR" dirty="0" smtClean="0"/>
              <a:t>Ecriture d’un programme Pascal qui faisait la même chose que son premier compilateur. De plus, il </a:t>
            </a:r>
            <a:r>
              <a:rPr lang="fr-FR" dirty="0" err="1" smtClean="0"/>
              <a:t>inclua</a:t>
            </a:r>
            <a:r>
              <a:rPr lang="fr-FR" dirty="0" smtClean="0"/>
              <a:t> dans son programme des fonctionnalités absentes de Pascal-1. La compilation de ce programme par son premier compilateur donna un nouveau compilateur plus performant </a:t>
            </a:r>
            <a:endParaRPr lang="fr-FR" dirty="0"/>
          </a:p>
        </p:txBody>
      </p:sp>
      <p:pic>
        <p:nvPicPr>
          <p:cNvPr id="1026" name="Picture 2"/>
          <p:cNvPicPr>
            <a:picLocks noChangeAspect="1" noChangeArrowheads="1"/>
          </p:cNvPicPr>
          <p:nvPr/>
        </p:nvPicPr>
        <p:blipFill>
          <a:blip r:embed="rId2"/>
          <a:srcRect/>
          <a:stretch>
            <a:fillRect/>
          </a:stretch>
        </p:blipFill>
        <p:spPr bwMode="auto">
          <a:xfrm>
            <a:off x="2143108" y="3643314"/>
            <a:ext cx="5114925"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Détail de l’exemple:</a:t>
            </a:r>
            <a:endParaRPr lang="fr-FR" dirty="0"/>
          </a:p>
        </p:txBody>
      </p:sp>
      <p:sp>
        <p:nvSpPr>
          <p:cNvPr id="3" name="Espace réservé de la date 2"/>
          <p:cNvSpPr>
            <a:spLocks noGrp="1"/>
          </p:cNvSpPr>
          <p:nvPr>
            <p:ph type="dt" sz="half" idx="10"/>
          </p:nvPr>
        </p:nvSpPr>
        <p:spPr/>
        <p:txBody>
          <a:bodyPr/>
          <a:lstStyle/>
          <a:p>
            <a:fld id="{80C0F1A7-0C16-4573-A318-3E1F9E770984}"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19</a:t>
            </a:fld>
            <a:endParaRPr lang="fr-FR"/>
          </a:p>
        </p:txBody>
      </p:sp>
      <p:sp>
        <p:nvSpPr>
          <p:cNvPr id="6" name="Espace réservé du contenu 5"/>
          <p:cNvSpPr>
            <a:spLocks noGrp="1"/>
          </p:cNvSpPr>
          <p:nvPr>
            <p:ph sz="quarter" idx="1"/>
          </p:nvPr>
        </p:nvSpPr>
        <p:spPr>
          <a:xfrm>
            <a:off x="914400" y="1447800"/>
            <a:ext cx="7772400" cy="909630"/>
          </a:xfrm>
        </p:spPr>
        <p:txBody>
          <a:bodyPr>
            <a:normAutofit/>
          </a:bodyPr>
          <a:lstStyle/>
          <a:p>
            <a:pPr>
              <a:buNone/>
            </a:pPr>
            <a:r>
              <a:rPr lang="fr-FR" dirty="0" smtClean="0"/>
              <a:t>Donner la chaîne notée par l'imbrication des T-diagrammes.</a:t>
            </a:r>
          </a:p>
          <a:p>
            <a:pPr>
              <a:buNone/>
            </a:pPr>
            <a:endParaRPr lang="fr-FR" dirty="0"/>
          </a:p>
        </p:txBody>
      </p:sp>
      <p:pic>
        <p:nvPicPr>
          <p:cNvPr id="2050" name="Picture 2"/>
          <p:cNvPicPr>
            <a:picLocks noChangeAspect="1" noChangeArrowheads="1"/>
          </p:cNvPicPr>
          <p:nvPr/>
        </p:nvPicPr>
        <p:blipFill>
          <a:blip r:embed="rId2"/>
          <a:srcRect/>
          <a:stretch>
            <a:fillRect/>
          </a:stretch>
        </p:blipFill>
        <p:spPr bwMode="auto">
          <a:xfrm>
            <a:off x="500034" y="3071810"/>
            <a:ext cx="8072494" cy="2747968"/>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checkerboard(across)">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Compilateurs croisés: cross-compiler</a:t>
            </a:r>
            <a:endParaRPr lang="fr-FR" dirty="0"/>
          </a:p>
        </p:txBody>
      </p:sp>
      <p:sp>
        <p:nvSpPr>
          <p:cNvPr id="3" name="Espace réservé du contenu 2"/>
          <p:cNvSpPr>
            <a:spLocks noGrp="1"/>
          </p:cNvSpPr>
          <p:nvPr>
            <p:ph sz="quarter" idx="1"/>
          </p:nvPr>
        </p:nvSpPr>
        <p:spPr/>
        <p:txBody>
          <a:bodyPr/>
          <a:lstStyle/>
          <a:p>
            <a:r>
              <a:rPr lang="fr-FR" dirty="0" smtClean="0"/>
              <a:t>Lorsque WIRTH voulu porter son compilateur sur une machine ICL, il a réécrit sur une machine CDC un compilateur en Pascal générant du code </a:t>
            </a:r>
            <a:r>
              <a:rPr lang="fr-FR" dirty="0" err="1" smtClean="0"/>
              <a:t>ICL.Ce</a:t>
            </a:r>
            <a:r>
              <a:rPr lang="fr-FR" dirty="0" smtClean="0"/>
              <a:t> travail n’était pas très difficile puisqu’il l’avait fait pour les machines CDC. En le compilant avec le compilateur Pascal du CDC, il a construit un compilateur croisé ou (cross-compiler)</a:t>
            </a:r>
          </a:p>
          <a:p>
            <a:r>
              <a:rPr lang="fr-FR" dirty="0" smtClean="0"/>
              <a:t>Question: produire le compilateur croisé pour des machines ICL</a:t>
            </a:r>
          </a:p>
          <a:p>
            <a:r>
              <a:rPr lang="fr-FR" dirty="0" smtClean="0"/>
              <a:t>Faites une dernière compilation qui produit un compilateur fonctionnant sur des machine ICL et produisant du code ICL</a:t>
            </a:r>
            <a:endParaRPr lang="fr-FR" dirty="0"/>
          </a:p>
        </p:txBody>
      </p:sp>
      <p:sp>
        <p:nvSpPr>
          <p:cNvPr id="4" name="Espace réservé de la date 3"/>
          <p:cNvSpPr>
            <a:spLocks noGrp="1"/>
          </p:cNvSpPr>
          <p:nvPr>
            <p:ph type="dt" sz="half" idx="10"/>
          </p:nvPr>
        </p:nvSpPr>
        <p:spPr/>
        <p:txBody>
          <a:bodyPr/>
          <a:lstStyle/>
          <a:p>
            <a:fld id="{0C54AD2E-3774-448F-B58D-1DDCA66D8DFB}"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20</a:t>
            </a:fld>
            <a:endParaRPr lang="fr-F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Compilateurs croisés: cross-compiler</a:t>
            </a:r>
            <a:endParaRPr lang="fr-FR" dirty="0"/>
          </a:p>
        </p:txBody>
      </p:sp>
      <p:sp>
        <p:nvSpPr>
          <p:cNvPr id="4" name="Espace réservé de la date 3"/>
          <p:cNvSpPr>
            <a:spLocks noGrp="1"/>
          </p:cNvSpPr>
          <p:nvPr>
            <p:ph type="dt" sz="half" idx="10"/>
          </p:nvPr>
        </p:nvSpPr>
        <p:spPr/>
        <p:txBody>
          <a:bodyPr/>
          <a:lstStyle/>
          <a:p>
            <a:fld id="{0C54AD2E-3774-448F-B58D-1DDCA66D8DFB}"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21</a:t>
            </a:fld>
            <a:endParaRPr lang="fr-FR"/>
          </a:p>
        </p:txBody>
      </p:sp>
      <p:pic>
        <p:nvPicPr>
          <p:cNvPr id="3074" name="Picture 2"/>
          <p:cNvPicPr>
            <a:picLocks noChangeAspect="1" noChangeArrowheads="1"/>
          </p:cNvPicPr>
          <p:nvPr/>
        </p:nvPicPr>
        <p:blipFill>
          <a:blip r:embed="rId2"/>
          <a:srcRect/>
          <a:stretch>
            <a:fillRect/>
          </a:stretch>
        </p:blipFill>
        <p:spPr bwMode="auto">
          <a:xfrm>
            <a:off x="928662" y="3571876"/>
            <a:ext cx="7048500" cy="1943100"/>
          </a:xfrm>
          <a:prstGeom prst="rect">
            <a:avLst/>
          </a:prstGeom>
          <a:noFill/>
          <a:ln w="9525">
            <a:noFill/>
            <a:miter lim="800000"/>
            <a:headEnd/>
            <a:tailEnd/>
          </a:ln>
          <a:effectLst/>
        </p:spPr>
      </p:pic>
      <p:sp>
        <p:nvSpPr>
          <p:cNvPr id="9" name="Rectangle 8"/>
          <p:cNvSpPr/>
          <p:nvPr/>
        </p:nvSpPr>
        <p:spPr>
          <a:xfrm>
            <a:off x="857224" y="2071678"/>
            <a:ext cx="7286676" cy="369332"/>
          </a:xfrm>
          <a:prstGeom prst="rect">
            <a:avLst/>
          </a:prstGeom>
        </p:spPr>
        <p:txBody>
          <a:bodyPr wrap="square">
            <a:spAutoFit/>
          </a:bodyPr>
          <a:lstStyle/>
          <a:p>
            <a:r>
              <a:rPr lang="fr-FR" dirty="0" smtClean="0"/>
              <a:t>Question 1: produire le compilateur croisé pour des machines ICL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checkerboard(across)">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Compilateurs croisés: cross-compiler</a:t>
            </a:r>
            <a:endParaRPr lang="fr-FR" dirty="0"/>
          </a:p>
        </p:txBody>
      </p:sp>
      <p:sp>
        <p:nvSpPr>
          <p:cNvPr id="3" name="Espace réservé de la date 2"/>
          <p:cNvSpPr>
            <a:spLocks noGrp="1"/>
          </p:cNvSpPr>
          <p:nvPr>
            <p:ph type="dt" sz="half" idx="10"/>
          </p:nvPr>
        </p:nvSpPr>
        <p:spPr/>
        <p:txBody>
          <a:bodyPr/>
          <a:lstStyle/>
          <a:p>
            <a:fld id="{80C0F1A7-0C16-4573-A318-3E1F9E770984}"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22</a:t>
            </a:fld>
            <a:endParaRPr lang="fr-FR"/>
          </a:p>
        </p:txBody>
      </p:sp>
      <p:sp>
        <p:nvSpPr>
          <p:cNvPr id="6" name="Espace réservé du contenu 5"/>
          <p:cNvSpPr>
            <a:spLocks noGrp="1"/>
          </p:cNvSpPr>
          <p:nvPr>
            <p:ph sz="quarter" idx="1"/>
          </p:nvPr>
        </p:nvSpPr>
        <p:spPr>
          <a:xfrm>
            <a:off x="914400" y="1447800"/>
            <a:ext cx="7772400" cy="909630"/>
          </a:xfrm>
        </p:spPr>
        <p:txBody>
          <a:bodyPr/>
          <a:lstStyle/>
          <a:p>
            <a:r>
              <a:rPr lang="fr-FR" dirty="0" smtClean="0"/>
              <a:t>Faites une dernière compilation qui produit un compilateur fonctionnant sur des machine ICL et produisant du code ICL</a:t>
            </a:r>
          </a:p>
          <a:p>
            <a:endParaRPr lang="fr-FR" dirty="0"/>
          </a:p>
        </p:txBody>
      </p:sp>
      <p:pic>
        <p:nvPicPr>
          <p:cNvPr id="4098" name="Picture 2"/>
          <p:cNvPicPr>
            <a:picLocks noChangeAspect="1" noChangeArrowheads="1"/>
          </p:cNvPicPr>
          <p:nvPr/>
        </p:nvPicPr>
        <p:blipFill>
          <a:blip r:embed="rId2"/>
          <a:srcRect/>
          <a:stretch>
            <a:fillRect/>
          </a:stretch>
        </p:blipFill>
        <p:spPr bwMode="auto">
          <a:xfrm>
            <a:off x="357158" y="3143248"/>
            <a:ext cx="7772405" cy="2571768"/>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checkerboard(across)">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Structure d’un compilateur</a:t>
            </a:r>
            <a:endParaRPr lang="fr-FR" dirty="0"/>
          </a:p>
        </p:txBody>
      </p:sp>
      <p:sp>
        <p:nvSpPr>
          <p:cNvPr id="3" name="Espace réservé de la date 2"/>
          <p:cNvSpPr>
            <a:spLocks noGrp="1"/>
          </p:cNvSpPr>
          <p:nvPr>
            <p:ph type="dt" sz="half" idx="10"/>
          </p:nvPr>
        </p:nvSpPr>
        <p:spPr/>
        <p:txBody>
          <a:bodyPr/>
          <a:lstStyle/>
          <a:p>
            <a:fld id="{1C152223-EFE3-456C-B1AE-E161B1F43F44}"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23</a:t>
            </a:fld>
            <a:endParaRPr lang="fr-FR"/>
          </a:p>
        </p:txBody>
      </p:sp>
      <p:sp>
        <p:nvSpPr>
          <p:cNvPr id="6" name="Espace réservé du contenu 5"/>
          <p:cNvSpPr>
            <a:spLocks noGrp="1"/>
          </p:cNvSpPr>
          <p:nvPr>
            <p:ph sz="quarter" idx="1"/>
          </p:nvPr>
        </p:nvSpPr>
        <p:spPr/>
        <p:txBody>
          <a:bodyPr/>
          <a:lstStyle/>
          <a:p>
            <a:r>
              <a:rPr lang="fr-FR" dirty="0" smtClean="0"/>
              <a:t>La structure général d’un compilateur se compose de:</a:t>
            </a:r>
          </a:p>
          <a:p>
            <a:r>
              <a:rPr lang="fr-FR" dirty="0" smtClean="0"/>
              <a:t>Analyse lexicale</a:t>
            </a:r>
          </a:p>
          <a:p>
            <a:r>
              <a:rPr lang="fr-FR" dirty="0" smtClean="0"/>
              <a:t>Analyse syntaxique</a:t>
            </a:r>
          </a:p>
          <a:p>
            <a:r>
              <a:rPr lang="fr-FR" dirty="0" smtClean="0"/>
              <a:t>Analyse sémantique</a:t>
            </a:r>
          </a:p>
          <a:p>
            <a:r>
              <a:rPr lang="fr-FR" dirty="0" smtClean="0"/>
              <a:t>Génération du code intermédiaire (pseudo code)</a:t>
            </a:r>
          </a:p>
          <a:p>
            <a:r>
              <a:rPr lang="fr-FR" dirty="0" smtClean="0"/>
              <a:t>Génération du code final</a:t>
            </a:r>
          </a:p>
          <a:p>
            <a:pPr>
              <a:buNone/>
            </a:pPr>
            <a:endParaRPr lang="fr-FR" dirty="0" smtClean="0"/>
          </a:p>
          <a:p>
            <a:endParaRPr lang="fr-F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Structure d’un compilateur</a:t>
            </a:r>
            <a:endParaRPr lang="fr-FR" dirty="0"/>
          </a:p>
        </p:txBody>
      </p:sp>
      <p:sp>
        <p:nvSpPr>
          <p:cNvPr id="3" name="Espace réservé de la date 2"/>
          <p:cNvSpPr>
            <a:spLocks noGrp="1"/>
          </p:cNvSpPr>
          <p:nvPr>
            <p:ph type="dt" sz="half" idx="10"/>
          </p:nvPr>
        </p:nvSpPr>
        <p:spPr/>
        <p:txBody>
          <a:bodyPr/>
          <a:lstStyle/>
          <a:p>
            <a:fld id="{AB6D95CF-78A7-4B90-8FDE-B5B179637DA7}"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24</a:t>
            </a:fld>
            <a:endParaRPr lang="fr-FR"/>
          </a:p>
        </p:txBody>
      </p:sp>
      <p:sp>
        <p:nvSpPr>
          <p:cNvPr id="6" name="Espace réservé du contenu 5"/>
          <p:cNvSpPr>
            <a:spLocks noGrp="1"/>
          </p:cNvSpPr>
          <p:nvPr>
            <p:ph sz="quarter" idx="1"/>
          </p:nvPr>
        </p:nvSpPr>
        <p:spPr/>
        <p:txBody>
          <a:bodyPr/>
          <a:lstStyle/>
          <a:p>
            <a:r>
              <a:rPr lang="fr-FR" dirty="0" smtClean="0"/>
              <a:t>Un </a:t>
            </a:r>
            <a:r>
              <a:rPr lang="fr-FR" dirty="0" err="1" smtClean="0"/>
              <a:t>compilteur</a:t>
            </a:r>
            <a:r>
              <a:rPr lang="fr-FR" dirty="0" smtClean="0"/>
              <a:t> est un </a:t>
            </a:r>
            <a:r>
              <a:rPr lang="fr-FR" dirty="0" err="1" smtClean="0"/>
              <a:t>prog</a:t>
            </a:r>
            <a:r>
              <a:rPr lang="fr-FR" dirty="0" smtClean="0"/>
              <a:t> complexe divisé en phases. On peut imaginer que chaque phase communique avec les phases précédentes et suivantes d’une façon appropriée.</a:t>
            </a:r>
          </a:p>
          <a:p>
            <a:r>
              <a:rPr lang="fr-FR" dirty="0" smtClean="0"/>
              <a:t>On peut mettre en évidence les phases suivantes:</a:t>
            </a:r>
          </a:p>
          <a:p>
            <a:pPr>
              <a:buFont typeface="Wingdings"/>
              <a:buChar char="à"/>
            </a:pPr>
            <a:r>
              <a:rPr lang="fr-FR" dirty="0" smtClean="0">
                <a:sym typeface="Wingdings" pitchFamily="2" charset="2"/>
              </a:rPr>
              <a:t>La phase frontale ou « analyse ». Elle comprend:</a:t>
            </a:r>
          </a:p>
          <a:p>
            <a:pPr>
              <a:buNone/>
            </a:pPr>
            <a:r>
              <a:rPr lang="fr-FR" dirty="0" smtClean="0">
                <a:sym typeface="Wingdings" pitchFamily="2" charset="2"/>
              </a:rPr>
              <a:t>- Analyse lexicale (ou linéaire): son rôle est de reconnaitre dans le flux de caractères formant le programme source, les mots élémentaires du langage appelés unité lexicales ou </a:t>
            </a:r>
            <a:r>
              <a:rPr lang="fr-FR" dirty="0" err="1" smtClean="0">
                <a:solidFill>
                  <a:srgbClr val="FF0000"/>
                </a:solidFill>
                <a:sym typeface="Wingdings" pitchFamily="2" charset="2"/>
              </a:rPr>
              <a:t>tokens</a:t>
            </a:r>
            <a:r>
              <a:rPr lang="fr-FR" dirty="0" smtClean="0">
                <a:solidFill>
                  <a:srgbClr val="FF0000"/>
                </a:solidFill>
                <a:sym typeface="Wingdings" pitchFamily="2" charset="2"/>
              </a:rPr>
              <a:t> </a:t>
            </a:r>
            <a:r>
              <a:rPr lang="fr-FR" dirty="0" smtClean="0">
                <a:sym typeface="Wingdings" pitchFamily="2" charset="2"/>
              </a:rPr>
              <a:t>tels que les identificateurs, les mots clés, les opérateurs,…Les mots reconnu sont présentés à la phase suivante.</a:t>
            </a:r>
            <a:endParaRPr lang="fr-F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Structure d’un compilateur</a:t>
            </a:r>
            <a:endParaRPr lang="fr-FR" dirty="0"/>
          </a:p>
        </p:txBody>
      </p:sp>
      <p:sp>
        <p:nvSpPr>
          <p:cNvPr id="3" name="Espace réservé de la date 2"/>
          <p:cNvSpPr>
            <a:spLocks noGrp="1"/>
          </p:cNvSpPr>
          <p:nvPr>
            <p:ph type="dt" sz="half" idx="10"/>
          </p:nvPr>
        </p:nvSpPr>
        <p:spPr/>
        <p:txBody>
          <a:bodyPr/>
          <a:lstStyle/>
          <a:p>
            <a:fld id="{0231B370-F070-4E86-A7AE-21444DECF941}" type="datetime1">
              <a:rPr lang="fr-FR" smtClean="0"/>
              <a:pPr/>
              <a:t>26/04/2024</a:t>
            </a:fld>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25</a:t>
            </a:fld>
            <a:endParaRPr lang="fr-FR"/>
          </a:p>
        </p:txBody>
      </p:sp>
      <p:sp>
        <p:nvSpPr>
          <p:cNvPr id="6" name="Espace réservé du contenu 5"/>
          <p:cNvSpPr>
            <a:spLocks noGrp="1"/>
          </p:cNvSpPr>
          <p:nvPr>
            <p:ph sz="quarter" idx="1"/>
          </p:nvPr>
        </p:nvSpPr>
        <p:spPr/>
        <p:txBody>
          <a:bodyPr/>
          <a:lstStyle/>
          <a:p>
            <a:pPr>
              <a:buNone/>
            </a:pPr>
            <a:r>
              <a:rPr lang="fr-FR" dirty="0" smtClean="0"/>
              <a:t>- Analyse syntaxique ou hiérarchique ou grammaticale: son rôle est de reconnaitre le flux de </a:t>
            </a:r>
            <a:r>
              <a:rPr lang="fr-FR" dirty="0" err="1" smtClean="0"/>
              <a:t>tokens</a:t>
            </a:r>
            <a:r>
              <a:rPr lang="fr-FR" dirty="0" smtClean="0"/>
              <a:t> fourni par l’analyseur lexical et le regrouper en une collection imbriquée ayant une signification collective.  C’est une phase qui vérifie la syntaxe du langage et elle fournit en résultat une représentation en </a:t>
            </a:r>
            <a:r>
              <a:rPr lang="fr-FR" dirty="0" smtClean="0">
                <a:solidFill>
                  <a:srgbClr val="FF0000"/>
                </a:solidFill>
              </a:rPr>
              <a:t>arbre de vérification </a:t>
            </a:r>
            <a:r>
              <a:rPr lang="fr-FR" dirty="0" smtClean="0"/>
              <a:t>ou </a:t>
            </a:r>
            <a:r>
              <a:rPr lang="fr-FR" dirty="0" smtClean="0">
                <a:solidFill>
                  <a:srgbClr val="FF0000"/>
                </a:solidFill>
              </a:rPr>
              <a:t>arbre de syntaxe </a:t>
            </a:r>
            <a:r>
              <a:rPr lang="fr-FR" dirty="0" smtClean="0"/>
              <a:t>qui sera utilisé par les phases suivantes.</a:t>
            </a:r>
            <a:endParaRPr lang="fr-FR"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pitaux">
  <a:themeElements>
    <a:clrScheme name="Capitaux">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pitaux">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apitaux">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538</TotalTime>
  <Words>1178</Words>
  <Application>Microsoft Office PowerPoint</Application>
  <PresentationFormat>Affichage à l'écran (4:3)</PresentationFormat>
  <Paragraphs>158</Paragraphs>
  <Slides>25</Slides>
  <Notes>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25</vt:i4>
      </vt:variant>
    </vt:vector>
  </HeadingPairs>
  <TitlesOfParts>
    <vt:vector size="31" baseType="lpstr">
      <vt:lpstr>Calibri</vt:lpstr>
      <vt:lpstr>Franklin Gothic Book</vt:lpstr>
      <vt:lpstr>Perpetua</vt:lpstr>
      <vt:lpstr>Wingdings</vt:lpstr>
      <vt:lpstr>Wingdings 2</vt:lpstr>
      <vt:lpstr>Capitaux</vt:lpstr>
      <vt:lpstr>Suite du cours de compilation</vt:lpstr>
      <vt:lpstr>Interpréteurs</vt:lpstr>
      <vt:lpstr>Interpréteurs</vt:lpstr>
      <vt:lpstr>Interpréteurs</vt:lpstr>
      <vt:lpstr>Interpréteurs</vt:lpstr>
      <vt:lpstr>Différents types de traducteurs</vt:lpstr>
      <vt:lpstr>Différents types de traducteurs</vt:lpstr>
      <vt:lpstr>Différents types de traducteurs</vt:lpstr>
      <vt:lpstr>Différents types de traducteurs</vt:lpstr>
      <vt:lpstr>Compilateurs &amp; interpréteurs</vt:lpstr>
      <vt:lpstr>Compilateurs &amp; interpréteurs</vt:lpstr>
      <vt:lpstr>Compilateurs &amp; interpréteurs</vt:lpstr>
      <vt:lpstr>Compilateurs &amp; interpréteurs</vt:lpstr>
      <vt:lpstr>Auto-amorçage ou Bootstrapping</vt:lpstr>
      <vt:lpstr>Auto-amorçage ou Bootstrapping</vt:lpstr>
      <vt:lpstr>Auto-amorçage ou Bootstrapping</vt:lpstr>
      <vt:lpstr>Auto-amorçage ou Bootstrapping</vt:lpstr>
      <vt:lpstr>Détail de l’exemple</vt:lpstr>
      <vt:lpstr>Détail de l’exemple:</vt:lpstr>
      <vt:lpstr>Compilateurs croisés: cross-compiler</vt:lpstr>
      <vt:lpstr>Compilateurs croisés: cross-compiler</vt:lpstr>
      <vt:lpstr>Compilateurs croisés: cross-compiler</vt:lpstr>
      <vt:lpstr>Structure d’un compilateur</vt:lpstr>
      <vt:lpstr>Structure d’un compilateur</vt:lpstr>
      <vt:lpstr>Structure d’un compilateur</vt:lpstr>
    </vt:vector>
  </TitlesOfParts>
  <Company>XP2008</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ADM</dc:creator>
  <cp:lastModifiedBy>Utilisateur Windows</cp:lastModifiedBy>
  <cp:revision>87</cp:revision>
  <dcterms:created xsi:type="dcterms:W3CDTF">2013-02-24T20:39:38Z</dcterms:created>
  <dcterms:modified xsi:type="dcterms:W3CDTF">2024-04-26T23:15:41Z</dcterms:modified>
</cp:coreProperties>
</file>