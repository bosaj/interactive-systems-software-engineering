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4"/>
  </p:notesMasterIdLst>
  <p:sldIdLst>
    <p:sldId id="256" r:id="rId2"/>
    <p:sldId id="276" r:id="rId3"/>
    <p:sldId id="277" r:id="rId4"/>
    <p:sldId id="273" r:id="rId5"/>
    <p:sldId id="272" r:id="rId6"/>
    <p:sldId id="257" r:id="rId7"/>
    <p:sldId id="258" r:id="rId8"/>
    <p:sldId id="259" r:id="rId9"/>
    <p:sldId id="260" r:id="rId10"/>
    <p:sldId id="261" r:id="rId11"/>
    <p:sldId id="262" r:id="rId12"/>
    <p:sldId id="263" r:id="rId13"/>
    <p:sldId id="264" r:id="rId14"/>
    <p:sldId id="265" r:id="rId15"/>
    <p:sldId id="266" r:id="rId16"/>
    <p:sldId id="274" r:id="rId17"/>
    <p:sldId id="275" r:id="rId18"/>
    <p:sldId id="267" r:id="rId19"/>
    <p:sldId id="268" r:id="rId20"/>
    <p:sldId id="269" r:id="rId21"/>
    <p:sldId id="270" r:id="rId22"/>
    <p:sldId id="271" r:id="rId23"/>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86" d="100"/>
          <a:sy n="86" d="100"/>
        </p:scale>
        <p:origin x="-1092" y="-9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BD9EA05-70AE-4D85-BA1D-59127993DB0B}" type="datetimeFigureOut">
              <a:rPr lang="fr-FR" smtClean="0"/>
              <a:pPr/>
              <a:t>13/02/2018</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A9ED361-E8EB-4782-8D0C-83EB54ACF3F0}" type="slidenum">
              <a:rPr lang="fr-FR" smtClean="0"/>
              <a:pPr/>
              <a:t>‹N°›</a:t>
            </a:fld>
            <a:endParaRPr lang="fr-F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ectangle à coins arrondis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ous-titr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smtClean="0"/>
              <a:t>Cliquez pour modifier le style des sous-titres du masque</a:t>
            </a:r>
            <a:endParaRPr kumimoji="0" lang="en-US"/>
          </a:p>
        </p:txBody>
      </p:sp>
      <p:sp>
        <p:nvSpPr>
          <p:cNvPr id="28" name="Espace réservé de la date 27"/>
          <p:cNvSpPr>
            <a:spLocks noGrp="1"/>
          </p:cNvSpPr>
          <p:nvPr>
            <p:ph type="dt" sz="half" idx="10"/>
          </p:nvPr>
        </p:nvSpPr>
        <p:spPr/>
        <p:txBody>
          <a:bodyPr/>
          <a:lstStyle/>
          <a:p>
            <a:fld id="{A92383F4-CD0C-46C1-969D-4776C5CC9A20}" type="datetime1">
              <a:rPr lang="fr-FR" smtClean="0"/>
              <a:pPr/>
              <a:t>13/02/2018</a:t>
            </a:fld>
            <a:endParaRPr lang="fr-FR"/>
          </a:p>
        </p:txBody>
      </p:sp>
      <p:sp>
        <p:nvSpPr>
          <p:cNvPr id="17" name="Espace réservé du pied de page 16"/>
          <p:cNvSpPr>
            <a:spLocks noGrp="1"/>
          </p:cNvSpPr>
          <p:nvPr>
            <p:ph type="ftr" sz="quarter" idx="11"/>
          </p:nvPr>
        </p:nvSpPr>
        <p:spPr/>
        <p:txBody>
          <a:bodyPr/>
          <a:lstStyle/>
          <a:p>
            <a:r>
              <a:rPr lang="fr-FR" smtClean="0"/>
              <a:t>Mme noura Ouerdi</a:t>
            </a:r>
            <a:endParaRPr lang="fr-FR"/>
          </a:p>
        </p:txBody>
      </p:sp>
      <p:sp>
        <p:nvSpPr>
          <p:cNvPr id="29" name="Espace réservé du numéro de diapositive 28"/>
          <p:cNvSpPr>
            <a:spLocks noGrp="1"/>
          </p:cNvSpPr>
          <p:nvPr>
            <p:ph type="sldNum" sz="quarter" idx="12"/>
          </p:nvPr>
        </p:nvSpPr>
        <p:spPr/>
        <p:txBody>
          <a:bodyPr lIns="0" tIns="0" rIns="0" bIns="0">
            <a:noAutofit/>
          </a:bodyPr>
          <a:lstStyle>
            <a:lvl1pPr>
              <a:defRPr sz="1400">
                <a:solidFill>
                  <a:srgbClr val="FFFFFF"/>
                </a:solidFill>
              </a:defRPr>
            </a:lvl1pPr>
          </a:lstStyle>
          <a:p>
            <a:fld id="{74B13EA3-B7A8-4461-BEED-CB525C7E5E30}" type="slidenum">
              <a:rPr lang="fr-FR" smtClean="0"/>
              <a:pPr/>
              <a:t>‹N°›</a:t>
            </a:fld>
            <a:endParaRPr lang="fr-FR"/>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r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fr-FR" smtClean="0"/>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4" name="Espace réservé de la date 3"/>
          <p:cNvSpPr>
            <a:spLocks noGrp="1"/>
          </p:cNvSpPr>
          <p:nvPr>
            <p:ph type="dt" sz="half" idx="10"/>
          </p:nvPr>
        </p:nvSpPr>
        <p:spPr/>
        <p:txBody>
          <a:bodyPr/>
          <a:lstStyle/>
          <a:p>
            <a:fld id="{5D36B74B-FF32-4DCC-A4E0-047C72025A06}" type="datetime1">
              <a:rPr lang="fr-FR" smtClean="0"/>
              <a:pPr/>
              <a:t>13/02/2018</a:t>
            </a:fld>
            <a:endParaRPr lang="fr-FR"/>
          </a:p>
        </p:txBody>
      </p:sp>
      <p:sp>
        <p:nvSpPr>
          <p:cNvPr id="5" name="Espace réservé du pied de page 4"/>
          <p:cNvSpPr>
            <a:spLocks noGrp="1"/>
          </p:cNvSpPr>
          <p:nvPr>
            <p:ph type="ftr" sz="quarter" idx="11"/>
          </p:nvPr>
        </p:nvSpPr>
        <p:spPr/>
        <p:txBody>
          <a:bodyPr/>
          <a:lstStyle/>
          <a:p>
            <a:r>
              <a:rPr lang="fr-FR" smtClean="0"/>
              <a:t>Mme noura Ouerdi</a:t>
            </a:r>
            <a:endParaRPr lang="fr-FR"/>
          </a:p>
        </p:txBody>
      </p:sp>
      <p:sp>
        <p:nvSpPr>
          <p:cNvPr id="6" name="Espace réservé du numéro de diapositive 5"/>
          <p:cNvSpPr>
            <a:spLocks noGrp="1"/>
          </p:cNvSpPr>
          <p:nvPr>
            <p:ph type="sldNum" sz="quarter" idx="12"/>
          </p:nvPr>
        </p:nvSpPr>
        <p:spPr/>
        <p:txBody>
          <a:bodyPr/>
          <a:lstStyle/>
          <a:p>
            <a:fld id="{74B13EA3-B7A8-4461-BEED-CB525C7E5E30}" type="slidenum">
              <a:rPr lang="fr-FR" smtClean="0"/>
              <a:pPr/>
              <a:t>‹N°›</a:t>
            </a:fld>
            <a:endParaRPr lang="fr-FR"/>
          </a:p>
        </p:txBody>
      </p:sp>
      <p:sp>
        <p:nvSpPr>
          <p:cNvPr id="8" name="Espace réservé du contenu 7"/>
          <p:cNvSpPr>
            <a:spLocks noGrp="1"/>
          </p:cNvSpPr>
          <p:nvPr>
            <p:ph sz="quarter" idx="1"/>
          </p:nvPr>
        </p:nvSpPr>
        <p:spPr>
          <a:xfrm>
            <a:off x="914400" y="1447800"/>
            <a:ext cx="7772400" cy="4572000"/>
          </a:xfrm>
        </p:spPr>
        <p:txBody>
          <a:bodyPr vert="horz"/>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ectangle à coins arrondis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r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fr-FR" smtClean="0"/>
              <a:t>Cliquez pour modifier le style du titre</a:t>
            </a:r>
            <a:endParaRPr kumimoji="0" lang="en-US"/>
          </a:p>
        </p:txBody>
      </p:sp>
      <p:sp>
        <p:nvSpPr>
          <p:cNvPr id="3" name="Espace réservé du texte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smtClean="0"/>
              <a:t>Cliquez pour modifier les styles du texte du masque</a:t>
            </a:r>
          </a:p>
        </p:txBody>
      </p:sp>
      <p:sp>
        <p:nvSpPr>
          <p:cNvPr id="4" name="Espace réservé de la date 3"/>
          <p:cNvSpPr>
            <a:spLocks noGrp="1"/>
          </p:cNvSpPr>
          <p:nvPr>
            <p:ph type="dt" sz="half" idx="10"/>
          </p:nvPr>
        </p:nvSpPr>
        <p:spPr/>
        <p:txBody>
          <a:bodyPr/>
          <a:lstStyle/>
          <a:p>
            <a:fld id="{0087C2BB-4BEB-4328-9B6D-D1160CD5F591}" type="datetime1">
              <a:rPr lang="fr-FR" smtClean="0"/>
              <a:pPr/>
              <a:t>13/02/2018</a:t>
            </a:fld>
            <a:endParaRPr lang="fr-FR"/>
          </a:p>
        </p:txBody>
      </p:sp>
      <p:sp>
        <p:nvSpPr>
          <p:cNvPr id="5" name="Espace réservé du pied de page 4"/>
          <p:cNvSpPr>
            <a:spLocks noGrp="1"/>
          </p:cNvSpPr>
          <p:nvPr>
            <p:ph type="ftr" sz="quarter" idx="11"/>
          </p:nvPr>
        </p:nvSpPr>
        <p:spPr>
          <a:xfrm>
            <a:off x="800100" y="6172200"/>
            <a:ext cx="4000500" cy="457200"/>
          </a:xfrm>
        </p:spPr>
        <p:txBody>
          <a:bodyPr/>
          <a:lstStyle/>
          <a:p>
            <a:r>
              <a:rPr lang="fr-FR" smtClean="0"/>
              <a:t>Mme noura Ouerdi</a:t>
            </a:r>
            <a:endParaRPr lang="fr-FR"/>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Espace réservé du numéro de diapositive 5"/>
          <p:cNvSpPr>
            <a:spLocks noGrp="1"/>
          </p:cNvSpPr>
          <p:nvPr>
            <p:ph type="sldNum" sz="quarter" idx="12"/>
          </p:nvPr>
        </p:nvSpPr>
        <p:spPr>
          <a:xfrm>
            <a:off x="146304" y="6208776"/>
            <a:ext cx="457200" cy="457200"/>
          </a:xfrm>
        </p:spPr>
        <p:txBody>
          <a:bodyPr/>
          <a:lstStyle/>
          <a:p>
            <a:fld id="{74B13EA3-B7A8-4461-BEED-CB525C7E5E30}" type="slidenum">
              <a:rPr lang="fr-FR" smtClean="0"/>
              <a:pPr/>
              <a:t>‹N°›</a:t>
            </a:fld>
            <a:endParaRPr lang="fr-FR"/>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5" name="Espace réservé de la date 4"/>
          <p:cNvSpPr>
            <a:spLocks noGrp="1"/>
          </p:cNvSpPr>
          <p:nvPr>
            <p:ph type="dt" sz="half" idx="10"/>
          </p:nvPr>
        </p:nvSpPr>
        <p:spPr/>
        <p:txBody>
          <a:bodyPr/>
          <a:lstStyle/>
          <a:p>
            <a:fld id="{CAD8EF66-A408-4093-94AE-5853D5B21B5B}" type="datetime1">
              <a:rPr lang="fr-FR" smtClean="0"/>
              <a:pPr/>
              <a:t>13/02/2018</a:t>
            </a:fld>
            <a:endParaRPr lang="fr-FR"/>
          </a:p>
        </p:txBody>
      </p:sp>
      <p:sp>
        <p:nvSpPr>
          <p:cNvPr id="6" name="Espace réservé du pied de page 5"/>
          <p:cNvSpPr>
            <a:spLocks noGrp="1"/>
          </p:cNvSpPr>
          <p:nvPr>
            <p:ph type="ftr" sz="quarter" idx="11"/>
          </p:nvPr>
        </p:nvSpPr>
        <p:spPr/>
        <p:txBody>
          <a:bodyPr/>
          <a:lstStyle/>
          <a:p>
            <a:r>
              <a:rPr lang="fr-FR" smtClean="0"/>
              <a:t>Mme noura Ouerdi</a:t>
            </a:r>
            <a:endParaRPr lang="fr-FR"/>
          </a:p>
        </p:txBody>
      </p:sp>
      <p:sp>
        <p:nvSpPr>
          <p:cNvPr id="7" name="Espace réservé du numéro de diapositive 6"/>
          <p:cNvSpPr>
            <a:spLocks noGrp="1"/>
          </p:cNvSpPr>
          <p:nvPr>
            <p:ph type="sldNum" sz="quarter" idx="12"/>
          </p:nvPr>
        </p:nvSpPr>
        <p:spPr/>
        <p:txBody>
          <a:bodyPr/>
          <a:lstStyle/>
          <a:p>
            <a:fld id="{74B13EA3-B7A8-4461-BEED-CB525C7E5E30}" type="slidenum">
              <a:rPr lang="fr-FR" smtClean="0"/>
              <a:pPr/>
              <a:t>‹N°›</a:t>
            </a:fld>
            <a:endParaRPr lang="fr-FR"/>
          </a:p>
        </p:txBody>
      </p:sp>
      <p:sp>
        <p:nvSpPr>
          <p:cNvPr id="9" name="Espace réservé du contenu 8"/>
          <p:cNvSpPr>
            <a:spLocks noGrp="1"/>
          </p:cNvSpPr>
          <p:nvPr>
            <p:ph sz="quarter" idx="1"/>
          </p:nvPr>
        </p:nvSpPr>
        <p:spPr>
          <a:xfrm>
            <a:off x="914400" y="1447800"/>
            <a:ext cx="3749040" cy="4572000"/>
          </a:xfrm>
        </p:spPr>
        <p:txBody>
          <a:bodyPr vert="horz"/>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1" name="Espace réservé du contenu 10"/>
          <p:cNvSpPr>
            <a:spLocks noGrp="1"/>
          </p:cNvSpPr>
          <p:nvPr>
            <p:ph sz="quarter" idx="2"/>
          </p:nvPr>
        </p:nvSpPr>
        <p:spPr>
          <a:xfrm>
            <a:off x="4933950" y="1447800"/>
            <a:ext cx="3749040" cy="4572000"/>
          </a:xfrm>
        </p:spPr>
        <p:txBody>
          <a:bodyPr vert="horz"/>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914400" y="273050"/>
            <a:ext cx="7772400" cy="1143000"/>
          </a:xfrm>
        </p:spPr>
        <p:txBody>
          <a:bodyPr anchor="b" anchorCtr="0"/>
          <a:lstStyle>
            <a:lvl1pPr>
              <a:defRPr/>
            </a:lvl1pPr>
          </a:lstStyle>
          <a:p>
            <a:r>
              <a:rPr kumimoji="0" lang="fr-FR" smtClean="0"/>
              <a:t>Cliquez pour modifier le style du titre</a:t>
            </a:r>
            <a:endParaRPr kumimoji="0" lang="en-US"/>
          </a:p>
        </p:txBody>
      </p:sp>
      <p:sp>
        <p:nvSpPr>
          <p:cNvPr id="3" name="Espace réservé du texte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4" name="Espace réservé du texte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7" name="Espace réservé de la date 6"/>
          <p:cNvSpPr>
            <a:spLocks noGrp="1"/>
          </p:cNvSpPr>
          <p:nvPr>
            <p:ph type="dt" sz="half" idx="10"/>
          </p:nvPr>
        </p:nvSpPr>
        <p:spPr/>
        <p:txBody>
          <a:bodyPr/>
          <a:lstStyle/>
          <a:p>
            <a:fld id="{CE7738F0-F8B1-4319-8DB1-9994543BED7E}" type="datetime1">
              <a:rPr lang="fr-FR" smtClean="0"/>
              <a:pPr/>
              <a:t>13/02/2018</a:t>
            </a:fld>
            <a:endParaRPr lang="fr-FR"/>
          </a:p>
        </p:txBody>
      </p:sp>
      <p:sp>
        <p:nvSpPr>
          <p:cNvPr id="8" name="Espace réservé du pied de page 7"/>
          <p:cNvSpPr>
            <a:spLocks noGrp="1"/>
          </p:cNvSpPr>
          <p:nvPr>
            <p:ph type="ftr" sz="quarter" idx="11"/>
          </p:nvPr>
        </p:nvSpPr>
        <p:spPr/>
        <p:txBody>
          <a:bodyPr/>
          <a:lstStyle/>
          <a:p>
            <a:r>
              <a:rPr lang="fr-FR" smtClean="0"/>
              <a:t>Mme noura Ouerdi</a:t>
            </a:r>
            <a:endParaRPr lang="fr-FR"/>
          </a:p>
        </p:txBody>
      </p:sp>
      <p:sp>
        <p:nvSpPr>
          <p:cNvPr id="9" name="Espace réservé du numéro de diapositive 8"/>
          <p:cNvSpPr>
            <a:spLocks noGrp="1"/>
          </p:cNvSpPr>
          <p:nvPr>
            <p:ph type="sldNum" sz="quarter" idx="12"/>
          </p:nvPr>
        </p:nvSpPr>
        <p:spPr/>
        <p:txBody>
          <a:bodyPr/>
          <a:lstStyle/>
          <a:p>
            <a:fld id="{74B13EA3-B7A8-4461-BEED-CB525C7E5E30}" type="slidenum">
              <a:rPr lang="fr-FR" smtClean="0"/>
              <a:pPr/>
              <a:t>‹N°›</a:t>
            </a:fld>
            <a:endParaRPr lang="fr-FR"/>
          </a:p>
        </p:txBody>
      </p:sp>
      <p:sp>
        <p:nvSpPr>
          <p:cNvPr id="11" name="Espace réservé du contenu 10"/>
          <p:cNvSpPr>
            <a:spLocks noGrp="1"/>
          </p:cNvSpPr>
          <p:nvPr>
            <p:ph sz="half" idx="2"/>
          </p:nvPr>
        </p:nvSpPr>
        <p:spPr>
          <a:xfrm>
            <a:off x="914400" y="2247900"/>
            <a:ext cx="3733800" cy="3886200"/>
          </a:xfrm>
        </p:spPr>
        <p:txBody>
          <a:bodyPr vert="horz"/>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3" name="Espace réservé du contenu 12"/>
          <p:cNvSpPr>
            <a:spLocks noGrp="1"/>
          </p:cNvSpPr>
          <p:nvPr>
            <p:ph sz="half" idx="4"/>
          </p:nvPr>
        </p:nvSpPr>
        <p:spPr>
          <a:xfrm>
            <a:off x="4953000" y="2247900"/>
            <a:ext cx="3733800" cy="3886200"/>
          </a:xfrm>
        </p:spPr>
        <p:txBody>
          <a:bodyPr vert="horz"/>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e la date 2"/>
          <p:cNvSpPr>
            <a:spLocks noGrp="1"/>
          </p:cNvSpPr>
          <p:nvPr>
            <p:ph type="dt" sz="half" idx="10"/>
          </p:nvPr>
        </p:nvSpPr>
        <p:spPr/>
        <p:txBody>
          <a:bodyPr/>
          <a:lstStyle/>
          <a:p>
            <a:fld id="{3E45DDFE-B8B5-4C0B-8882-F5924D2436E1}" type="datetime1">
              <a:rPr lang="fr-FR" smtClean="0"/>
              <a:pPr/>
              <a:t>13/02/2018</a:t>
            </a:fld>
            <a:endParaRPr lang="fr-FR"/>
          </a:p>
        </p:txBody>
      </p:sp>
      <p:sp>
        <p:nvSpPr>
          <p:cNvPr id="4" name="Espace réservé du pied de page 3"/>
          <p:cNvSpPr>
            <a:spLocks noGrp="1"/>
          </p:cNvSpPr>
          <p:nvPr>
            <p:ph type="ftr" sz="quarter" idx="11"/>
          </p:nvPr>
        </p:nvSpPr>
        <p:spPr/>
        <p:txBody>
          <a:bodyPr/>
          <a:lstStyle/>
          <a:p>
            <a:r>
              <a:rPr lang="fr-FR" smtClean="0"/>
              <a:t>Mme noura Ouerdi</a:t>
            </a:r>
            <a:endParaRPr lang="fr-FR"/>
          </a:p>
        </p:txBody>
      </p:sp>
      <p:sp>
        <p:nvSpPr>
          <p:cNvPr id="5" name="Espace réservé du numéro de diapositive 4"/>
          <p:cNvSpPr>
            <a:spLocks noGrp="1"/>
          </p:cNvSpPr>
          <p:nvPr>
            <p:ph type="sldNum" sz="quarter" idx="12"/>
          </p:nvPr>
        </p:nvSpPr>
        <p:spPr/>
        <p:txBody>
          <a:bodyPr/>
          <a:lstStyle/>
          <a:p>
            <a:fld id="{74B13EA3-B7A8-4461-BEED-CB525C7E5E30}" type="slidenum">
              <a:rPr lang="fr-FR" smtClean="0"/>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977D9919-C5FA-4555-993A-2C5F5E165404}" type="datetime1">
              <a:rPr lang="fr-FR" smtClean="0"/>
              <a:pPr/>
              <a:t>13/02/2018</a:t>
            </a:fld>
            <a:endParaRPr lang="fr-FR"/>
          </a:p>
        </p:txBody>
      </p:sp>
      <p:sp>
        <p:nvSpPr>
          <p:cNvPr id="3" name="Espace réservé du pied de page 2"/>
          <p:cNvSpPr>
            <a:spLocks noGrp="1"/>
          </p:cNvSpPr>
          <p:nvPr>
            <p:ph type="ftr" sz="quarter" idx="11"/>
          </p:nvPr>
        </p:nvSpPr>
        <p:spPr/>
        <p:txBody>
          <a:bodyPr/>
          <a:lstStyle/>
          <a:p>
            <a:r>
              <a:rPr lang="fr-FR" smtClean="0"/>
              <a:t>Mme noura Ouerdi</a:t>
            </a:r>
            <a:endParaRPr lang="fr-FR"/>
          </a:p>
        </p:txBody>
      </p:sp>
      <p:sp>
        <p:nvSpPr>
          <p:cNvPr id="4" name="Espace réservé du numéro de diapositive 3"/>
          <p:cNvSpPr>
            <a:spLocks noGrp="1"/>
          </p:cNvSpPr>
          <p:nvPr>
            <p:ph type="sldNum" sz="quarter" idx="12"/>
          </p:nvPr>
        </p:nvSpPr>
        <p:spPr/>
        <p:txBody>
          <a:bodyPr/>
          <a:lstStyle/>
          <a:p>
            <a:fld id="{74B13EA3-B7A8-4461-BEED-CB525C7E5E30}"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ectangle à coins arrondis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re 1"/>
          <p:cNvSpPr>
            <a:spLocks noGrp="1"/>
          </p:cNvSpPr>
          <p:nvPr>
            <p:ph type="title"/>
          </p:nvPr>
        </p:nvSpPr>
        <p:spPr>
          <a:xfrm>
            <a:off x="914400" y="273050"/>
            <a:ext cx="7772400" cy="1143000"/>
          </a:xfrm>
        </p:spPr>
        <p:txBody>
          <a:bodyPr anchor="b" anchorCtr="0"/>
          <a:lstStyle>
            <a:lvl1pPr algn="l">
              <a:buNone/>
              <a:defRPr sz="4000" b="0"/>
            </a:lvl1pPr>
          </a:lstStyle>
          <a:p>
            <a:r>
              <a:rPr kumimoji="0" lang="fr-FR" smtClean="0"/>
              <a:t>Cliquez pour modifier le style du titre</a:t>
            </a:r>
            <a:endParaRPr kumimoji="0" lang="en-US"/>
          </a:p>
        </p:txBody>
      </p:sp>
      <p:sp>
        <p:nvSpPr>
          <p:cNvPr id="3" name="Espace réservé du texte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fr-FR" smtClean="0"/>
              <a:t>Cliquez pour modifier les styles du texte du masque</a:t>
            </a:r>
          </a:p>
        </p:txBody>
      </p:sp>
      <p:sp>
        <p:nvSpPr>
          <p:cNvPr id="5" name="Espace réservé de la date 4"/>
          <p:cNvSpPr>
            <a:spLocks noGrp="1"/>
          </p:cNvSpPr>
          <p:nvPr>
            <p:ph type="dt" sz="half" idx="10"/>
          </p:nvPr>
        </p:nvSpPr>
        <p:spPr/>
        <p:txBody>
          <a:bodyPr/>
          <a:lstStyle/>
          <a:p>
            <a:fld id="{2B6BE328-7E46-4CE6-BFF0-2C33F08BDE3C}" type="datetime1">
              <a:rPr lang="fr-FR" smtClean="0"/>
              <a:pPr/>
              <a:t>13/02/2018</a:t>
            </a:fld>
            <a:endParaRPr lang="fr-FR"/>
          </a:p>
        </p:txBody>
      </p:sp>
      <p:sp>
        <p:nvSpPr>
          <p:cNvPr id="6" name="Espace réservé du pied de page 5"/>
          <p:cNvSpPr>
            <a:spLocks noGrp="1"/>
          </p:cNvSpPr>
          <p:nvPr>
            <p:ph type="ftr" sz="quarter" idx="11"/>
          </p:nvPr>
        </p:nvSpPr>
        <p:spPr/>
        <p:txBody>
          <a:bodyPr/>
          <a:lstStyle/>
          <a:p>
            <a:r>
              <a:rPr lang="fr-FR" smtClean="0"/>
              <a:t>Mme noura Ouerdi</a:t>
            </a:r>
            <a:endParaRPr lang="fr-FR"/>
          </a:p>
        </p:txBody>
      </p:sp>
      <p:sp>
        <p:nvSpPr>
          <p:cNvPr id="7" name="Espace réservé du numéro de diapositive 6"/>
          <p:cNvSpPr>
            <a:spLocks noGrp="1"/>
          </p:cNvSpPr>
          <p:nvPr>
            <p:ph type="sldNum" sz="quarter" idx="12"/>
          </p:nvPr>
        </p:nvSpPr>
        <p:spPr/>
        <p:txBody>
          <a:bodyPr/>
          <a:lstStyle/>
          <a:p>
            <a:fld id="{74B13EA3-B7A8-4461-BEED-CB525C7E5E30}" type="slidenum">
              <a:rPr lang="fr-FR" smtClean="0"/>
              <a:pPr/>
              <a:t>‹N°›</a:t>
            </a:fld>
            <a:endParaRPr lang="fr-FR"/>
          </a:p>
        </p:txBody>
      </p:sp>
      <p:sp>
        <p:nvSpPr>
          <p:cNvPr id="11" name="Espace réservé du contenu 10"/>
          <p:cNvSpPr>
            <a:spLocks noGrp="1"/>
          </p:cNvSpPr>
          <p:nvPr>
            <p:ph sz="quarter" idx="1"/>
          </p:nvPr>
        </p:nvSpPr>
        <p:spPr>
          <a:xfrm>
            <a:off x="2971800" y="1600200"/>
            <a:ext cx="5715000" cy="4495800"/>
          </a:xfrm>
        </p:spPr>
        <p:txBody>
          <a:bodyPr vert="horz"/>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fr-FR" smtClean="0"/>
              <a:t>Cliquez pour modifier le style du titre</a:t>
            </a:r>
            <a:endParaRPr kumimoji="0" lang="en-US"/>
          </a:p>
        </p:txBody>
      </p:sp>
      <p:sp>
        <p:nvSpPr>
          <p:cNvPr id="4" name="Espace réservé du texte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fr-FR" smtClean="0"/>
              <a:t>Cliquez pour modifier les styles du texte du masque</a:t>
            </a:r>
          </a:p>
        </p:txBody>
      </p:sp>
      <p:sp>
        <p:nvSpPr>
          <p:cNvPr id="5" name="Espace réservé de la date 4"/>
          <p:cNvSpPr>
            <a:spLocks noGrp="1"/>
          </p:cNvSpPr>
          <p:nvPr>
            <p:ph type="dt" sz="half" idx="10"/>
          </p:nvPr>
        </p:nvSpPr>
        <p:spPr/>
        <p:txBody>
          <a:bodyPr/>
          <a:lstStyle/>
          <a:p>
            <a:fld id="{D577FB30-7EB4-45DA-AA5A-9CDB6A792B36}" type="datetime1">
              <a:rPr lang="fr-FR" smtClean="0"/>
              <a:pPr/>
              <a:t>13/02/2018</a:t>
            </a:fld>
            <a:endParaRPr lang="fr-FR"/>
          </a:p>
        </p:txBody>
      </p:sp>
      <p:sp>
        <p:nvSpPr>
          <p:cNvPr id="6" name="Espace réservé du pied de page 5"/>
          <p:cNvSpPr>
            <a:spLocks noGrp="1"/>
          </p:cNvSpPr>
          <p:nvPr>
            <p:ph type="ftr" sz="quarter" idx="11"/>
          </p:nvPr>
        </p:nvSpPr>
        <p:spPr>
          <a:xfrm>
            <a:off x="914400" y="6172200"/>
            <a:ext cx="3886200" cy="457200"/>
          </a:xfrm>
        </p:spPr>
        <p:txBody>
          <a:bodyPr/>
          <a:lstStyle/>
          <a:p>
            <a:r>
              <a:rPr lang="fr-FR" smtClean="0"/>
              <a:t>Mme noura Ouerdi</a:t>
            </a:r>
            <a:endParaRPr lang="fr-FR"/>
          </a:p>
        </p:txBody>
      </p:sp>
      <p:sp>
        <p:nvSpPr>
          <p:cNvPr id="7" name="Espace réservé du numéro de diapositive 6"/>
          <p:cNvSpPr>
            <a:spLocks noGrp="1"/>
          </p:cNvSpPr>
          <p:nvPr>
            <p:ph type="sldNum" sz="quarter" idx="12"/>
          </p:nvPr>
        </p:nvSpPr>
        <p:spPr>
          <a:xfrm>
            <a:off x="146304" y="6208776"/>
            <a:ext cx="457200" cy="457200"/>
          </a:xfrm>
        </p:spPr>
        <p:txBody>
          <a:bodyPr/>
          <a:lstStyle/>
          <a:p>
            <a:fld id="{74B13EA3-B7A8-4461-BEED-CB525C7E5E30}" type="slidenum">
              <a:rPr lang="fr-FR" smtClean="0"/>
              <a:pPr/>
              <a:t>‹N°›</a:t>
            </a:fld>
            <a:endParaRPr lang="fr-FR"/>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Espace réservé pour une image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fr-FR" smtClean="0"/>
              <a:t>Cliquez sur l'icône pour ajouter une image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40AE4BC3-4AA8-41D2-A921-944063207C64}" type="datetime1">
              <a:rPr lang="fr-FR" smtClean="0"/>
              <a:pPr/>
              <a:t>13/02/2018</a:t>
            </a:fld>
            <a:endParaRPr lang="fr-FR"/>
          </a:p>
        </p:txBody>
      </p:sp>
      <p:sp>
        <p:nvSpPr>
          <p:cNvPr id="5" name="Espace réservé du pied de page 4"/>
          <p:cNvSpPr>
            <a:spLocks noGrp="1"/>
          </p:cNvSpPr>
          <p:nvPr>
            <p:ph type="ftr" sz="quarter" idx="11"/>
          </p:nvPr>
        </p:nvSpPr>
        <p:spPr/>
        <p:txBody>
          <a:bodyPr/>
          <a:lstStyle/>
          <a:p>
            <a:r>
              <a:rPr lang="fr-FR" smtClean="0"/>
              <a:t>Mme noura Ouerdi</a:t>
            </a:r>
            <a:endParaRPr lang="fr-FR"/>
          </a:p>
        </p:txBody>
      </p:sp>
      <p:sp>
        <p:nvSpPr>
          <p:cNvPr id="6" name="Espace réservé du numéro de diapositive 5"/>
          <p:cNvSpPr>
            <a:spLocks noGrp="1"/>
          </p:cNvSpPr>
          <p:nvPr>
            <p:ph type="sldNum" sz="quarter" idx="12"/>
          </p:nvPr>
        </p:nvSpPr>
        <p:spPr/>
        <p:txBody>
          <a:bodyPr/>
          <a:lstStyle/>
          <a:p>
            <a:fld id="{74B13EA3-B7A8-4461-BEED-CB525C7E5E30}"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41"/>
            <a:ext cx="2011680" cy="5851525"/>
          </a:xfrm>
        </p:spPr>
        <p:txBody>
          <a:bodyPr vert="eaVert"/>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a:xfrm>
            <a:off x="914400" y="274640"/>
            <a:ext cx="5562600" cy="5851525"/>
          </a:xfrm>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12BBA2D3-8C18-4818-B729-0BF34F0ADBF1}" type="datetime1">
              <a:rPr lang="fr-FR" smtClean="0"/>
              <a:pPr/>
              <a:t>13/02/2018</a:t>
            </a:fld>
            <a:endParaRPr lang="fr-FR"/>
          </a:p>
        </p:txBody>
      </p:sp>
      <p:sp>
        <p:nvSpPr>
          <p:cNvPr id="5" name="Espace réservé du pied de page 4"/>
          <p:cNvSpPr>
            <a:spLocks noGrp="1"/>
          </p:cNvSpPr>
          <p:nvPr>
            <p:ph type="ftr" sz="quarter" idx="11"/>
          </p:nvPr>
        </p:nvSpPr>
        <p:spPr/>
        <p:txBody>
          <a:bodyPr/>
          <a:lstStyle/>
          <a:p>
            <a:r>
              <a:rPr lang="fr-FR" smtClean="0"/>
              <a:t>Mme noura Ouerdi</a:t>
            </a:r>
            <a:endParaRPr lang="fr-FR"/>
          </a:p>
        </p:txBody>
      </p:sp>
      <p:sp>
        <p:nvSpPr>
          <p:cNvPr id="6" name="Espace réservé du numéro de diapositive 5"/>
          <p:cNvSpPr>
            <a:spLocks noGrp="1"/>
          </p:cNvSpPr>
          <p:nvPr>
            <p:ph type="sldNum" sz="quarter" idx="12"/>
          </p:nvPr>
        </p:nvSpPr>
        <p:spPr/>
        <p:txBody>
          <a:bodyPr/>
          <a:lstStyle/>
          <a:p>
            <a:fld id="{74B13EA3-B7A8-4461-BEED-CB525C7E5E30}" type="slidenum">
              <a:rPr lang="fr-FR" smtClean="0"/>
              <a:pP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ectangle à coins arrondis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Espace réservé du titre 21"/>
          <p:cNvSpPr>
            <a:spLocks noGrp="1"/>
          </p:cNvSpPr>
          <p:nvPr>
            <p:ph type="title"/>
          </p:nvPr>
        </p:nvSpPr>
        <p:spPr>
          <a:xfrm>
            <a:off x="914400" y="274638"/>
            <a:ext cx="7772400" cy="1143000"/>
          </a:xfrm>
          <a:prstGeom prst="rect">
            <a:avLst/>
          </a:prstGeom>
        </p:spPr>
        <p:txBody>
          <a:bodyPr bIns="91440" anchor="b" anchorCtr="0">
            <a:normAutofit/>
          </a:bodyPr>
          <a:lstStyle/>
          <a:p>
            <a:r>
              <a:rPr kumimoji="0" lang="fr-FR" smtClean="0"/>
              <a:t>Cliquez pour modifier le style du titre</a:t>
            </a:r>
            <a:endParaRPr kumimoji="0" lang="en-US"/>
          </a:p>
        </p:txBody>
      </p:sp>
      <p:sp>
        <p:nvSpPr>
          <p:cNvPr id="13" name="Espace réservé du texte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fr-FR" smtClean="0"/>
              <a:t>Cliquez pour modifier les styles du texte du masque</a:t>
            </a:r>
          </a:p>
          <a:p>
            <a:pPr lvl="1" eaLnBrk="1" latinLnBrk="0" hangingPunct="1"/>
            <a:r>
              <a:rPr kumimoji="0" lang="fr-FR" smtClean="0"/>
              <a:t>Deuxième niveau</a:t>
            </a:r>
          </a:p>
          <a:p>
            <a:pPr lvl="2" eaLnBrk="1" latinLnBrk="0" hangingPunct="1"/>
            <a:r>
              <a:rPr kumimoji="0" lang="fr-FR" smtClean="0"/>
              <a:t>Troisième niveau</a:t>
            </a:r>
          </a:p>
          <a:p>
            <a:pPr lvl="3" eaLnBrk="1" latinLnBrk="0" hangingPunct="1"/>
            <a:r>
              <a:rPr kumimoji="0" lang="fr-FR" smtClean="0"/>
              <a:t>Quatrième niveau</a:t>
            </a:r>
          </a:p>
          <a:p>
            <a:pPr lvl="4" eaLnBrk="1" latinLnBrk="0" hangingPunct="1"/>
            <a:r>
              <a:rPr kumimoji="0" lang="fr-FR" smtClean="0"/>
              <a:t>Cinquième niveau</a:t>
            </a:r>
            <a:endParaRPr kumimoji="0" lang="en-US"/>
          </a:p>
        </p:txBody>
      </p:sp>
      <p:sp>
        <p:nvSpPr>
          <p:cNvPr id="14" name="Espace réservé de la date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1A7DEF9D-1330-42F6-87CD-0F498EA6D592}" type="datetime1">
              <a:rPr lang="fr-FR" smtClean="0"/>
              <a:pPr/>
              <a:t>13/02/2018</a:t>
            </a:fld>
            <a:endParaRPr lang="fr-FR"/>
          </a:p>
        </p:txBody>
      </p:sp>
      <p:sp>
        <p:nvSpPr>
          <p:cNvPr id="3" name="Espace réservé du pied de page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r>
              <a:rPr lang="fr-FR" smtClean="0"/>
              <a:t>Mme noura Ouerdi</a:t>
            </a:r>
            <a:endParaRPr lang="fr-FR"/>
          </a:p>
        </p:txBody>
      </p:sp>
      <p:sp>
        <p:nvSpPr>
          <p:cNvPr id="23" name="Espace réservé du numéro de diapositive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74B13EA3-B7A8-4461-BEED-CB525C7E5E30}" type="slidenum">
              <a:rPr lang="fr-FR" smtClean="0"/>
              <a:pPr/>
              <a:t>‹N°›</a:t>
            </a:fld>
            <a:endParaRPr lang="fr-F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p:cNvSpPr>
            <a:spLocks noGrp="1"/>
          </p:cNvSpPr>
          <p:nvPr>
            <p:ph type="subTitle" idx="1"/>
          </p:nvPr>
        </p:nvSpPr>
        <p:spPr/>
        <p:txBody>
          <a:bodyPr/>
          <a:lstStyle/>
          <a:p>
            <a:r>
              <a:rPr lang="fr-FR" dirty="0" smtClean="0"/>
              <a:t>Enseignante: Mme </a:t>
            </a:r>
            <a:r>
              <a:rPr lang="fr-FR" dirty="0" err="1" smtClean="0"/>
              <a:t>Noura</a:t>
            </a:r>
            <a:r>
              <a:rPr lang="fr-FR" dirty="0" smtClean="0"/>
              <a:t> </a:t>
            </a:r>
            <a:r>
              <a:rPr lang="fr-FR" dirty="0" err="1" smtClean="0"/>
              <a:t>Ouerdi</a:t>
            </a:r>
            <a:endParaRPr lang="fr-FR" dirty="0"/>
          </a:p>
        </p:txBody>
      </p:sp>
      <p:sp>
        <p:nvSpPr>
          <p:cNvPr id="2" name="Titre 1"/>
          <p:cNvSpPr>
            <a:spLocks noGrp="1"/>
          </p:cNvSpPr>
          <p:nvPr>
            <p:ph type="ctrTitle"/>
          </p:nvPr>
        </p:nvSpPr>
        <p:spPr/>
        <p:txBody>
          <a:bodyPr/>
          <a:lstStyle/>
          <a:p>
            <a:r>
              <a:rPr lang="fr-FR" dirty="0" smtClean="0"/>
              <a:t>Compilation V3</a:t>
            </a:r>
            <a:endParaRPr lang="fr-FR" dirty="0"/>
          </a:p>
        </p:txBody>
      </p:sp>
      <p:sp>
        <p:nvSpPr>
          <p:cNvPr id="4" name="Espace réservé de la date 3"/>
          <p:cNvSpPr>
            <a:spLocks noGrp="1"/>
          </p:cNvSpPr>
          <p:nvPr>
            <p:ph type="dt" sz="half" idx="10"/>
          </p:nvPr>
        </p:nvSpPr>
        <p:spPr/>
        <p:txBody>
          <a:bodyPr/>
          <a:lstStyle/>
          <a:p>
            <a:fld id="{28FC7024-4DBE-46D7-AB95-ABC23D55E23E}" type="datetime1">
              <a:rPr lang="fr-FR" smtClean="0"/>
              <a:pPr/>
              <a:t>13/02/2018</a:t>
            </a:fld>
            <a:endParaRPr lang="fr-FR"/>
          </a:p>
        </p:txBody>
      </p:sp>
      <p:sp>
        <p:nvSpPr>
          <p:cNvPr id="5" name="Espace réservé du numéro de diapositive 4"/>
          <p:cNvSpPr>
            <a:spLocks noGrp="1"/>
          </p:cNvSpPr>
          <p:nvPr>
            <p:ph type="sldNum" sz="quarter" idx="12"/>
          </p:nvPr>
        </p:nvSpPr>
        <p:spPr/>
        <p:txBody>
          <a:bodyPr/>
          <a:lstStyle/>
          <a:p>
            <a:fld id="{74B13EA3-B7A8-4461-BEED-CB525C7E5E30}" type="slidenum">
              <a:rPr lang="fr-FR" smtClean="0"/>
              <a:pPr/>
              <a:t>1</a:t>
            </a:fld>
            <a:endParaRPr lang="fr-FR"/>
          </a:p>
        </p:txBody>
      </p:sp>
      <p:sp>
        <p:nvSpPr>
          <p:cNvPr id="6" name="Espace réservé du pied de page 5"/>
          <p:cNvSpPr>
            <a:spLocks noGrp="1"/>
          </p:cNvSpPr>
          <p:nvPr>
            <p:ph type="ftr" sz="quarter" idx="11"/>
          </p:nvPr>
        </p:nvSpPr>
        <p:spPr/>
        <p:txBody>
          <a:bodyPr/>
          <a:lstStyle/>
          <a:p>
            <a:r>
              <a:rPr lang="fr-FR" smtClean="0"/>
              <a:t>Mme noura Ouerdi</a:t>
            </a:r>
            <a:endParaRPr lang="fr-F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Structure d’un compilateur</a:t>
            </a:r>
            <a:endParaRPr lang="fr-FR" dirty="0"/>
          </a:p>
        </p:txBody>
      </p:sp>
      <p:sp>
        <p:nvSpPr>
          <p:cNvPr id="3" name="Espace réservé de la date 2"/>
          <p:cNvSpPr>
            <a:spLocks noGrp="1"/>
          </p:cNvSpPr>
          <p:nvPr>
            <p:ph type="dt" sz="half" idx="10"/>
          </p:nvPr>
        </p:nvSpPr>
        <p:spPr/>
        <p:txBody>
          <a:bodyPr/>
          <a:lstStyle/>
          <a:p>
            <a:fld id="{4A66E40E-9939-4064-972F-A288C7324550}" type="datetime1">
              <a:rPr lang="fr-FR" smtClean="0"/>
              <a:pPr/>
              <a:t>13/02/2018</a:t>
            </a:fld>
            <a:endParaRPr lang="fr-FR"/>
          </a:p>
        </p:txBody>
      </p:sp>
      <p:sp>
        <p:nvSpPr>
          <p:cNvPr id="4" name="Espace réservé du pied de page 3"/>
          <p:cNvSpPr>
            <a:spLocks noGrp="1"/>
          </p:cNvSpPr>
          <p:nvPr>
            <p:ph type="ftr" sz="quarter" idx="11"/>
          </p:nvPr>
        </p:nvSpPr>
        <p:spPr/>
        <p:txBody>
          <a:bodyPr/>
          <a:lstStyle/>
          <a:p>
            <a:r>
              <a:rPr lang="fr-FR" smtClean="0"/>
              <a:t>Mme noura Ouerdi</a:t>
            </a:r>
            <a:endParaRPr lang="fr-FR"/>
          </a:p>
        </p:txBody>
      </p:sp>
      <p:sp>
        <p:nvSpPr>
          <p:cNvPr id="5" name="Espace réservé du numéro de diapositive 4"/>
          <p:cNvSpPr>
            <a:spLocks noGrp="1"/>
          </p:cNvSpPr>
          <p:nvPr>
            <p:ph type="sldNum" sz="quarter" idx="12"/>
          </p:nvPr>
        </p:nvSpPr>
        <p:spPr/>
        <p:txBody>
          <a:bodyPr/>
          <a:lstStyle/>
          <a:p>
            <a:fld id="{AF4AC9CB-BACC-434F-BBB7-96004CCDFA5E}" type="slidenum">
              <a:rPr lang="fr-FR" smtClean="0"/>
              <a:pPr/>
              <a:t>2</a:t>
            </a:fld>
            <a:endParaRPr lang="fr-FR"/>
          </a:p>
        </p:txBody>
      </p:sp>
      <p:sp>
        <p:nvSpPr>
          <p:cNvPr id="6" name="Espace réservé du contenu 5"/>
          <p:cNvSpPr>
            <a:spLocks noGrp="1"/>
          </p:cNvSpPr>
          <p:nvPr>
            <p:ph sz="quarter" idx="1"/>
          </p:nvPr>
        </p:nvSpPr>
        <p:spPr/>
        <p:txBody>
          <a:bodyPr/>
          <a:lstStyle/>
          <a:p>
            <a:r>
              <a:rPr lang="fr-FR" dirty="0" smtClean="0"/>
              <a:t>La structure général d’un compilateur se compose de:</a:t>
            </a:r>
          </a:p>
          <a:p>
            <a:r>
              <a:rPr lang="fr-FR" dirty="0" smtClean="0"/>
              <a:t>Analyse lexicale</a:t>
            </a:r>
          </a:p>
          <a:p>
            <a:r>
              <a:rPr lang="fr-FR" dirty="0" smtClean="0"/>
              <a:t>Analyse syntaxique</a:t>
            </a:r>
          </a:p>
          <a:p>
            <a:r>
              <a:rPr lang="fr-FR" dirty="0" smtClean="0"/>
              <a:t>Analyse sémantique</a:t>
            </a:r>
          </a:p>
          <a:p>
            <a:r>
              <a:rPr lang="fr-FR" dirty="0" smtClean="0"/>
              <a:t>Génération du code intermédiaire (pseudo code)</a:t>
            </a:r>
          </a:p>
          <a:p>
            <a:r>
              <a:rPr lang="fr-FR" dirty="0" smtClean="0"/>
              <a:t>Génération du </a:t>
            </a:r>
            <a:r>
              <a:rPr lang="fr-FR" smtClean="0"/>
              <a:t>code </a:t>
            </a:r>
            <a:r>
              <a:rPr lang="fr-FR" smtClean="0"/>
              <a:t>final</a:t>
            </a:r>
            <a:endParaRPr lang="fr-FR"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Structure d’un compilateur</a:t>
            </a:r>
            <a:endParaRPr lang="fr-FR" dirty="0"/>
          </a:p>
        </p:txBody>
      </p:sp>
      <p:sp>
        <p:nvSpPr>
          <p:cNvPr id="3" name="Espace réservé de la date 2"/>
          <p:cNvSpPr>
            <a:spLocks noGrp="1"/>
          </p:cNvSpPr>
          <p:nvPr>
            <p:ph type="dt" sz="half" idx="10"/>
          </p:nvPr>
        </p:nvSpPr>
        <p:spPr/>
        <p:txBody>
          <a:bodyPr/>
          <a:lstStyle/>
          <a:p>
            <a:fld id="{B9790A0A-306F-4D28-9CAE-887447B081A0}" type="datetime1">
              <a:rPr lang="fr-FR" smtClean="0"/>
              <a:pPr/>
              <a:t>13/02/2018</a:t>
            </a:fld>
            <a:endParaRPr lang="fr-FR"/>
          </a:p>
        </p:txBody>
      </p:sp>
      <p:sp>
        <p:nvSpPr>
          <p:cNvPr id="4" name="Espace réservé du pied de page 3"/>
          <p:cNvSpPr>
            <a:spLocks noGrp="1"/>
          </p:cNvSpPr>
          <p:nvPr>
            <p:ph type="ftr" sz="quarter" idx="11"/>
          </p:nvPr>
        </p:nvSpPr>
        <p:spPr/>
        <p:txBody>
          <a:bodyPr/>
          <a:lstStyle/>
          <a:p>
            <a:r>
              <a:rPr lang="fr-FR" dirty="0" smtClean="0"/>
              <a:t>Mme </a:t>
            </a:r>
            <a:r>
              <a:rPr lang="fr-FR" dirty="0" err="1" smtClean="0"/>
              <a:t>noura</a:t>
            </a:r>
            <a:r>
              <a:rPr lang="fr-FR" dirty="0" smtClean="0"/>
              <a:t> </a:t>
            </a:r>
            <a:r>
              <a:rPr lang="fr-FR" dirty="0" err="1" smtClean="0"/>
              <a:t>Ouerdi</a:t>
            </a:r>
            <a:endParaRPr lang="fr-FR" dirty="0"/>
          </a:p>
        </p:txBody>
      </p:sp>
      <p:sp>
        <p:nvSpPr>
          <p:cNvPr id="5" name="Espace réservé du numéro de diapositive 4"/>
          <p:cNvSpPr>
            <a:spLocks noGrp="1"/>
          </p:cNvSpPr>
          <p:nvPr>
            <p:ph type="sldNum" sz="quarter" idx="12"/>
          </p:nvPr>
        </p:nvSpPr>
        <p:spPr/>
        <p:txBody>
          <a:bodyPr/>
          <a:lstStyle/>
          <a:p>
            <a:fld id="{AF4AC9CB-BACC-434F-BBB7-96004CCDFA5E}" type="slidenum">
              <a:rPr lang="fr-FR" smtClean="0"/>
              <a:pPr/>
              <a:t>3</a:t>
            </a:fld>
            <a:endParaRPr lang="fr-FR"/>
          </a:p>
        </p:txBody>
      </p:sp>
      <p:sp>
        <p:nvSpPr>
          <p:cNvPr id="6" name="Espace réservé du contenu 5"/>
          <p:cNvSpPr>
            <a:spLocks noGrp="1"/>
          </p:cNvSpPr>
          <p:nvPr>
            <p:ph sz="quarter" idx="1"/>
          </p:nvPr>
        </p:nvSpPr>
        <p:spPr/>
        <p:txBody>
          <a:bodyPr/>
          <a:lstStyle/>
          <a:p>
            <a:r>
              <a:rPr lang="fr-FR" dirty="0" smtClean="0"/>
              <a:t>Un compilateur est un </a:t>
            </a:r>
            <a:r>
              <a:rPr lang="fr-FR" dirty="0" err="1" smtClean="0"/>
              <a:t>prog</a:t>
            </a:r>
            <a:r>
              <a:rPr lang="fr-FR" dirty="0" smtClean="0"/>
              <a:t> complexe divisé en phases. On peut imaginer que chaque phase communique avec les phases précédentes et suivantes d’une façon appropriée.</a:t>
            </a:r>
          </a:p>
          <a:p>
            <a:r>
              <a:rPr lang="fr-FR" dirty="0" smtClean="0"/>
              <a:t>On peut mettre en évidence les phases suivantes:</a:t>
            </a:r>
          </a:p>
          <a:p>
            <a:pPr>
              <a:buFont typeface="Wingdings"/>
              <a:buChar char="à"/>
            </a:pPr>
            <a:r>
              <a:rPr lang="fr-FR" dirty="0" smtClean="0">
                <a:sym typeface="Wingdings" pitchFamily="2" charset="2"/>
              </a:rPr>
              <a:t>La phase frontale ou « analyse ». Elle comprend:</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Structure d’un compilateur</a:t>
            </a:r>
            <a:endParaRPr lang="fr-FR" dirty="0"/>
          </a:p>
        </p:txBody>
      </p:sp>
      <p:sp>
        <p:nvSpPr>
          <p:cNvPr id="3" name="Espace réservé de la date 2"/>
          <p:cNvSpPr>
            <a:spLocks noGrp="1"/>
          </p:cNvSpPr>
          <p:nvPr>
            <p:ph type="dt" sz="half" idx="10"/>
          </p:nvPr>
        </p:nvSpPr>
        <p:spPr/>
        <p:txBody>
          <a:bodyPr/>
          <a:lstStyle/>
          <a:p>
            <a:fld id="{5DC208C2-7BAA-40F1-9506-DC91173BE0BB}" type="datetime1">
              <a:rPr lang="fr-FR" smtClean="0"/>
              <a:pPr/>
              <a:t>13/02/2018</a:t>
            </a:fld>
            <a:endParaRPr lang="fr-FR"/>
          </a:p>
        </p:txBody>
      </p:sp>
      <p:sp>
        <p:nvSpPr>
          <p:cNvPr id="4" name="Espace réservé du pied de page 3"/>
          <p:cNvSpPr>
            <a:spLocks noGrp="1"/>
          </p:cNvSpPr>
          <p:nvPr>
            <p:ph type="ftr" sz="quarter" idx="11"/>
          </p:nvPr>
        </p:nvSpPr>
        <p:spPr/>
        <p:txBody>
          <a:bodyPr/>
          <a:lstStyle/>
          <a:p>
            <a:r>
              <a:rPr lang="fr-FR" smtClean="0"/>
              <a:t>Mme noura Ouerdi</a:t>
            </a:r>
            <a:endParaRPr lang="fr-FR"/>
          </a:p>
        </p:txBody>
      </p:sp>
      <p:sp>
        <p:nvSpPr>
          <p:cNvPr id="5" name="Espace réservé du numéro de diapositive 4"/>
          <p:cNvSpPr>
            <a:spLocks noGrp="1"/>
          </p:cNvSpPr>
          <p:nvPr>
            <p:ph type="sldNum" sz="quarter" idx="12"/>
          </p:nvPr>
        </p:nvSpPr>
        <p:spPr/>
        <p:txBody>
          <a:bodyPr/>
          <a:lstStyle/>
          <a:p>
            <a:fld id="{74B13EA3-B7A8-4461-BEED-CB525C7E5E30}" type="slidenum">
              <a:rPr lang="fr-FR" smtClean="0"/>
              <a:pPr/>
              <a:t>4</a:t>
            </a:fld>
            <a:endParaRPr lang="fr-FR"/>
          </a:p>
        </p:txBody>
      </p:sp>
      <p:sp>
        <p:nvSpPr>
          <p:cNvPr id="6" name="Espace réservé du contenu 5"/>
          <p:cNvSpPr>
            <a:spLocks noGrp="1"/>
          </p:cNvSpPr>
          <p:nvPr>
            <p:ph sz="quarter" idx="1"/>
          </p:nvPr>
        </p:nvSpPr>
        <p:spPr/>
        <p:txBody>
          <a:bodyPr/>
          <a:lstStyle/>
          <a:p>
            <a:r>
              <a:rPr lang="fr-FR" dirty="0" smtClean="0">
                <a:sym typeface="Wingdings" pitchFamily="2" charset="2"/>
              </a:rPr>
              <a:t>- Analyse lexicale (ou linéaire): son rôle est de reconnaitre dans le flux de caractères formant le programme source, les mots élémentaires du langage appelés unités lexicales ou </a:t>
            </a:r>
            <a:r>
              <a:rPr lang="fr-FR" dirty="0" err="1" smtClean="0">
                <a:solidFill>
                  <a:srgbClr val="FF0000"/>
                </a:solidFill>
                <a:sym typeface="Wingdings" pitchFamily="2" charset="2"/>
              </a:rPr>
              <a:t>tokens</a:t>
            </a:r>
            <a:r>
              <a:rPr lang="fr-FR" dirty="0" smtClean="0">
                <a:solidFill>
                  <a:srgbClr val="FF0000"/>
                </a:solidFill>
                <a:sym typeface="Wingdings" pitchFamily="2" charset="2"/>
              </a:rPr>
              <a:t> </a:t>
            </a:r>
            <a:r>
              <a:rPr lang="fr-FR" dirty="0" smtClean="0">
                <a:sym typeface="Wingdings" pitchFamily="2" charset="2"/>
              </a:rPr>
              <a:t>tels que les identificateurs, les mots clés, les opérateurs,…Les mots reconnu sont présentés à la phase suivante.</a:t>
            </a:r>
            <a:endParaRPr lang="fr-FR" dirty="0" smtClean="0"/>
          </a:p>
          <a:p>
            <a:endParaRPr lang="fr-F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Structure d’un compilateur</a:t>
            </a:r>
            <a:endParaRPr lang="fr-FR" dirty="0"/>
          </a:p>
        </p:txBody>
      </p:sp>
      <p:sp>
        <p:nvSpPr>
          <p:cNvPr id="3" name="Espace réservé de la date 2"/>
          <p:cNvSpPr>
            <a:spLocks noGrp="1"/>
          </p:cNvSpPr>
          <p:nvPr>
            <p:ph type="dt" sz="half" idx="10"/>
          </p:nvPr>
        </p:nvSpPr>
        <p:spPr/>
        <p:txBody>
          <a:bodyPr/>
          <a:lstStyle/>
          <a:p>
            <a:fld id="{97F5A4CE-09E6-4783-A0D0-6B7476D4E4E2}" type="datetime1">
              <a:rPr lang="fr-FR" smtClean="0"/>
              <a:pPr/>
              <a:t>13/02/2018</a:t>
            </a:fld>
            <a:endParaRPr lang="fr-FR"/>
          </a:p>
        </p:txBody>
      </p:sp>
      <p:sp>
        <p:nvSpPr>
          <p:cNvPr id="4" name="Espace réservé du pied de page 3"/>
          <p:cNvSpPr>
            <a:spLocks noGrp="1"/>
          </p:cNvSpPr>
          <p:nvPr>
            <p:ph type="ftr" sz="quarter" idx="11"/>
          </p:nvPr>
        </p:nvSpPr>
        <p:spPr/>
        <p:txBody>
          <a:bodyPr/>
          <a:lstStyle/>
          <a:p>
            <a:r>
              <a:rPr lang="fr-FR" smtClean="0"/>
              <a:t>Mme noura Ouerdi</a:t>
            </a:r>
            <a:endParaRPr lang="fr-FR"/>
          </a:p>
        </p:txBody>
      </p:sp>
      <p:sp>
        <p:nvSpPr>
          <p:cNvPr id="5" name="Espace réservé du numéro de diapositive 4"/>
          <p:cNvSpPr>
            <a:spLocks noGrp="1"/>
          </p:cNvSpPr>
          <p:nvPr>
            <p:ph type="sldNum" sz="quarter" idx="12"/>
          </p:nvPr>
        </p:nvSpPr>
        <p:spPr/>
        <p:txBody>
          <a:bodyPr/>
          <a:lstStyle/>
          <a:p>
            <a:fld id="{74B13EA3-B7A8-4461-BEED-CB525C7E5E30}" type="slidenum">
              <a:rPr lang="fr-FR" smtClean="0"/>
              <a:pPr/>
              <a:t>5</a:t>
            </a:fld>
            <a:endParaRPr lang="fr-FR"/>
          </a:p>
        </p:txBody>
      </p:sp>
      <p:sp>
        <p:nvSpPr>
          <p:cNvPr id="6" name="Espace réservé du contenu 5"/>
          <p:cNvSpPr>
            <a:spLocks noGrp="1"/>
          </p:cNvSpPr>
          <p:nvPr>
            <p:ph sz="quarter" idx="1"/>
          </p:nvPr>
        </p:nvSpPr>
        <p:spPr/>
        <p:txBody>
          <a:bodyPr/>
          <a:lstStyle/>
          <a:p>
            <a:r>
              <a:rPr lang="fr-FR" dirty="0" smtClean="0"/>
              <a:t>Analyse syntaxique ou hiérarchique ou grammaticale: son rôle est de reconnaitre le flux de </a:t>
            </a:r>
            <a:r>
              <a:rPr lang="fr-FR" dirty="0" err="1" smtClean="0"/>
              <a:t>tokens</a:t>
            </a:r>
            <a:r>
              <a:rPr lang="fr-FR" dirty="0" smtClean="0"/>
              <a:t> fourni par l’analyseur lexical et le regrouper en une collection imbriquée ayant une signification collective. </a:t>
            </a:r>
          </a:p>
          <a:p>
            <a:r>
              <a:rPr lang="fr-FR" dirty="0" smtClean="0"/>
              <a:t> C’est une phase qui vérifie la syntaxe du langage et elle fournit en résultat une représentation en </a:t>
            </a:r>
            <a:r>
              <a:rPr lang="fr-FR" dirty="0" smtClean="0">
                <a:solidFill>
                  <a:srgbClr val="FF0000"/>
                </a:solidFill>
              </a:rPr>
              <a:t>arbre de vérification </a:t>
            </a:r>
            <a:r>
              <a:rPr lang="fr-FR" dirty="0" smtClean="0"/>
              <a:t>ou </a:t>
            </a:r>
            <a:r>
              <a:rPr lang="fr-FR" dirty="0" smtClean="0">
                <a:solidFill>
                  <a:srgbClr val="FF0000"/>
                </a:solidFill>
              </a:rPr>
              <a:t>arbre de syntaxe </a:t>
            </a:r>
            <a:r>
              <a:rPr lang="fr-FR" dirty="0" smtClean="0"/>
              <a:t>qui sera utilisé par les phases suivantes.</a:t>
            </a:r>
            <a:endParaRPr lang="fr-F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Structure d’un compilateur</a:t>
            </a:r>
            <a:endParaRPr lang="fr-FR" dirty="0"/>
          </a:p>
        </p:txBody>
      </p:sp>
      <p:sp>
        <p:nvSpPr>
          <p:cNvPr id="3" name="Espace réservé du contenu 2"/>
          <p:cNvSpPr>
            <a:spLocks noGrp="1"/>
          </p:cNvSpPr>
          <p:nvPr>
            <p:ph sz="quarter" idx="1"/>
          </p:nvPr>
        </p:nvSpPr>
        <p:spPr/>
        <p:txBody>
          <a:bodyPr/>
          <a:lstStyle/>
          <a:p>
            <a:r>
              <a:rPr lang="fr-FR" dirty="0" smtClean="0"/>
              <a:t>3. Analyse sémantique: son rôle est de déterminer si les éléments reconnus par l’analyseur syntaxique ont un sens.</a:t>
            </a:r>
          </a:p>
          <a:p>
            <a:pPr>
              <a:buNone/>
            </a:pPr>
            <a:r>
              <a:rPr lang="fr-FR" dirty="0" smtClean="0"/>
              <a:t>-   En pratique, son rôle essentiellement d’assurer que toute source vérifie les règles </a:t>
            </a:r>
            <a:r>
              <a:rPr lang="fr-FR" dirty="0" smtClean="0">
                <a:solidFill>
                  <a:srgbClr val="FF0000"/>
                </a:solidFill>
              </a:rPr>
              <a:t>non syntaxiques </a:t>
            </a:r>
            <a:r>
              <a:rPr lang="fr-FR" dirty="0" smtClean="0"/>
              <a:t>qui pourraient être imposées (concordance de type, visibilité des variables, présence des déclaration nécessaires,…)</a:t>
            </a:r>
            <a:endParaRPr lang="fr-FR" dirty="0"/>
          </a:p>
        </p:txBody>
      </p:sp>
      <p:sp>
        <p:nvSpPr>
          <p:cNvPr id="4" name="Espace réservé de la date 3"/>
          <p:cNvSpPr>
            <a:spLocks noGrp="1"/>
          </p:cNvSpPr>
          <p:nvPr>
            <p:ph type="dt" sz="half" idx="10"/>
          </p:nvPr>
        </p:nvSpPr>
        <p:spPr/>
        <p:txBody>
          <a:bodyPr/>
          <a:lstStyle/>
          <a:p>
            <a:fld id="{2C135A0D-632A-4B6C-B599-887FAF673D67}" type="datetime1">
              <a:rPr lang="fr-FR" smtClean="0"/>
              <a:pPr/>
              <a:t>13/02/2018</a:t>
            </a:fld>
            <a:endParaRPr lang="fr-FR"/>
          </a:p>
        </p:txBody>
      </p:sp>
      <p:sp>
        <p:nvSpPr>
          <p:cNvPr id="5" name="Espace réservé du numéro de diapositive 4"/>
          <p:cNvSpPr>
            <a:spLocks noGrp="1"/>
          </p:cNvSpPr>
          <p:nvPr>
            <p:ph type="sldNum" sz="quarter" idx="12"/>
          </p:nvPr>
        </p:nvSpPr>
        <p:spPr/>
        <p:txBody>
          <a:bodyPr/>
          <a:lstStyle/>
          <a:p>
            <a:fld id="{74B13EA3-B7A8-4461-BEED-CB525C7E5E30}" type="slidenum">
              <a:rPr lang="fr-FR" smtClean="0"/>
              <a:pPr/>
              <a:t>6</a:t>
            </a:fld>
            <a:endParaRPr lang="fr-FR"/>
          </a:p>
        </p:txBody>
      </p:sp>
      <p:sp>
        <p:nvSpPr>
          <p:cNvPr id="6" name="Espace réservé du pied de page 5"/>
          <p:cNvSpPr>
            <a:spLocks noGrp="1"/>
          </p:cNvSpPr>
          <p:nvPr>
            <p:ph type="ftr" sz="quarter" idx="11"/>
          </p:nvPr>
        </p:nvSpPr>
        <p:spPr/>
        <p:txBody>
          <a:bodyPr/>
          <a:lstStyle/>
          <a:p>
            <a:r>
              <a:rPr lang="fr-FR" smtClean="0"/>
              <a:t>Mme noura Ouerdi</a:t>
            </a:r>
            <a:endParaRPr lang="fr-F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Structure d’un compilateur</a:t>
            </a:r>
            <a:endParaRPr lang="fr-FR" dirty="0"/>
          </a:p>
        </p:txBody>
      </p:sp>
      <p:sp>
        <p:nvSpPr>
          <p:cNvPr id="3" name="Espace réservé du contenu 2"/>
          <p:cNvSpPr>
            <a:spLocks noGrp="1"/>
          </p:cNvSpPr>
          <p:nvPr>
            <p:ph sz="quarter" idx="1"/>
          </p:nvPr>
        </p:nvSpPr>
        <p:spPr/>
        <p:txBody>
          <a:bodyPr/>
          <a:lstStyle/>
          <a:p>
            <a:r>
              <a:rPr lang="fr-FR" dirty="0" smtClean="0"/>
              <a:t>4. Génération du code intermédiaire: pour des raisons de portabilité, on traduit généralement le code source dans un langage dit intermédiaire car ne correspondant pas au but final de la traduction à savoir du code exécutable.</a:t>
            </a:r>
          </a:p>
          <a:p>
            <a:r>
              <a:rPr lang="fr-FR" dirty="0" smtClean="0"/>
              <a:t>Ce code intermédiaire a la propriété d’être général et de ne pas supposer une architecture de machine précise.</a:t>
            </a:r>
          </a:p>
          <a:p>
            <a:r>
              <a:rPr lang="fr-FR" dirty="0" smtClean="0"/>
              <a:t>Pour passer d’une machine à une autre, il suffit, en général, de réécrire les phases ultérieures à la génération du code intermédiaire.</a:t>
            </a:r>
            <a:endParaRPr lang="fr-FR" dirty="0"/>
          </a:p>
        </p:txBody>
      </p:sp>
      <p:sp>
        <p:nvSpPr>
          <p:cNvPr id="4" name="Espace réservé de la date 3"/>
          <p:cNvSpPr>
            <a:spLocks noGrp="1"/>
          </p:cNvSpPr>
          <p:nvPr>
            <p:ph type="dt" sz="half" idx="10"/>
          </p:nvPr>
        </p:nvSpPr>
        <p:spPr/>
        <p:txBody>
          <a:bodyPr/>
          <a:lstStyle/>
          <a:p>
            <a:fld id="{EA6F2E6C-0568-4054-A83F-D0A6AD789C67}" type="datetime1">
              <a:rPr lang="fr-FR" smtClean="0"/>
              <a:pPr/>
              <a:t>13/02/2018</a:t>
            </a:fld>
            <a:endParaRPr lang="fr-FR"/>
          </a:p>
        </p:txBody>
      </p:sp>
      <p:sp>
        <p:nvSpPr>
          <p:cNvPr id="5" name="Espace réservé du numéro de diapositive 4"/>
          <p:cNvSpPr>
            <a:spLocks noGrp="1"/>
          </p:cNvSpPr>
          <p:nvPr>
            <p:ph type="sldNum" sz="quarter" idx="12"/>
          </p:nvPr>
        </p:nvSpPr>
        <p:spPr/>
        <p:txBody>
          <a:bodyPr/>
          <a:lstStyle/>
          <a:p>
            <a:fld id="{74B13EA3-B7A8-4461-BEED-CB525C7E5E30}" type="slidenum">
              <a:rPr lang="fr-FR" smtClean="0"/>
              <a:pPr/>
              <a:t>7</a:t>
            </a:fld>
            <a:endParaRPr lang="fr-FR"/>
          </a:p>
        </p:txBody>
      </p:sp>
      <p:sp>
        <p:nvSpPr>
          <p:cNvPr id="6" name="Espace réservé du pied de page 5"/>
          <p:cNvSpPr>
            <a:spLocks noGrp="1"/>
          </p:cNvSpPr>
          <p:nvPr>
            <p:ph type="ftr" sz="quarter" idx="11"/>
          </p:nvPr>
        </p:nvSpPr>
        <p:spPr/>
        <p:txBody>
          <a:bodyPr/>
          <a:lstStyle/>
          <a:p>
            <a:r>
              <a:rPr lang="fr-FR" smtClean="0"/>
              <a:t>Mme noura Ouerdi</a:t>
            </a:r>
            <a:endParaRPr lang="fr-F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Structure d’un compilateur</a:t>
            </a:r>
            <a:endParaRPr lang="fr-FR" dirty="0"/>
          </a:p>
        </p:txBody>
      </p:sp>
      <p:sp>
        <p:nvSpPr>
          <p:cNvPr id="3" name="Espace réservé du contenu 2"/>
          <p:cNvSpPr>
            <a:spLocks noGrp="1"/>
          </p:cNvSpPr>
          <p:nvPr>
            <p:ph sz="quarter" idx="1"/>
          </p:nvPr>
        </p:nvSpPr>
        <p:spPr/>
        <p:txBody>
          <a:bodyPr>
            <a:normAutofit lnSpcReduction="10000"/>
          </a:bodyPr>
          <a:lstStyle/>
          <a:p>
            <a:r>
              <a:rPr lang="fr-FR" dirty="0" smtClean="0"/>
              <a:t>4. Optimisation du code intermédiaire: Cette phase est optionnelle. Elle permet de réaliser une amélioration de la qualité du code intermédiaire. Son rôle est d’éliminer le code inutile ou de simplifier ce code.</a:t>
            </a:r>
          </a:p>
          <a:p>
            <a:r>
              <a:rPr lang="fr-FR" dirty="0" smtClean="0"/>
              <a:t>La phase finale ou « synthèse » comprend la génération et optimisation du code finale. Cette phase dépend de la machine. Le code intermédiaire sera traduit en instructions machine, les emplacements mémoire vont être choisi, les registres affectés à des tâches particulières. </a:t>
            </a:r>
          </a:p>
          <a:p>
            <a:r>
              <a:rPr lang="fr-FR" dirty="0" smtClean="0"/>
              <a:t>Cette phase étant importante pour la future efficacité du compilateur, une dernière optimisation peut être entreprise.</a:t>
            </a:r>
            <a:endParaRPr lang="fr-FR" dirty="0"/>
          </a:p>
        </p:txBody>
      </p:sp>
      <p:sp>
        <p:nvSpPr>
          <p:cNvPr id="4" name="Espace réservé de la date 3"/>
          <p:cNvSpPr>
            <a:spLocks noGrp="1"/>
          </p:cNvSpPr>
          <p:nvPr>
            <p:ph type="dt" sz="half" idx="10"/>
          </p:nvPr>
        </p:nvSpPr>
        <p:spPr/>
        <p:txBody>
          <a:bodyPr/>
          <a:lstStyle/>
          <a:p>
            <a:fld id="{77AB9EB4-764C-4920-B208-62B72C3D5115}" type="datetime1">
              <a:rPr lang="fr-FR" smtClean="0"/>
              <a:pPr/>
              <a:t>13/02/2018</a:t>
            </a:fld>
            <a:endParaRPr lang="fr-FR"/>
          </a:p>
        </p:txBody>
      </p:sp>
      <p:sp>
        <p:nvSpPr>
          <p:cNvPr id="5" name="Espace réservé du numéro de diapositive 4"/>
          <p:cNvSpPr>
            <a:spLocks noGrp="1"/>
          </p:cNvSpPr>
          <p:nvPr>
            <p:ph type="sldNum" sz="quarter" idx="12"/>
          </p:nvPr>
        </p:nvSpPr>
        <p:spPr/>
        <p:txBody>
          <a:bodyPr/>
          <a:lstStyle/>
          <a:p>
            <a:fld id="{74B13EA3-B7A8-4461-BEED-CB525C7E5E30}" type="slidenum">
              <a:rPr lang="fr-FR" smtClean="0"/>
              <a:pPr/>
              <a:t>8</a:t>
            </a:fld>
            <a:endParaRPr lang="fr-FR"/>
          </a:p>
        </p:txBody>
      </p:sp>
      <p:sp>
        <p:nvSpPr>
          <p:cNvPr id="6" name="Espace réservé du pied de page 5"/>
          <p:cNvSpPr>
            <a:spLocks noGrp="1"/>
          </p:cNvSpPr>
          <p:nvPr>
            <p:ph type="ftr" sz="quarter" idx="11"/>
          </p:nvPr>
        </p:nvSpPr>
        <p:spPr/>
        <p:txBody>
          <a:bodyPr/>
          <a:lstStyle/>
          <a:p>
            <a:r>
              <a:rPr lang="fr-FR" smtClean="0"/>
              <a:t>Mme noura Ouerdi</a:t>
            </a:r>
            <a:endParaRPr lang="fr-F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Structure d’un compilateur</a:t>
            </a:r>
            <a:endParaRPr lang="fr-FR" dirty="0"/>
          </a:p>
        </p:txBody>
      </p:sp>
      <p:sp>
        <p:nvSpPr>
          <p:cNvPr id="3" name="Espace réservé du contenu 2"/>
          <p:cNvSpPr>
            <a:spLocks noGrp="1"/>
          </p:cNvSpPr>
          <p:nvPr>
            <p:ph sz="quarter" idx="1"/>
          </p:nvPr>
        </p:nvSpPr>
        <p:spPr/>
        <p:txBody>
          <a:bodyPr/>
          <a:lstStyle/>
          <a:p>
            <a:r>
              <a:rPr lang="fr-FR" dirty="0" smtClean="0"/>
              <a:t>Au cours de toutes les phases, il est nécessaire de maintenir une table de symboles qui garde la trace des symboles utilisés dans le texte source et les attributs qui leur sont associés (type, adresse, valeur, …)</a:t>
            </a:r>
          </a:p>
          <a:p>
            <a:r>
              <a:rPr lang="fr-FR" dirty="0" smtClean="0"/>
              <a:t>Une autre tâche que doit réaliser un compilateur est la gestion des erreurs avec des techniques qui, le plus souvent, permettent au compilateur de continuer sainement le travail d’analyse après la détection d’erreurs et qui parfois permet la correction d’erreurs simples.</a:t>
            </a:r>
          </a:p>
          <a:p>
            <a:r>
              <a:rPr lang="fr-FR" dirty="0" smtClean="0"/>
              <a:t>Mettre un schéma représentant la structure d’un compilateur</a:t>
            </a:r>
            <a:endParaRPr lang="fr-FR" dirty="0"/>
          </a:p>
        </p:txBody>
      </p:sp>
      <p:sp>
        <p:nvSpPr>
          <p:cNvPr id="4" name="Espace réservé de la date 3"/>
          <p:cNvSpPr>
            <a:spLocks noGrp="1"/>
          </p:cNvSpPr>
          <p:nvPr>
            <p:ph type="dt" sz="half" idx="10"/>
          </p:nvPr>
        </p:nvSpPr>
        <p:spPr/>
        <p:txBody>
          <a:bodyPr/>
          <a:lstStyle/>
          <a:p>
            <a:fld id="{960748CB-F6AF-4B31-91DB-A303E83E5624}" type="datetime1">
              <a:rPr lang="fr-FR" smtClean="0"/>
              <a:pPr/>
              <a:t>13/02/2018</a:t>
            </a:fld>
            <a:endParaRPr lang="fr-FR"/>
          </a:p>
        </p:txBody>
      </p:sp>
      <p:sp>
        <p:nvSpPr>
          <p:cNvPr id="5" name="Espace réservé du numéro de diapositive 4"/>
          <p:cNvSpPr>
            <a:spLocks noGrp="1"/>
          </p:cNvSpPr>
          <p:nvPr>
            <p:ph type="sldNum" sz="quarter" idx="12"/>
          </p:nvPr>
        </p:nvSpPr>
        <p:spPr/>
        <p:txBody>
          <a:bodyPr/>
          <a:lstStyle/>
          <a:p>
            <a:fld id="{74B13EA3-B7A8-4461-BEED-CB525C7E5E30}" type="slidenum">
              <a:rPr lang="fr-FR" smtClean="0"/>
              <a:pPr/>
              <a:t>9</a:t>
            </a:fld>
            <a:endParaRPr lang="fr-FR"/>
          </a:p>
        </p:txBody>
      </p:sp>
      <p:sp>
        <p:nvSpPr>
          <p:cNvPr id="6" name="Espace réservé du pied de page 5"/>
          <p:cNvSpPr>
            <a:spLocks noGrp="1"/>
          </p:cNvSpPr>
          <p:nvPr>
            <p:ph type="ftr" sz="quarter" idx="11"/>
          </p:nvPr>
        </p:nvSpPr>
        <p:spPr/>
        <p:txBody>
          <a:bodyPr/>
          <a:lstStyle/>
          <a:p>
            <a:r>
              <a:rPr lang="fr-FR" smtClean="0"/>
              <a:t>Mme noura Ouerdi</a:t>
            </a:r>
            <a:endParaRPr lang="fr-F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Analyse lexicale</a:t>
            </a:r>
            <a:endParaRPr lang="fr-FR" dirty="0"/>
          </a:p>
        </p:txBody>
      </p:sp>
      <p:sp>
        <p:nvSpPr>
          <p:cNvPr id="3" name="Espace réservé de la date 2"/>
          <p:cNvSpPr>
            <a:spLocks noGrp="1"/>
          </p:cNvSpPr>
          <p:nvPr>
            <p:ph type="dt" sz="half" idx="10"/>
          </p:nvPr>
        </p:nvSpPr>
        <p:spPr/>
        <p:txBody>
          <a:bodyPr/>
          <a:lstStyle/>
          <a:p>
            <a:fld id="{DB88E0B4-149D-47CE-9BD3-2C4E4DE10319}" type="datetime1">
              <a:rPr lang="fr-FR" smtClean="0"/>
              <a:pPr/>
              <a:t>13/02/2018</a:t>
            </a:fld>
            <a:endParaRPr lang="fr-FR"/>
          </a:p>
        </p:txBody>
      </p:sp>
      <p:sp>
        <p:nvSpPr>
          <p:cNvPr id="4" name="Espace réservé du pied de page 3"/>
          <p:cNvSpPr>
            <a:spLocks noGrp="1"/>
          </p:cNvSpPr>
          <p:nvPr>
            <p:ph type="ftr" sz="quarter" idx="11"/>
          </p:nvPr>
        </p:nvSpPr>
        <p:spPr/>
        <p:txBody>
          <a:bodyPr/>
          <a:lstStyle/>
          <a:p>
            <a:r>
              <a:rPr lang="fr-FR" smtClean="0"/>
              <a:t>Mme noura Ouerdi</a:t>
            </a:r>
            <a:endParaRPr lang="fr-FR"/>
          </a:p>
        </p:txBody>
      </p:sp>
      <p:sp>
        <p:nvSpPr>
          <p:cNvPr id="5" name="Espace réservé du numéro de diapositive 4"/>
          <p:cNvSpPr>
            <a:spLocks noGrp="1"/>
          </p:cNvSpPr>
          <p:nvPr>
            <p:ph type="sldNum" sz="quarter" idx="12"/>
          </p:nvPr>
        </p:nvSpPr>
        <p:spPr/>
        <p:txBody>
          <a:bodyPr/>
          <a:lstStyle/>
          <a:p>
            <a:fld id="{74B13EA3-B7A8-4461-BEED-CB525C7E5E30}" type="slidenum">
              <a:rPr lang="fr-FR" smtClean="0"/>
              <a:pPr/>
              <a:t>10</a:t>
            </a:fld>
            <a:endParaRPr lang="fr-FR"/>
          </a:p>
        </p:txBody>
      </p:sp>
      <p:sp>
        <p:nvSpPr>
          <p:cNvPr id="6" name="Espace réservé du contenu 5"/>
          <p:cNvSpPr>
            <a:spLocks noGrp="1"/>
          </p:cNvSpPr>
          <p:nvPr>
            <p:ph sz="quarter" idx="1"/>
          </p:nvPr>
        </p:nvSpPr>
        <p:spPr>
          <a:xfrm>
            <a:off x="914400" y="1447800"/>
            <a:ext cx="7772400" cy="4910158"/>
          </a:xfrm>
        </p:spPr>
        <p:txBody>
          <a:bodyPr>
            <a:normAutofit lnSpcReduction="10000"/>
          </a:bodyPr>
          <a:lstStyle/>
          <a:p>
            <a:r>
              <a:rPr lang="fr-FR" dirty="0" smtClean="0"/>
              <a:t>1. Unités lexicales: modèles et lexèmes</a:t>
            </a:r>
          </a:p>
          <a:p>
            <a:r>
              <a:rPr lang="fr-FR" dirty="0" smtClean="0"/>
              <a:t>1.1. unités lexicales ou « </a:t>
            </a:r>
            <a:r>
              <a:rPr lang="fr-FR" dirty="0" err="1" smtClean="0"/>
              <a:t>tokens</a:t>
            </a:r>
            <a:r>
              <a:rPr lang="fr-FR" dirty="0" smtClean="0"/>
              <a:t> »</a:t>
            </a:r>
          </a:p>
          <a:p>
            <a:r>
              <a:rPr lang="fr-FR" dirty="0" smtClean="0"/>
              <a:t>Les </a:t>
            </a:r>
            <a:r>
              <a:rPr lang="fr-FR" dirty="0" err="1" smtClean="0"/>
              <a:t>tokens</a:t>
            </a:r>
            <a:r>
              <a:rPr lang="fr-FR" dirty="0" smtClean="0"/>
              <a:t> sont aux langages de programmation ce que les mots sont aux langages naturels.</a:t>
            </a:r>
          </a:p>
          <a:p>
            <a:r>
              <a:rPr lang="fr-FR" dirty="0" smtClean="0"/>
              <a:t>Il y a différents types ou classes de </a:t>
            </a:r>
            <a:r>
              <a:rPr lang="fr-FR" dirty="0" err="1" smtClean="0"/>
              <a:t>tokens</a:t>
            </a:r>
            <a:r>
              <a:rPr lang="fr-FR" dirty="0" smtClean="0"/>
              <a:t>, on peut citer par exemple:</a:t>
            </a:r>
          </a:p>
          <a:p>
            <a:pPr>
              <a:buFontTx/>
              <a:buChar char="-"/>
            </a:pPr>
            <a:r>
              <a:rPr lang="fr-FR" dirty="0" smtClean="0"/>
              <a:t>Les mots clés (</a:t>
            </a:r>
            <a:r>
              <a:rPr lang="fr-FR" dirty="0" err="1" smtClean="0"/>
              <a:t>begin</a:t>
            </a:r>
            <a:r>
              <a:rPr lang="fr-FR" dirty="0" smtClean="0"/>
              <a:t>, en Pascal)</a:t>
            </a:r>
          </a:p>
          <a:p>
            <a:pPr>
              <a:buFontTx/>
              <a:buChar char="-"/>
            </a:pPr>
            <a:r>
              <a:rPr lang="fr-FR" dirty="0" smtClean="0"/>
              <a:t>Opérateurs (+, -, *, …)</a:t>
            </a:r>
          </a:p>
          <a:p>
            <a:pPr>
              <a:buFontTx/>
              <a:buChar char="-"/>
            </a:pPr>
            <a:r>
              <a:rPr lang="fr-FR" dirty="0" smtClean="0"/>
              <a:t>Identificateurs (noms de variables, constantes, fonctions, …)</a:t>
            </a:r>
          </a:p>
          <a:p>
            <a:pPr>
              <a:buFontTx/>
              <a:buChar char="-"/>
            </a:pPr>
            <a:r>
              <a:rPr lang="fr-FR" dirty="0" smtClean="0"/>
              <a:t>Entiers </a:t>
            </a:r>
          </a:p>
          <a:p>
            <a:pPr>
              <a:buFontTx/>
              <a:buChar char="-"/>
            </a:pPr>
            <a:r>
              <a:rPr lang="fr-FR" dirty="0" smtClean="0"/>
              <a:t>Chaines de caractères</a:t>
            </a:r>
            <a:endParaRPr lang="fr-F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Analyse lexicale</a:t>
            </a:r>
            <a:endParaRPr lang="fr-FR" dirty="0"/>
          </a:p>
        </p:txBody>
      </p:sp>
      <p:sp>
        <p:nvSpPr>
          <p:cNvPr id="3" name="Espace réservé de la date 2"/>
          <p:cNvSpPr>
            <a:spLocks noGrp="1"/>
          </p:cNvSpPr>
          <p:nvPr>
            <p:ph type="dt" sz="half" idx="10"/>
          </p:nvPr>
        </p:nvSpPr>
        <p:spPr/>
        <p:txBody>
          <a:bodyPr/>
          <a:lstStyle/>
          <a:p>
            <a:fld id="{F74ABB04-40CA-4C7B-A37F-A1A2D3637C00}" type="datetime1">
              <a:rPr lang="fr-FR" smtClean="0"/>
              <a:pPr/>
              <a:t>13/02/2018</a:t>
            </a:fld>
            <a:endParaRPr lang="fr-FR"/>
          </a:p>
        </p:txBody>
      </p:sp>
      <p:sp>
        <p:nvSpPr>
          <p:cNvPr id="4" name="Espace réservé du pied de page 3"/>
          <p:cNvSpPr>
            <a:spLocks noGrp="1"/>
          </p:cNvSpPr>
          <p:nvPr>
            <p:ph type="ftr" sz="quarter" idx="11"/>
          </p:nvPr>
        </p:nvSpPr>
        <p:spPr/>
        <p:txBody>
          <a:bodyPr/>
          <a:lstStyle/>
          <a:p>
            <a:r>
              <a:rPr lang="fr-FR" smtClean="0"/>
              <a:t>Mme noura Ouerdi</a:t>
            </a:r>
            <a:endParaRPr lang="fr-FR"/>
          </a:p>
        </p:txBody>
      </p:sp>
      <p:sp>
        <p:nvSpPr>
          <p:cNvPr id="5" name="Espace réservé du numéro de diapositive 4"/>
          <p:cNvSpPr>
            <a:spLocks noGrp="1"/>
          </p:cNvSpPr>
          <p:nvPr>
            <p:ph type="sldNum" sz="quarter" idx="12"/>
          </p:nvPr>
        </p:nvSpPr>
        <p:spPr/>
        <p:txBody>
          <a:bodyPr/>
          <a:lstStyle/>
          <a:p>
            <a:fld id="{74B13EA3-B7A8-4461-BEED-CB525C7E5E30}" type="slidenum">
              <a:rPr lang="fr-FR" smtClean="0"/>
              <a:pPr/>
              <a:t>11</a:t>
            </a:fld>
            <a:endParaRPr lang="fr-FR"/>
          </a:p>
        </p:txBody>
      </p:sp>
      <p:sp>
        <p:nvSpPr>
          <p:cNvPr id="6" name="Espace réservé du contenu 5"/>
          <p:cNvSpPr>
            <a:spLocks noGrp="1"/>
          </p:cNvSpPr>
          <p:nvPr>
            <p:ph sz="quarter" idx="1"/>
          </p:nvPr>
        </p:nvSpPr>
        <p:spPr/>
        <p:txBody>
          <a:bodyPr/>
          <a:lstStyle/>
          <a:p>
            <a:r>
              <a:rPr lang="fr-FR" dirty="0" smtClean="0"/>
              <a:t>L’ensemble des </a:t>
            </a:r>
            <a:r>
              <a:rPr lang="fr-FR" dirty="0" err="1" smtClean="0"/>
              <a:t>tokens</a:t>
            </a:r>
            <a:r>
              <a:rPr lang="fr-FR" dirty="0" smtClean="0"/>
              <a:t> </a:t>
            </a:r>
            <a:r>
              <a:rPr lang="fr-FR" dirty="0" err="1" smtClean="0"/>
              <a:t>depend</a:t>
            </a:r>
            <a:r>
              <a:rPr lang="fr-FR" dirty="0" smtClean="0"/>
              <a:t> du langage de </a:t>
            </a:r>
            <a:r>
              <a:rPr lang="fr-FR" dirty="0" err="1" smtClean="0"/>
              <a:t>prog</a:t>
            </a:r>
            <a:r>
              <a:rPr lang="fr-FR" dirty="0" smtClean="0"/>
              <a:t> en question, par exemple l’opération d’affectation en Pascal :</a:t>
            </a:r>
          </a:p>
          <a:p>
            <a:pPr>
              <a:buNone/>
            </a:pPr>
            <a:r>
              <a:rPr lang="fr-FR" dirty="0" smtClean="0"/>
              <a:t>« := » alors qu’en C : « =» .</a:t>
            </a:r>
          </a:p>
          <a:p>
            <a:pPr>
              <a:buNone/>
            </a:pPr>
            <a:r>
              <a:rPr lang="fr-FR" dirty="0" smtClean="0"/>
              <a:t>Alors « := »  est un </a:t>
            </a:r>
            <a:r>
              <a:rPr lang="fr-FR" dirty="0" err="1" smtClean="0"/>
              <a:t>token</a:t>
            </a:r>
            <a:r>
              <a:rPr lang="fr-FR" dirty="0" smtClean="0"/>
              <a:t> en Pascal mais pas en C</a:t>
            </a:r>
          </a:p>
          <a:p>
            <a:pPr>
              <a:buNone/>
            </a:pPr>
            <a:endParaRPr lang="fr-F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Analyse lexicale</a:t>
            </a:r>
            <a:endParaRPr lang="fr-FR" dirty="0"/>
          </a:p>
        </p:txBody>
      </p:sp>
      <p:sp>
        <p:nvSpPr>
          <p:cNvPr id="3" name="Espace réservé de la date 2"/>
          <p:cNvSpPr>
            <a:spLocks noGrp="1"/>
          </p:cNvSpPr>
          <p:nvPr>
            <p:ph type="dt" sz="half" idx="10"/>
          </p:nvPr>
        </p:nvSpPr>
        <p:spPr/>
        <p:txBody>
          <a:bodyPr/>
          <a:lstStyle/>
          <a:p>
            <a:fld id="{1A12E691-B0AA-464F-A352-DC1DC79706B7}" type="datetime1">
              <a:rPr lang="fr-FR" smtClean="0"/>
              <a:pPr/>
              <a:t>13/02/2018</a:t>
            </a:fld>
            <a:endParaRPr lang="fr-FR"/>
          </a:p>
        </p:txBody>
      </p:sp>
      <p:sp>
        <p:nvSpPr>
          <p:cNvPr id="4" name="Espace réservé du pied de page 3"/>
          <p:cNvSpPr>
            <a:spLocks noGrp="1"/>
          </p:cNvSpPr>
          <p:nvPr>
            <p:ph type="ftr" sz="quarter" idx="11"/>
          </p:nvPr>
        </p:nvSpPr>
        <p:spPr/>
        <p:txBody>
          <a:bodyPr/>
          <a:lstStyle/>
          <a:p>
            <a:r>
              <a:rPr lang="fr-FR" smtClean="0"/>
              <a:t>Mme noura Ouerdi</a:t>
            </a:r>
            <a:endParaRPr lang="fr-FR"/>
          </a:p>
        </p:txBody>
      </p:sp>
      <p:sp>
        <p:nvSpPr>
          <p:cNvPr id="5" name="Espace réservé du numéro de diapositive 4"/>
          <p:cNvSpPr>
            <a:spLocks noGrp="1"/>
          </p:cNvSpPr>
          <p:nvPr>
            <p:ph type="sldNum" sz="quarter" idx="12"/>
          </p:nvPr>
        </p:nvSpPr>
        <p:spPr/>
        <p:txBody>
          <a:bodyPr/>
          <a:lstStyle/>
          <a:p>
            <a:fld id="{74B13EA3-B7A8-4461-BEED-CB525C7E5E30}" type="slidenum">
              <a:rPr lang="fr-FR" smtClean="0"/>
              <a:pPr/>
              <a:t>12</a:t>
            </a:fld>
            <a:endParaRPr lang="fr-FR"/>
          </a:p>
        </p:txBody>
      </p:sp>
      <p:sp>
        <p:nvSpPr>
          <p:cNvPr id="6" name="Espace réservé du contenu 5"/>
          <p:cNvSpPr>
            <a:spLocks noGrp="1"/>
          </p:cNvSpPr>
          <p:nvPr>
            <p:ph sz="quarter" idx="1"/>
          </p:nvPr>
        </p:nvSpPr>
        <p:spPr/>
        <p:txBody>
          <a:bodyPr/>
          <a:lstStyle/>
          <a:p>
            <a:r>
              <a:rPr lang="fr-FR" dirty="0" smtClean="0"/>
              <a:t>Dans un programme source, il y a un ensemble de chaines de caractères pour lesquelles la même unité lexicale produite en sortie. Cet ensemble de chaines est décrite par une règle appelée </a:t>
            </a:r>
            <a:r>
              <a:rPr lang="fr-FR" dirty="0" smtClean="0">
                <a:solidFill>
                  <a:srgbClr val="FF0000"/>
                </a:solidFill>
              </a:rPr>
              <a:t>modèle</a:t>
            </a:r>
            <a:r>
              <a:rPr lang="fr-FR" dirty="0" smtClean="0"/>
              <a:t> (ou pattern en anglais) associée à l’unité lexicale. On dit que le modèle </a:t>
            </a:r>
            <a:r>
              <a:rPr lang="fr-FR" dirty="0" smtClean="0">
                <a:solidFill>
                  <a:srgbClr val="FF0000"/>
                </a:solidFill>
              </a:rPr>
              <a:t>filtre</a:t>
            </a:r>
            <a:r>
              <a:rPr lang="fr-FR" dirty="0" smtClean="0"/>
              <a:t> chaque chaine de l’ensemble.</a:t>
            </a:r>
            <a:endParaRPr lang="fr-F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lexèmes</a:t>
            </a:r>
            <a:endParaRPr lang="fr-FR" dirty="0"/>
          </a:p>
        </p:txBody>
      </p:sp>
      <p:sp>
        <p:nvSpPr>
          <p:cNvPr id="3" name="Espace réservé de la date 2"/>
          <p:cNvSpPr>
            <a:spLocks noGrp="1"/>
          </p:cNvSpPr>
          <p:nvPr>
            <p:ph type="dt" sz="half" idx="10"/>
          </p:nvPr>
        </p:nvSpPr>
        <p:spPr/>
        <p:txBody>
          <a:bodyPr/>
          <a:lstStyle/>
          <a:p>
            <a:fld id="{2DB4B374-4C55-416F-8834-EF1FFB696A8A}" type="datetime1">
              <a:rPr lang="fr-FR" smtClean="0"/>
              <a:pPr/>
              <a:t>13/02/2018</a:t>
            </a:fld>
            <a:endParaRPr lang="fr-FR"/>
          </a:p>
        </p:txBody>
      </p:sp>
      <p:sp>
        <p:nvSpPr>
          <p:cNvPr id="4" name="Espace réservé du pied de page 3"/>
          <p:cNvSpPr>
            <a:spLocks noGrp="1"/>
          </p:cNvSpPr>
          <p:nvPr>
            <p:ph type="ftr" sz="quarter" idx="11"/>
          </p:nvPr>
        </p:nvSpPr>
        <p:spPr/>
        <p:txBody>
          <a:bodyPr/>
          <a:lstStyle/>
          <a:p>
            <a:r>
              <a:rPr lang="fr-FR" smtClean="0"/>
              <a:t>Mme noura Ouerdi</a:t>
            </a:r>
            <a:endParaRPr lang="fr-FR"/>
          </a:p>
        </p:txBody>
      </p:sp>
      <p:sp>
        <p:nvSpPr>
          <p:cNvPr id="5" name="Espace réservé du numéro de diapositive 4"/>
          <p:cNvSpPr>
            <a:spLocks noGrp="1"/>
          </p:cNvSpPr>
          <p:nvPr>
            <p:ph type="sldNum" sz="quarter" idx="12"/>
          </p:nvPr>
        </p:nvSpPr>
        <p:spPr/>
        <p:txBody>
          <a:bodyPr/>
          <a:lstStyle/>
          <a:p>
            <a:fld id="{74B13EA3-B7A8-4461-BEED-CB525C7E5E30}" type="slidenum">
              <a:rPr lang="fr-FR" smtClean="0"/>
              <a:pPr/>
              <a:t>13</a:t>
            </a:fld>
            <a:endParaRPr lang="fr-FR"/>
          </a:p>
        </p:txBody>
      </p:sp>
      <p:sp>
        <p:nvSpPr>
          <p:cNvPr id="6" name="Espace réservé du contenu 5"/>
          <p:cNvSpPr>
            <a:spLocks noGrp="1"/>
          </p:cNvSpPr>
          <p:nvPr>
            <p:ph sz="quarter" idx="1"/>
          </p:nvPr>
        </p:nvSpPr>
        <p:spPr/>
        <p:txBody>
          <a:bodyPr/>
          <a:lstStyle/>
          <a:p>
            <a:r>
              <a:rPr lang="fr-FR" dirty="0" smtClean="0"/>
              <a:t>Le lexème associé à un </a:t>
            </a:r>
            <a:r>
              <a:rPr lang="fr-FR" dirty="0" err="1" smtClean="0"/>
              <a:t>token</a:t>
            </a:r>
            <a:r>
              <a:rPr lang="fr-FR" dirty="0" smtClean="0"/>
              <a:t> est la suite de caractères (le texte) du programme source qui concorde avec son modèle et forme ainsi le </a:t>
            </a:r>
            <a:r>
              <a:rPr lang="fr-FR" dirty="0" err="1" smtClean="0"/>
              <a:t>token</a:t>
            </a:r>
            <a:r>
              <a:rPr lang="fr-FR" dirty="0" smtClean="0"/>
              <a:t>.</a:t>
            </a:r>
          </a:p>
          <a:p>
            <a:r>
              <a:rPr lang="fr-FR" dirty="0" smtClean="0"/>
              <a:t>Exemple:  déterminer les unités lexicales:</a:t>
            </a:r>
          </a:p>
          <a:p>
            <a:endParaRPr lang="fr-FR" dirty="0" smtClean="0"/>
          </a:p>
          <a:p>
            <a:r>
              <a:rPr lang="fr-FR" dirty="0" smtClean="0"/>
              <a:t>#</a:t>
            </a:r>
            <a:r>
              <a:rPr lang="fr-FR" dirty="0" err="1" smtClean="0"/>
              <a:t>define</a:t>
            </a:r>
            <a:r>
              <a:rPr lang="fr-FR" dirty="0" smtClean="0"/>
              <a:t> PI 3.1416</a:t>
            </a:r>
          </a:p>
          <a:p>
            <a:r>
              <a:rPr lang="fr-FR" dirty="0" smtClean="0"/>
              <a:t>Int rayon ;</a:t>
            </a:r>
          </a:p>
          <a:p>
            <a:r>
              <a:rPr lang="fr-FR" dirty="0" err="1" smtClean="0"/>
              <a:t>Void</a:t>
            </a:r>
            <a:r>
              <a:rPr lang="fr-FR" dirty="0" smtClean="0"/>
              <a:t> </a:t>
            </a:r>
            <a:r>
              <a:rPr lang="fr-FR" dirty="0" err="1" smtClean="0"/>
              <a:t>nullfct</a:t>
            </a:r>
            <a:r>
              <a:rPr lang="fr-FR" dirty="0" smtClean="0"/>
              <a:t>(){;}</a:t>
            </a:r>
            <a:endParaRPr lang="fr-F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lexèmes</a:t>
            </a:r>
            <a:endParaRPr lang="fr-FR" dirty="0"/>
          </a:p>
        </p:txBody>
      </p:sp>
      <p:sp>
        <p:nvSpPr>
          <p:cNvPr id="3" name="Espace réservé de la date 2"/>
          <p:cNvSpPr>
            <a:spLocks noGrp="1"/>
          </p:cNvSpPr>
          <p:nvPr>
            <p:ph type="dt" sz="half" idx="10"/>
          </p:nvPr>
        </p:nvSpPr>
        <p:spPr/>
        <p:txBody>
          <a:bodyPr/>
          <a:lstStyle/>
          <a:p>
            <a:fld id="{B5243268-EF6F-47C8-9C49-EA075D2D1EC1}" type="datetime1">
              <a:rPr lang="fr-FR" smtClean="0"/>
              <a:pPr/>
              <a:t>13/02/2018</a:t>
            </a:fld>
            <a:endParaRPr lang="fr-FR"/>
          </a:p>
        </p:txBody>
      </p:sp>
      <p:sp>
        <p:nvSpPr>
          <p:cNvPr id="4" name="Espace réservé du pied de page 3"/>
          <p:cNvSpPr>
            <a:spLocks noGrp="1"/>
          </p:cNvSpPr>
          <p:nvPr>
            <p:ph type="ftr" sz="quarter" idx="11"/>
          </p:nvPr>
        </p:nvSpPr>
        <p:spPr/>
        <p:txBody>
          <a:bodyPr/>
          <a:lstStyle/>
          <a:p>
            <a:r>
              <a:rPr lang="fr-FR" smtClean="0"/>
              <a:t>Mme noura Ouerdi</a:t>
            </a:r>
            <a:endParaRPr lang="fr-FR"/>
          </a:p>
        </p:txBody>
      </p:sp>
      <p:sp>
        <p:nvSpPr>
          <p:cNvPr id="5" name="Espace réservé du numéro de diapositive 4"/>
          <p:cNvSpPr>
            <a:spLocks noGrp="1"/>
          </p:cNvSpPr>
          <p:nvPr>
            <p:ph type="sldNum" sz="quarter" idx="12"/>
          </p:nvPr>
        </p:nvSpPr>
        <p:spPr/>
        <p:txBody>
          <a:bodyPr/>
          <a:lstStyle/>
          <a:p>
            <a:fld id="{74B13EA3-B7A8-4461-BEED-CB525C7E5E30}" type="slidenum">
              <a:rPr lang="fr-FR" smtClean="0"/>
              <a:pPr/>
              <a:t>14</a:t>
            </a:fld>
            <a:endParaRPr lang="fr-FR"/>
          </a:p>
        </p:txBody>
      </p:sp>
      <p:sp>
        <p:nvSpPr>
          <p:cNvPr id="6" name="Espace réservé du contenu 5"/>
          <p:cNvSpPr>
            <a:spLocks noGrp="1"/>
          </p:cNvSpPr>
          <p:nvPr>
            <p:ph sz="quarter" idx="1"/>
          </p:nvPr>
        </p:nvSpPr>
        <p:spPr/>
        <p:txBody>
          <a:bodyPr/>
          <a:lstStyle/>
          <a:p>
            <a:r>
              <a:rPr lang="fr-FR" dirty="0" smtClean="0"/>
              <a:t>PI, rayon, </a:t>
            </a:r>
            <a:r>
              <a:rPr lang="fr-FR" dirty="0" err="1" smtClean="0"/>
              <a:t>nullfct</a:t>
            </a:r>
            <a:r>
              <a:rPr lang="fr-FR" dirty="0" smtClean="0"/>
              <a:t> sont des unités lexicales de type identificateur (ID). Les lexèmes associés sont les chaines de caractères: « PI », « rayon » et « </a:t>
            </a:r>
            <a:r>
              <a:rPr lang="fr-FR" dirty="0" err="1" smtClean="0"/>
              <a:t>nullfct</a:t>
            </a:r>
            <a:r>
              <a:rPr lang="fr-FR" dirty="0" smtClean="0"/>
              <a:t> ».</a:t>
            </a:r>
            <a:endParaRPr lang="fr-F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Attributs des unités lexicales</a:t>
            </a:r>
            <a:endParaRPr lang="fr-FR" dirty="0"/>
          </a:p>
        </p:txBody>
      </p:sp>
      <p:sp>
        <p:nvSpPr>
          <p:cNvPr id="3" name="Espace réservé de la date 2"/>
          <p:cNvSpPr>
            <a:spLocks noGrp="1"/>
          </p:cNvSpPr>
          <p:nvPr>
            <p:ph type="dt" sz="half" idx="10"/>
          </p:nvPr>
        </p:nvSpPr>
        <p:spPr/>
        <p:txBody>
          <a:bodyPr/>
          <a:lstStyle/>
          <a:p>
            <a:fld id="{797DD467-A764-4C24-AB29-D57CC5C6C3C5}" type="datetime1">
              <a:rPr lang="fr-FR" smtClean="0"/>
              <a:pPr/>
              <a:t>13/02/2018</a:t>
            </a:fld>
            <a:endParaRPr lang="fr-FR"/>
          </a:p>
        </p:txBody>
      </p:sp>
      <p:sp>
        <p:nvSpPr>
          <p:cNvPr id="4" name="Espace réservé du pied de page 3"/>
          <p:cNvSpPr>
            <a:spLocks noGrp="1"/>
          </p:cNvSpPr>
          <p:nvPr>
            <p:ph type="ftr" sz="quarter" idx="11"/>
          </p:nvPr>
        </p:nvSpPr>
        <p:spPr/>
        <p:txBody>
          <a:bodyPr/>
          <a:lstStyle/>
          <a:p>
            <a:r>
              <a:rPr lang="fr-FR" smtClean="0"/>
              <a:t>Mme noura Ouerdi</a:t>
            </a:r>
            <a:endParaRPr lang="fr-FR"/>
          </a:p>
        </p:txBody>
      </p:sp>
      <p:sp>
        <p:nvSpPr>
          <p:cNvPr id="5" name="Espace réservé du numéro de diapositive 4"/>
          <p:cNvSpPr>
            <a:spLocks noGrp="1"/>
          </p:cNvSpPr>
          <p:nvPr>
            <p:ph type="sldNum" sz="quarter" idx="12"/>
          </p:nvPr>
        </p:nvSpPr>
        <p:spPr/>
        <p:txBody>
          <a:bodyPr/>
          <a:lstStyle/>
          <a:p>
            <a:fld id="{74B13EA3-B7A8-4461-BEED-CB525C7E5E30}" type="slidenum">
              <a:rPr lang="fr-FR" smtClean="0"/>
              <a:pPr/>
              <a:t>15</a:t>
            </a:fld>
            <a:endParaRPr lang="fr-FR"/>
          </a:p>
        </p:txBody>
      </p:sp>
      <p:sp>
        <p:nvSpPr>
          <p:cNvPr id="6" name="Espace réservé du contenu 5"/>
          <p:cNvSpPr>
            <a:spLocks noGrp="1"/>
          </p:cNvSpPr>
          <p:nvPr>
            <p:ph sz="quarter" idx="1"/>
          </p:nvPr>
        </p:nvSpPr>
        <p:spPr/>
        <p:txBody>
          <a:bodyPr/>
          <a:lstStyle/>
          <a:p>
            <a:r>
              <a:rPr lang="fr-FR" dirty="0" smtClean="0"/>
              <a:t>L’analyseur lexical doit permettre aux phases suivantes du compilateur d’avoir accès à des informations supplémentaires sur le </a:t>
            </a:r>
            <a:r>
              <a:rPr lang="fr-FR" dirty="0" err="1" smtClean="0"/>
              <a:t>token</a:t>
            </a:r>
            <a:r>
              <a:rPr lang="fr-FR" dirty="0" smtClean="0"/>
              <a:t> reconnu («identificateur » ).</a:t>
            </a:r>
          </a:p>
          <a:p>
            <a:r>
              <a:rPr lang="fr-FR" dirty="0" smtClean="0"/>
              <a:t>Par exemple, différentes unités lexicales du même type ont différentes lexèmes et peuvent par exemple  contenir différentes valeurs.</a:t>
            </a:r>
          </a:p>
          <a:p>
            <a:r>
              <a:rPr lang="fr-FR" dirty="0" smtClean="0"/>
              <a:t>L’analyseur lexical assemble des informations sur les unités lexicales dans des attributs qui leurs sont associé et qui sont stockés dans une structure de données appelée </a:t>
            </a:r>
            <a:r>
              <a:rPr lang="fr-FR" dirty="0" smtClean="0">
                <a:solidFill>
                  <a:srgbClr val="FF0000"/>
                </a:solidFill>
              </a:rPr>
              <a:t>table de symboles</a:t>
            </a:r>
            <a:endParaRPr lang="fr-FR" dirty="0">
              <a:solidFill>
                <a:srgbClr val="FF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En résumé</a:t>
            </a:r>
            <a:endParaRPr lang="fr-FR" dirty="0"/>
          </a:p>
        </p:txBody>
      </p:sp>
      <p:sp>
        <p:nvSpPr>
          <p:cNvPr id="3" name="Espace réservé de la date 2"/>
          <p:cNvSpPr>
            <a:spLocks noGrp="1"/>
          </p:cNvSpPr>
          <p:nvPr>
            <p:ph type="dt" sz="half" idx="10"/>
          </p:nvPr>
        </p:nvSpPr>
        <p:spPr/>
        <p:txBody>
          <a:bodyPr/>
          <a:lstStyle/>
          <a:p>
            <a:fld id="{2C1C52C5-E554-4439-9E92-890738509DAD}" type="datetime1">
              <a:rPr lang="fr-FR" smtClean="0"/>
              <a:pPr/>
              <a:t>13/02/2018</a:t>
            </a:fld>
            <a:endParaRPr lang="fr-FR"/>
          </a:p>
        </p:txBody>
      </p:sp>
      <p:sp>
        <p:nvSpPr>
          <p:cNvPr id="4" name="Espace réservé du pied de page 3"/>
          <p:cNvSpPr>
            <a:spLocks noGrp="1"/>
          </p:cNvSpPr>
          <p:nvPr>
            <p:ph type="ftr" sz="quarter" idx="11"/>
          </p:nvPr>
        </p:nvSpPr>
        <p:spPr/>
        <p:txBody>
          <a:bodyPr/>
          <a:lstStyle/>
          <a:p>
            <a:r>
              <a:rPr lang="fr-FR" smtClean="0"/>
              <a:t>Mme noura Ouerdi</a:t>
            </a:r>
            <a:endParaRPr lang="fr-FR"/>
          </a:p>
        </p:txBody>
      </p:sp>
      <p:sp>
        <p:nvSpPr>
          <p:cNvPr id="5" name="Espace réservé du numéro de diapositive 4"/>
          <p:cNvSpPr>
            <a:spLocks noGrp="1"/>
          </p:cNvSpPr>
          <p:nvPr>
            <p:ph type="sldNum" sz="quarter" idx="12"/>
          </p:nvPr>
        </p:nvSpPr>
        <p:spPr/>
        <p:txBody>
          <a:bodyPr/>
          <a:lstStyle/>
          <a:p>
            <a:fld id="{74B13EA3-B7A8-4461-BEED-CB525C7E5E30}" type="slidenum">
              <a:rPr lang="fr-FR" smtClean="0"/>
              <a:pPr/>
              <a:t>16</a:t>
            </a:fld>
            <a:endParaRPr lang="fr-FR"/>
          </a:p>
        </p:txBody>
      </p:sp>
      <p:sp>
        <p:nvSpPr>
          <p:cNvPr id="6" name="Espace réservé du contenu 5"/>
          <p:cNvSpPr>
            <a:spLocks noGrp="1"/>
          </p:cNvSpPr>
          <p:nvPr>
            <p:ph sz="quarter" idx="1"/>
          </p:nvPr>
        </p:nvSpPr>
        <p:spPr/>
        <p:txBody>
          <a:bodyPr>
            <a:normAutofit/>
          </a:bodyPr>
          <a:lstStyle/>
          <a:p>
            <a:r>
              <a:rPr lang="fr-FR" dirty="0" smtClean="0"/>
              <a:t>Une unité lexicale  est une suite de caractères qui a une signification collective. </a:t>
            </a:r>
          </a:p>
          <a:p>
            <a:r>
              <a:rPr lang="fr-FR" dirty="0" smtClean="0"/>
              <a:t>Un lexème toute suite de caractère du programme source qui concorde avec le modèle d'une unité lexicale. </a:t>
            </a:r>
          </a:p>
          <a:p>
            <a:r>
              <a:rPr lang="fr-FR" dirty="0" smtClean="0"/>
              <a:t>Un modèle (Règle lexicale) est une règle associée à une unité lexicale qui décrit l'ensemble des chaînes du programme qui peuvent correspondre à cette unité lexicale. </a:t>
            </a:r>
          </a:p>
          <a:p>
            <a:r>
              <a:rPr lang="fr-FR" dirty="0" smtClean="0"/>
              <a:t>Attributs : informations concernant le lexème (champs dans la table des symboles) ;</a:t>
            </a:r>
            <a:endParaRPr lang="fr-F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Exemple</a:t>
            </a:r>
            <a:endParaRPr lang="fr-FR" dirty="0"/>
          </a:p>
        </p:txBody>
      </p:sp>
      <p:sp>
        <p:nvSpPr>
          <p:cNvPr id="3" name="Espace réservé de la date 2"/>
          <p:cNvSpPr>
            <a:spLocks noGrp="1"/>
          </p:cNvSpPr>
          <p:nvPr>
            <p:ph type="dt" sz="half" idx="10"/>
          </p:nvPr>
        </p:nvSpPr>
        <p:spPr/>
        <p:txBody>
          <a:bodyPr/>
          <a:lstStyle/>
          <a:p>
            <a:fld id="{7ED1F1E0-77BE-4348-9314-85814FEA4368}" type="datetime1">
              <a:rPr lang="fr-FR" smtClean="0"/>
              <a:pPr/>
              <a:t>13/02/2018</a:t>
            </a:fld>
            <a:endParaRPr lang="fr-FR"/>
          </a:p>
        </p:txBody>
      </p:sp>
      <p:sp>
        <p:nvSpPr>
          <p:cNvPr id="4" name="Espace réservé du pied de page 3"/>
          <p:cNvSpPr>
            <a:spLocks noGrp="1"/>
          </p:cNvSpPr>
          <p:nvPr>
            <p:ph type="ftr" sz="quarter" idx="11"/>
          </p:nvPr>
        </p:nvSpPr>
        <p:spPr/>
        <p:txBody>
          <a:bodyPr/>
          <a:lstStyle/>
          <a:p>
            <a:r>
              <a:rPr lang="fr-FR" smtClean="0"/>
              <a:t>Mme noura Ouerdi</a:t>
            </a:r>
            <a:endParaRPr lang="fr-FR"/>
          </a:p>
        </p:txBody>
      </p:sp>
      <p:sp>
        <p:nvSpPr>
          <p:cNvPr id="5" name="Espace réservé du numéro de diapositive 4"/>
          <p:cNvSpPr>
            <a:spLocks noGrp="1"/>
          </p:cNvSpPr>
          <p:nvPr>
            <p:ph type="sldNum" sz="quarter" idx="12"/>
          </p:nvPr>
        </p:nvSpPr>
        <p:spPr/>
        <p:txBody>
          <a:bodyPr/>
          <a:lstStyle/>
          <a:p>
            <a:fld id="{74B13EA3-B7A8-4461-BEED-CB525C7E5E30}" type="slidenum">
              <a:rPr lang="fr-FR" smtClean="0"/>
              <a:pPr/>
              <a:t>17</a:t>
            </a:fld>
            <a:endParaRPr lang="fr-FR"/>
          </a:p>
        </p:txBody>
      </p:sp>
      <p:sp>
        <p:nvSpPr>
          <p:cNvPr id="6" name="Espace réservé du contenu 5"/>
          <p:cNvSpPr>
            <a:spLocks noGrp="1"/>
          </p:cNvSpPr>
          <p:nvPr>
            <p:ph sz="quarter" idx="1"/>
          </p:nvPr>
        </p:nvSpPr>
        <p:spPr/>
        <p:txBody>
          <a:bodyPr/>
          <a:lstStyle/>
          <a:p>
            <a:r>
              <a:rPr lang="fr-FR" dirty="0" smtClean="0"/>
              <a:t>L'unité lexicale IDENT (identificateurs) en C a pour modèle : toute suite non vide de caractères composée de chiffres, lettres ou du symbole "_" et qui commencent par une lettre. Des exemples de lexèmes pour cette unité lexicale sont : truc, i, a1, </a:t>
            </a:r>
            <a:r>
              <a:rPr lang="fr-FR" dirty="0" err="1" smtClean="0"/>
              <a:t>ajouter_valeur</a:t>
            </a:r>
            <a:r>
              <a:rPr lang="fr-FR" dirty="0" smtClean="0"/>
              <a:t> ... </a:t>
            </a:r>
            <a:endParaRPr lang="fr-F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Rôle de l’analyseur lexical</a:t>
            </a:r>
            <a:endParaRPr lang="fr-FR" dirty="0"/>
          </a:p>
        </p:txBody>
      </p:sp>
      <p:sp>
        <p:nvSpPr>
          <p:cNvPr id="3" name="Espace réservé de la date 2"/>
          <p:cNvSpPr>
            <a:spLocks noGrp="1"/>
          </p:cNvSpPr>
          <p:nvPr>
            <p:ph type="dt" sz="half" idx="10"/>
          </p:nvPr>
        </p:nvSpPr>
        <p:spPr/>
        <p:txBody>
          <a:bodyPr/>
          <a:lstStyle/>
          <a:p>
            <a:fld id="{3FC38D6C-4A62-4650-9A86-1D964027753F}" type="datetime1">
              <a:rPr lang="fr-FR" smtClean="0"/>
              <a:pPr/>
              <a:t>13/02/2018</a:t>
            </a:fld>
            <a:endParaRPr lang="fr-FR"/>
          </a:p>
        </p:txBody>
      </p:sp>
      <p:sp>
        <p:nvSpPr>
          <p:cNvPr id="4" name="Espace réservé du pied de page 3"/>
          <p:cNvSpPr>
            <a:spLocks noGrp="1"/>
          </p:cNvSpPr>
          <p:nvPr>
            <p:ph type="ftr" sz="quarter" idx="11"/>
          </p:nvPr>
        </p:nvSpPr>
        <p:spPr/>
        <p:txBody>
          <a:bodyPr/>
          <a:lstStyle/>
          <a:p>
            <a:r>
              <a:rPr lang="fr-FR" smtClean="0"/>
              <a:t>Mme noura Ouerdi</a:t>
            </a:r>
            <a:endParaRPr lang="fr-FR"/>
          </a:p>
        </p:txBody>
      </p:sp>
      <p:sp>
        <p:nvSpPr>
          <p:cNvPr id="5" name="Espace réservé du numéro de diapositive 4"/>
          <p:cNvSpPr>
            <a:spLocks noGrp="1"/>
          </p:cNvSpPr>
          <p:nvPr>
            <p:ph type="sldNum" sz="quarter" idx="12"/>
          </p:nvPr>
        </p:nvSpPr>
        <p:spPr/>
        <p:txBody>
          <a:bodyPr/>
          <a:lstStyle/>
          <a:p>
            <a:fld id="{74B13EA3-B7A8-4461-BEED-CB525C7E5E30}" type="slidenum">
              <a:rPr lang="fr-FR" smtClean="0"/>
              <a:pPr/>
              <a:t>18</a:t>
            </a:fld>
            <a:endParaRPr lang="fr-FR"/>
          </a:p>
        </p:txBody>
      </p:sp>
      <p:sp>
        <p:nvSpPr>
          <p:cNvPr id="6" name="Espace réservé du contenu 5"/>
          <p:cNvSpPr>
            <a:spLocks noGrp="1"/>
          </p:cNvSpPr>
          <p:nvPr>
            <p:ph sz="quarter" idx="1"/>
          </p:nvPr>
        </p:nvSpPr>
        <p:spPr/>
        <p:txBody>
          <a:bodyPr/>
          <a:lstStyle/>
          <a:p>
            <a:r>
              <a:rPr lang="fr-FR" dirty="0" smtClean="0"/>
              <a:t>L’analyseur lexical constitue la première phase d’un compilateur. L’analyse lexicale a pour objet de transformer un </a:t>
            </a:r>
            <a:r>
              <a:rPr lang="fr-FR" dirty="0" err="1" smtClean="0"/>
              <a:t>prog</a:t>
            </a:r>
            <a:r>
              <a:rPr lang="fr-FR" dirty="0" smtClean="0"/>
              <a:t> source (ensemble de caractères) en une série d’unités lexicales pour le rendre plus facilement manipulable par l’analyseur syntaxique.</a:t>
            </a:r>
          </a:p>
          <a:p>
            <a:r>
              <a:rPr lang="fr-FR" dirty="0" smtClean="0"/>
              <a:t>L’analyseur lexical (ou </a:t>
            </a:r>
            <a:r>
              <a:rPr lang="fr-FR" dirty="0" err="1" smtClean="0"/>
              <a:t>lexer</a:t>
            </a:r>
            <a:r>
              <a:rPr lang="fr-FR" dirty="0" smtClean="0"/>
              <a:t> ou scanner) est implémenté comme une fonction appelé généralement </a:t>
            </a:r>
            <a:r>
              <a:rPr lang="fr-FR" dirty="0" err="1" smtClean="0">
                <a:solidFill>
                  <a:srgbClr val="FF0000"/>
                </a:solidFill>
              </a:rPr>
              <a:t>getNextToken</a:t>
            </a:r>
            <a:r>
              <a:rPr lang="fr-FR" dirty="0" smtClean="0">
                <a:solidFill>
                  <a:srgbClr val="FF0000"/>
                </a:solidFill>
              </a:rPr>
              <a:t>() </a:t>
            </a:r>
            <a:r>
              <a:rPr lang="fr-FR" dirty="0" smtClean="0"/>
              <a:t>ou </a:t>
            </a:r>
            <a:r>
              <a:rPr lang="fr-FR" dirty="0" err="1" smtClean="0">
                <a:solidFill>
                  <a:srgbClr val="FF0000"/>
                </a:solidFill>
              </a:rPr>
              <a:t>lireProchaineUniteLexicale</a:t>
            </a:r>
            <a:r>
              <a:rPr lang="fr-FR" dirty="0" smtClean="0">
                <a:solidFill>
                  <a:srgbClr val="FF0000"/>
                </a:solidFill>
              </a:rPr>
              <a:t>() </a:t>
            </a:r>
            <a:r>
              <a:rPr lang="fr-FR" dirty="0" smtClean="0"/>
              <a:t>ou </a:t>
            </a:r>
            <a:r>
              <a:rPr lang="fr-FR" dirty="0" err="1" smtClean="0">
                <a:solidFill>
                  <a:srgbClr val="FF0000"/>
                </a:solidFill>
              </a:rPr>
              <a:t>lexer</a:t>
            </a:r>
            <a:r>
              <a:rPr lang="fr-FR" dirty="0" smtClean="0">
                <a:solidFill>
                  <a:srgbClr val="FF0000"/>
                </a:solidFill>
              </a:rPr>
              <a:t>(), </a:t>
            </a:r>
            <a:r>
              <a:rPr lang="fr-FR" dirty="0" smtClean="0"/>
              <a:t>appelé par l’analyseur syntaxique. Son rôle est de:</a:t>
            </a:r>
            <a:endParaRPr lang="fr-F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Rôle de l’analyseur lexical</a:t>
            </a:r>
            <a:endParaRPr lang="fr-FR" dirty="0"/>
          </a:p>
        </p:txBody>
      </p:sp>
      <p:sp>
        <p:nvSpPr>
          <p:cNvPr id="3" name="Espace réservé de la date 2"/>
          <p:cNvSpPr>
            <a:spLocks noGrp="1"/>
          </p:cNvSpPr>
          <p:nvPr>
            <p:ph type="dt" sz="half" idx="10"/>
          </p:nvPr>
        </p:nvSpPr>
        <p:spPr/>
        <p:txBody>
          <a:bodyPr/>
          <a:lstStyle/>
          <a:p>
            <a:fld id="{A189BBFB-870D-4FB2-B8FF-82CABE3D677E}" type="datetime1">
              <a:rPr lang="fr-FR" smtClean="0"/>
              <a:pPr/>
              <a:t>13/02/2018</a:t>
            </a:fld>
            <a:endParaRPr lang="fr-FR"/>
          </a:p>
        </p:txBody>
      </p:sp>
      <p:sp>
        <p:nvSpPr>
          <p:cNvPr id="4" name="Espace réservé du pied de page 3"/>
          <p:cNvSpPr>
            <a:spLocks noGrp="1"/>
          </p:cNvSpPr>
          <p:nvPr>
            <p:ph type="ftr" sz="quarter" idx="11"/>
          </p:nvPr>
        </p:nvSpPr>
        <p:spPr/>
        <p:txBody>
          <a:bodyPr/>
          <a:lstStyle/>
          <a:p>
            <a:r>
              <a:rPr lang="fr-FR" smtClean="0"/>
              <a:t>Mme noura Ouerdi</a:t>
            </a:r>
            <a:endParaRPr lang="fr-FR"/>
          </a:p>
        </p:txBody>
      </p:sp>
      <p:sp>
        <p:nvSpPr>
          <p:cNvPr id="5" name="Espace réservé du numéro de diapositive 4"/>
          <p:cNvSpPr>
            <a:spLocks noGrp="1"/>
          </p:cNvSpPr>
          <p:nvPr>
            <p:ph type="sldNum" sz="quarter" idx="12"/>
          </p:nvPr>
        </p:nvSpPr>
        <p:spPr/>
        <p:txBody>
          <a:bodyPr/>
          <a:lstStyle/>
          <a:p>
            <a:fld id="{74B13EA3-B7A8-4461-BEED-CB525C7E5E30}" type="slidenum">
              <a:rPr lang="fr-FR" smtClean="0"/>
              <a:pPr/>
              <a:t>19</a:t>
            </a:fld>
            <a:endParaRPr lang="fr-FR"/>
          </a:p>
        </p:txBody>
      </p:sp>
      <p:sp>
        <p:nvSpPr>
          <p:cNvPr id="6" name="Espace réservé du contenu 5"/>
          <p:cNvSpPr>
            <a:spLocks noGrp="1"/>
          </p:cNvSpPr>
          <p:nvPr>
            <p:ph sz="quarter" idx="1"/>
          </p:nvPr>
        </p:nvSpPr>
        <p:spPr/>
        <p:txBody>
          <a:bodyPr/>
          <a:lstStyle/>
          <a:p>
            <a:r>
              <a:rPr lang="fr-FR" dirty="0" smtClean="0"/>
              <a:t>Lire le programme source: ceci se fait soit caractère par caractère (lus individuellement de gauche à droite) ou dans une zone tampon (buffer).</a:t>
            </a:r>
          </a:p>
          <a:p>
            <a:pPr>
              <a:buNone/>
            </a:pPr>
            <a:endParaRPr lang="fr-FR" dirty="0" smtClean="0"/>
          </a:p>
          <a:p>
            <a:r>
              <a:rPr lang="fr-FR" dirty="0" smtClean="0"/>
              <a:t>Former des unités lexicales: il faut « concaténer » certains caractères pour former des unités lexicales ou </a:t>
            </a:r>
            <a:r>
              <a:rPr lang="fr-FR" dirty="0" err="1" smtClean="0"/>
              <a:t>tokens</a:t>
            </a:r>
            <a:r>
              <a:rPr lang="fr-FR" dirty="0" smtClean="0"/>
              <a:t> qui ont une signification collective.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Rôle de l’analyseur lexical</a:t>
            </a:r>
            <a:endParaRPr lang="fr-FR" dirty="0"/>
          </a:p>
        </p:txBody>
      </p:sp>
      <p:sp>
        <p:nvSpPr>
          <p:cNvPr id="3" name="Espace réservé de la date 2"/>
          <p:cNvSpPr>
            <a:spLocks noGrp="1"/>
          </p:cNvSpPr>
          <p:nvPr>
            <p:ph type="dt" sz="half" idx="10"/>
          </p:nvPr>
        </p:nvSpPr>
        <p:spPr/>
        <p:txBody>
          <a:bodyPr/>
          <a:lstStyle/>
          <a:p>
            <a:fld id="{EFD3A4AA-56BF-46E2-B06E-2CC610B2F87D}" type="datetime1">
              <a:rPr lang="fr-FR" smtClean="0"/>
              <a:pPr/>
              <a:t>13/02/2018</a:t>
            </a:fld>
            <a:endParaRPr lang="fr-FR"/>
          </a:p>
        </p:txBody>
      </p:sp>
      <p:sp>
        <p:nvSpPr>
          <p:cNvPr id="4" name="Espace réservé du pied de page 3"/>
          <p:cNvSpPr>
            <a:spLocks noGrp="1"/>
          </p:cNvSpPr>
          <p:nvPr>
            <p:ph type="ftr" sz="quarter" idx="11"/>
          </p:nvPr>
        </p:nvSpPr>
        <p:spPr/>
        <p:txBody>
          <a:bodyPr/>
          <a:lstStyle/>
          <a:p>
            <a:r>
              <a:rPr lang="fr-FR" smtClean="0"/>
              <a:t>Mme noura Ouerdi</a:t>
            </a:r>
            <a:endParaRPr lang="fr-FR"/>
          </a:p>
        </p:txBody>
      </p:sp>
      <p:sp>
        <p:nvSpPr>
          <p:cNvPr id="5" name="Espace réservé du numéro de diapositive 4"/>
          <p:cNvSpPr>
            <a:spLocks noGrp="1"/>
          </p:cNvSpPr>
          <p:nvPr>
            <p:ph type="sldNum" sz="quarter" idx="12"/>
          </p:nvPr>
        </p:nvSpPr>
        <p:spPr/>
        <p:txBody>
          <a:bodyPr/>
          <a:lstStyle/>
          <a:p>
            <a:fld id="{74B13EA3-B7A8-4461-BEED-CB525C7E5E30}" type="slidenum">
              <a:rPr lang="fr-FR" smtClean="0"/>
              <a:pPr/>
              <a:t>20</a:t>
            </a:fld>
            <a:endParaRPr lang="fr-FR"/>
          </a:p>
        </p:txBody>
      </p:sp>
      <p:sp>
        <p:nvSpPr>
          <p:cNvPr id="6" name="Espace réservé du contenu 5"/>
          <p:cNvSpPr>
            <a:spLocks noGrp="1"/>
          </p:cNvSpPr>
          <p:nvPr>
            <p:ph sz="quarter" idx="1"/>
          </p:nvPr>
        </p:nvSpPr>
        <p:spPr/>
        <p:txBody>
          <a:bodyPr/>
          <a:lstStyle/>
          <a:p>
            <a:endParaRPr lang="fr-FR" dirty="0" smtClean="0"/>
          </a:p>
          <a:p>
            <a:r>
              <a:rPr lang="fr-FR" dirty="0" smtClean="0"/>
              <a:t>Eliminer les informations non signifiantes: c’est une tâche secondaire de l’analyseur lexical qui consiste à éliminer les blancs (espaces, tabulations, fin de lignes). L’analyseur s’occupera aussi d’éliminer les commentaires, il devra aussi compter le nombre de lignes rencontrées afin de pouvoir associer un numéro de ligne à chaque message d’erreur.</a:t>
            </a:r>
          </a:p>
          <a:p>
            <a:endParaRPr lang="fr-F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Rôle de l’analyseur lexical</a:t>
            </a:r>
            <a:endParaRPr lang="fr-FR" dirty="0"/>
          </a:p>
        </p:txBody>
      </p:sp>
      <p:sp>
        <p:nvSpPr>
          <p:cNvPr id="3" name="Espace réservé de la date 2"/>
          <p:cNvSpPr>
            <a:spLocks noGrp="1"/>
          </p:cNvSpPr>
          <p:nvPr>
            <p:ph type="dt" sz="half" idx="10"/>
          </p:nvPr>
        </p:nvSpPr>
        <p:spPr/>
        <p:txBody>
          <a:bodyPr/>
          <a:lstStyle/>
          <a:p>
            <a:fld id="{3FFC8CD4-C141-4B0E-A652-7081449F4502}" type="datetime1">
              <a:rPr lang="fr-FR" smtClean="0"/>
              <a:pPr/>
              <a:t>13/02/2018</a:t>
            </a:fld>
            <a:endParaRPr lang="fr-FR"/>
          </a:p>
        </p:txBody>
      </p:sp>
      <p:sp>
        <p:nvSpPr>
          <p:cNvPr id="4" name="Espace réservé du pied de page 3"/>
          <p:cNvSpPr>
            <a:spLocks noGrp="1"/>
          </p:cNvSpPr>
          <p:nvPr>
            <p:ph type="ftr" sz="quarter" idx="11"/>
          </p:nvPr>
        </p:nvSpPr>
        <p:spPr/>
        <p:txBody>
          <a:bodyPr/>
          <a:lstStyle/>
          <a:p>
            <a:r>
              <a:rPr lang="fr-FR" smtClean="0"/>
              <a:t>Mme noura Ouerdi</a:t>
            </a:r>
            <a:endParaRPr lang="fr-FR"/>
          </a:p>
        </p:txBody>
      </p:sp>
      <p:sp>
        <p:nvSpPr>
          <p:cNvPr id="5" name="Espace réservé du numéro de diapositive 4"/>
          <p:cNvSpPr>
            <a:spLocks noGrp="1"/>
          </p:cNvSpPr>
          <p:nvPr>
            <p:ph type="sldNum" sz="quarter" idx="12"/>
          </p:nvPr>
        </p:nvSpPr>
        <p:spPr/>
        <p:txBody>
          <a:bodyPr/>
          <a:lstStyle/>
          <a:p>
            <a:fld id="{74B13EA3-B7A8-4461-BEED-CB525C7E5E30}" type="slidenum">
              <a:rPr lang="fr-FR" smtClean="0"/>
              <a:pPr/>
              <a:t>21</a:t>
            </a:fld>
            <a:endParaRPr lang="fr-FR"/>
          </a:p>
        </p:txBody>
      </p:sp>
      <p:sp>
        <p:nvSpPr>
          <p:cNvPr id="6" name="Espace réservé du contenu 5"/>
          <p:cNvSpPr>
            <a:spLocks noGrp="1"/>
          </p:cNvSpPr>
          <p:nvPr>
            <p:ph sz="quarter" idx="1"/>
          </p:nvPr>
        </p:nvSpPr>
        <p:spPr/>
        <p:txBody>
          <a:bodyPr/>
          <a:lstStyle/>
          <a:p>
            <a:r>
              <a:rPr lang="fr-FR" dirty="0" smtClean="0"/>
              <a:t>Former les éléments de chaine d’entrée destinée à l’analyseur syntaxique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Rôle de l’analyseur lexical</a:t>
            </a:r>
            <a:endParaRPr lang="fr-FR" dirty="0"/>
          </a:p>
        </p:txBody>
      </p:sp>
      <p:sp>
        <p:nvSpPr>
          <p:cNvPr id="3" name="Espace réservé de la date 2"/>
          <p:cNvSpPr>
            <a:spLocks noGrp="1"/>
          </p:cNvSpPr>
          <p:nvPr>
            <p:ph type="dt" sz="half" idx="10"/>
          </p:nvPr>
        </p:nvSpPr>
        <p:spPr/>
        <p:txBody>
          <a:bodyPr/>
          <a:lstStyle/>
          <a:p>
            <a:fld id="{80DF94A7-A2E5-404D-B6F6-EAE5141CB149}" type="datetime1">
              <a:rPr lang="fr-FR" smtClean="0"/>
              <a:pPr/>
              <a:t>13/02/2018</a:t>
            </a:fld>
            <a:endParaRPr lang="fr-FR"/>
          </a:p>
        </p:txBody>
      </p:sp>
      <p:sp>
        <p:nvSpPr>
          <p:cNvPr id="4" name="Espace réservé du pied de page 3"/>
          <p:cNvSpPr>
            <a:spLocks noGrp="1"/>
          </p:cNvSpPr>
          <p:nvPr>
            <p:ph type="ftr" sz="quarter" idx="11"/>
          </p:nvPr>
        </p:nvSpPr>
        <p:spPr/>
        <p:txBody>
          <a:bodyPr/>
          <a:lstStyle/>
          <a:p>
            <a:r>
              <a:rPr lang="fr-FR" smtClean="0"/>
              <a:t>Mme noura Ouerdi</a:t>
            </a:r>
            <a:endParaRPr lang="fr-FR"/>
          </a:p>
        </p:txBody>
      </p:sp>
      <p:sp>
        <p:nvSpPr>
          <p:cNvPr id="5" name="Espace réservé du numéro de diapositive 4"/>
          <p:cNvSpPr>
            <a:spLocks noGrp="1"/>
          </p:cNvSpPr>
          <p:nvPr>
            <p:ph type="sldNum" sz="quarter" idx="12"/>
          </p:nvPr>
        </p:nvSpPr>
        <p:spPr/>
        <p:txBody>
          <a:bodyPr/>
          <a:lstStyle/>
          <a:p>
            <a:fld id="{74B13EA3-B7A8-4461-BEED-CB525C7E5E30}" type="slidenum">
              <a:rPr lang="fr-FR" smtClean="0"/>
              <a:pPr/>
              <a:t>22</a:t>
            </a:fld>
            <a:endParaRPr lang="fr-FR"/>
          </a:p>
        </p:txBody>
      </p:sp>
      <p:sp>
        <p:nvSpPr>
          <p:cNvPr id="6" name="Espace réservé du contenu 5"/>
          <p:cNvSpPr>
            <a:spLocks noGrp="1"/>
          </p:cNvSpPr>
          <p:nvPr>
            <p:ph sz="quarter" idx="1"/>
          </p:nvPr>
        </p:nvSpPr>
        <p:spPr/>
        <p:txBody>
          <a:bodyPr/>
          <a:lstStyle/>
          <a:p>
            <a:r>
              <a:rPr lang="fr-FR" dirty="0" smtClean="0"/>
              <a:t>Détecter certaines erreurs. Parmi les erreurs détectées lors de l’analyseur lexicale:</a:t>
            </a:r>
          </a:p>
          <a:p>
            <a:pPr>
              <a:buFontTx/>
              <a:buChar char="-"/>
            </a:pPr>
            <a:r>
              <a:rPr lang="fr-FR" dirty="0" smtClean="0"/>
              <a:t>Identificateurs trop longs</a:t>
            </a:r>
          </a:p>
          <a:p>
            <a:pPr>
              <a:buFontTx/>
              <a:buChar char="-"/>
            </a:pPr>
            <a:r>
              <a:rPr lang="fr-FR" dirty="0" smtClean="0"/>
              <a:t>Caractères illégaux,…</a:t>
            </a:r>
          </a:p>
          <a:p>
            <a:pPr>
              <a:buFont typeface="Arial" pitchFamily="34" charset="0"/>
              <a:buChar char="•"/>
            </a:pPr>
            <a:r>
              <a:rPr lang="fr-FR" dirty="0" smtClean="0"/>
              <a:t> Donner un schéma représentatif du rôle </a:t>
            </a:r>
            <a:r>
              <a:rPr lang="fr-FR" smtClean="0"/>
              <a:t>et interactions </a:t>
            </a:r>
            <a:r>
              <a:rPr lang="fr-FR" dirty="0" smtClean="0"/>
              <a:t>de l’analyseur lexical</a:t>
            </a:r>
            <a:endParaRPr lang="fr-FR"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apitaux">
  <a:themeElements>
    <a:clrScheme name="Capitaux">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apitaux">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apitaux">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190</TotalTime>
  <Words>1383</Words>
  <Application>Microsoft Office PowerPoint</Application>
  <PresentationFormat>Affichage à l'écran (4:3)</PresentationFormat>
  <Paragraphs>152</Paragraphs>
  <Slides>22</Slides>
  <Notes>0</Notes>
  <HiddenSlides>0</HiddenSlides>
  <MMClips>0</MMClips>
  <ScaleCrop>false</ScaleCrop>
  <HeadingPairs>
    <vt:vector size="4" baseType="variant">
      <vt:variant>
        <vt:lpstr>Thème</vt:lpstr>
      </vt:variant>
      <vt:variant>
        <vt:i4>1</vt:i4>
      </vt:variant>
      <vt:variant>
        <vt:lpstr>Titres des diapositives</vt:lpstr>
      </vt:variant>
      <vt:variant>
        <vt:i4>22</vt:i4>
      </vt:variant>
    </vt:vector>
  </HeadingPairs>
  <TitlesOfParts>
    <vt:vector size="23" baseType="lpstr">
      <vt:lpstr>Capitaux</vt:lpstr>
      <vt:lpstr>Compilation V3</vt:lpstr>
      <vt:lpstr>Structure d’un compilateur</vt:lpstr>
      <vt:lpstr>Structure d’un compilateur</vt:lpstr>
      <vt:lpstr>Structure d’un compilateur</vt:lpstr>
      <vt:lpstr>Structure d’un compilateur</vt:lpstr>
      <vt:lpstr>Structure d’un compilateur</vt:lpstr>
      <vt:lpstr>Structure d’un compilateur</vt:lpstr>
      <vt:lpstr>Structure d’un compilateur</vt:lpstr>
      <vt:lpstr>Structure d’un compilateur</vt:lpstr>
      <vt:lpstr>Analyse lexicale</vt:lpstr>
      <vt:lpstr>Analyse lexicale</vt:lpstr>
      <vt:lpstr>Analyse lexicale</vt:lpstr>
      <vt:lpstr>lexèmes</vt:lpstr>
      <vt:lpstr>lexèmes</vt:lpstr>
      <vt:lpstr>Attributs des unités lexicales</vt:lpstr>
      <vt:lpstr>En résumé</vt:lpstr>
      <vt:lpstr>Exemple</vt:lpstr>
      <vt:lpstr>Rôle de l’analyseur lexical</vt:lpstr>
      <vt:lpstr>Rôle de l’analyseur lexical</vt:lpstr>
      <vt:lpstr>Rôle de l’analyseur lexical</vt:lpstr>
      <vt:lpstr>Rôle de l’analyseur lexical</vt:lpstr>
      <vt:lpstr>Rôle de l’analyseur lexical</vt:lpstr>
    </vt:vector>
  </TitlesOfParts>
  <Company>XP2008</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Compilation V3</dc:title>
  <dc:creator>ADM</dc:creator>
  <cp:lastModifiedBy>Nouara</cp:lastModifiedBy>
  <cp:revision>45</cp:revision>
  <dcterms:created xsi:type="dcterms:W3CDTF">2013-02-28T15:33:28Z</dcterms:created>
  <dcterms:modified xsi:type="dcterms:W3CDTF">2018-02-13T22:43:12Z</dcterms:modified>
</cp:coreProperties>
</file>